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efefa2fb4b90a1b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86000"/>
                </a:srgbClr>
              </a:gs>
              <a:gs pos="100000">
                <a:srgbClr val="EFE1C9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1E8449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5236" y="1130300"/>
            <a:ext cx="7982493" cy="2309114"/>
            <a:chOff x="745236" y="1130300"/>
            <a:chExt cx="7982493" cy="2309114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5236" y="1612900"/>
              <a:ext cx="6760251" cy="18265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Концепция счастья:</a:t>
              </a:r>
              <a:b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</a:br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делает людей счастливыми</a:t>
              </a:r>
              <a:b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</a:br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rgbClr val="154360">
                <a:alpha val="92000"/>
              </a:srgb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38100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1E8449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Группа ИС-24</a:t>
              </a:r>
              <a:b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CA6F1E"/>
                  </a:solidFill>
                  <a:latin typeface="Arial"/>
                  <a:ea typeface="Arial"/>
                  <a:cs typeface="Arial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A93226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6094066" cy="645414"/>
            <a:chOff x="745236" y="603250"/>
            <a:chExt cx="6094066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609406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CA6F1E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CA6F1E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CA6F1E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CA6F1E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2536" y="2089150"/>
              <a:ext cx="135627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Выяснить, что делает людей</a:t>
              </a:r>
              <a:b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3914137" cy="645414"/>
            <a:chOff x="745236" y="603250"/>
            <a:chExt cx="3914137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391413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1E8449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1E8449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CA6F1E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A93226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A93226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A93226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A93226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9402827" cy="645414"/>
            <a:chOff x="745236" y="603250"/>
            <a:chExt cx="9402827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940282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A9322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A93226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A9322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21526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B8C4C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rgbClr val="154360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rgbClr val="15436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3543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7542294" cy="645414"/>
            <a:chOff x="745236" y="603250"/>
            <a:chExt cx="7542294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754229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rgbClr val="154360">
                <a:alpha val="12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A9322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922B21"/>
                  </a:solidFill>
                  <a:latin typeface="Arial"/>
                  <a:ea typeface="Arial"/>
                  <a:cs typeface="Arial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rgbClr val="154360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8075253" cy="645414"/>
            <a:chOff x="745236" y="603250"/>
            <a:chExt cx="8075253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075253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rgbClr val="154360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32" r="0" b="231"/>
            <a:stretch>
              <a:fillRect/>
            </a:stretch>
          </p:blipFill>
          <p:spPr>
            <a:xfrm>
              <a:off x="4305300" y="2009775"/>
              <a:ext cx="3581400" cy="2562225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rgbClr val="154360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45A32"/>
                  </a:solidFill>
                  <a:latin typeface="Arial"/>
                  <a:ea typeface="Arial"/>
                  <a:cs typeface="Arial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8A4A12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922B2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922B21"/>
                  </a:solidFill>
                  <a:latin typeface="Arial"/>
                  <a:ea typeface="Arial"/>
                  <a:cs typeface="Arial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rgbClr val="154360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A93226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922B2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922B2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922B2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7531605" cy="645414"/>
            <a:chOff x="745236" y="603250"/>
            <a:chExt cx="7531605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753160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38100">
              <a:solidFill>
                <a:srgbClr val="2C2C2C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154360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38100">
              <a:solidFill>
                <a:srgbClr val="CA6F1E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CA6F1E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CA6F1E"/>
                  </a:solidFill>
                  <a:latin typeface="Arial"/>
                  <a:ea typeface="Arial"/>
                  <a:cs typeface="Arial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A6F1E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8168580" cy="645414"/>
            <a:chOff x="745236" y="603250"/>
            <a:chExt cx="8168580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1685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45A32"/>
                  </a:solidFill>
                  <a:latin typeface="Arial"/>
                  <a:ea typeface="Arial"/>
                  <a:cs typeface="Arial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CA6F1E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4038814" cy="645414"/>
            <a:chOff x="745236" y="603250"/>
            <a:chExt cx="4038814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403881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Формула Счастья</a:t>
              </a:r>
            </a:p>
          </p:txBody>
        </p:sp>
      </p:grpSp>
      <p:grpSp>
        <p:nvGrpSpPr>
          <p:cNvPr id="16" name="donut"/>
          <p:cNvGrpSpPr/>
          <p:nvPr/>
        </p:nvGrpSpPr>
        <p:grpSpPr>
          <a:xfrm>
            <a:off x="1437804" y="1990660"/>
            <a:ext cx="3277071" cy="3539047"/>
            <a:chOff x="1437804" y="1990660"/>
            <a:chExt cx="3277071" cy="3539047"/>
          </a:xfrm>
        </p:grpSpPr>
        <p:sp>
          <p:nvSpPr>
            <p:cNvPr id="7" name="Ellipse 7"/>
            <p:cNvSpPr/>
            <p:nvPr/>
          </p:nvSpPr>
          <p:spPr>
            <a:xfrm>
              <a:off x="2000250" y="2419350"/>
              <a:ext cx="2286000" cy="22860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388159" y="3397250"/>
              <a:ext cx="15101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 = Н + В + О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1990725"/>
              <a:ext cx="1571625" cy="3143250"/>
            </a:xfrm>
            <a:custGeom>
              <a:avLst/>
              <a:gdLst/>
              <a:ahLst/>
              <a:cxnLst/>
              <a:rect l="l" t="t" r="r" b="b"/>
              <a:pathLst>
                <a:path w="1571625" h="3143250">
                  <a:moveTo>
                    <a:pt x="0" y="0"/>
                  </a:moveTo>
                  <a:cubicBezTo>
                    <a:pt x="867985" y="0"/>
                    <a:pt x="1571625" y="703640"/>
                    <a:pt x="1571625" y="1571625"/>
                  </a:cubicBezTo>
                  <a:cubicBezTo>
                    <a:pt x="1571625" y="2439610"/>
                    <a:pt x="867985" y="3143250"/>
                    <a:pt x="0" y="3143250"/>
                  </a:cubicBezTo>
                  <a:lnTo>
                    <a:pt x="0" y="2619375"/>
                  </a:lnTo>
                  <a:cubicBezTo>
                    <a:pt x="578656" y="2619375"/>
                    <a:pt x="1047750" y="2150281"/>
                    <a:pt x="1047750" y="1571625"/>
                  </a:cubicBezTo>
                  <a:cubicBezTo>
                    <a:pt x="1047750" y="992969"/>
                    <a:pt x="578656" y="523875"/>
                    <a:pt x="0" y="523875"/>
                  </a:cubicBezTo>
                  <a:close/>
                </a:path>
              </a:pathLst>
            </a:custGeom>
            <a:solidFill>
              <a:srgbClr val="154360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437804" y="2290763"/>
              <a:ext cx="1705446" cy="2843345"/>
            </a:xfrm>
            <a:custGeom>
              <a:avLst/>
              <a:gdLst/>
              <a:ahLst/>
              <a:cxnLst/>
              <a:rect l="l" t="t" r="r" b="b"/>
              <a:pathLst>
                <a:path w="1705446" h="2843345">
                  <a:moveTo>
                    <a:pt x="1705446" y="2843212"/>
                  </a:moveTo>
                  <a:cubicBezTo>
                    <a:pt x="1024483" y="2843345"/>
                    <a:pt x="420903" y="2404925"/>
                    <a:pt x="210451" y="1757298"/>
                  </a:cubicBezTo>
                  <a:cubicBezTo>
                    <a:pt x="0" y="1109672"/>
                    <a:pt x="230560" y="400190"/>
                    <a:pt x="781521" y="0"/>
                  </a:cubicBezTo>
                  <a:lnTo>
                    <a:pt x="1089178" y="423862"/>
                  </a:lnTo>
                  <a:cubicBezTo>
                    <a:pt x="721824" y="690690"/>
                    <a:pt x="568130" y="1163761"/>
                    <a:pt x="708514" y="1595546"/>
                  </a:cubicBezTo>
                  <a:cubicBezTo>
                    <a:pt x="848899" y="2027331"/>
                    <a:pt x="1251412" y="2319564"/>
                    <a:pt x="1705446" y="2319337"/>
                  </a:cubicBezTo>
                  <a:close/>
                </a:path>
              </a:pathLst>
            </a:custGeom>
            <a:solidFill>
              <a:srgbClr val="1E8449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19325" y="1990660"/>
              <a:ext cx="923925" cy="723965"/>
            </a:xfrm>
            <a:custGeom>
              <a:avLst/>
              <a:gdLst/>
              <a:ahLst/>
              <a:cxnLst/>
              <a:rect l="l" t="t" r="r" b="b"/>
              <a:pathLst>
                <a:path w="923925" h="723965">
                  <a:moveTo>
                    <a:pt x="0" y="300102"/>
                  </a:moveTo>
                  <a:cubicBezTo>
                    <a:pt x="268563" y="105031"/>
                    <a:pt x="591993" y="0"/>
                    <a:pt x="923925" y="65"/>
                  </a:cubicBezTo>
                  <a:lnTo>
                    <a:pt x="923925" y="523940"/>
                  </a:lnTo>
                  <a:cubicBezTo>
                    <a:pt x="702529" y="523830"/>
                    <a:pt x="486787" y="593854"/>
                    <a:pt x="307658" y="723965"/>
                  </a:cubicBezTo>
                  <a:close/>
                </a:path>
              </a:pathLst>
            </a:custGeom>
            <a:solidFill>
              <a:srgbClr val="2C2C2C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267038" y="34290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50%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00088" y="42672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40%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2038" y="2238375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10%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31072" y="520700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формула счастья</a:t>
              </a:r>
            </a:p>
          </p:txBody>
        </p:sp>
      </p:grpSp>
      <p:grpSp>
        <p:nvGrpSpPr>
          <p:cNvPr id="29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7" name="Rectangle 17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rgbClr val="1543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50% — генетика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наследственная предрасположенность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1E8449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3333750"/>
              <a:ext cx="31124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Arial"/>
                  <a:ea typeface="Arial"/>
                  <a:cs typeface="Arial"/>
                </a:rPr>
                <a:t>40% — волевой контроль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намеренные усилия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2C2C2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10% — обстоятельства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внешние условия жизни</a:t>
              </a:r>
            </a:p>
          </p:txBody>
        </p:sp>
      </p:grpSp>
      <p:grpSp>
        <p:nvGrpSpPr>
          <p:cNvPr id="36" name="note"/>
          <p:cNvGrpSpPr/>
          <p:nvPr/>
        </p:nvGrpSpPr>
        <p:grpSpPr>
          <a:xfrm>
            <a:off x="1513077" y="5873750"/>
            <a:ext cx="9480466" cy="570357"/>
            <a:chOff x="1513077" y="5873750"/>
            <a:chExt cx="9480466" cy="570357"/>
          </a:xfrm>
        </p:grpSpPr>
        <p:grpSp>
          <p:nvGrpSpPr>
            <p:cNvPr id="33" name="Group 33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45A32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45A32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45A32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896618" y="5873750"/>
              <a:ext cx="909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Формула: Lyubomirsky, Sheldon &amp; Schkade (2005) — иллюстративная модель, не закон.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96618" y="6121400"/>
              <a:ext cx="77123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Мета-анализы (Rohrer &amp; Schmukle, 2018): гены и среда взаимодействуют.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7739506" cy="645414"/>
            <a:chOff x="745236" y="603250"/>
            <a:chExt cx="7739506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773950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A6F1E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A6F1E"/>
                  </a:solidFill>
                  <a:latin typeface="Arial"/>
                  <a:ea typeface="Arial"/>
                  <a:cs typeface="Arial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543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rgbClr val="154360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A93226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5533240" cy="645414"/>
            <a:chOff x="745236" y="603250"/>
            <a:chExt cx="5533240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553324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A93226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A93226"/>
                  </a:solidFill>
                  <a:latin typeface="Arial"/>
                  <a:ea typeface="Arial"/>
                  <a:cs typeface="Arial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3242" y="2559050"/>
              <a:ext cx="7145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3242" y="4826000"/>
              <a:ext cx="580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2392" y="5092700"/>
              <a:ext cx="1137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9642" y="5092700"/>
              <a:ext cx="1270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rgbClr val="154360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A93226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154360">
                <a:alpha val="12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после 75 000 $ влияние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дохода 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1E8449"/>
                  </a:solidFill>
                  <a:latin typeface="Arial"/>
                  <a:ea typeface="Arial"/>
                  <a:cs typeface="Arial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 растёт и дальше;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плато — у 20% самых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A6F1E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5678944" cy="645414"/>
            <a:chOff x="745236" y="603250"/>
            <a:chExt cx="5678944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567894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2C2C2C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8A4A12"/>
                  </a:solidFill>
                  <a:latin typeface="Arial"/>
                  <a:ea typeface="Arial"/>
                  <a:cs typeface="Arial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6592" y="2559050"/>
              <a:ext cx="7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6592" y="5226050"/>
              <a:ext cx="57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rgbClr val="154360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CA6F1E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Провал у среднего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Косвенно: доход, статус,</a:t>
              </a:r>
              <a:b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</a:b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5236" y="603250"/>
            <a:ext cx="8699985" cy="645414"/>
            <a:chOff x="745236" y="603250"/>
            <a:chExt cx="8699985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8699985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1E8449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45A32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45A32"/>
                  </a:solidFill>
                  <a:latin typeface="Arial"/>
                  <a:ea typeface="Arial"/>
                  <a:cs typeface="Arial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A93226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922B2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922B2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922B21"/>
                  </a:solidFill>
                  <a:latin typeface="Arial"/>
                  <a:ea typeface="Arial"/>
                  <a:cs typeface="Arial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154360">
                <a:alpha val="10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rgbClr val="154360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4905832" cy="645414"/>
            <a:chOff x="745236" y="603250"/>
            <a:chExt cx="4905832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490583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1E8449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1E8449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2C2C2C"/>
                  </a:solidFill>
                  <a:latin typeface="Arial"/>
                  <a:ea typeface="Arial"/>
                  <a:cs typeface="Arial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EAF2F8">
                  <a:alpha val="90000"/>
                </a:srgbClr>
              </a:gs>
              <a:gs pos="100000">
                <a:srgbClr val="EFE1C9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E8449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5236" y="603250"/>
            <a:ext cx="6761447" cy="645414"/>
            <a:chOff x="745236" y="603250"/>
            <a:chExt cx="6761447" cy="645414"/>
          </a:xfrm>
        </p:grpSpPr>
        <p:sp>
          <p:nvSpPr>
            <p:cNvPr id="5" name="TextBox 5"/>
            <p:cNvSpPr txBox="1"/>
            <p:nvPr/>
          </p:nvSpPr>
          <p:spPr>
            <a:xfrm>
              <a:off x="745236" y="603250"/>
              <a:ext cx="676144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3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45A3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rgbClr val="1A1A1A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31" name="sources"/>
          <p:cNvGrpSpPr/>
          <p:nvPr/>
        </p:nvGrpSpPr>
        <p:grpSpPr>
          <a:xfrm>
            <a:off x="762000" y="3695700"/>
            <a:ext cx="6325741" cy="2705100"/>
            <a:chOff x="762000" y="3695700"/>
            <a:chExt cx="6325741" cy="2705100"/>
          </a:xfrm>
        </p:grpSpPr>
        <p:sp>
          <p:nvSpPr>
            <p:cNvPr id="19" name="Rectangle 19"/>
            <p:cNvSpPr/>
            <p:nvPr/>
          </p:nvSpPr>
          <p:spPr>
            <a:xfrm>
              <a:off x="762000" y="3695700"/>
              <a:ext cx="6096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1054100" y="3879850"/>
              <a:ext cx="177800" cy="203199"/>
              <a:chOff x="1054100" y="3879850"/>
              <a:chExt cx="177800" cy="20319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054100" y="3879850"/>
                <a:ext cx="177800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03199">
                    <a:moveTo>
                      <a:pt x="177800" y="0"/>
                    </a:moveTo>
                    <a:lnTo>
                      <a:pt x="177800" y="203199"/>
                    </a:ln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25400">
                <a:solidFill>
                  <a:srgbClr val="154360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54100" y="4032249"/>
                <a:ext cx="177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5400">
                    <a:moveTo>
                      <a:pt x="1778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rgbClr val="1543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04900" y="393065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rgbClr val="154360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381506" y="384810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Источники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4504" y="4343400"/>
              <a:ext cx="23843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World Happiness Report (ВОЗ)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4504" y="4667250"/>
              <a:ext cx="2088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Killingsworth, PNAS (2021)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504" y="4991100"/>
              <a:ext cx="2374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Канеман и Дитон (2010, 2023)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32504" y="4343400"/>
              <a:ext cx="255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Селигман «Подлинное счастье»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32504" y="4667250"/>
              <a:ext cx="3055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Lyubomirsky, Sheldon &amp; Schkade (2005)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32504" y="4991100"/>
              <a:ext cx="1470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rgbClr val="1A1A1A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rgbClr val="1A1A1A"/>
                  </a:solidFill>
                  <a:latin typeface="Arial"/>
                  <a:ea typeface="Arial"/>
                  <a:cs typeface="Arial"/>
                </a:rPr>
                <a:t>Джидарьян (2013)</a:t>
              </a:r>
            </a:p>
          </p:txBody>
        </p:sp>
      </p:grpSp>
      <p:grpSp>
        <p:nvGrpSpPr>
          <p:cNvPr id="35" name="qr"/>
          <p:cNvGrpSpPr/>
          <p:nvPr/>
        </p:nvGrpSpPr>
        <p:grpSpPr>
          <a:xfrm>
            <a:off x="7048500" y="3695700"/>
            <a:ext cx="4191000" cy="2705100"/>
            <a:chOff x="7048500" y="3695700"/>
            <a:chExt cx="4191000" cy="2705100"/>
          </a:xfrm>
        </p:grpSpPr>
        <p:sp>
          <p:nvSpPr>
            <p:cNvPr id="32" name="Rectangle 32"/>
            <p:cNvSpPr/>
            <p:nvPr/>
          </p:nvSpPr>
          <p:spPr>
            <a:xfrm>
              <a:off x="7048500" y="3695700"/>
              <a:ext cx="4191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5374" y="387350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154360"/>
                  </a:solidFill>
                  <a:latin typeface="Arial"/>
                  <a:ea typeface="Arial"/>
                  <a:cs typeface="Arial"/>
                </a:rPr>
                <a:t>Полный список источников</a:t>
              </a:r>
            </a:p>
          </p:txBody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305300"/>
              <a:ext cx="1905000" cy="1905000"/>
            </a:xfrm>
            <a:prstGeom prst="rect">
              <a:avLst/>
            </a:prstGeom>
          </p:spPr>
        </p:pic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0304A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2C2C2C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appiness_concept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appiness_concept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2026-10-09T22:21:38Z</dcterms:created>
  <dcterms:modified xsi:type="dcterms:W3CDTF">2026-10-09T22:21:38Z</dcterms:modified>
  <cp:category/>
  <cp:contentStatus/>
</cp:coreProperties>
</file>