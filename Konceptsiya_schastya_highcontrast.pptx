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ru"/>
    </a:defPPr>
    <a:lvl1pPr marL="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ru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Здравствуйте. Тема моего доклада — концепция счастья: что делает людей счастливыми в современном мире. За последние десятилетия учёные выяснили: деньги, успех и даже образование не гарантируют счастья. Почему так? И что действительно важно? Разберёмся по порядку.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Цель — выяснить, что делает людей счастливыми. Три задачи: рассмотреть научные подходы, выявить ключевые факторы и дать практические рекомендации. Дальше разберём, почему эта тема важна.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Мы пройдём от философии к нейробиологии, от теорий к факторам, от данных к практическим выводам. Начнём с главного вопроса: почему счастье вообще стоит изучать?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Всемирная организация здравоохранения фиксирует рост депрессии. При этом средний уровень счастья не растёт. Парадокс: литературы о счастье всё больше, а счастливых людей меньше. Аристотель называл счастье «хорошим уделом». Что же такое счастье с научной точки зрения?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 психологии счастье — это субъективное благополучие. Оно включает оценку жизни и эмоции. Существует четыре подхода: психоанализ Юнга, когнитивный, позитивный и био-психо-социальный. Барбара Фредриксон доказала: позитивные эмоции расширяют мышление и накапливают ресурсы. Какие системы мозга за это отвечают?</a:t>
            </a:r>
          </a:p>
          <a:p>
            <a:pPr/>
            <a:endParaRPr lang="ru" dirty="0"/>
          </a:p>
          <a:p>
            <a:pPr/>
            <a:r>
              <a:rPr lang="ru" dirty="0"/>
              <a:t>В русской традиции проблему счастья разрабатывали С. Л. Рубинштейн (счастье как связь с философией и психологией, «Бытие и сознание», 1957) и Д. А. Леонтьев (смысл жизни и жизненные ориентации, «Психология смысла», 2003).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Четыре ключевых нейромедиатора. Дофамин отвечает за предвкушение и мотивацию, серотонин — за настроение и сон, эндорфины — за лёгкость, окситоцин — за доверие и близость. Кент Берридж разделил liking и wanting — это открытие 1998 года. Как понимали счастье раньше?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Аристотель определил счастье как эвдемонию. Стоики — как внутреннее спокойствие. Фома Аквинский — как дар Божий. Просвещение провозгласило его естественным правом. Утилитаризм — максимизацией удовольствия. Двадцать первый век — многомерным феноменом.</a:t>
            </a:r>
          </a:p>
          <a:p>
            <a:pPr/>
            <a:endParaRPr lang="ru" dirty="0"/>
          </a:p>
          <a:p>
            <a:pPr/>
            <a:r>
              <a:rPr lang="ru" dirty="0"/>
              <a:t>Русская традиция добавляет свои голоса. Никон Оптинский писал: «Счастью моему нет предела, я наконец узнал, что такое Царствие Божие внутри вас есть». Мученик Евстратий говорил: «Мучение это суть радость». Братья Стругацкие в «Понедельнике начинается в субботу» иронично заметили: «Счастье есть отсутствие несчастья». В Томске даже стоит памятник счастью — символ того, что счастье есть культурный феномен, а представление о нём менялось от эпохи к эпохе.</a:t>
            </a:r>
          </a:p>
          <a:p>
            <a:pPr/>
            <a:endParaRPr lang="ru" dirty="0"/>
          </a:p>
          <a:p>
            <a:pPr/>
            <a:r>
              <a:rPr lang="ru" dirty="0"/>
              <a:t>Какие два подхода конкурируют сегодня?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Гедонизм: счастье как максимум удовольствия, но есть риск быстрого привыкания. Эвдемония: счастье как смысл и добродетели, результат устойчивее. Канадский психолог Гордон Ньюфелд говорил: счастье находится по ту сторону слёз. Как измерить счастье в процентах?</a:t>
            </a:r>
          </a:p>
          <a:p>
            <a:pPr/>
            <a:endParaRPr lang="ru" dirty="0"/>
          </a:p>
          <a:p>
            <a:pPr/>
            <a:r>
              <a:rPr lang="ru" dirty="0"/>
              <a:t>Философский контекст. Спор о гедонии и эвдемонии — один из древнейших в этике. Аристотель определял эвдемонию не как пассивное состояние, а как «деятельность души в полноте добродетели» — жизнь по разуму в стремлении к совершенству (Eudaimonia). Гедония же — это удовольствие и отсутствие страданий (Hedone). Иными словами, вопрос «что такое счастье» был поставлен философией задолго до психологии, и уже тогда стало ясно: быстрое удовольствие и устойчивый смысл — это разные вещи. Как измерить счастье в процентах? Но их относительная важность зависит от человека и ситуации.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Мартин Селигман вывел формулу: пятьдесят процентов генетика, сорок процентов действия, десять процентов обстоятельства. Соня Любомирски назвала это теорией сорока процентов. Но мета-анализ Рорера и Шмукле 2018 года уточняет: гены и среда взаимодействуют, а не суммируются. Что реально влияет на счастье? Формула впервые предложена Lyubomirsky, Sheldon &amp; Schkade (2005). Это иллюстративная модель, а не универсальный закон: наследуемость и вклад действий оцениваются по-разному.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Гарвардское исследование длиной восемьдесят пять лет показало: качество отношений — сильнейший предиктор счастья. Другие факторы: здоровье, осмысленность, благодарность и состояние потока по Чиксентмихайи.</a:t>
            </a:r>
          </a:p>
          <a:p>
            <a:pPr/>
            <a:endParaRPr lang="ru" dirty="0"/>
          </a:p>
          <a:p>
            <a:pPr/>
            <a:r>
              <a:rPr lang="ru" dirty="0"/>
              <a:t>Три книги помогают это понять. Джонатан Хайдт, «Гипотеза счастья: поиск современной истины в древней мудрости» (2006), сравнивает душу с наездником на слоне: разум направляет, но эмоции сильнее. Лоретта Бройнинг, «Гормоны счастья. Приучите свой мозг вырабатывать серотонин, дофамин, эндорфин и окситоцин», объясняет химию этих нейромедиаторов. Михай Чиксентмихайи, «Психология оптимального переживания», описывает поток — полную вовлечённость, в которой время исчезает.</a:t>
            </a:r>
          </a:p>
          <a:p>
            <a:pPr/>
            <a:endParaRPr lang="ru" dirty="0"/>
          </a:p>
          <a:p>
            <a:pPr/>
            <a:r>
              <a:rPr lang="ru" dirty="0"/>
              <a:t>Промежуточный вывод: для большинства людей, по данным Harvard Study, качество отношений — важнейший фактор, но деньги тоже важны до определённого уровня.</a:t>
            </a:r>
          </a:p>
          <a:p>
            <a:pPr/>
            <a:endParaRPr lang="ru" dirty="0"/>
          </a:p>
          <a:p>
            <a:pPr/>
            <a:r>
              <a:rPr lang="ru" dirty="0"/>
              <a:t>В русской психологии проблему счастья и настроения развивали И. А. Джидарьян («Психология счастья и оптимизма», 2013), Л. В. Куликов («Психология настроения», 1997) и В. А. Петровский (идея «состояния потока» в отечественной традиции).</a:t>
            </a:r>
          </a:p>
          <a:p>
            <a:pPr/>
            <a:endParaRPr lang="ru" dirty="0"/>
          </a:p>
          <a:p>
            <a:pPr/>
            <a:r>
              <a:rPr lang="ru" dirty="0"/>
              <a:t>А что насчёт денег?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Парадокс Истерлина: рост дохода не всегда ведёт к росту счастья. Канеман и Дитон в 2010 году показали порог в семьдесят пять тысяч долларов. Но Киллингсворт в 2021 году выяснил: счастье растёт и дальше. В 2023 году Канеман и Киллингсворт выпустили совместную работу: плато — только у двадцати процентов самых несчастных. А как насчёт образования?</a:t>
            </a:r>
          </a:p>
          <a:p>
            <a:pPr/>
            <a:endParaRPr lang="ru" dirty="0"/>
          </a:p>
          <a:p>
            <a:pPr/>
            <a:r>
              <a:rPr lang="ru" dirty="0"/>
              <a:t>Философский контекст. Ещё в античности спорили, делает ли богатство счастливым. Аристотель считал, что умеренное благосостояние — условие достойной жизни, но не её цель: добродетель и разум важнее накопления. Эпикур, которого часто понимают неверно, учил довольствоваться малым и искать не роскошь, а спокойствие души (атараксию). Стоики, прежде всего Сенека, прямо писали: счастье зависит от нашего отношения к вещам, а не от их количества. Поэтому «плато» на графике дохода — это эмпирическое подтверждение старой философской мысли: деньги нужны до определённого предела, а дальше решает то, как мы распоряжаемся жизнью. А как насчёт образования?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Связь счастья и образования нелинейна. Самая низкая удовлетворённость — у людей со средним специальным образованием. Причины: завышенные ожидания и ограниченные возможности. А что с цифровой средой?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Соцсети дают связь, поддержку, доступ к знаниям и онлайн-терапию. Но провоцируют сравнение, страх упустить, падение самооценки и плохой сон. Осознанное потребление и цифровой детокс повышают благополучие. Что делать конкретно?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Шесть конкретных шагов: инвестировать в отношения, практиковать благодарность, заниматься спортом, медитировать, ставить цели и ограничить соцсети. Каждый шаг подтверждён научными исследованиями.</a:t>
            </a:r>
          </a:p>
          <a:p>
            <a:pPr/>
            <a:endParaRPr lang="ru" dirty="0"/>
          </a:p>
          <a:p>
            <a:pPr/>
            <a:r>
              <a:rPr lang="ru" dirty="0"/>
              <a:t>Дополняет их список из статьи портала Apteka — пять шагов к счастью. Первый: признать истину — жизнь не обязана быть фейерверком радости. Второй: избавиться от обид, простить и отпустить. Третий: проживать все эмоции, включая негативные. Четвёртый: благодарность, фокус на хорошем. Пятый: искренность в общении, тёплые связи.</a:t>
            </a:r>
          </a:p>
          <a:p>
            <a:pPr/>
            <a:endParaRPr lang="ru" dirty="0"/>
          </a:p>
          <a:p>
            <a:pPr/>
            <a:r>
              <a:rPr lang="ru" dirty="0"/>
              <a:t>И важная мысль: призвание не обязательно связано с работой. Даже нелюбимая работа может приносить пользу, если видеть в ней смысл. Академик Сергей Смирнов говорил о ценности семьи как опоры человека.</a:t>
            </a:r>
          </a:p>
          <a:p>
            <a:pPr/>
            <a:endParaRPr lang="ru" dirty="0"/>
          </a:p>
          <a:p>
            <a:pPr/>
            <a:r>
              <a:rPr lang="ru" dirty="0"/>
              <a:t>В основе этих шагов — идея активности как основы личности (С. Л. Рубинштейн) и развития через деятельность (Л. С. Выготский): счастье растёт из того, что мы делаем, а не только из того, что с нами происходит.</a:t>
            </a:r>
          </a:p>
          <a:p>
            <a:pPr/>
            <a:endParaRPr lang="ru" dirty="0"/>
          </a:p>
          <a:p>
            <a:pPr/>
            <a:r>
              <a:rPr lang="ru" dirty="0"/>
              <a:t>Итог — в следующем слайде.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многомерный феномен. Оно зависит от генов, обстоятельств и наших действий. Главный фактор — качество отношений. Деньги важны только до определённого уровня. Смысл устойчивее удовольствия. Счастье — это навык, который можно развивать. Полный список источников — по QR-коду. Счастье можно развивать через практики, но генетика и обстоятельства тоже влияют.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appiness_conce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appiness_conce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ru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ru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"/>
      </a:defPPr>
      <a:lvl1pPr marL="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18ade41bd9de0e7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d4a9df1376ac73e.jp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2f55618fceb4ce6.jp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21692c47bf8da53.jpg"/>
  <Relationship Id="rId3" Type="http://schemas.openxmlformats.org/officeDocument/2006/relationships/image" Target="../media/image_a4bd17c0a4ce7cc8.gif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44499b2209e30ac.jpg"/>
  <Relationship Id="rId3" Type="http://schemas.openxmlformats.org/officeDocument/2006/relationships/image" Target="../media/image_a6c36e00f88891c6.jpg"/>
  <Relationship Id="rId4" Type="http://schemas.openxmlformats.org/officeDocument/2006/relationships/image" Target="../media/image_852cb707c4f2b7ad.jpg"/>
  <Relationship Id="rId5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59ada776e4b6156.jp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daedaf61ee7641.jpg"/>
  <Relationship Id="rId3" Type="http://schemas.openxmlformats.org/officeDocument/2006/relationships/image" Target="../media/image_2222c98a7936cd44.jp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3b3bfd2e122e64d.jp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e0a04665911cb4d.jp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3e39d10fae920a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d3fe47d56c9303.jp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943bc3fa4d211d5.jpg"/>
  <Relationship Id="rId3" Type="http://schemas.openxmlformats.org/officeDocument/2006/relationships/image" Target="../media/image_f09c644b6901cd77.png"/>
  <Relationship Id="rId4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>
            <a:picLocks noChangeAspect="1"/>
          </p:cNvPicPr>
          <p:nvPr/>
        </p:nvPicPr>
        <p:blipFill>
          <a:blip r:embed="rId2"/>
          <a:srcRect l="0" t="5003" r="0" b="5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86000"/>
                </a:srgbClr>
              </a:gs>
              <a:gs pos="100000">
                <a:srgbClr val="EFE1C9">
                  <a:alpha val="86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6" name="cover-decor"/>
          <p:cNvGrpSpPr/>
          <p:nvPr/>
        </p:nvGrpSpPr>
        <p:grpSpPr>
          <a:xfrm>
            <a:off x="0" y="0"/>
            <a:ext cx="12477750" cy="7143750"/>
            <a:chOff x="0" y="0"/>
            <a:chExt cx="12477750" cy="7143750"/>
          </a:xfrm>
        </p:grpSpPr>
        <p:sp>
          <p:nvSpPr>
            <p:cNvPr id="4" name="cover-orb"/>
            <p:cNvSpPr/>
            <p:nvPr/>
          </p:nvSpPr>
          <p:spPr>
            <a:xfrm>
              <a:off x="8096250" y="2762250"/>
              <a:ext cx="4381500" cy="438150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5" name="cover-accent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E8449"/>
            </a:solidFill>
            <a:ln>
              <a:noFill/>
            </a:ln>
          </p:spPr>
        </p:sp>
      </p:grpSp>
      <p:grpSp>
        <p:nvGrpSpPr>
          <p:cNvPr id="9" name="cover-header"/>
          <p:cNvGrpSpPr/>
          <p:nvPr/>
        </p:nvGrpSpPr>
        <p:grpSpPr>
          <a:xfrm>
            <a:off x="745236" y="1130300"/>
            <a:ext cx="7982493" cy="2309114"/>
            <a:chOff x="745236" y="1130300"/>
            <a:chExt cx="7982493" cy="2309114"/>
          </a:xfrm>
        </p:grpSpPr>
        <p:sp>
          <p:nvSpPr>
            <p:cNvPr id="7" name="TextBox 7"/>
            <p:cNvSpPr txBox="1"/>
            <p:nvPr/>
          </p:nvSpPr>
          <p:spPr>
            <a:xfrm>
              <a:off x="753618" y="1130300"/>
              <a:ext cx="79741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spc="1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РОСТОВСКИЙ-НА-ДОНУ КОЛЛЕДЖ СВЯЗИ И ИНФОРМАТИКИ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236" y="1612900"/>
              <a:ext cx="6760251" cy="18265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Концепция счастья:</a:t>
              </a:r>
              <a:b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</a:br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что делает людей счастливыми</a:t>
              </a:r>
              <a:b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</a:br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в современном мире?</a:t>
              </a:r>
            </a:p>
          </p:txBody>
        </p:sp>
      </p:grpSp>
      <p:grpSp>
        <p:nvGrpSpPr>
          <p:cNvPr id="17" name="cover-logo"/>
          <p:cNvGrpSpPr/>
          <p:nvPr/>
        </p:nvGrpSpPr>
        <p:grpSpPr>
          <a:xfrm>
            <a:off x="9852666" y="800100"/>
            <a:ext cx="1535419" cy="2081657"/>
            <a:chOff x="9852666" y="800100"/>
            <a:chExt cx="1535419" cy="2081657"/>
          </a:xfrm>
        </p:grpSpPr>
        <p:sp>
          <p:nvSpPr>
            <p:cNvPr id="10" name="Ellipse 10"/>
            <p:cNvSpPr/>
            <p:nvPr/>
          </p:nvSpPr>
          <p:spPr>
            <a:xfrm>
              <a:off x="9991725" y="800100"/>
              <a:ext cx="1257300" cy="1257300"/>
            </a:xfrm>
            <a:prstGeom prst="ellipse">
              <a:avLst/>
            </a:prstGeom>
            <a:solidFill>
              <a:srgbClr val="154360">
                <a:alpha val="92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086975" y="895350"/>
              <a:ext cx="1066800" cy="1066800"/>
            </a:xfrm>
            <a:prstGeom prst="ellipse">
              <a:avLst/>
            </a:prstGeom>
            <a:noFill/>
            <a:ln w="38100">
              <a:solidFill>
                <a:srgbClr val="FFFFFF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414000" y="1284288"/>
              <a:ext cx="412751" cy="288925"/>
              <a:chOff x="10414000" y="1284288"/>
              <a:chExt cx="412751" cy="2889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414000" y="1284288"/>
                <a:ext cx="412751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1" h="206375">
                    <a:moveTo>
                      <a:pt x="412751" y="82550"/>
                    </a:moveTo>
                    <a:lnTo>
                      <a:pt x="206375" y="0"/>
                    </a:lnTo>
                    <a:lnTo>
                      <a:pt x="0" y="82550"/>
                    </a:lnTo>
                    <a:lnTo>
                      <a:pt x="206375" y="165100"/>
                    </a:lnTo>
                    <a:lnTo>
                      <a:pt x="412751" y="82550"/>
                    </a:lnTo>
                    <a:lnTo>
                      <a:pt x="412751" y="206375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96550" y="1399858"/>
                <a:ext cx="247650" cy="17335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73355">
                    <a:moveTo>
                      <a:pt x="0" y="0"/>
                    </a:moveTo>
                    <a:lnTo>
                      <a:pt x="0" y="111443"/>
                    </a:lnTo>
                    <a:cubicBezTo>
                      <a:pt x="0" y="145636"/>
                      <a:pt x="55438" y="173355"/>
                      <a:pt x="123825" y="173355"/>
                    </a:cubicBezTo>
                    <a:cubicBezTo>
                      <a:pt x="192212" y="173355"/>
                      <a:pt x="247650" y="145636"/>
                      <a:pt x="247650" y="111443"/>
                    </a:cubicBezTo>
                    <a:lnTo>
                      <a:pt x="247650" y="0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144185" y="2146300"/>
              <a:ext cx="9523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24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РКСИ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2666" y="2559050"/>
              <a:ext cx="1535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колледж связи</a:t>
              </a:r>
            </a:p>
          </p:txBody>
        </p:sp>
      </p:grpSp>
      <p:grpSp>
        <p:nvGrpSpPr>
          <p:cNvPr id="21" name="cover-author"/>
          <p:cNvGrpSpPr/>
          <p:nvPr/>
        </p:nvGrpSpPr>
        <p:grpSpPr>
          <a:xfrm>
            <a:off x="762000" y="3905250"/>
            <a:ext cx="4749125" cy="1428750"/>
            <a:chOff x="762000" y="3905250"/>
            <a:chExt cx="4749125" cy="1428750"/>
          </a:xfrm>
        </p:grpSpPr>
        <p:sp>
          <p:nvSpPr>
            <p:cNvPr id="18" name="Rectangle 18"/>
            <p:cNvSpPr/>
            <p:nvPr/>
          </p:nvSpPr>
          <p:spPr>
            <a:xfrm>
              <a:off x="762000" y="39052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1E844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4608" y="3956050"/>
              <a:ext cx="44565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Сабадаш Павел Андреевич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418" y="4375150"/>
              <a:ext cx="350235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Группа ИС-24</a:t>
              </a:r>
              <a:b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Защита учебной презентации, 2026</a:t>
              </a:r>
            </a:p>
          </p:txBody>
        </p:sp>
      </p:grpSp>
      <p:grpSp>
        <p:nvGrpSpPr>
          <p:cNvPr id="23" name="cover-question"/>
          <p:cNvGrpSpPr/>
          <p:nvPr/>
        </p:nvGrpSpPr>
        <p:grpSpPr>
          <a:xfrm>
            <a:off x="749808" y="5975350"/>
            <a:ext cx="6581046" cy="469392"/>
            <a:chOff x="749808" y="5975350"/>
            <a:chExt cx="6581046" cy="469392"/>
          </a:xfrm>
        </p:grpSpPr>
        <p:sp>
          <p:nvSpPr>
            <p:cNvPr id="22" name="TextBox 22"/>
            <p:cNvSpPr txBox="1"/>
            <p:nvPr/>
          </p:nvSpPr>
          <p:spPr>
            <a:xfrm>
              <a:off x="749808" y="5975350"/>
              <a:ext cx="65810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i="1" dirty="0">
                  <a:solidFill>
                    <a:srgbClr val="CA6F1E"/>
                  </a:solidFill>
                  <a:latin typeface="Arial"/>
                  <a:ea typeface="Arial"/>
                  <a:cs typeface="Arial"/>
                </a:rPr>
                <a:t>Почему деньги не гарантируют счастья?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2-photo"/>
          <p:cNvPicPr>
            <a:picLocks noChangeAspect="1"/>
          </p:cNvPicPr>
          <p:nvPr/>
        </p:nvPicPr>
        <p:blipFill>
          <a:blip r:embed="rId2"/>
          <a:srcRect l="0" t="7858" r="0" b="78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93226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6094066" cy="645414"/>
            <a:chOff x="745236" y="603250"/>
            <a:chExt cx="6094066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609406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Зачем мы об этом говорим</a:t>
              </a:r>
            </a:p>
          </p:txBody>
        </p:sp>
      </p:grpSp>
      <p:grpSp>
        <p:nvGrpSpPr>
          <p:cNvPr id="14" name="goal"/>
          <p:cNvGrpSpPr/>
          <p:nvPr/>
        </p:nvGrpSpPr>
        <p:grpSpPr>
          <a:xfrm>
            <a:off x="762000" y="1619250"/>
            <a:ext cx="4953000" cy="4095750"/>
            <a:chOff x="762000" y="1619250"/>
            <a:chExt cx="4953000" cy="4095750"/>
          </a:xfrm>
        </p:grpSpPr>
        <p:sp>
          <p:nvSpPr>
            <p:cNvPr id="7" name="Rectangle 7"/>
            <p:cNvSpPr/>
            <p:nvPr/>
          </p:nvSpPr>
          <p:spPr>
            <a:xfrm>
              <a:off x="762000" y="1619250"/>
              <a:ext cx="4953000" cy="4095750"/>
            </a:xfrm>
            <a:prstGeom prst="roundRect">
              <a:avLst>
                <a:gd name="adj" fmla="val 4186"/>
              </a:avLst>
            </a:prstGeom>
            <a:solidFill>
              <a:srgbClr val="CA6F1E">
                <a:alpha val="12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223962" y="2100262"/>
              <a:ext cx="485774" cy="485774"/>
              <a:chOff x="1223962" y="2100262"/>
              <a:chExt cx="485774" cy="48577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439862" y="231616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53975">
                <a:solidFill>
                  <a:srgbClr val="CA6F1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31912" y="2208212"/>
                <a:ext cx="269875" cy="269875"/>
              </a:xfrm>
              <a:custGeom>
                <a:avLst/>
                <a:gdLst/>
                <a:ahLst/>
                <a:cxnLst/>
                <a:rect l="l" t="t" r="r" b="b"/>
                <a:pathLst>
                  <a:path w="269875" h="269875">
                    <a:moveTo>
                      <a:pt x="0" y="134937"/>
                    </a:moveTo>
                    <a:cubicBezTo>
                      <a:pt x="0" y="209461"/>
                      <a:pt x="60414" y="269875"/>
                      <a:pt x="134937" y="269875"/>
                    </a:cubicBezTo>
                    <a:cubicBezTo>
                      <a:pt x="209461" y="269875"/>
                      <a:pt x="269875" y="209461"/>
                      <a:pt x="269875" y="134937"/>
                    </a:cubicBezTo>
                    <a:cubicBezTo>
                      <a:pt x="269875" y="60414"/>
                      <a:pt x="209461" y="0"/>
                      <a:pt x="134937" y="0"/>
                    </a:cubicBezTo>
                    <a:cubicBezTo>
                      <a:pt x="60414" y="0"/>
                      <a:pt x="0" y="60414"/>
                      <a:pt x="0" y="134937"/>
                    </a:cubicBezTo>
                  </a:path>
                </a:pathLst>
              </a:custGeom>
              <a:noFill/>
              <a:ln w="53975">
                <a:solidFill>
                  <a:srgbClr val="CA6F1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23962" y="2100262"/>
                <a:ext cx="485774" cy="485774"/>
              </a:xfrm>
              <a:custGeom>
                <a:avLst/>
                <a:gdLst/>
                <a:ahLst/>
                <a:cxnLst/>
                <a:rect l="l" t="t" r="r" b="b"/>
                <a:pathLst>
                  <a:path w="485774" h="485774">
                    <a:moveTo>
                      <a:pt x="0" y="242887"/>
                    </a:moveTo>
                    <a:cubicBezTo>
                      <a:pt x="0" y="377030"/>
                      <a:pt x="108744" y="485774"/>
                      <a:pt x="242887" y="485774"/>
                    </a:cubicBezTo>
                    <a:cubicBezTo>
                      <a:pt x="377030" y="485774"/>
                      <a:pt x="485774" y="377030"/>
                      <a:pt x="485774" y="242887"/>
                    </a:cubicBezTo>
                    <a:cubicBezTo>
                      <a:pt x="485774" y="108744"/>
                      <a:pt x="377030" y="0"/>
                      <a:pt x="242887" y="0"/>
                    </a:cubicBezTo>
                    <a:cubicBezTo>
                      <a:pt x="108744" y="0"/>
                      <a:pt x="0" y="108744"/>
                      <a:pt x="0" y="242887"/>
                    </a:cubicBezTo>
                  </a:path>
                </a:pathLst>
              </a:custGeom>
              <a:noFill/>
              <a:ln w="53975">
                <a:solidFill>
                  <a:srgbClr val="CA6F1E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2002536" y="2089150"/>
              <a:ext cx="135627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ЦЕЛЬ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111500"/>
              <a:ext cx="4038356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Выяснить, что делает людей</a:t>
              </a:r>
              <a:b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счастливыми в современном мире</a:t>
              </a:r>
            </a:p>
          </p:txBody>
        </p:sp>
      </p:grpSp>
      <p:grpSp>
        <p:nvGrpSpPr>
          <p:cNvPr id="24" name="tasks"/>
          <p:cNvGrpSpPr/>
          <p:nvPr/>
        </p:nvGrpSpPr>
        <p:grpSpPr>
          <a:xfrm>
            <a:off x="6096000" y="1619250"/>
            <a:ext cx="5334000" cy="3867150"/>
            <a:chOff x="6096000" y="1619250"/>
            <a:chExt cx="5334000" cy="3867150"/>
          </a:xfrm>
        </p:grpSpPr>
        <p:sp>
          <p:nvSpPr>
            <p:cNvPr id="15" name="Rectangle 15"/>
            <p:cNvSpPr/>
            <p:nvPr/>
          </p:nvSpPr>
          <p:spPr>
            <a:xfrm>
              <a:off x="6096000" y="16192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82868" y="19113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Задача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82106" y="2305050"/>
              <a:ext cx="3860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Рассмотреть научные подходы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297180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82868" y="326390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Задача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82106" y="3657600"/>
              <a:ext cx="3589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Выявить ключевые факторы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0" y="43243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82868" y="46164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Задача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2106" y="5010150"/>
              <a:ext cx="4117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Дать практические рекомендации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pSp>
        <p:nvGrpSpPr>
          <p:cNvPr id="28" name="credits"/>
          <p:cNvGrpSpPr/>
          <p:nvPr/>
        </p:nvGrpSpPr>
        <p:grpSpPr>
          <a:xfrm>
            <a:off x="756285" y="6604000"/>
            <a:ext cx="1973338" cy="220028"/>
            <a:chOff x="756285" y="6604000"/>
            <a:chExt cx="1973338" cy="220028"/>
          </a:xfrm>
        </p:grpSpPr>
        <p:sp>
          <p:nvSpPr>
            <p:cNvPr id="27" name="TextBox 27"/>
            <p:cNvSpPr txBox="1"/>
            <p:nvPr/>
          </p:nvSpPr>
          <p:spPr>
            <a:xfrm>
              <a:off x="756285" y="6604000"/>
              <a:ext cx="19733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Wacky1976 (CC BY-SA 4.0)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3914137" cy="645414"/>
            <a:chOff x="745236" y="603250"/>
            <a:chExt cx="3914137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391413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Что мы разберём</a:t>
              </a:r>
            </a:p>
          </p:txBody>
        </p:sp>
      </p:grpSp>
      <p:grpSp>
        <p:nvGrpSpPr>
          <p:cNvPr id="66" name="toc"/>
          <p:cNvGrpSpPr/>
          <p:nvPr/>
        </p:nvGrpSpPr>
        <p:grpSpPr>
          <a:xfrm>
            <a:off x="762000" y="1809750"/>
            <a:ext cx="10791825" cy="3409950"/>
            <a:chOff x="762000" y="1809750"/>
            <a:chExt cx="10791825" cy="3409950"/>
          </a:xfrm>
        </p:grpSpPr>
        <p:sp>
          <p:nvSpPr>
            <p:cNvPr id="7" name="Rectangle 7"/>
            <p:cNvSpPr/>
            <p:nvPr/>
          </p:nvSpPr>
          <p:spPr>
            <a:xfrm>
              <a:off x="76200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26319" y="2092325"/>
              <a:ext cx="328613" cy="292101"/>
            </a:xfrm>
            <a:custGeom>
              <a:avLst/>
              <a:gdLst/>
              <a:ahLst/>
              <a:cxnLst/>
              <a:rect l="l" t="t" r="r" b="b"/>
              <a:pathLst>
                <a:path w="328613" h="292101">
                  <a:moveTo>
                    <a:pt x="0" y="146050"/>
                  </a:moveTo>
                  <a:lnTo>
                    <a:pt x="73025" y="146050"/>
                  </a:lnTo>
                  <a:lnTo>
                    <a:pt x="127794" y="292101"/>
                  </a:lnTo>
                  <a:lnTo>
                    <a:pt x="200819" y="0"/>
                  </a:lnTo>
                  <a:lnTo>
                    <a:pt x="255588" y="146050"/>
                  </a:lnTo>
                  <a:lnTo>
                    <a:pt x="328613" y="146050"/>
                  </a:lnTo>
                </a:path>
              </a:pathLst>
            </a:custGeom>
            <a:noFill/>
            <a:ln w="36513">
              <a:solidFill>
                <a:srgbClr val="1E844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0882" y="2584450"/>
              <a:ext cx="20796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Зачем изучать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3168" y="2978150"/>
              <a:ext cx="213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данные о депрессии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9567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759994" y="2074069"/>
              <a:ext cx="328613" cy="319882"/>
              <a:chOff x="3759994" y="2074069"/>
              <a:chExt cx="328613" cy="31988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833019" y="2384426"/>
                <a:ext cx="182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563" h="9525">
                    <a:moveTo>
                      <a:pt x="0" y="0"/>
                    </a:moveTo>
                    <a:lnTo>
                      <a:pt x="182563" y="0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814763" y="2110581"/>
                <a:ext cx="219075" cy="18256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8256">
                    <a:moveTo>
                      <a:pt x="0" y="18256"/>
                    </a:moveTo>
                    <a:lnTo>
                      <a:pt x="109538" y="0"/>
                    </a:lnTo>
                    <a:lnTo>
                      <a:pt x="219075" y="18256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924300" y="2074069"/>
                <a:ext cx="9525" cy="31035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357">
                    <a:moveTo>
                      <a:pt x="0" y="0"/>
                    </a:moveTo>
                    <a:lnTo>
                      <a:pt x="0" y="310357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759994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979069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694557" y="2584450"/>
              <a:ext cx="24112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Научный подход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96843" y="2978150"/>
              <a:ext cx="15804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что такое SWB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2935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93669" y="2074069"/>
              <a:ext cx="328613" cy="328613"/>
              <a:chOff x="6493669" y="2074069"/>
              <a:chExt cx="328613" cy="32861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657975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28608" y="0"/>
                      <a:pt x="0" y="28608"/>
                      <a:pt x="0" y="63897"/>
                    </a:cubicBezTo>
                    <a:lnTo>
                      <a:pt x="0" y="82153"/>
                    </a:lnTo>
                    <a:cubicBezTo>
                      <a:pt x="0" y="117443"/>
                      <a:pt x="28608" y="146050"/>
                      <a:pt x="63897" y="146050"/>
                    </a:cubicBezTo>
                    <a:cubicBezTo>
                      <a:pt x="99186" y="146050"/>
                      <a:pt x="127794" y="117443"/>
                      <a:pt x="127794" y="82153"/>
                    </a:cubicBezTo>
                    <a:lnTo>
                      <a:pt x="127794" y="49292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30181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82153"/>
                    </a:lnTo>
                    <a:cubicBezTo>
                      <a:pt x="127794" y="117443"/>
                      <a:pt x="99186" y="146050"/>
                      <a:pt x="63897" y="146050"/>
                    </a:cubicBezTo>
                    <a:cubicBezTo>
                      <a:pt x="28608" y="146050"/>
                      <a:pt x="0" y="117443"/>
                      <a:pt x="0" y="82153"/>
                    </a:cubicBezTo>
                    <a:lnTo>
                      <a:pt x="0" y="49292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49257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9128" y="127794"/>
                    </a:moveTo>
                    <a:cubicBezTo>
                      <a:pt x="44417" y="127794"/>
                      <a:pt x="73025" y="99186"/>
                      <a:pt x="73025" y="63897"/>
                    </a:cubicBezTo>
                    <a:cubicBezTo>
                      <a:pt x="73025" y="28608"/>
                      <a:pt x="44417" y="0"/>
                      <a:pt x="912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57975" y="2074069"/>
                <a:ext cx="127794" cy="115015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15015">
                    <a:moveTo>
                      <a:pt x="127794" y="115015"/>
                    </a:moveTo>
                    <a:lnTo>
                      <a:pt x="127794" y="63897"/>
                    </a:lnTo>
                    <a:cubicBezTo>
                      <a:pt x="127794" y="28608"/>
                      <a:pt x="99186" y="0"/>
                      <a:pt x="63897" y="0"/>
                    </a:cubicBezTo>
                    <a:cubicBezTo>
                      <a:pt x="28608" y="0"/>
                      <a:pt x="0" y="28608"/>
                      <a:pt x="0" y="63897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93669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63897" y="127794"/>
                    </a:moveTo>
                    <a:cubicBezTo>
                      <a:pt x="28608" y="127794"/>
                      <a:pt x="0" y="99186"/>
                      <a:pt x="0" y="63897"/>
                    </a:cubicBezTo>
                    <a:cubicBezTo>
                      <a:pt x="0" y="28608"/>
                      <a:pt x="28608" y="0"/>
                      <a:pt x="63897" y="0"/>
                    </a:cubicBezTo>
                    <a:lnTo>
                      <a:pt x="73025" y="0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30181" y="2074069"/>
                <a:ext cx="127794" cy="24646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246460">
                    <a:moveTo>
                      <a:pt x="0" y="115015"/>
                    </a:moveTo>
                    <a:lnTo>
                      <a:pt x="0" y="63897"/>
                    </a:lnTo>
                    <a:cubicBezTo>
                      <a:pt x="0" y="28608"/>
                      <a:pt x="28608" y="0"/>
                      <a:pt x="63897" y="0"/>
                    </a:cubicBez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246460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428232" y="2584450"/>
              <a:ext cx="17418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Физиология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0518" y="2978150"/>
              <a:ext cx="17961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нейромедиаторы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6302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227344" y="2147094"/>
              <a:ext cx="328613" cy="182563"/>
              <a:chOff x="9227344" y="2147094"/>
              <a:chExt cx="328613" cy="18256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245600" y="2165350"/>
                <a:ext cx="292101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46050">
                    <a:moveTo>
                      <a:pt x="0" y="146050"/>
                    </a:moveTo>
                    <a:lnTo>
                      <a:pt x="109538" y="18256"/>
                    </a:lnTo>
                    <a:lnTo>
                      <a:pt x="200819" y="109538"/>
                    </a:ln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428163" y="2256632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336882" y="2165350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227344" y="229314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519444" y="214709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1E8449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161907" y="2584450"/>
              <a:ext cx="12139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История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64193" y="2978150"/>
              <a:ext cx="15180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от Аристотеля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26319" y="3883819"/>
              <a:ext cx="328613" cy="328613"/>
              <a:chOff x="1026319" y="3883819"/>
              <a:chExt cx="328613" cy="32861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26319" y="3883819"/>
                <a:ext cx="328613" cy="328613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328613">
                    <a:moveTo>
                      <a:pt x="0" y="164307"/>
                    </a:moveTo>
                    <a:cubicBezTo>
                      <a:pt x="0" y="255051"/>
                      <a:pt x="73563" y="328613"/>
                      <a:pt x="164307" y="328613"/>
                    </a:cubicBezTo>
                    <a:cubicBezTo>
                      <a:pt x="255051" y="328613"/>
                      <a:pt x="328613" y="255051"/>
                      <a:pt x="328613" y="164307"/>
                    </a:cubicBezTo>
                    <a:cubicBezTo>
                      <a:pt x="328613" y="73563"/>
                      <a:pt x="255051" y="0"/>
                      <a:pt x="164307" y="0"/>
                    </a:cubicBezTo>
                    <a:cubicBezTo>
                      <a:pt x="73563" y="0"/>
                      <a:pt x="0" y="73563"/>
                      <a:pt x="0" y="164307"/>
                    </a:cubicBez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5857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45394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44985" y="4102894"/>
                <a:ext cx="91281" cy="19178"/>
              </a:xfrm>
              <a:custGeom>
                <a:avLst/>
                <a:gdLst/>
                <a:ahLst/>
                <a:cxnLst/>
                <a:rect l="l" t="t" r="r" b="b"/>
                <a:pathLst>
                  <a:path w="91281" h="19178">
                    <a:moveTo>
                      <a:pt x="0" y="0"/>
                    </a:moveTo>
                    <a:cubicBezTo>
                      <a:pt x="12018" y="12266"/>
                      <a:pt x="28468" y="19178"/>
                      <a:pt x="45641" y="19178"/>
                    </a:cubicBezTo>
                    <a:cubicBezTo>
                      <a:pt x="62813" y="19178"/>
                      <a:pt x="79263" y="12266"/>
                      <a:pt x="91281" y="0"/>
                    </a:cubicBez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60882" y="43942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Гедонизм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3168" y="4787900"/>
              <a:ext cx="13303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и эвдемония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9567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3754905" y="3886958"/>
              <a:ext cx="330051" cy="330563"/>
              <a:chOff x="3754905" y="3886958"/>
              <a:chExt cx="330051" cy="33056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3754905" y="3886958"/>
                <a:ext cx="330051" cy="330563"/>
              </a:xfrm>
              <a:custGeom>
                <a:avLst/>
                <a:gdLst/>
                <a:ahLst/>
                <a:cxnLst/>
                <a:rect l="l" t="t" r="r" b="b"/>
                <a:pathLst>
                  <a:path w="330051" h="330563">
                    <a:moveTo>
                      <a:pt x="132883" y="512"/>
                    </a:moveTo>
                    <a:cubicBezTo>
                      <a:pt x="53833" y="18838"/>
                      <a:pt x="0" y="92126"/>
                      <a:pt x="6156" y="173038"/>
                    </a:cubicBezTo>
                    <a:cubicBezTo>
                      <a:pt x="12311" y="253950"/>
                      <a:pt x="76613" y="318251"/>
                      <a:pt x="157524" y="324407"/>
                    </a:cubicBezTo>
                    <a:cubicBezTo>
                      <a:pt x="238436" y="330563"/>
                      <a:pt x="311725" y="276729"/>
                      <a:pt x="330051" y="197680"/>
                    </a:cubicBezTo>
                    <a:cubicBezTo>
                      <a:pt x="330051" y="187597"/>
                      <a:pt x="321877" y="179424"/>
                      <a:pt x="311794" y="179424"/>
                    </a:cubicBezTo>
                    <a:lnTo>
                      <a:pt x="187652" y="179424"/>
                    </a:lnTo>
                    <a:cubicBezTo>
                      <a:pt x="167486" y="179424"/>
                      <a:pt x="151139" y="163076"/>
                      <a:pt x="151139" y="142911"/>
                    </a:cubicBezTo>
                    <a:lnTo>
                      <a:pt x="151139" y="15117"/>
                    </a:lnTo>
                    <a:cubicBezTo>
                      <a:pt x="150681" y="10748"/>
                      <a:pt x="148492" y="6745"/>
                      <a:pt x="145062" y="4001"/>
                    </a:cubicBezTo>
                    <a:cubicBezTo>
                      <a:pt x="141632" y="1256"/>
                      <a:pt x="137246" y="0"/>
                      <a:pt x="132883" y="512"/>
                    </a:cubicBez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979069" y="3892947"/>
                <a:ext cx="100410" cy="100410"/>
              </a:xfrm>
              <a:custGeom>
                <a:avLst/>
                <a:gdLst/>
                <a:ahLst/>
                <a:cxnLst/>
                <a:rect l="l" t="t" r="r" b="b"/>
                <a:pathLst>
                  <a:path w="100410" h="100410">
                    <a:moveTo>
                      <a:pt x="0" y="0"/>
                    </a:moveTo>
                    <a:cubicBezTo>
                      <a:pt x="46952" y="16532"/>
                      <a:pt x="83877" y="53458"/>
                      <a:pt x="100410" y="100410"/>
                    </a:cubicBezTo>
                    <a:lnTo>
                      <a:pt x="18256" y="100410"/>
                    </a:lnTo>
                    <a:cubicBezTo>
                      <a:pt x="8174" y="100410"/>
                      <a:pt x="0" y="92236"/>
                      <a:pt x="0" y="82153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3694557" y="4394200"/>
              <a:ext cx="13215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Формула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96843" y="4787900"/>
              <a:ext cx="8814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50/40/10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2935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511925" y="3938588"/>
              <a:ext cx="292101" cy="246856"/>
              <a:chOff x="6511925" y="3938588"/>
              <a:chExt cx="292101" cy="24685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511925" y="4175919"/>
                <a:ext cx="2921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9525">
                    <a:moveTo>
                      <a:pt x="0" y="0"/>
                    </a:move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11925" y="3938588"/>
                <a:ext cx="292101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64307">
                    <a:moveTo>
                      <a:pt x="0" y="164307"/>
                    </a:moveTo>
                    <a:lnTo>
                      <a:pt x="73025" y="54769"/>
                    </a:lnTo>
                    <a:lnTo>
                      <a:pt x="146050" y="91281"/>
                    </a:lnTo>
                    <a:lnTo>
                      <a:pt x="219075" y="0"/>
                    </a:lnTo>
                    <a:lnTo>
                      <a:pt x="292101" y="73025"/>
                    </a:lnTo>
                  </a:path>
                </a:pathLst>
              </a:custGeom>
              <a:noFill/>
              <a:ln w="36513">
                <a:solidFill>
                  <a:srgbClr val="CA6F1E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428232" y="4394200"/>
              <a:ext cx="11305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Данные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30518" y="4787900"/>
              <a:ext cx="1533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доход и школа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96302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234683" y="3883819"/>
              <a:ext cx="313898" cy="326604"/>
              <a:chOff x="9234683" y="3883819"/>
              <a:chExt cx="313898" cy="326604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9282113" y="3883819"/>
                <a:ext cx="21907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219075">
                    <a:moveTo>
                      <a:pt x="0" y="109538"/>
                    </a:moveTo>
                    <a:cubicBezTo>
                      <a:pt x="0" y="170034"/>
                      <a:pt x="49042" y="219075"/>
                      <a:pt x="109538" y="219075"/>
                    </a:cubicBezTo>
                    <a:cubicBezTo>
                      <a:pt x="170034" y="219075"/>
                      <a:pt x="219075" y="170034"/>
                      <a:pt x="219075" y="109538"/>
                    </a:cubicBezTo>
                    <a:cubicBezTo>
                      <a:pt x="219075" y="49042"/>
                      <a:pt x="170034" y="0"/>
                      <a:pt x="109538" y="0"/>
                    </a:cubicBezTo>
                    <a:cubicBezTo>
                      <a:pt x="49042" y="0"/>
                      <a:pt x="0" y="49042"/>
                      <a:pt x="0" y="109538"/>
                    </a:cubicBezTo>
                  </a:path>
                </a:pathLst>
              </a:custGeom>
              <a:noFill/>
              <a:ln w="36513">
                <a:solidFill>
                  <a:srgbClr val="A93226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391650" y="4048125"/>
                <a:ext cx="156931" cy="162298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98">
                    <a:moveTo>
                      <a:pt x="0" y="54769"/>
                    </a:moveTo>
                    <a:lnTo>
                      <a:pt x="62071" y="162298"/>
                    </a:lnTo>
                    <a:lnTo>
                      <a:pt x="91245" y="103276"/>
                    </a:lnTo>
                    <a:lnTo>
                      <a:pt x="156931" y="107511"/>
                    </a:lnTo>
                    <a:lnTo>
                      <a:pt x="94860" y="0"/>
                    </a:lnTo>
                  </a:path>
                </a:pathLst>
              </a:custGeom>
              <a:noFill/>
              <a:ln w="36513">
                <a:solidFill>
                  <a:srgbClr val="A93226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234683" y="4048125"/>
                <a:ext cx="156931" cy="162280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80">
                    <a:moveTo>
                      <a:pt x="62071" y="0"/>
                    </a:moveTo>
                    <a:lnTo>
                      <a:pt x="0" y="107529"/>
                    </a:lnTo>
                    <a:lnTo>
                      <a:pt x="65686" y="103276"/>
                    </a:lnTo>
                    <a:lnTo>
                      <a:pt x="94860" y="162280"/>
                    </a:lnTo>
                    <a:lnTo>
                      <a:pt x="156931" y="54769"/>
                    </a:lnTo>
                  </a:path>
                </a:pathLst>
              </a:custGeom>
              <a:noFill/>
              <a:ln w="36513">
                <a:solidFill>
                  <a:srgbClr val="A93226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161907" y="4394200"/>
              <a:ext cx="124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Выводы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64193" y="4787900"/>
              <a:ext cx="940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и советы</a:t>
              </a:r>
            </a:p>
          </p:txBody>
        </p:sp>
      </p:grpSp>
      <p:sp>
        <p:nvSpPr>
          <p:cNvPr id="67" name="Line 67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pSp>
        <p:nvGrpSpPr>
          <p:cNvPr id="70" name="credits"/>
          <p:cNvGrpSpPr/>
          <p:nvPr/>
        </p:nvGrpSpPr>
        <p:grpSpPr>
          <a:xfrm>
            <a:off x="756285" y="6604000"/>
            <a:ext cx="1713425" cy="220028"/>
            <a:chOff x="756285" y="6604000"/>
            <a:chExt cx="1713425" cy="220028"/>
          </a:xfrm>
        </p:grpSpPr>
        <p:sp>
          <p:nvSpPr>
            <p:cNvPr id="69" name="TextBox 69"/>
            <p:cNvSpPr txBox="1"/>
            <p:nvPr/>
          </p:nvSpPr>
          <p:spPr>
            <a:xfrm>
              <a:off x="756285" y="6604000"/>
              <a:ext cx="17134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Shixart1985 (CC BY 2.0)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-photo"/>
          <p:cNvPicPr>
            <a:picLocks noChangeAspect="1"/>
          </p:cNvPicPr>
          <p:nvPr/>
        </p:nvPicPr>
        <p:blipFill>
          <a:blip r:embed="rId2"/>
          <a:srcRect l="0" t="14932" r="0" b="14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93226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9402827" cy="645414"/>
            <a:chOff x="745236" y="603250"/>
            <a:chExt cx="9402827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94028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Литературы много — счастливых меньше</a:t>
              </a:r>
            </a:p>
          </p:txBody>
        </p:sp>
      </p:grpSp>
      <p:grpSp>
        <p:nvGrpSpPr>
          <p:cNvPr id="28" name="chart-dep"/>
          <p:cNvGrpSpPr/>
          <p:nvPr/>
        </p:nvGrpSpPr>
        <p:grpSpPr>
          <a:xfrm>
            <a:off x="762000" y="1762125"/>
            <a:ext cx="5238750" cy="3900932"/>
            <a:chOff x="762000" y="1762125"/>
            <a:chExt cx="5238750" cy="3900932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5238750" cy="3857625"/>
            </a:xfrm>
            <a:prstGeom prst="roundRect">
              <a:avLst>
                <a:gd name="adj" fmla="val 395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43100"/>
              <a:ext cx="20810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A93226"/>
                  </a:solidFill>
                  <a:latin typeface="Arial"/>
                  <a:ea typeface="Arial"/>
                  <a:cs typeface="Arial"/>
                </a:rPr>
                <a:t>Депрессия, США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0368" y="2292350"/>
              <a:ext cx="1880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доля взрослых, %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4287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4762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428750" y="27241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B8C4CE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428750" y="34004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B8C4CE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428750" y="40862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B8C4C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9567" y="2587625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15%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67" y="3263900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10%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3111" y="3949700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5%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3111" y="4568825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0%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543050" y="2981325"/>
              <a:ext cx="3962400" cy="666750"/>
            </a:xfrm>
            <a:custGeom>
              <a:avLst/>
              <a:gdLst/>
              <a:ahLst/>
              <a:cxnLst/>
              <a:rect l="l" t="t" r="r" b="b"/>
              <a:pathLst>
                <a:path w="3962400" h="666750">
                  <a:moveTo>
                    <a:pt x="0" y="666750"/>
                  </a:moveTo>
                  <a:cubicBezTo>
                    <a:pt x="1314450" y="447675"/>
                    <a:pt x="2552700" y="161925"/>
                    <a:pt x="3962400" y="0"/>
                  </a:cubicBezTo>
                </a:path>
              </a:pathLst>
            </a:custGeom>
            <a:noFill/>
            <a:ln w="57150" cap="rnd">
              <a:solidFill>
                <a:srgbClr val="A9322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476375" y="3581400"/>
              <a:ext cx="133350" cy="133350"/>
            </a:xfrm>
            <a:prstGeom prst="ellipse">
              <a:avLst/>
            </a:prstGeom>
            <a:solidFill>
              <a:srgbClr val="A9322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429250" y="2905125"/>
              <a:ext cx="152400" cy="152400"/>
            </a:xfrm>
            <a:prstGeom prst="ellipse">
              <a:avLst/>
            </a:prstGeom>
            <a:solidFill>
              <a:srgbClr val="A9322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82142" y="2644775"/>
              <a:ext cx="646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A93226"/>
                  </a:solidFill>
                  <a:latin typeface="Arial"/>
                  <a:ea typeface="Arial"/>
                  <a:cs typeface="Arial"/>
                </a:rPr>
                <a:t>13,1%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87068" y="3597275"/>
              <a:ext cx="5230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A93226"/>
                  </a:solidFill>
                  <a:latin typeface="Arial"/>
                  <a:ea typeface="Arial"/>
                  <a:cs typeface="Arial"/>
                </a:rPr>
                <a:t>8,2%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875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2013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499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2023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9368" y="5092700"/>
              <a:ext cx="2510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8,2% → 13,1% за 10 лет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9368" y="5340350"/>
              <a:ext cx="21526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Источник: CDC/ВОЗ</a:t>
              </a:r>
            </a:p>
          </p:txBody>
        </p:sp>
      </p:grpSp>
      <p:grpSp>
        <p:nvGrpSpPr>
          <p:cNvPr id="45" name="chart-hap"/>
          <p:cNvGrpSpPr/>
          <p:nvPr/>
        </p:nvGrpSpPr>
        <p:grpSpPr>
          <a:xfrm>
            <a:off x="6286500" y="1762125"/>
            <a:ext cx="5143500" cy="3900932"/>
            <a:chOff x="6286500" y="1762125"/>
            <a:chExt cx="5143500" cy="3900932"/>
          </a:xfrm>
        </p:grpSpPr>
        <p:sp>
          <p:nvSpPr>
            <p:cNvPr id="29" name="Rectangle 29"/>
            <p:cNvSpPr/>
            <p:nvPr/>
          </p:nvSpPr>
          <p:spPr>
            <a:xfrm>
              <a:off x="6286500" y="1762125"/>
              <a:ext cx="5143500" cy="3857625"/>
            </a:xfrm>
            <a:prstGeom prst="roundRect">
              <a:avLst>
                <a:gd name="adj" fmla="val 395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943100"/>
              <a:ext cx="19130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Индекс счастья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44868" y="2292350"/>
              <a:ext cx="13902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баллы (0–10)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953250" y="26479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953250" y="47625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953250" y="27432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B8C4CE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953250" y="375285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9525">
              <a:solidFill>
                <a:srgbClr val="B8C4C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45123" y="260667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5123" y="36163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45123" y="4568825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0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953250" y="4248150"/>
              <a:ext cx="4286250" cy="57150"/>
            </a:xfrm>
            <a:custGeom>
              <a:avLst/>
              <a:gdLst/>
              <a:ahLst/>
              <a:cxnLst/>
              <a:rect l="l" t="t" r="r" b="b"/>
              <a:pathLst>
                <a:path w="4286250" h="57150">
                  <a:moveTo>
                    <a:pt x="0" y="19050"/>
                  </a:moveTo>
                  <a:cubicBezTo>
                    <a:pt x="1238250" y="57150"/>
                    <a:pt x="2667000" y="0"/>
                    <a:pt x="4286250" y="38100"/>
                  </a:cubicBezTo>
                </a:path>
              </a:pathLst>
            </a:custGeom>
            <a:noFill/>
            <a:ln w="57150" cap="rnd">
              <a:solidFill>
                <a:srgbClr val="154360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163300" y="4210050"/>
              <a:ext cx="152400" cy="152400"/>
            </a:xfrm>
            <a:prstGeom prst="ellipse">
              <a:avLst/>
            </a:prstGeom>
            <a:solidFill>
              <a:srgbClr val="15436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97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2005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88778" y="48260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2025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3868" y="5092700"/>
              <a:ext cx="298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Индекс на плато с 2005 года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3868" y="5340350"/>
              <a:ext cx="3543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Источник: World Happiness Report</a:t>
              </a:r>
            </a:p>
          </p:txBody>
        </p:sp>
      </p:grpSp>
      <p:grpSp>
        <p:nvGrpSpPr>
          <p:cNvPr id="50" name="quote"/>
          <p:cNvGrpSpPr/>
          <p:nvPr/>
        </p:nvGrpSpPr>
        <p:grpSpPr>
          <a:xfrm>
            <a:off x="993775" y="5886450"/>
            <a:ext cx="7316317" cy="352044"/>
            <a:chOff x="993775" y="5886450"/>
            <a:chExt cx="7316317" cy="352044"/>
          </a:xfrm>
        </p:grpSpPr>
        <p:grpSp>
          <p:nvGrpSpPr>
            <p:cNvPr id="48" name="Group 48"/>
            <p:cNvGrpSpPr/>
            <p:nvPr/>
          </p:nvGrpSpPr>
          <p:grpSpPr>
            <a:xfrm>
              <a:off x="993775" y="5905500"/>
              <a:ext cx="222250" cy="190500"/>
              <a:chOff x="993775" y="5905500"/>
              <a:chExt cx="222250" cy="190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93775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CA6F1E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36650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CA6F1E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38656" y="5886450"/>
              <a:ext cx="68714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Парадокс: литературы больше, счастливых людей — нет</a:t>
              </a:r>
            </a:p>
          </p:txBody>
        </p:sp>
      </p:grpSp>
      <p:sp>
        <p:nvSpPr>
          <p:cNvPr id="51" name="Line 5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9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-photo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7542294" cy="645414"/>
            <a:chOff x="745236" y="603250"/>
            <a:chExt cx="7542294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75422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Счастье = оценка жизни + эмоции</a:t>
              </a:r>
            </a:p>
          </p:txBody>
        </p:sp>
      </p:grpSp>
      <p:grpSp>
        <p:nvGrpSpPr>
          <p:cNvPr id="25" name="swb-left"/>
          <p:cNvGrpSpPr/>
          <p:nvPr/>
        </p:nvGrpSpPr>
        <p:grpSpPr>
          <a:xfrm>
            <a:off x="762000" y="1600200"/>
            <a:ext cx="10668000" cy="2000250"/>
            <a:chOff x="762000" y="1600200"/>
            <a:chExt cx="10668000" cy="2000250"/>
          </a:xfrm>
        </p:grpSpPr>
        <p:sp>
          <p:nvSpPr>
            <p:cNvPr id="7" name="Rectangle 7"/>
            <p:cNvSpPr/>
            <p:nvPr/>
          </p:nvSpPr>
          <p:spPr>
            <a:xfrm>
              <a:off x="4286250" y="1600200"/>
              <a:ext cx="3619500" cy="2000250"/>
            </a:xfrm>
            <a:prstGeom prst="roundRect">
              <a:avLst>
                <a:gd name="adj" fmla="val 7619"/>
              </a:avLst>
            </a:prstGeom>
            <a:solidFill>
              <a:srgbClr val="154360">
                <a:alpha val="12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40270" y="1949450"/>
              <a:ext cx="19114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Субъективное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68074" y="2273300"/>
              <a:ext cx="18558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благополучие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26064" y="2692400"/>
              <a:ext cx="2539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SWB = оценка + эмоции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00793" y="3073400"/>
              <a:ext cx="25904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сумма двух компонентов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632704" y="1938213"/>
              <a:ext cx="355748" cy="309687"/>
            </a:xfrm>
            <a:custGeom>
              <a:avLst/>
              <a:gdLst/>
              <a:ahLst/>
              <a:cxnLst/>
              <a:rect l="l" t="t" r="r" b="b"/>
              <a:pathLst>
                <a:path w="355748" h="309687">
                  <a:moveTo>
                    <a:pt x="320921" y="168184"/>
                  </a:moveTo>
                  <a:lnTo>
                    <a:pt x="178046" y="309687"/>
                  </a:lnTo>
                  <a:lnTo>
                    <a:pt x="35171" y="168184"/>
                  </a:lnTo>
                  <a:cubicBezTo>
                    <a:pt x="9479" y="143182"/>
                    <a:pt x="0" y="105872"/>
                    <a:pt x="10644" y="71639"/>
                  </a:cubicBezTo>
                  <a:cubicBezTo>
                    <a:pt x="21288" y="37406"/>
                    <a:pt x="50252" y="12049"/>
                    <a:pt x="85592" y="6024"/>
                  </a:cubicBezTo>
                  <a:cubicBezTo>
                    <a:pt x="120932" y="0"/>
                    <a:pt x="156661" y="14329"/>
                    <a:pt x="178046" y="43101"/>
                  </a:cubicBezTo>
                  <a:cubicBezTo>
                    <a:pt x="199521" y="14541"/>
                    <a:pt x="235174" y="403"/>
                    <a:pt x="270386" y="6484"/>
                  </a:cubicBezTo>
                  <a:cubicBezTo>
                    <a:pt x="305597" y="12565"/>
                    <a:pt x="334444" y="37842"/>
                    <a:pt x="345096" y="71950"/>
                  </a:cubicBezTo>
                  <a:cubicBezTo>
                    <a:pt x="355748" y="106058"/>
                    <a:pt x="346414" y="143259"/>
                    <a:pt x="320921" y="168298"/>
                  </a:cubicBezTo>
                </a:path>
              </a:pathLst>
            </a:custGeom>
            <a:noFill/>
            <a:ln w="38100">
              <a:solidFill>
                <a:srgbClr val="A9322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3274" y="2540000"/>
              <a:ext cx="10549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922B21"/>
                  </a:solidFill>
                  <a:latin typeface="Arial"/>
                  <a:ea typeface="Arial"/>
                  <a:cs typeface="Arial"/>
                </a:rPr>
                <a:t>Эмоции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96374" y="2940050"/>
              <a:ext cx="2828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эмоциональный компонент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209800" y="1924050"/>
              <a:ext cx="342900" cy="333375"/>
              <a:chOff x="2209800" y="1924050"/>
              <a:chExt cx="342900" cy="3333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2286000" y="22479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rgbClr val="15436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266950" y="1962150"/>
                <a:ext cx="2286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9050">
                    <a:moveTo>
                      <a:pt x="0" y="19050"/>
                    </a:moveTo>
                    <a:lnTo>
                      <a:pt x="114300" y="0"/>
                    </a:lnTo>
                    <a:lnTo>
                      <a:pt x="228600" y="19050"/>
                    </a:lnTo>
                  </a:path>
                </a:pathLst>
              </a:custGeom>
              <a:noFill/>
              <a:ln w="38100">
                <a:solidFill>
                  <a:srgbClr val="15436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381250" y="19240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38100">
                <a:solidFill>
                  <a:srgbClr val="15436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2098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rgbClr val="15436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4384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rgbClr val="154360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457466" y="2540000"/>
              <a:ext cx="18475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Оценка жизни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8704" y="2940050"/>
              <a:ext cx="24650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когнитивный компонент</a:t>
              </a:r>
            </a:p>
          </p:txBody>
        </p:sp>
      </p:grpSp>
      <p:grpSp>
        <p:nvGrpSpPr>
          <p:cNvPr id="38" name="appr-1"/>
          <p:cNvGrpSpPr/>
          <p:nvPr/>
        </p:nvGrpSpPr>
        <p:grpSpPr>
          <a:xfrm>
            <a:off x="762000" y="3810000"/>
            <a:ext cx="10668000" cy="1123950"/>
            <a:chOff x="762000" y="3810000"/>
            <a:chExt cx="10668000" cy="1123950"/>
          </a:xfrm>
        </p:grpSpPr>
        <p:sp>
          <p:nvSpPr>
            <p:cNvPr id="26" name="Rectangle 26"/>
            <p:cNvSpPr/>
            <p:nvPr/>
          </p:nvSpPr>
          <p:spPr>
            <a:xfrm>
              <a:off x="3495675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40479" y="4102100"/>
              <a:ext cx="15011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Когнитивный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61271" y="4425950"/>
              <a:ext cx="1659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мысли и оценки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2935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20125" y="4102100"/>
              <a:ext cx="14092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Позитивный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09451" y="4425950"/>
              <a:ext cx="18305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сильные стороны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63025" y="3810000"/>
              <a:ext cx="2466975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33618" y="4102100"/>
              <a:ext cx="17162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Био-психо-соц.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4756" y="4425950"/>
              <a:ext cx="1353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среда и тело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21137" y="4102100"/>
              <a:ext cx="14725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Психоанализ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830919" y="4425950"/>
              <a:ext cx="452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Юнг</a:t>
              </a:r>
            </a:p>
          </p:txBody>
        </p:sp>
      </p:grpSp>
      <p:grpSp>
        <p:nvGrpSpPr>
          <p:cNvPr id="45" name="note"/>
          <p:cNvGrpSpPr/>
          <p:nvPr/>
        </p:nvGrpSpPr>
        <p:grpSpPr>
          <a:xfrm>
            <a:off x="762000" y="5162550"/>
            <a:ext cx="10668000" cy="914400"/>
            <a:chOff x="762000" y="5162550"/>
            <a:chExt cx="10668000" cy="914400"/>
          </a:xfrm>
        </p:grpSpPr>
        <p:sp>
          <p:nvSpPr>
            <p:cNvPr id="39" name="Rectangle 39"/>
            <p:cNvSpPr/>
            <p:nvPr/>
          </p:nvSpPr>
          <p:spPr>
            <a:xfrm>
              <a:off x="762000" y="516255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1E8449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76325" y="5438775"/>
              <a:ext cx="285751" cy="285750"/>
              <a:chOff x="1076325" y="5438775"/>
              <a:chExt cx="285751" cy="2857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76325" y="54387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3094" y="55022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82688" y="56610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553718" y="5384800"/>
              <a:ext cx="8312346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Теория broaden-and-build: позитивные эмоции расширяют мышление и накапливают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ресурсы</a:t>
              </a:r>
            </a:p>
          </p:txBody>
        </p:sp>
      </p:grpSp>
      <p:sp>
        <p:nvSpPr>
          <p:cNvPr id="46" name="Line 46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pSp>
        <p:nvGrpSpPr>
          <p:cNvPr id="49" name="credits"/>
          <p:cNvGrpSpPr/>
          <p:nvPr/>
        </p:nvGrpSpPr>
        <p:grpSpPr>
          <a:xfrm>
            <a:off x="756285" y="6604000"/>
            <a:ext cx="2595835" cy="220028"/>
            <a:chOff x="756285" y="6604000"/>
            <a:chExt cx="2595835" cy="220028"/>
          </a:xfrm>
        </p:grpSpPr>
        <p:sp>
          <p:nvSpPr>
            <p:cNvPr id="48" name="TextBox 48"/>
            <p:cNvSpPr txBox="1"/>
            <p:nvPr/>
          </p:nvSpPr>
          <p:spPr>
            <a:xfrm>
              <a:off x="756285" y="6604000"/>
              <a:ext cx="2595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YVC Biology Department (CC BY 2.0)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6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8075253" cy="645414"/>
            <a:chOff x="745236" y="603250"/>
            <a:chExt cx="8075253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80752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Как мозг создаёт ощущение счастья</a:t>
              </a:r>
            </a:p>
          </p:txBody>
        </p:sp>
      </p:grpSp>
      <p:grpSp>
        <p:nvGrpSpPr>
          <p:cNvPr id="35" name="diagram"/>
          <p:cNvGrpSpPr/>
          <p:nvPr/>
        </p:nvGrpSpPr>
        <p:grpSpPr>
          <a:xfrm>
            <a:off x="762000" y="1714500"/>
            <a:ext cx="10668000" cy="3472307"/>
            <a:chOff x="762000" y="1714500"/>
            <a:chExt cx="10668000" cy="3472307"/>
          </a:xfrm>
        </p:grpSpPr>
        <p:sp>
          <p:nvSpPr>
            <p:cNvPr id="7" name="Rectangle 7"/>
            <p:cNvSpPr/>
            <p:nvPr/>
          </p:nvSpPr>
          <p:spPr>
            <a:xfrm>
              <a:off x="4191000" y="1952625"/>
              <a:ext cx="3810000" cy="2667000"/>
            </a:xfrm>
            <a:prstGeom prst="roundRect">
              <a:avLst>
                <a:gd name="adj" fmla="val 5714"/>
              </a:avLst>
            </a:prstGeom>
            <a:solidFill>
              <a:srgbClr val="FFFFFF">
                <a:alpha val="90000"/>
              </a:srgbClr>
            </a:solidFill>
            <a:ln w="19050">
              <a:solidFill>
                <a:srgbClr val="154360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0" t="2636" r="0" b="2637"/>
            <a:stretch>
              <a:fillRect/>
            </a:stretch>
          </p:blipFill>
          <p:spPr>
            <a:xfrm>
              <a:off x="4305300" y="2066925"/>
              <a:ext cx="3581400" cy="2438400"/>
            </a:xfrm>
            <a:prstGeom prst="rect">
              <a:avLst/>
            </a:prstGeom>
          </p:spPr>
        </p:pic>
        <p:sp>
          <p:nvSpPr>
            <p:cNvPr id="9" name="Freeform 9"/>
            <p:cNvSpPr/>
            <p:nvPr/>
          </p:nvSpPr>
          <p:spPr>
            <a:xfrm>
              <a:off x="4136231" y="487362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rgbClr val="15436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92168" y="4864100"/>
              <a:ext cx="4078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Анимация: работа нейросетей мозга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453437" y="2109787"/>
              <a:ext cx="314324" cy="314324"/>
              <a:chOff x="8453437" y="2109787"/>
              <a:chExt cx="314324" cy="31432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453437" y="21097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45A3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558212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45A3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662987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45A3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66943" y="2319337"/>
                <a:ext cx="87312" cy="18345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18345">
                    <a:moveTo>
                      <a:pt x="0" y="0"/>
                    </a:moveTo>
                    <a:cubicBezTo>
                      <a:pt x="11496" y="11733"/>
                      <a:pt x="27230" y="18345"/>
                      <a:pt x="43656" y="18345"/>
                    </a:cubicBezTo>
                    <a:cubicBezTo>
                      <a:pt x="60082" y="18345"/>
                      <a:pt x="75817" y="11733"/>
                      <a:pt x="87312" y="0"/>
                    </a:cubicBezTo>
                  </a:path>
                </a:pathLst>
              </a:custGeom>
              <a:noFill/>
              <a:ln w="34925">
                <a:solidFill>
                  <a:srgbClr val="145A32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962644" y="2120900"/>
              <a:ext cx="14524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145A32"/>
                  </a:solidFill>
                  <a:latin typeface="Arial"/>
                  <a:ea typeface="Arial"/>
                  <a:cs typeface="Arial"/>
                </a:rPr>
                <a:t>Серотонин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92668" y="2501900"/>
              <a:ext cx="18214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настроение и сон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41400" y="4205287"/>
              <a:ext cx="244474" cy="314325"/>
              <a:chOff x="1041400" y="4205287"/>
              <a:chExt cx="244474" cy="314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163759" y="4205287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rgbClr val="8A4A1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41400" y="4441031"/>
                <a:ext cx="100409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00409" h="26194">
                    <a:moveTo>
                      <a:pt x="0" y="8731"/>
                    </a:moveTo>
                    <a:lnTo>
                      <a:pt x="87312" y="26194"/>
                    </a:lnTo>
                    <a:lnTo>
                      <a:pt x="100409" y="0"/>
                    </a:lnTo>
                  </a:path>
                </a:pathLst>
              </a:custGeom>
              <a:noFill/>
              <a:ln w="34925">
                <a:solidFill>
                  <a:srgbClr val="8A4A1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63637" y="4292600"/>
                <a:ext cx="69850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227012">
                    <a:moveTo>
                      <a:pt x="69850" y="227012"/>
                    </a:moveTo>
                    <a:lnTo>
                      <a:pt x="69850" y="157162"/>
                    </a:lnTo>
                    <a:lnTo>
                      <a:pt x="0" y="104775"/>
                    </a:lnTo>
                    <a:lnTo>
                      <a:pt x="17462" y="0"/>
                    </a:lnTo>
                  </a:path>
                </a:pathLst>
              </a:custGeom>
              <a:noFill/>
              <a:ln w="34925">
                <a:solidFill>
                  <a:srgbClr val="8A4A1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93787" y="4292600"/>
                <a:ext cx="192087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92087" h="69850">
                    <a:moveTo>
                      <a:pt x="0" y="69850"/>
                    </a:moveTo>
                    <a:lnTo>
                      <a:pt x="0" y="17462"/>
                    </a:lnTo>
                    <a:lnTo>
                      <a:pt x="87312" y="0"/>
                    </a:lnTo>
                    <a:lnTo>
                      <a:pt x="139700" y="52387"/>
                    </a:lnTo>
                    <a:lnTo>
                      <a:pt x="192087" y="69850"/>
                    </a:lnTo>
                  </a:path>
                </a:pathLst>
              </a:custGeom>
              <a:noFill/>
              <a:ln w="34925">
                <a:solidFill>
                  <a:srgbClr val="8A4A12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533144" y="4216400"/>
              <a:ext cx="16363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Эндорфины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3168" y="4597400"/>
              <a:ext cx="2059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эйфория и лёгкость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1915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447391" y="421827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922B2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62644" y="4216400"/>
              <a:ext cx="1441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922B21"/>
                  </a:solidFill>
                  <a:latin typeface="Arial"/>
                  <a:ea typeface="Arial"/>
                  <a:cs typeface="Arial"/>
                </a:rPr>
                <a:t>Окситоцин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92668" y="4597400"/>
              <a:ext cx="2064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доверие и близость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23937" y="212725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rgbClr val="15436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33144" y="2120900"/>
              <a:ext cx="12670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Дофамин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63168" y="2501900"/>
              <a:ext cx="2874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мотивация и предвкушение</a:t>
              </a:r>
            </a:p>
          </p:txBody>
        </p:sp>
      </p:grpSp>
      <p:grpSp>
        <p:nvGrpSpPr>
          <p:cNvPr id="42" name="note"/>
          <p:cNvGrpSpPr/>
          <p:nvPr/>
        </p:nvGrpSpPr>
        <p:grpSpPr>
          <a:xfrm>
            <a:off x="762000" y="5257800"/>
            <a:ext cx="10668000" cy="914400"/>
            <a:chOff x="762000" y="5257800"/>
            <a:chExt cx="10668000" cy="914400"/>
          </a:xfrm>
        </p:grpSpPr>
        <p:sp>
          <p:nvSpPr>
            <p:cNvPr id="36" name="Rectangle 36"/>
            <p:cNvSpPr/>
            <p:nvPr/>
          </p:nvSpPr>
          <p:spPr>
            <a:xfrm>
              <a:off x="762000" y="52578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A93226">
                <a:alpha val="10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122397" y="5534025"/>
              <a:ext cx="193606" cy="285751"/>
              <a:chOff x="1122397" y="5534025"/>
              <a:chExt cx="193606" cy="28575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171575" y="55340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922B2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187450" y="56292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922B2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22397" y="5534025"/>
                <a:ext cx="193606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193606" h="285751">
                    <a:moveTo>
                      <a:pt x="65053" y="0"/>
                    </a:moveTo>
                    <a:lnTo>
                      <a:pt x="65053" y="95250"/>
                    </a:lnTo>
                    <a:lnTo>
                      <a:pt x="1553" y="269876"/>
                    </a:lnTo>
                    <a:cubicBezTo>
                      <a:pt x="0" y="272999"/>
                      <a:pt x="4" y="276671"/>
                      <a:pt x="1564" y="279792"/>
                    </a:cubicBezTo>
                    <a:cubicBezTo>
                      <a:pt x="3125" y="282912"/>
                      <a:pt x="6060" y="285118"/>
                      <a:pt x="9490" y="285751"/>
                    </a:cubicBezTo>
                    <a:lnTo>
                      <a:pt x="184116" y="285751"/>
                    </a:lnTo>
                    <a:cubicBezTo>
                      <a:pt x="187547" y="285118"/>
                      <a:pt x="190481" y="282912"/>
                      <a:pt x="192042" y="279792"/>
                    </a:cubicBezTo>
                    <a:cubicBezTo>
                      <a:pt x="193602" y="276671"/>
                      <a:pt x="193606" y="272999"/>
                      <a:pt x="192053" y="269876"/>
                    </a:cubicBezTo>
                    <a:lnTo>
                      <a:pt x="128553" y="95250"/>
                    </a:lnTo>
                    <a:lnTo>
                      <a:pt x="128553" y="0"/>
                    </a:lnTo>
                  </a:path>
                </a:pathLst>
              </a:custGeom>
              <a:noFill/>
              <a:ln w="31750">
                <a:solidFill>
                  <a:srgbClr val="922B2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553718" y="5499100"/>
              <a:ext cx="7780592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Упрощённая модель. Дофамин — нейромедиатор предвкушения, а не «гормон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удовольствия» (Berridge, 1998: liking vs wanting)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pSp>
        <p:nvGrpSpPr>
          <p:cNvPr id="46" name="credits"/>
          <p:cNvGrpSpPr/>
          <p:nvPr/>
        </p:nvGrpSpPr>
        <p:grpSpPr>
          <a:xfrm>
            <a:off x="756285" y="6604000"/>
            <a:ext cx="2159067" cy="220028"/>
            <a:chOff x="756285" y="6604000"/>
            <a:chExt cx="2159067" cy="220028"/>
          </a:xfrm>
        </p:grpSpPr>
        <p:sp>
          <p:nvSpPr>
            <p:cNvPr id="45" name="TextBox 45"/>
            <p:cNvSpPr txBox="1"/>
            <p:nvPr/>
          </p:nvSpPr>
          <p:spPr>
            <a:xfrm>
              <a:off x="756285" y="6604000"/>
              <a:ext cx="2159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Katherine Stember (CC BY 4.0)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7531605" cy="645414"/>
            <a:chOff x="745236" y="603250"/>
            <a:chExt cx="7531605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753160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Как менялось понимание счастья</a:t>
              </a:r>
            </a:p>
          </p:txBody>
        </p:sp>
      </p:grpSp>
      <p:grpSp>
        <p:nvGrpSpPr>
          <p:cNvPr id="63" name="timeline"/>
          <p:cNvGrpSpPr/>
          <p:nvPr/>
        </p:nvGrpSpPr>
        <p:grpSpPr>
          <a:xfrm>
            <a:off x="666079" y="2235200"/>
            <a:ext cx="11063118" cy="2018157"/>
            <a:chOff x="666079" y="2235200"/>
            <a:chExt cx="11063118" cy="2018157"/>
          </a:xfrm>
        </p:grpSpPr>
        <p:sp>
          <p:nvSpPr>
            <p:cNvPr id="7" name="Line 7"/>
            <p:cNvSpPr/>
            <p:nvPr/>
          </p:nvSpPr>
          <p:spPr>
            <a:xfrm>
              <a:off x="1333500" y="31432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38100">
              <a:solidFill>
                <a:srgbClr val="2C2C2C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0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38100">
              <a:solidFill>
                <a:srgbClr val="154360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3022478"/>
              <a:ext cx="295276" cy="231897"/>
              <a:chOff x="1190625" y="3022478"/>
              <a:chExt cx="295276" cy="2318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90625" y="32288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90625" y="30224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90625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33500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76376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67598" y="2235200"/>
              <a:ext cx="13318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Античность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079" y="3644900"/>
              <a:ext cx="1334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Аристотель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237" y="3930650"/>
              <a:ext cx="1144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эвдемония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291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38100">
              <a:solidFill>
                <a:srgbClr val="154360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3095625" y="3000375"/>
              <a:ext cx="285751" cy="285751"/>
              <a:chOff x="3095625" y="3000375"/>
              <a:chExt cx="285751" cy="2857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175000" y="30797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095625" y="30003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142875" y="269876"/>
                    </a:moveTo>
                    <a:lnTo>
                      <a:pt x="142875" y="285751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  <a:moveTo>
                      <a:pt x="233363" y="233363"/>
                    </a:moveTo>
                    <a:lnTo>
                      <a:pt x="244475" y="244475"/>
                    </a:lnTo>
                    <a:moveTo>
                      <a:pt x="52388" y="233363"/>
                    </a:moveTo>
                    <a:lnTo>
                      <a:pt x="41275" y="24447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2831805" y="2235200"/>
              <a:ext cx="8133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Стоики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38263" y="3644900"/>
              <a:ext cx="800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Сенека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71535" y="3930650"/>
              <a:ext cx="1733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душевный покой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81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38100">
              <a:solidFill>
                <a:srgbClr val="154360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000625" y="3000375"/>
              <a:ext cx="285751" cy="295276"/>
              <a:chOff x="5000625" y="3000375"/>
              <a:chExt cx="285751" cy="29527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000625" y="3286126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000625" y="3111500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032375" y="3000375"/>
                <a:ext cx="222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47625">
                    <a:moveTo>
                      <a:pt x="0" y="47625"/>
                    </a:moveTo>
                    <a:lnTo>
                      <a:pt x="111125" y="0"/>
                    </a:lnTo>
                    <a:lnTo>
                      <a:pt x="222250" y="47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016500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270501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0800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1435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07001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270387" y="2235200"/>
              <a:ext cx="1746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Средневековье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38029" y="3644900"/>
              <a:ext cx="1210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Аквинский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78980" y="3930650"/>
              <a:ext cx="11290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дар Божий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2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38100">
              <a:solidFill>
                <a:srgbClr val="154360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902714" y="2997464"/>
              <a:ext cx="291932" cy="298187"/>
              <a:chOff x="6902714" y="2997464"/>
              <a:chExt cx="291932" cy="29818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16750" y="3111500"/>
                <a:ext cx="177896" cy="177859"/>
              </a:xfrm>
              <a:custGeom>
                <a:avLst/>
                <a:gdLst/>
                <a:ahLst/>
                <a:cxnLst/>
                <a:rect l="l" t="t" r="r" b="b"/>
                <a:pathLst>
                  <a:path w="177896" h="177859">
                    <a:moveTo>
                      <a:pt x="47625" y="0"/>
                    </a:moveTo>
                    <a:lnTo>
                      <a:pt x="164830" y="117761"/>
                    </a:lnTo>
                    <a:cubicBezTo>
                      <a:pt x="177896" y="130779"/>
                      <a:pt x="177896" y="151861"/>
                      <a:pt x="164830" y="164862"/>
                    </a:cubicBezTo>
                    <a:cubicBezTo>
                      <a:pt x="151764" y="177859"/>
                      <a:pt x="130653" y="177859"/>
                      <a:pt x="117586" y="164862"/>
                    </a:cubicBez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53250" y="30956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63500" y="6350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00875" y="30480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05625" y="3286126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02714" y="2997464"/>
                <a:ext cx="212198" cy="212198"/>
              </a:xfrm>
              <a:custGeom>
                <a:avLst/>
                <a:gdLst/>
                <a:ahLst/>
                <a:cxnLst/>
                <a:rect l="l" t="t" r="r" b="b"/>
                <a:pathLst>
                  <a:path w="212198" h="212198">
                    <a:moveTo>
                      <a:pt x="63125" y="206000"/>
                    </a:moveTo>
                    <a:lnTo>
                      <a:pt x="6197" y="149073"/>
                    </a:lnTo>
                    <a:cubicBezTo>
                      <a:pt x="0" y="142873"/>
                      <a:pt x="0" y="132825"/>
                      <a:pt x="6197" y="126625"/>
                    </a:cubicBezTo>
                    <a:lnTo>
                      <a:pt x="42599" y="90224"/>
                    </a:lnTo>
                    <a:lnTo>
                      <a:pt x="50536" y="98161"/>
                    </a:lnTo>
                    <a:lnTo>
                      <a:pt x="98161" y="50536"/>
                    </a:lnTo>
                    <a:lnTo>
                      <a:pt x="90224" y="42599"/>
                    </a:lnTo>
                    <a:lnTo>
                      <a:pt x="126625" y="6197"/>
                    </a:lnTo>
                    <a:cubicBezTo>
                      <a:pt x="132825" y="0"/>
                      <a:pt x="142873" y="0"/>
                      <a:pt x="149073" y="6197"/>
                    </a:cubicBezTo>
                    <a:lnTo>
                      <a:pt x="206000" y="63125"/>
                    </a:lnTo>
                    <a:cubicBezTo>
                      <a:pt x="212198" y="69324"/>
                      <a:pt x="212198" y="79373"/>
                      <a:pt x="206000" y="85572"/>
                    </a:cubicBezTo>
                    <a:lnTo>
                      <a:pt x="169599" y="121974"/>
                    </a:lnTo>
                    <a:lnTo>
                      <a:pt x="161662" y="114036"/>
                    </a:lnTo>
                    <a:lnTo>
                      <a:pt x="114036" y="161662"/>
                    </a:lnTo>
                    <a:lnTo>
                      <a:pt x="121974" y="169599"/>
                    </a:lnTo>
                    <a:lnTo>
                      <a:pt x="85572" y="206000"/>
                    </a:lnTo>
                    <a:cubicBezTo>
                      <a:pt x="79373" y="212198"/>
                      <a:pt x="69324" y="212198"/>
                      <a:pt x="63125" y="206000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276258" y="2235200"/>
              <a:ext cx="15444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Просвещение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95636" y="3644900"/>
              <a:ext cx="1505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Джефферсон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49649" y="3930650"/>
              <a:ext cx="17977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право на счастье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62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38100">
              <a:solidFill>
                <a:srgbClr val="154360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810625" y="3000375"/>
              <a:ext cx="285750" cy="279401"/>
              <a:chOff x="8810625" y="3000375"/>
              <a:chExt cx="285750" cy="279401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874125" y="327025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58250" y="303212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53500" y="300037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8106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0011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334172" y="2235200"/>
              <a:ext cx="12386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XIX–XX вв.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29387" y="3644900"/>
              <a:ext cx="1848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Бентам и Милль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71042" y="3930650"/>
              <a:ext cx="1564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максимум благ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053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38100">
              <a:solidFill>
                <a:srgbClr val="CA6F1E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715612" y="3074755"/>
              <a:ext cx="285778" cy="136992"/>
            </a:xfrm>
            <a:custGeom>
              <a:avLst/>
              <a:gdLst/>
              <a:ahLst/>
              <a:cxnLst/>
              <a:rect l="l" t="t" r="r" b="b"/>
              <a:pathLst>
                <a:path w="285778" h="136992">
                  <a:moveTo>
                    <a:pt x="108408" y="23601"/>
                  </a:moveTo>
                  <a:cubicBezTo>
                    <a:pt x="90249" y="5436"/>
                    <a:pt x="62935" y="0"/>
                    <a:pt x="39204" y="9827"/>
                  </a:cubicBezTo>
                  <a:cubicBezTo>
                    <a:pt x="15473" y="19655"/>
                    <a:pt x="0" y="42811"/>
                    <a:pt x="0" y="68496"/>
                  </a:cubicBezTo>
                  <a:cubicBezTo>
                    <a:pt x="0" y="94181"/>
                    <a:pt x="15473" y="117337"/>
                    <a:pt x="39204" y="127164"/>
                  </a:cubicBezTo>
                  <a:cubicBezTo>
                    <a:pt x="62935" y="136992"/>
                    <a:pt x="90249" y="131555"/>
                    <a:pt x="108408" y="113390"/>
                  </a:cubicBezTo>
                  <a:cubicBezTo>
                    <a:pt x="122499" y="100612"/>
                    <a:pt x="134178" y="85406"/>
                    <a:pt x="142889" y="68496"/>
                  </a:cubicBezTo>
                  <a:cubicBezTo>
                    <a:pt x="151600" y="51586"/>
                    <a:pt x="163279" y="36379"/>
                    <a:pt x="177369" y="23601"/>
                  </a:cubicBezTo>
                  <a:cubicBezTo>
                    <a:pt x="195529" y="5436"/>
                    <a:pt x="222843" y="0"/>
                    <a:pt x="246574" y="9827"/>
                  </a:cubicBezTo>
                  <a:cubicBezTo>
                    <a:pt x="270304" y="19655"/>
                    <a:pt x="285778" y="42811"/>
                    <a:pt x="285778" y="68496"/>
                  </a:cubicBezTo>
                  <a:cubicBezTo>
                    <a:pt x="285778" y="94181"/>
                    <a:pt x="270304" y="117337"/>
                    <a:pt x="246574" y="127164"/>
                  </a:cubicBezTo>
                  <a:cubicBezTo>
                    <a:pt x="222843" y="136992"/>
                    <a:pt x="195529" y="131555"/>
                    <a:pt x="177369" y="113390"/>
                  </a:cubicBezTo>
                  <a:cubicBezTo>
                    <a:pt x="163279" y="100612"/>
                    <a:pt x="151600" y="85406"/>
                    <a:pt x="142889" y="68496"/>
                  </a:cubicBezTo>
                  <a:cubicBezTo>
                    <a:pt x="134178" y="51586"/>
                    <a:pt x="122499" y="36379"/>
                    <a:pt x="108408" y="23601"/>
                  </a:cubicBezTo>
                </a:path>
              </a:pathLst>
            </a:custGeom>
            <a:noFill/>
            <a:ln w="31750">
              <a:solidFill>
                <a:srgbClr val="CA6F1E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443423" y="2235200"/>
              <a:ext cx="8301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CA6F1E"/>
                  </a:solidFill>
                  <a:latin typeface="Arial"/>
                  <a:ea typeface="Arial"/>
                  <a:cs typeface="Arial"/>
                </a:rPr>
                <a:t>XXI век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87803" y="3644900"/>
              <a:ext cx="17413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многомерность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06728" y="3930650"/>
              <a:ext cx="17035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гены и действия</a:t>
              </a:r>
            </a:p>
          </p:txBody>
        </p:sp>
      </p:grpSp>
      <p:grpSp>
        <p:nvGrpSpPr>
          <p:cNvPr id="70" name="note"/>
          <p:cNvGrpSpPr/>
          <p:nvPr/>
        </p:nvGrpSpPr>
        <p:grpSpPr>
          <a:xfrm>
            <a:off x="762000" y="5143500"/>
            <a:ext cx="10668000" cy="914400"/>
            <a:chOff x="762000" y="5143500"/>
            <a:chExt cx="10668000" cy="914400"/>
          </a:xfrm>
        </p:grpSpPr>
        <p:sp>
          <p:nvSpPr>
            <p:cNvPr id="64" name="Rectangle 64"/>
            <p:cNvSpPr/>
            <p:nvPr/>
          </p:nvSpPr>
          <p:spPr>
            <a:xfrm>
              <a:off x="762000" y="51435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1E8449">
                <a:alpha val="12000"/>
              </a:srgbClr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076325" y="5419725"/>
              <a:ext cx="285751" cy="285751"/>
              <a:chOff x="1076325" y="5419725"/>
              <a:chExt cx="285751" cy="285751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1076325" y="56419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298576" y="54197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08075" y="54514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553718" y="5384800"/>
              <a:ext cx="8569673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От «хорошего удела» Аристотеля до многомерной модели XXI века: счастье понимали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по-разному, но искали всегда</a:t>
              </a:r>
            </a:p>
          </p:txBody>
        </p:sp>
      </p:grpSp>
      <p:sp>
        <p:nvSpPr>
          <p:cNvPr id="71" name="Line 71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8-photo"/>
          <p:cNvPicPr>
            <a:picLocks noChangeAspect="1"/>
          </p:cNvPicPr>
          <p:nvPr/>
        </p:nvPicPr>
        <p:blipFill>
          <a:blip r:embed="rId2"/>
          <a:srcRect l="0" t="7728" r="0" b="77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8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A6F1E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5236" y="603250"/>
            <a:ext cx="8168580" cy="645414"/>
            <a:chOff x="745236" y="603250"/>
            <a:chExt cx="8168580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81685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Удовольствие быстро, смысл долог</a:t>
              </a:r>
            </a:p>
          </p:txBody>
        </p:sp>
      </p:grpSp>
      <p:grpSp>
        <p:nvGrpSpPr>
          <p:cNvPr id="18" name="compare"/>
          <p:cNvGrpSpPr/>
          <p:nvPr/>
        </p:nvGrpSpPr>
        <p:grpSpPr>
          <a:xfrm>
            <a:off x="762000" y="1666875"/>
            <a:ext cx="10668000" cy="3810000"/>
            <a:chOff x="762000" y="1666875"/>
            <a:chExt cx="106680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0" t="18792" r="0" b="18791"/>
            <a:stretch>
              <a:fillRect/>
            </a:stretch>
          </p:blipFill>
          <p:spPr>
            <a:xfrm>
              <a:off x="952500" y="1857375"/>
              <a:ext cx="4572000" cy="19050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979932" y="39751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Гедонизм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2218" y="4387850"/>
              <a:ext cx="3083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Удовольствие здесь и сейчас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218" y="4692650"/>
              <a:ext cx="27967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Риск: быстрое привыкание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rcRect l="0" t="22222" r="0" b="22222"/>
            <a:stretch>
              <a:fillRect/>
            </a:stretch>
          </p:blipFill>
          <p:spPr>
            <a:xfrm>
              <a:off x="6667500" y="1857375"/>
              <a:ext cx="4572000" cy="19050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694932" y="3975100"/>
              <a:ext cx="16343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45A32"/>
                  </a:solidFill>
                  <a:latin typeface="Arial"/>
                  <a:ea typeface="Arial"/>
                  <a:cs typeface="Arial"/>
                </a:rPr>
                <a:t>Эвдемония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7218" y="4387850"/>
              <a:ext cx="23450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Смысл и добродетели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7218" y="4692650"/>
              <a:ext cx="23608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Устойчивый результат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0" y="185737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</p:grpSp>
      <p:grpSp>
        <p:nvGrpSpPr>
          <p:cNvPr id="23" name="note"/>
          <p:cNvGrpSpPr/>
          <p:nvPr/>
        </p:nvGrpSpPr>
        <p:grpSpPr>
          <a:xfrm>
            <a:off x="993775" y="5848350"/>
            <a:ext cx="6325565" cy="352044"/>
            <a:chOff x="993775" y="5848350"/>
            <a:chExt cx="6325565" cy="352044"/>
          </a:xfrm>
        </p:grpSpPr>
        <p:grpSp>
          <p:nvGrpSpPr>
            <p:cNvPr id="21" name="Group 21"/>
            <p:cNvGrpSpPr/>
            <p:nvPr/>
          </p:nvGrpSpPr>
          <p:grpSpPr>
            <a:xfrm>
              <a:off x="993775" y="5867400"/>
              <a:ext cx="222250" cy="190500"/>
              <a:chOff x="993775" y="5867400"/>
              <a:chExt cx="222250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93775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CA6F1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36650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CA6F1E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38656" y="5848350"/>
              <a:ext cx="5880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Ньюфелд: счастье находится по ту сторону слёз</a:t>
              </a:r>
            </a:p>
          </p:txBody>
        </p:sp>
      </p:grpSp>
      <p:sp>
        <p:nvSpPr>
          <p:cNvPr id="24" name="Line 2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pSp>
        <p:nvGrpSpPr>
          <p:cNvPr id="27" name="credits"/>
          <p:cNvGrpSpPr/>
          <p:nvPr/>
        </p:nvGrpSpPr>
        <p:grpSpPr>
          <a:xfrm>
            <a:off x="756285" y="6604000"/>
            <a:ext cx="3909145" cy="220028"/>
            <a:chOff x="756285" y="6604000"/>
            <a:chExt cx="3909145" cy="220028"/>
          </a:xfrm>
        </p:grpSpPr>
        <p:sp>
          <p:nvSpPr>
            <p:cNvPr id="26" name="TextBox 26"/>
            <p:cNvSpPr txBox="1"/>
            <p:nvPr/>
          </p:nvSpPr>
          <p:spPr>
            <a:xfrm>
              <a:off x="756285" y="6604000"/>
              <a:ext cx="3909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PattayaPatrol (CC BY-SA 4.0) · Shixart1985 (CC BY 2.0)</a:t>
              </a:r>
            </a:p>
          </p:txBody>
        </p:sp>
      </p:grp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9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9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5236" y="603250"/>
            <a:ext cx="11386812" cy="645414"/>
            <a:chOff x="745236" y="603250"/>
            <a:chExt cx="11386812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113868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50% генетика · 40% действия · 10% обстоятельства</a:t>
              </a:r>
            </a:p>
          </p:txBody>
        </p:sp>
      </p:grpSp>
      <p:grpSp>
        <p:nvGrpSpPr>
          <p:cNvPr id="12" name="donut"/>
          <p:cNvGrpSpPr/>
          <p:nvPr/>
        </p:nvGrpSpPr>
        <p:grpSpPr>
          <a:xfrm>
            <a:off x="1592120" y="2114354"/>
            <a:ext cx="2979880" cy="2858099"/>
            <a:chOff x="1592120" y="2114354"/>
            <a:chExt cx="2979880" cy="2858099"/>
          </a:xfrm>
        </p:grpSpPr>
        <p:sp>
          <p:nvSpPr>
            <p:cNvPr id="7" name="TextBox 7"/>
            <p:cNvSpPr txBox="1"/>
            <p:nvPr/>
          </p:nvSpPr>
          <p:spPr>
            <a:xfrm>
              <a:off x="2182225" y="3251200"/>
              <a:ext cx="19220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21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 = Н + В + 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31072" y="3625850"/>
              <a:ext cx="1824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формула счастья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143250" y="2114550"/>
              <a:ext cx="1428750" cy="2857500"/>
            </a:xfrm>
            <a:custGeom>
              <a:avLst/>
              <a:gdLst/>
              <a:ahLst/>
              <a:cxnLst/>
              <a:rect l="l" t="t" r="r" b="b"/>
              <a:pathLst>
                <a:path w="1428750" h="2857500">
                  <a:moveTo>
                    <a:pt x="0" y="0"/>
                  </a:moveTo>
                  <a:cubicBezTo>
                    <a:pt x="789077" y="0"/>
                    <a:pt x="1428750" y="639673"/>
                    <a:pt x="1428750" y="1428750"/>
                  </a:cubicBezTo>
                  <a:cubicBezTo>
                    <a:pt x="1428750" y="2217827"/>
                    <a:pt x="789077" y="2857500"/>
                    <a:pt x="0" y="2857500"/>
                  </a:cubicBezTo>
                  <a:lnTo>
                    <a:pt x="0" y="2343150"/>
                  </a:lnTo>
                  <a:cubicBezTo>
                    <a:pt x="505009" y="2343150"/>
                    <a:pt x="914400" y="1933759"/>
                    <a:pt x="914400" y="1428750"/>
                  </a:cubicBezTo>
                  <a:cubicBezTo>
                    <a:pt x="914400" y="923741"/>
                    <a:pt x="505009" y="514350"/>
                    <a:pt x="0" y="514350"/>
                  </a:cubicBezTo>
                  <a:close/>
                </a:path>
              </a:pathLst>
            </a:custGeom>
            <a:solidFill>
              <a:srgbClr val="15436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592120" y="2386965"/>
              <a:ext cx="1551130" cy="2585488"/>
            </a:xfrm>
            <a:custGeom>
              <a:avLst/>
              <a:gdLst/>
              <a:ahLst/>
              <a:cxnLst/>
              <a:rect l="l" t="t" r="r" b="b"/>
              <a:pathLst>
                <a:path w="1551130" h="2585488">
                  <a:moveTo>
                    <a:pt x="1551130" y="2585085"/>
                  </a:moveTo>
                  <a:cubicBezTo>
                    <a:pt x="931845" y="2585488"/>
                    <a:pt x="382805" y="2186884"/>
                    <a:pt x="191403" y="1597919"/>
                  </a:cubicBezTo>
                  <a:cubicBezTo>
                    <a:pt x="0" y="1008955"/>
                    <a:pt x="209816" y="363737"/>
                    <a:pt x="711025" y="0"/>
                  </a:cubicBezTo>
                  <a:lnTo>
                    <a:pt x="1013920" y="416242"/>
                  </a:lnTo>
                  <a:cubicBezTo>
                    <a:pt x="693181" y="648975"/>
                    <a:pt x="558855" y="1061817"/>
                    <a:pt x="681237" y="1438726"/>
                  </a:cubicBezTo>
                  <a:cubicBezTo>
                    <a:pt x="803618" y="1815635"/>
                    <a:pt x="1154850" y="2070817"/>
                    <a:pt x="1551130" y="2070735"/>
                  </a:cubicBezTo>
                  <a:close/>
                </a:path>
              </a:pathLst>
            </a:custGeom>
            <a:solidFill>
              <a:srgbClr val="1E8449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03145" y="2114354"/>
              <a:ext cx="840105" cy="688854"/>
            </a:xfrm>
            <a:custGeom>
              <a:avLst/>
              <a:gdLst/>
              <a:ahLst/>
              <a:cxnLst/>
              <a:rect l="l" t="t" r="r" b="b"/>
              <a:pathLst>
                <a:path w="840105" h="688854">
                  <a:moveTo>
                    <a:pt x="0" y="272611"/>
                  </a:moveTo>
                  <a:cubicBezTo>
                    <a:pt x="244238" y="95362"/>
                    <a:pt x="538328" y="0"/>
                    <a:pt x="840105" y="196"/>
                  </a:cubicBezTo>
                  <a:lnTo>
                    <a:pt x="840105" y="514546"/>
                  </a:lnTo>
                  <a:cubicBezTo>
                    <a:pt x="647128" y="514506"/>
                    <a:pt x="459086" y="575520"/>
                    <a:pt x="302895" y="688854"/>
                  </a:cubicBezTo>
                  <a:close/>
                </a:path>
              </a:pathLst>
            </a:custGeom>
            <a:solidFill>
              <a:srgbClr val="2C2C2C"/>
            </a:solidFill>
            <a:ln>
              <a:noFill/>
            </a:ln>
          </p:spPr>
        </p:sp>
      </p:grpSp>
      <p:grpSp>
        <p:nvGrpSpPr>
          <p:cNvPr id="25" name="legend"/>
          <p:cNvGrpSpPr/>
          <p:nvPr/>
        </p:nvGrpSpPr>
        <p:grpSpPr>
          <a:xfrm>
            <a:off x="5715000" y="1905000"/>
            <a:ext cx="5715000" cy="3524250"/>
            <a:chOff x="5715000" y="1905000"/>
            <a:chExt cx="5715000" cy="3524250"/>
          </a:xfrm>
        </p:grpSpPr>
        <p:sp>
          <p:nvSpPr>
            <p:cNvPr id="13" name="Rectangle 13"/>
            <p:cNvSpPr/>
            <p:nvPr/>
          </p:nvSpPr>
          <p:spPr>
            <a:xfrm>
              <a:off x="5715000" y="19050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981700" y="2305050"/>
              <a:ext cx="247650" cy="247650"/>
            </a:xfrm>
            <a:prstGeom prst="rect">
              <a:avLst/>
            </a:prstGeom>
            <a:solidFill>
              <a:srgbClr val="15436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91656" y="2095500"/>
              <a:ext cx="1920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50% — генетика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2463800"/>
              <a:ext cx="4083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наследственная предрасположенность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0" y="314325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81700" y="3543300"/>
              <a:ext cx="247650" cy="247650"/>
            </a:xfrm>
            <a:prstGeom prst="rect">
              <a:avLst/>
            </a:prstGeom>
            <a:solidFill>
              <a:srgbClr val="1E844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91656" y="3333750"/>
              <a:ext cx="2010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Arial"/>
                  <a:ea typeface="Arial"/>
                  <a:cs typeface="Arial"/>
                </a:rPr>
                <a:t>40% — действия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2418" y="3702050"/>
              <a:ext cx="20967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намеренные усилия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0" y="43815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981700" y="4781550"/>
              <a:ext cx="247650" cy="247650"/>
            </a:xfrm>
            <a:prstGeom prst="rect">
              <a:avLst/>
            </a:prstGeom>
            <a:solidFill>
              <a:srgbClr val="2C2C2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91656" y="4572000"/>
              <a:ext cx="2814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10% — обстоятельства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2418" y="4940300"/>
              <a:ext cx="2511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внешние условия жизни</a:t>
              </a:r>
            </a:p>
          </p:txBody>
        </p:sp>
      </p:grpSp>
      <p:grpSp>
        <p:nvGrpSpPr>
          <p:cNvPr id="32" name="note"/>
          <p:cNvGrpSpPr/>
          <p:nvPr/>
        </p:nvGrpSpPr>
        <p:grpSpPr>
          <a:xfrm>
            <a:off x="1513077" y="5873750"/>
            <a:ext cx="9480466" cy="570357"/>
            <a:chOff x="1513077" y="5873750"/>
            <a:chExt cx="9480466" cy="570357"/>
          </a:xfrm>
        </p:grpSpPr>
        <p:grpSp>
          <p:nvGrpSpPr>
            <p:cNvPr id="29" name="Group 29"/>
            <p:cNvGrpSpPr/>
            <p:nvPr/>
          </p:nvGrpSpPr>
          <p:grpSpPr>
            <a:xfrm>
              <a:off x="1513077" y="5948362"/>
              <a:ext cx="174245" cy="257175"/>
              <a:chOff x="1513077" y="5948362"/>
              <a:chExt cx="174245" cy="25717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557338" y="5948362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145A3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571625" y="6034088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145A3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513077" y="5948362"/>
                <a:ext cx="17424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74245" h="257175">
                    <a:moveTo>
                      <a:pt x="58548" y="0"/>
                    </a:moveTo>
                    <a:lnTo>
                      <a:pt x="58548" y="85725"/>
                    </a:lnTo>
                    <a:lnTo>
                      <a:pt x="1398" y="242888"/>
                    </a:lnTo>
                    <a:cubicBezTo>
                      <a:pt x="0" y="245699"/>
                      <a:pt x="4" y="249004"/>
                      <a:pt x="1408" y="251812"/>
                    </a:cubicBezTo>
                    <a:cubicBezTo>
                      <a:pt x="2812" y="254620"/>
                      <a:pt x="5454" y="256606"/>
                      <a:pt x="8541" y="257175"/>
                    </a:cubicBezTo>
                    <a:lnTo>
                      <a:pt x="165704" y="257175"/>
                    </a:lnTo>
                    <a:cubicBezTo>
                      <a:pt x="168792" y="256606"/>
                      <a:pt x="171433" y="254620"/>
                      <a:pt x="172837" y="251812"/>
                    </a:cubicBezTo>
                    <a:cubicBezTo>
                      <a:pt x="174241" y="249004"/>
                      <a:pt x="174245" y="245699"/>
                      <a:pt x="172848" y="242888"/>
                    </a:cubicBezTo>
                    <a:lnTo>
                      <a:pt x="115698" y="85725"/>
                    </a:lnTo>
                    <a:lnTo>
                      <a:pt x="115698" y="0"/>
                    </a:lnTo>
                  </a:path>
                </a:pathLst>
              </a:custGeom>
              <a:noFill/>
              <a:ln w="28575">
                <a:solidFill>
                  <a:srgbClr val="145A32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896618" y="5873750"/>
              <a:ext cx="9096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Формула: Lyubomirsky, Sheldon &amp; Schkade (2005) — иллюстративная модель, не закон.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96618" y="6121400"/>
              <a:ext cx="77123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Мета-анализы (Rohrer &amp; Schmukle, 2018): гены и среда взаимодействуют.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1298073" y="6540500"/>
            <a:ext cx="1403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0-photo"/>
          <p:cNvPicPr>
            <a:picLocks noChangeAspect="1"/>
          </p:cNvPicPr>
          <p:nvPr/>
        </p:nvPicPr>
        <p:blipFill>
          <a:blip r:embed="rId2"/>
          <a:srcRect l="0" t="21398" r="0" b="21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0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5236" y="603250"/>
            <a:ext cx="7739506" cy="645414"/>
            <a:chOff x="745236" y="603250"/>
            <a:chExt cx="7739506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773950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Качество отношений важнее денег</a:t>
              </a:r>
            </a:p>
          </p:txBody>
        </p:sp>
      </p:grpSp>
      <p:grpSp>
        <p:nvGrpSpPr>
          <p:cNvPr id="8" name="photo"/>
          <p:cNvGrpSpPr/>
          <p:nvPr/>
        </p:nvGrpSpPr>
        <p:grpSpPr>
          <a:xfrm>
            <a:off x="762000" y="1666875"/>
            <a:ext cx="4953000" cy="3810000"/>
            <a:chOff x="762000" y="1666875"/>
            <a:chExt cx="4953000" cy="3810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rcRect l="6768" t="0" r="6768" b="0"/>
            <a:stretch>
              <a:fillRect/>
            </a:stretch>
          </p:blipFill>
          <p:spPr>
            <a:xfrm>
              <a:off x="762000" y="1666875"/>
              <a:ext cx="4953000" cy="3810000"/>
            </a:xfrm>
            <a:prstGeom prst="rect">
              <a:avLst/>
            </a:prstGeom>
          </p:spPr>
        </p:pic>
      </p:grpSp>
      <p:grpSp>
        <p:nvGrpSpPr>
          <p:cNvPr id="31" name="factors"/>
          <p:cNvGrpSpPr/>
          <p:nvPr/>
        </p:nvGrpSpPr>
        <p:grpSpPr>
          <a:xfrm>
            <a:off x="6201021" y="1790700"/>
            <a:ext cx="4706924" cy="3758057"/>
            <a:chOff x="6201021" y="1790700"/>
            <a:chExt cx="4706924" cy="3758057"/>
          </a:xfrm>
        </p:grpSpPr>
        <p:sp>
          <p:nvSpPr>
            <p:cNvPr id="9" name="Freeform 9"/>
            <p:cNvSpPr/>
            <p:nvPr/>
          </p:nvSpPr>
          <p:spPr>
            <a:xfrm>
              <a:off x="6218541" y="179892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CA6F1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34556" y="1790700"/>
              <a:ext cx="1401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CA6F1E"/>
                  </a:solidFill>
                  <a:latin typeface="Arial"/>
                  <a:ea typeface="Arial"/>
                  <a:cs typeface="Arial"/>
                </a:rPr>
                <a:t>Отношения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5318" y="2101850"/>
              <a:ext cx="4167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№1 предиктор (Harvard Study, Waldinger)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201021" y="2566987"/>
              <a:ext cx="341011" cy="314325"/>
              <a:chOff x="6201021" y="2566987"/>
              <a:chExt cx="341011" cy="3143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201021" y="2566987"/>
                <a:ext cx="341011" cy="311635"/>
              </a:xfrm>
              <a:custGeom>
                <a:avLst/>
                <a:gdLst/>
                <a:ahLst/>
                <a:cxnLst/>
                <a:rect l="l" t="t" r="r" b="b"/>
                <a:pathLst>
                  <a:path w="341011" h="311635">
                    <a:moveTo>
                      <a:pt x="171299" y="311635"/>
                    </a:moveTo>
                    <a:cubicBezTo>
                      <a:pt x="61905" y="277725"/>
                      <a:pt x="0" y="162269"/>
                      <a:pt x="32298" y="52387"/>
                    </a:cubicBezTo>
                    <a:cubicBezTo>
                      <a:pt x="86703" y="54877"/>
                      <a:pt x="139939" y="36088"/>
                      <a:pt x="180729" y="0"/>
                    </a:cubicBezTo>
                    <a:cubicBezTo>
                      <a:pt x="221518" y="36088"/>
                      <a:pt x="274755" y="54877"/>
                      <a:pt x="329160" y="52387"/>
                    </a:cubicBezTo>
                    <a:cubicBezTo>
                      <a:pt x="341011" y="92710"/>
                      <a:pt x="340463" y="135665"/>
                      <a:pt x="327588" y="175672"/>
                    </a:cubicBez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434137" y="28114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734556" y="2571750"/>
              <a:ext cx="12090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Здоровье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35318" y="2882900"/>
              <a:ext cx="19841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база благополучия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224587" y="3348037"/>
              <a:ext cx="314324" cy="314325"/>
              <a:chOff x="6224587" y="3348037"/>
              <a:chExt cx="314324" cy="3143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224587" y="3348037"/>
                <a:ext cx="31432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57162">
                    <a:moveTo>
                      <a:pt x="0" y="157162"/>
                    </a:moveTo>
                    <a:lnTo>
                      <a:pt x="17462" y="157162"/>
                    </a:lnTo>
                    <a:moveTo>
                      <a:pt x="157162" y="0"/>
                    </a:moveTo>
                    <a:lnTo>
                      <a:pt x="157162" y="17462"/>
                    </a:lnTo>
                    <a:moveTo>
                      <a:pt x="296862" y="157162"/>
                    </a:moveTo>
                    <a:lnTo>
                      <a:pt x="314324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8" y="57626"/>
                    </a:ln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287033" y="3417887"/>
                <a:ext cx="189432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2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2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8"/>
                      <a:pt x="114005" y="244475"/>
                      <a:pt x="94716" y="244475"/>
                    </a:cubicBezTo>
                    <a:cubicBezTo>
                      <a:pt x="75428" y="244475"/>
                      <a:pt x="59791" y="228838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341586" y="3592512"/>
                <a:ext cx="8032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7" h="9525">
                    <a:moveTo>
                      <a:pt x="0" y="0"/>
                    </a:moveTo>
                    <a:lnTo>
                      <a:pt x="80327" y="0"/>
                    </a:ln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734556" y="3352800"/>
              <a:ext cx="2002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Осмысленность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35318" y="3663950"/>
              <a:ext cx="2990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смысл важнее удовольствия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224587" y="4129087"/>
              <a:ext cx="314324" cy="314324"/>
              <a:chOff x="6224587" y="4129087"/>
              <a:chExt cx="314324" cy="31432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224587" y="41290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329362" y="425132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15436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34556" y="413385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Благодарность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5318" y="4445000"/>
              <a:ext cx="22455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ежедневная практика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24587" y="492760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rgbClr val="15436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34556" y="4914900"/>
              <a:ext cx="736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Поток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35318" y="5226050"/>
              <a:ext cx="41726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полная вовлечённость (Чиксентмихайи)</a:t>
              </a:r>
            </a:p>
          </p:txBody>
        </p:sp>
      </p:grpSp>
      <p:grpSp>
        <p:nvGrpSpPr>
          <p:cNvPr id="41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32" name="Rectangle 32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1E8449">
                <a:alpha val="12000"/>
              </a:srgb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38225" y="5873750"/>
              <a:ext cx="285751" cy="279401"/>
              <a:chOff x="1038225" y="5873750"/>
              <a:chExt cx="285751" cy="27940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117600" y="6143626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81100" y="6080126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01725" y="5873750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01725" y="5873750"/>
                <a:ext cx="158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06375">
                    <a:moveTo>
                      <a:pt x="158750" y="0"/>
                    </a:moveTo>
                    <a:lnTo>
                      <a:pt x="158750" y="127000"/>
                    </a:lnTo>
                    <a:cubicBezTo>
                      <a:pt x="158750" y="170838"/>
                      <a:pt x="123213" y="206375"/>
                      <a:pt x="79375" y="206375"/>
                    </a:cubicBezTo>
                    <a:cubicBezTo>
                      <a:pt x="35537" y="206375"/>
                      <a:pt x="0" y="170838"/>
                      <a:pt x="0" y="127000"/>
                    </a:cubicBez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38225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60476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514856" y="5867400"/>
              <a:ext cx="90306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Гарвардское исследование: качество связей — сильнейший предиктор счастья</a:t>
              </a:r>
            </a:p>
          </p:txBody>
        </p:sp>
      </p:grpSp>
      <p:sp>
        <p:nvSpPr>
          <p:cNvPr id="42" name="Line 4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pSp>
        <p:nvGrpSpPr>
          <p:cNvPr id="45" name="credits"/>
          <p:cNvGrpSpPr/>
          <p:nvPr/>
        </p:nvGrpSpPr>
        <p:grpSpPr>
          <a:xfrm>
            <a:off x="756285" y="6604000"/>
            <a:ext cx="2070481" cy="220028"/>
            <a:chOff x="756285" y="6604000"/>
            <a:chExt cx="2070481" cy="220028"/>
          </a:xfrm>
        </p:grpSpPr>
        <p:sp>
          <p:nvSpPr>
            <p:cNvPr id="44" name="TextBox 44"/>
            <p:cNvSpPr txBox="1"/>
            <p:nvPr/>
          </p:nvSpPr>
          <p:spPr>
            <a:xfrm>
              <a:off x="756285" y="6604000"/>
              <a:ext cx="20704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PattayaPatrol (CC BY-SA 4.0)</a:t>
              </a:r>
            </a:p>
          </p:txBody>
        </p:sp>
      </p:grp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1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93226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5236" y="603250"/>
            <a:ext cx="5533240" cy="645414"/>
            <a:chOff x="745236" y="603250"/>
            <a:chExt cx="5533240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55332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После 75 000 $ — плато?</a:t>
              </a:r>
            </a:p>
          </p:txBody>
        </p:sp>
      </p:grpSp>
      <p:grpSp>
        <p:nvGrpSpPr>
          <p:cNvPr id="17" name="chart"/>
          <p:cNvGrpSpPr/>
          <p:nvPr/>
        </p:nvGrpSpPr>
        <p:grpSpPr>
          <a:xfrm>
            <a:off x="762000" y="1666875"/>
            <a:ext cx="7429500" cy="3905250"/>
            <a:chOff x="762000" y="1666875"/>
            <a:chExt cx="7429500" cy="390525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7429500" cy="3905250"/>
            </a:xfrm>
            <a:prstGeom prst="roundRect">
              <a:avLst>
                <a:gd name="adj" fmla="val 390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05000"/>
              <a:ext cx="2036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Счастье и доход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428750" y="495300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619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A93226"/>
              </a:solidFill>
              <a:custDash>
                <a:ds d="400000" sp="3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179028" y="2197100"/>
              <a:ext cx="8814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A93226"/>
                  </a:solidFill>
                  <a:latin typeface="Arial"/>
                  <a:ea typeface="Arial"/>
                  <a:cs typeface="Arial"/>
                </a:rPr>
                <a:t>75 000 $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48918" y="2501900"/>
              <a:ext cx="8732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высокое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48918" y="4787900"/>
              <a:ext cx="7096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низкое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10868" y="5054600"/>
              <a:ext cx="13897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низкий доход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8118" y="5054600"/>
              <a:ext cx="15534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высокий доход</a:t>
              </a:r>
            </a:p>
          </p:txBody>
        </p:sp>
      </p:grpSp>
      <p:grpSp>
        <p:nvGrpSpPr>
          <p:cNvPr id="20" name="chart-plot"/>
          <p:cNvGrpSpPr/>
          <p:nvPr/>
        </p:nvGrpSpPr>
        <p:grpSpPr>
          <a:xfrm>
            <a:off x="1428750" y="2647950"/>
            <a:ext cx="6191250" cy="2114550"/>
            <a:chOff x="1428750" y="2647950"/>
            <a:chExt cx="6191250" cy="2114550"/>
          </a:xfrm>
        </p:grpSpPr>
        <p:sp>
          <p:nvSpPr>
            <p:cNvPr id="18" name="Polyline 18"/>
            <p:cNvSpPr/>
            <p:nvPr/>
          </p:nvSpPr>
          <p:spPr>
            <a:xfrm>
              <a:off x="1428750" y="2647950"/>
              <a:ext cx="6191250" cy="2114550"/>
            </a:xfrm>
            <a:custGeom>
              <a:avLst/>
              <a:gdLst/>
              <a:ahLst/>
              <a:cxnLst/>
              <a:rect l="l" t="t" r="r" b="b"/>
              <a:pathLst>
                <a:path w="6191250" h="2114550">
                  <a:moveTo>
                    <a:pt x="0" y="2114550"/>
                  </a:moveTo>
                  <a:lnTo>
                    <a:pt x="857250" y="1752600"/>
                  </a:lnTo>
                  <a:lnTo>
                    <a:pt x="1714500" y="1257300"/>
                  </a:lnTo>
                  <a:lnTo>
                    <a:pt x="2571750" y="800100"/>
                  </a:lnTo>
                  <a:lnTo>
                    <a:pt x="3429000" y="457200"/>
                  </a:lnTo>
                  <a:lnTo>
                    <a:pt x="4286250" y="209550"/>
                  </a:lnTo>
                  <a:lnTo>
                    <a:pt x="5143500" y="76200"/>
                  </a:lnTo>
                  <a:lnTo>
                    <a:pt x="6191250" y="0"/>
                  </a:lnTo>
                </a:path>
              </a:pathLst>
            </a:custGeom>
            <a:noFill/>
            <a:ln w="57150">
              <a:solidFill>
                <a:srgbClr val="154360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524500" y="2781300"/>
              <a:ext cx="190500" cy="190500"/>
            </a:xfrm>
            <a:prstGeom prst="ellipse">
              <a:avLst/>
            </a:prstGeom>
            <a:solidFill>
              <a:srgbClr val="A93226"/>
            </a:solidFill>
            <a:ln>
              <a:noFill/>
            </a:ln>
          </p:spPr>
        </p:sp>
      </p:grpSp>
      <p:grpSp>
        <p:nvGrpSpPr>
          <p:cNvPr id="27" name="theses"/>
          <p:cNvGrpSpPr/>
          <p:nvPr/>
        </p:nvGrpSpPr>
        <p:grpSpPr>
          <a:xfrm>
            <a:off x="8382000" y="1666875"/>
            <a:ext cx="3048000" cy="3905250"/>
            <a:chOff x="8382000" y="1666875"/>
            <a:chExt cx="3048000" cy="3905250"/>
          </a:xfrm>
        </p:grpSpPr>
        <p:sp>
          <p:nvSpPr>
            <p:cNvPr id="21" name="Rectangle 21"/>
            <p:cNvSpPr/>
            <p:nvPr/>
          </p:nvSpPr>
          <p:spPr>
            <a:xfrm>
              <a:off x="8382000" y="1666875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rgbClr val="154360">
                <a:alpha val="12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40318" y="1958975"/>
              <a:ext cx="24794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Канеман–Дитон (2010)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40318" y="2327275"/>
              <a:ext cx="2336001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после 75 000 $ влияние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дохода прекращается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82000" y="3714750"/>
              <a:ext cx="3048000" cy="1857375"/>
            </a:xfrm>
            <a:prstGeom prst="roundRect">
              <a:avLst>
                <a:gd name="adj" fmla="val 8205"/>
              </a:avLst>
            </a:prstGeom>
            <a:solidFill>
              <a:srgbClr val="1E8449">
                <a:alpha val="12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40318" y="4006850"/>
              <a:ext cx="21364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E8449"/>
                  </a:solidFill>
                  <a:latin typeface="Arial"/>
                  <a:ea typeface="Arial"/>
                  <a:cs typeface="Arial"/>
                </a:rPr>
                <a:t>Killingsworth (2021)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0318" y="4375150"/>
              <a:ext cx="2524973" cy="913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счастье растёт и дальше;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плато — у 20% самых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несчастных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pSp>
        <p:nvGrpSpPr>
          <p:cNvPr id="30" name="credits"/>
          <p:cNvGrpSpPr/>
          <p:nvPr/>
        </p:nvGrpSpPr>
        <p:grpSpPr>
          <a:xfrm>
            <a:off x="756285" y="6604000"/>
            <a:ext cx="2960200" cy="220028"/>
            <a:chOff x="756285" y="6604000"/>
            <a:chExt cx="2960200" cy="220028"/>
          </a:xfrm>
        </p:grpSpPr>
        <p:sp>
          <p:nvSpPr>
            <p:cNvPr id="29" name="TextBox 29"/>
            <p:cNvSpPr txBox="1"/>
            <p:nvPr/>
          </p:nvSpPr>
          <p:spPr>
            <a:xfrm>
              <a:off x="756285" y="6604000"/>
              <a:ext cx="29602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Marek Ślusarczyk (Tupungato) (CC BY 3.0)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2-photo"/>
          <p:cNvPicPr>
            <a:picLocks noChangeAspect="1"/>
          </p:cNvPicPr>
          <p:nvPr/>
        </p:nvPicPr>
        <p:blipFill>
          <a:blip r:embed="rId2"/>
          <a:srcRect l="0" t="12500" r="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A6F1E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5236" y="603250"/>
            <a:ext cx="5678944" cy="645414"/>
            <a:chOff x="745236" y="603250"/>
            <a:chExt cx="5678944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56789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Парадокс среднего звена</a:t>
              </a:r>
            </a:p>
          </p:txBody>
        </p:sp>
      </p:grpSp>
      <p:grpSp>
        <p:nvGrpSpPr>
          <p:cNvPr id="16" name="chart"/>
          <p:cNvGrpSpPr/>
          <p:nvPr/>
        </p:nvGrpSpPr>
        <p:grpSpPr>
          <a:xfrm>
            <a:off x="762000" y="1762125"/>
            <a:ext cx="6667500" cy="4476750"/>
            <a:chOff x="762000" y="1762125"/>
            <a:chExt cx="6667500" cy="447675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6667500" cy="4476750"/>
            </a:xfrm>
            <a:prstGeom prst="roundRect">
              <a:avLst>
                <a:gd name="adj" fmla="val 340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2495550"/>
              <a:ext cx="9525" cy="2838450"/>
            </a:xfrm>
            <a:custGeom>
              <a:avLst/>
              <a:gdLst/>
              <a:ahLst/>
              <a:cxnLst/>
              <a:rect l="l" t="t" r="r" b="b"/>
              <a:pathLst>
                <a:path w="9525" h="2838450">
                  <a:moveTo>
                    <a:pt x="0" y="0"/>
                  </a:moveTo>
                  <a:lnTo>
                    <a:pt x="0" y="283845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14500" y="5334000"/>
              <a:ext cx="5429250" cy="9525"/>
            </a:xfrm>
            <a:custGeom>
              <a:avLst/>
              <a:gdLst/>
              <a:ahLst/>
              <a:cxnLst/>
              <a:rect l="l" t="t" r="r" b="b"/>
              <a:pathLst>
                <a:path w="5429250" h="9525">
                  <a:moveTo>
                    <a:pt x="0" y="0"/>
                  </a:moveTo>
                  <a:lnTo>
                    <a:pt x="5429250" y="0"/>
                  </a:lnTo>
                </a:path>
              </a:pathLst>
            </a:custGeom>
            <a:noFill/>
            <a:ln w="19050">
              <a:solidFill>
                <a:srgbClr val="2C2C2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88765" y="4940300"/>
              <a:ext cx="82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8A4A12"/>
                  </a:solidFill>
                  <a:latin typeface="Arial"/>
                  <a:ea typeface="Arial"/>
                  <a:cs typeface="Arial"/>
                </a:rPr>
                <a:t>провал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91818" y="2501900"/>
              <a:ext cx="8700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высокая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91818" y="5168900"/>
              <a:ext cx="7063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низкая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96618" y="5473700"/>
              <a:ext cx="874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среднее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87618" y="5473700"/>
              <a:ext cx="830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высшее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4868" y="5778500"/>
              <a:ext cx="22483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уровень образования</a:t>
              </a:r>
            </a:p>
          </p:txBody>
        </p:sp>
      </p:grpSp>
      <p:grpSp>
        <p:nvGrpSpPr>
          <p:cNvPr id="19" name="chart-plot"/>
          <p:cNvGrpSpPr/>
          <p:nvPr/>
        </p:nvGrpSpPr>
        <p:grpSpPr>
          <a:xfrm>
            <a:off x="1714500" y="2857500"/>
            <a:ext cx="5334000" cy="2009775"/>
            <a:chOff x="1714500" y="2857500"/>
            <a:chExt cx="5334000" cy="2009775"/>
          </a:xfrm>
        </p:grpSpPr>
        <p:sp>
          <p:nvSpPr>
            <p:cNvPr id="17" name="Polyline 17"/>
            <p:cNvSpPr/>
            <p:nvPr/>
          </p:nvSpPr>
          <p:spPr>
            <a:xfrm>
              <a:off x="1714500" y="2857500"/>
              <a:ext cx="5334000" cy="1905000"/>
            </a:xfrm>
            <a:custGeom>
              <a:avLst/>
              <a:gdLst/>
              <a:ahLst/>
              <a:cxnLst/>
              <a:rect l="l" t="t" r="r" b="b"/>
              <a:pathLst>
                <a:path w="5334000" h="1905000">
                  <a:moveTo>
                    <a:pt x="0" y="190500"/>
                  </a:moveTo>
                  <a:lnTo>
                    <a:pt x="1143000" y="952500"/>
                  </a:lnTo>
                  <a:lnTo>
                    <a:pt x="2286000" y="1905000"/>
                  </a:lnTo>
                  <a:lnTo>
                    <a:pt x="3429000" y="1619250"/>
                  </a:lnTo>
                  <a:lnTo>
                    <a:pt x="4572000" y="571500"/>
                  </a:lnTo>
                  <a:lnTo>
                    <a:pt x="5334000" y="0"/>
                  </a:lnTo>
                </a:path>
              </a:pathLst>
            </a:custGeom>
            <a:noFill/>
            <a:ln w="57150">
              <a:solidFill>
                <a:srgbClr val="154360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895725" y="4657725"/>
              <a:ext cx="209550" cy="209550"/>
            </a:xfrm>
            <a:prstGeom prst="ellipse">
              <a:avLst/>
            </a:prstGeom>
            <a:solidFill>
              <a:srgbClr val="CA6F1E"/>
            </a:solidFill>
            <a:ln>
              <a:noFill/>
            </a:ln>
          </p:spPr>
        </p:sp>
      </p:grpSp>
      <p:grpSp>
        <p:nvGrpSpPr>
          <p:cNvPr id="28" name="list"/>
          <p:cNvGrpSpPr/>
          <p:nvPr/>
        </p:nvGrpSpPr>
        <p:grpSpPr>
          <a:xfrm>
            <a:off x="7810500" y="2000250"/>
            <a:ext cx="3619500" cy="4114800"/>
            <a:chOff x="7810500" y="2000250"/>
            <a:chExt cx="3619500" cy="4114800"/>
          </a:xfrm>
        </p:grpSpPr>
        <p:sp>
          <p:nvSpPr>
            <p:cNvPr id="20" name="Rectangle 20"/>
            <p:cNvSpPr/>
            <p:nvPr/>
          </p:nvSpPr>
          <p:spPr>
            <a:xfrm>
              <a:off x="7810500" y="20002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68818" y="2197100"/>
              <a:ext cx="22597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Слабая прямая связь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0" y="30670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68818" y="3251200"/>
              <a:ext cx="2676540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Провал у среднего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специального образования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10500" y="41338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68818" y="4318000"/>
              <a:ext cx="243235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Косвенно: доход, статус,</a:t>
              </a:r>
              <a:b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</a:b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навыки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52006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68818" y="5397500"/>
              <a:ext cx="24682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Завышенные ожидания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!!title-flow"/>
          <p:cNvGrpSpPr/>
          <p:nvPr/>
        </p:nvGrpSpPr>
        <p:grpSpPr>
          <a:xfrm>
            <a:off x="745236" y="603250"/>
            <a:ext cx="8699985" cy="645414"/>
            <a:chOff x="745236" y="603250"/>
            <a:chExt cx="8699985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869998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Что соцсети делают с нашим счастьем</a:t>
              </a:r>
            </a:p>
          </p:txBody>
        </p:sp>
      </p:grpSp>
      <p:grpSp>
        <p:nvGrpSpPr>
          <p:cNvPr id="16" name="plus"/>
          <p:cNvGrpSpPr/>
          <p:nvPr/>
        </p:nvGrpSpPr>
        <p:grpSpPr>
          <a:xfrm>
            <a:off x="762000" y="1762125"/>
            <a:ext cx="4762500" cy="3810000"/>
            <a:chOff x="762000" y="1762125"/>
            <a:chExt cx="47625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1E8449">
                <a:alpha val="12000"/>
              </a:srgbClr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19187" y="2090737"/>
              <a:ext cx="314324" cy="314324"/>
              <a:chOff x="1119187" y="2090737"/>
              <a:chExt cx="314324" cy="3143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191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45A3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23962" y="221297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145A3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89532" y="2108200"/>
              <a:ext cx="10557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45A32"/>
                  </a:solidFill>
                  <a:latin typeface="Arial"/>
                  <a:ea typeface="Arial"/>
                  <a:cs typeface="Arial"/>
                </a:rPr>
                <a:t>Плюсы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3856" y="2686050"/>
              <a:ext cx="2024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Связь с близкими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314700"/>
              <a:ext cx="2572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Поддержка и общение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3856" y="3943350"/>
              <a:ext cx="19970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Доступ к знаниям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3856" y="4572000"/>
              <a:ext cx="1887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Онлайн-терапия</a:t>
              </a:r>
            </a:p>
          </p:txBody>
        </p:sp>
      </p:grpSp>
      <p:grpSp>
        <p:nvGrpSpPr>
          <p:cNvPr id="26" name="minus"/>
          <p:cNvGrpSpPr/>
          <p:nvPr/>
        </p:nvGrpSpPr>
        <p:grpSpPr>
          <a:xfrm>
            <a:off x="6667500" y="1762125"/>
            <a:ext cx="4762500" cy="3810000"/>
            <a:chOff x="6667500" y="1762125"/>
            <a:chExt cx="4762500" cy="3810000"/>
          </a:xfrm>
        </p:grpSpPr>
        <p:sp>
          <p:nvSpPr>
            <p:cNvPr id="17" name="Rectangle 17"/>
            <p:cNvSpPr/>
            <p:nvPr/>
          </p:nvSpPr>
          <p:spPr>
            <a:xfrm>
              <a:off x="66675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A93226">
                <a:alpha val="12000"/>
              </a:srgbClr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024687" y="2090737"/>
              <a:ext cx="314324" cy="314324"/>
              <a:chOff x="7024687" y="2090737"/>
              <a:chExt cx="314324" cy="31432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0246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922B2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146925" y="2212975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0"/>
                    </a:moveTo>
                    <a:lnTo>
                      <a:pt x="69850" y="69850"/>
                    </a:lnTo>
                    <a:moveTo>
                      <a:pt x="6985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rgbClr val="922B2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495032" y="2108200"/>
              <a:ext cx="11680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922B21"/>
                  </a:solidFill>
                  <a:latin typeface="Arial"/>
                  <a:ea typeface="Arial"/>
                  <a:cs typeface="Arial"/>
                </a:rPr>
                <a:t>Минусы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39356" y="2686050"/>
              <a:ext cx="2451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Сравнение с другими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9356" y="3314700"/>
              <a:ext cx="28273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FOMO — страх упустить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9356" y="3943350"/>
              <a:ext cx="24235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Падение самооценки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9356" y="4572000"/>
              <a:ext cx="1325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Плохой сон</a:t>
              </a:r>
            </a:p>
          </p:txBody>
        </p:sp>
      </p:grpSp>
      <p:grpSp>
        <p:nvGrpSpPr>
          <p:cNvPr id="33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27" name="Rectangle 27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154360">
                <a:alpha val="10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69975" y="5873750"/>
              <a:ext cx="222250" cy="285751"/>
              <a:chOff x="1069975" y="5873750"/>
              <a:chExt cx="222250" cy="2857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69975" y="5873750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5875" y="0"/>
                    </a:moveTo>
                    <a:lnTo>
                      <a:pt x="190500" y="0"/>
                    </a:lnTo>
                    <a:cubicBezTo>
                      <a:pt x="208035" y="0"/>
                      <a:pt x="222250" y="14215"/>
                      <a:pt x="222250" y="31750"/>
                    </a:cubicBezTo>
                    <a:lnTo>
                      <a:pt x="222250" y="222250"/>
                    </a:lnTo>
                    <a:cubicBezTo>
                      <a:pt x="222250" y="239786"/>
                      <a:pt x="208035" y="254001"/>
                      <a:pt x="190500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moveTo>
                      <a:pt x="63500" y="0"/>
                    </a:moveTo>
                    <a:lnTo>
                      <a:pt x="63500" y="285751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96975" y="59372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96975" y="60007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rgbClr val="154360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514856" y="5867400"/>
              <a:ext cx="80372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Осознанное потребление и цифровой детокс повышают благополучие</a:t>
              </a:r>
            </a:p>
          </p:txBody>
        </p:sp>
      </p:grpSp>
      <p:sp>
        <p:nvSpPr>
          <p:cNvPr id="34" name="Line 34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4905832" cy="645414"/>
            <a:chOff x="745236" y="603250"/>
            <a:chExt cx="4905832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49058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Что делать конкретно</a:t>
              </a:r>
            </a:p>
          </p:txBody>
        </p:sp>
      </p:grpSp>
      <p:grpSp>
        <p:nvGrpSpPr>
          <p:cNvPr id="11" name="rec-1"/>
          <p:cNvGrpSpPr/>
          <p:nvPr/>
        </p:nvGrpSpPr>
        <p:grpSpPr>
          <a:xfrm>
            <a:off x="762000" y="1714500"/>
            <a:ext cx="3429000" cy="2047875"/>
            <a:chOff x="762000" y="1714500"/>
            <a:chExt cx="3429000" cy="2047875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83466" y="2096556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1E844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2705100"/>
              <a:ext cx="233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Будьте с близкими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318" y="3282950"/>
              <a:ext cx="2866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время с семьёй и друзьями</a:t>
              </a:r>
            </a:p>
          </p:txBody>
        </p:sp>
      </p:grpSp>
      <p:grpSp>
        <p:nvGrpSpPr>
          <p:cNvPr id="19" name="rec-2"/>
          <p:cNvGrpSpPr/>
          <p:nvPr/>
        </p:nvGrpSpPr>
        <p:grpSpPr>
          <a:xfrm>
            <a:off x="4381500" y="1714500"/>
            <a:ext cx="3429000" cy="2047875"/>
            <a:chOff x="4381500" y="1714500"/>
            <a:chExt cx="3429000" cy="2047875"/>
          </a:xfrm>
        </p:grpSpPr>
        <p:sp>
          <p:nvSpPr>
            <p:cNvPr id="12" name="Rectangle 12"/>
            <p:cNvSpPr/>
            <p:nvPr/>
          </p:nvSpPr>
          <p:spPr>
            <a:xfrm>
              <a:off x="43815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751388" y="2101850"/>
              <a:ext cx="288925" cy="371476"/>
              <a:chOff x="4751388" y="2101850"/>
              <a:chExt cx="288925" cy="37147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751388" y="2101850"/>
                <a:ext cx="288925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371476">
                    <a:moveTo>
                      <a:pt x="20638" y="0"/>
                    </a:moveTo>
                    <a:lnTo>
                      <a:pt x="247650" y="0"/>
                    </a:lnTo>
                    <a:cubicBezTo>
                      <a:pt x="270446" y="0"/>
                      <a:pt x="288925" y="18479"/>
                      <a:pt x="288925" y="41275"/>
                    </a:cubicBezTo>
                    <a:lnTo>
                      <a:pt x="288925" y="288925"/>
                    </a:lnTo>
                    <a:cubicBezTo>
                      <a:pt x="288925" y="311721"/>
                      <a:pt x="270446" y="330201"/>
                      <a:pt x="247650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  <a:cubicBezTo>
                      <a:pt x="0" y="9240"/>
                      <a:pt x="9240" y="0"/>
                      <a:pt x="20638" y="0"/>
                    </a:cubicBezTo>
                    <a:moveTo>
                      <a:pt x="82550" y="0"/>
                    </a:moveTo>
                    <a:lnTo>
                      <a:pt x="82550" y="371476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6488" y="21844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916488" y="226695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639056" y="270510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Благодарность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9818" y="3282950"/>
              <a:ext cx="24000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3 добрых факта в день</a:t>
              </a:r>
            </a:p>
          </p:txBody>
        </p:sp>
      </p:grpSp>
      <p:grpSp>
        <p:nvGrpSpPr>
          <p:cNvPr id="28" name="rec-3"/>
          <p:cNvGrpSpPr/>
          <p:nvPr/>
        </p:nvGrpSpPr>
        <p:grpSpPr>
          <a:xfrm>
            <a:off x="8001000" y="1714500"/>
            <a:ext cx="3429000" cy="2047875"/>
            <a:chOff x="8001000" y="1714500"/>
            <a:chExt cx="3429000" cy="2047875"/>
          </a:xfrm>
        </p:grpSpPr>
        <p:sp>
          <p:nvSpPr>
            <p:cNvPr id="20" name="Rectangle 20"/>
            <p:cNvSpPr/>
            <p:nvPr/>
          </p:nvSpPr>
          <p:spPr>
            <a:xfrm>
              <a:off x="8001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350250" y="2081213"/>
              <a:ext cx="288926" cy="371475"/>
              <a:chOff x="8350250" y="2081213"/>
              <a:chExt cx="288926" cy="37147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494857" y="20812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50250" y="2359819"/>
                <a:ext cx="11866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18666" h="30956">
                    <a:moveTo>
                      <a:pt x="0" y="10319"/>
                    </a:moveTo>
                    <a:lnTo>
                      <a:pt x="103188" y="30956"/>
                    </a:lnTo>
                    <a:lnTo>
                      <a:pt x="118666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494713" y="2184400"/>
                <a:ext cx="82550" cy="268288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68288">
                    <a:moveTo>
                      <a:pt x="82550" y="268288"/>
                    </a:moveTo>
                    <a:lnTo>
                      <a:pt x="82550" y="185738"/>
                    </a:lnTo>
                    <a:lnTo>
                      <a:pt x="0" y="123825"/>
                    </a:lnTo>
                    <a:lnTo>
                      <a:pt x="20638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412163" y="2184400"/>
                <a:ext cx="227013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82550">
                    <a:moveTo>
                      <a:pt x="0" y="82550"/>
                    </a:moveTo>
                    <a:lnTo>
                      <a:pt x="0" y="20638"/>
                    </a:lnTo>
                    <a:lnTo>
                      <a:pt x="103188" y="0"/>
                    </a:lnTo>
                    <a:lnTo>
                      <a:pt x="165100" y="61913"/>
                    </a:lnTo>
                    <a:lnTo>
                      <a:pt x="227013" y="8255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258556" y="2705100"/>
              <a:ext cx="1418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Двигайтесь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59318" y="3282950"/>
              <a:ext cx="19945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спорт каждый день</a:t>
              </a:r>
            </a:p>
          </p:txBody>
        </p:sp>
      </p:grpSp>
      <p:grpSp>
        <p:nvGrpSpPr>
          <p:cNvPr id="51" name="rec-4"/>
          <p:cNvGrpSpPr/>
          <p:nvPr/>
        </p:nvGrpSpPr>
        <p:grpSpPr>
          <a:xfrm>
            <a:off x="762000" y="3952875"/>
            <a:ext cx="10668000" cy="2047875"/>
            <a:chOff x="762000" y="3952875"/>
            <a:chExt cx="10668000" cy="2047875"/>
          </a:xfrm>
        </p:grpSpPr>
        <p:sp>
          <p:nvSpPr>
            <p:cNvPr id="29" name="Rectangle 29"/>
            <p:cNvSpPr/>
            <p:nvPr/>
          </p:nvSpPr>
          <p:spPr>
            <a:xfrm>
              <a:off x="43815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710113" y="4319588"/>
              <a:ext cx="371476" cy="371476"/>
              <a:chOff x="4710113" y="4319588"/>
              <a:chExt cx="371476" cy="37147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875213" y="448468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792663" y="4402138"/>
                <a:ext cx="20637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206375">
                    <a:moveTo>
                      <a:pt x="0" y="103188"/>
                    </a:moveTo>
                    <a:cubicBezTo>
                      <a:pt x="0" y="160177"/>
                      <a:pt x="46199" y="206375"/>
                      <a:pt x="103188" y="206375"/>
                    </a:cubicBezTo>
                    <a:cubicBezTo>
                      <a:pt x="160177" y="206375"/>
                      <a:pt x="206375" y="160177"/>
                      <a:pt x="206375" y="103188"/>
                    </a:cubicBezTo>
                    <a:cubicBezTo>
                      <a:pt x="206375" y="46199"/>
                      <a:pt x="160177" y="0"/>
                      <a:pt x="103188" y="0"/>
                    </a:cubicBezTo>
                    <a:cubicBezTo>
                      <a:pt x="46199" y="0"/>
                      <a:pt x="0" y="46199"/>
                      <a:pt x="0" y="103188"/>
                    </a:cubicBez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101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639056" y="4943475"/>
              <a:ext cx="16605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Ставьте цели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39818" y="5521325"/>
              <a:ext cx="2230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смысл вместо погони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01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391525" y="4319588"/>
              <a:ext cx="247650" cy="371476"/>
              <a:chOff x="8391525" y="4319588"/>
              <a:chExt cx="247650" cy="37147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91525" y="4319588"/>
                <a:ext cx="247650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371476">
                    <a:moveTo>
                      <a:pt x="0" y="41275"/>
                    </a:moveTo>
                    <a:cubicBezTo>
                      <a:pt x="0" y="18479"/>
                      <a:pt x="18479" y="0"/>
                      <a:pt x="41275" y="0"/>
                    </a:cubicBezTo>
                    <a:lnTo>
                      <a:pt x="206375" y="0"/>
                    </a:lnTo>
                    <a:cubicBezTo>
                      <a:pt x="229171" y="0"/>
                      <a:pt x="247650" y="18479"/>
                      <a:pt x="247650" y="41275"/>
                    </a:cubicBezTo>
                    <a:lnTo>
                      <a:pt x="247650" y="330201"/>
                    </a:lnTo>
                    <a:cubicBezTo>
                      <a:pt x="247650" y="352996"/>
                      <a:pt x="229171" y="371476"/>
                      <a:pt x="206375" y="371476"/>
                    </a:cubicBezTo>
                    <a:lnTo>
                      <a:pt x="41275" y="371476"/>
                    </a:lnTo>
                    <a:cubicBezTo>
                      <a:pt x="18479" y="371476"/>
                      <a:pt x="0" y="352996"/>
                      <a:pt x="0" y="330201"/>
                    </a:cubicBezTo>
                    <a:lnTo>
                      <a:pt x="0" y="41275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94713" y="4340225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515350" y="4608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6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258556" y="4943475"/>
              <a:ext cx="2027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Детокс соцсетей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59318" y="5521325"/>
              <a:ext cx="2883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ограничьте экранное время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090613" y="4319588"/>
              <a:ext cx="371476" cy="371476"/>
              <a:chOff x="1090613" y="4319588"/>
              <a:chExt cx="371476" cy="37147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906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214438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338263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224757" y="4567238"/>
                <a:ext cx="103188" cy="21680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21680">
                    <a:moveTo>
                      <a:pt x="0" y="0"/>
                    </a:moveTo>
                    <a:cubicBezTo>
                      <a:pt x="13586" y="13866"/>
                      <a:pt x="32181" y="21680"/>
                      <a:pt x="51594" y="21680"/>
                    </a:cubicBezTo>
                    <a:cubicBezTo>
                      <a:pt x="71006" y="21680"/>
                      <a:pt x="89602" y="13866"/>
                      <a:pt x="103188" y="0"/>
                    </a:cubicBezTo>
                  </a:path>
                </a:pathLst>
              </a:custGeom>
              <a:noFill/>
              <a:ln w="41275">
                <a:solidFill>
                  <a:srgbClr val="1E8449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19556" y="4943475"/>
              <a:ext cx="16187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Медитируйте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0318" y="5521325"/>
              <a:ext cx="2411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10 минут осознанности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pSp>
        <p:nvGrpSpPr>
          <p:cNvPr id="55" name="credits"/>
          <p:cNvGrpSpPr/>
          <p:nvPr/>
        </p:nvGrpSpPr>
        <p:grpSpPr>
          <a:xfrm>
            <a:off x="756285" y="6604000"/>
            <a:ext cx="1562156" cy="220028"/>
            <a:chOff x="756285" y="6604000"/>
            <a:chExt cx="1562156" cy="220028"/>
          </a:xfrm>
        </p:grpSpPr>
        <p:sp>
          <p:nvSpPr>
            <p:cNvPr id="54" name="TextBox 54"/>
            <p:cNvSpPr txBox="1"/>
            <p:nvPr/>
          </p:nvSpPr>
          <p:spPr>
            <a:xfrm>
              <a:off x="756285" y="6604000"/>
              <a:ext cx="1562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Rick Obst (CC BY 2.0)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5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AF2F8">
                  <a:alpha val="90000"/>
                </a:srgbClr>
              </a:gs>
              <a:gs pos="100000">
                <a:srgbClr val="EFE1C9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844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5236" y="603250"/>
            <a:ext cx="6761447" cy="645414"/>
            <a:chOff x="745236" y="603250"/>
            <a:chExt cx="6761447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45236" y="603250"/>
              <a:ext cx="676144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3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Счастье = осознанные усилия</a:t>
              </a:r>
            </a:p>
          </p:txBody>
        </p:sp>
      </p:grpSp>
      <p:grpSp>
        <p:nvGrpSpPr>
          <p:cNvPr id="18" name="conclusions"/>
          <p:cNvGrpSpPr/>
          <p:nvPr/>
        </p:nvGrpSpPr>
        <p:grpSpPr>
          <a:xfrm>
            <a:off x="762000" y="1238250"/>
            <a:ext cx="10668000" cy="2209800"/>
            <a:chOff x="762000" y="1238250"/>
            <a:chExt cx="10668000" cy="220980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10668000" cy="2209800"/>
            </a:xfrm>
            <a:prstGeom prst="roundRect">
              <a:avLst>
                <a:gd name="adj" fmla="val 6897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2707" y="1438275"/>
              <a:ext cx="272955" cy="284004"/>
              <a:chOff x="1082707" y="1438275"/>
              <a:chExt cx="272955" cy="28400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23950" y="14382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9200" y="1581150"/>
                <a:ext cx="136462" cy="141129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29">
                    <a:moveTo>
                      <a:pt x="0" y="47625"/>
                    </a:moveTo>
                    <a:lnTo>
                      <a:pt x="53975" y="141129"/>
                    </a:lnTo>
                    <a:lnTo>
                      <a:pt x="79343" y="89805"/>
                    </a:lnTo>
                    <a:lnTo>
                      <a:pt x="136462" y="93488"/>
                    </a:lnTo>
                    <a:lnTo>
                      <a:pt x="82487" y="0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2707" y="1581150"/>
                <a:ext cx="136462" cy="141113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13">
                    <a:moveTo>
                      <a:pt x="53975" y="0"/>
                    </a:moveTo>
                    <a:lnTo>
                      <a:pt x="0" y="93504"/>
                    </a:lnTo>
                    <a:lnTo>
                      <a:pt x="57118" y="89805"/>
                    </a:lnTo>
                    <a:lnTo>
                      <a:pt x="82487" y="141113"/>
                    </a:lnTo>
                    <a:lnTo>
                      <a:pt x="136462" y="47625"/>
                    </a:lnTo>
                  </a:path>
                </a:pathLst>
              </a:custGeom>
              <a:noFill/>
              <a:ln w="31750">
                <a:solidFill>
                  <a:srgbClr val="145A3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552956" y="1466850"/>
              <a:ext cx="1067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Выводы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418" y="1968500"/>
              <a:ext cx="35526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rgbClr val="1A1A1A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Счастье: гены, среда и действия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2418" y="1968500"/>
              <a:ext cx="4466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rgbClr val="1A1A1A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Качество отношений — ключевой фактор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8418" y="2387600"/>
              <a:ext cx="4335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rgbClr val="1A1A1A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Деньги важны до определённого уровня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2387600"/>
              <a:ext cx="35950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rgbClr val="1A1A1A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Смысл устойчивее удовольствия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8418" y="2806700"/>
              <a:ext cx="4270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rgbClr val="1A1A1A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Счастье — навык, его можно развивать</a:t>
              </a:r>
            </a:p>
          </p:txBody>
        </p:sp>
      </p:grpSp>
      <p:grpSp>
        <p:nvGrpSpPr>
          <p:cNvPr id="20" name="key-sources"/>
          <p:cNvGrpSpPr/>
          <p:nvPr/>
        </p:nvGrpSpPr>
        <p:grpSpPr>
          <a:xfrm>
            <a:off x="3199194" y="3702050"/>
            <a:ext cx="5793611" cy="322707"/>
            <a:chOff x="3199194" y="3702050"/>
            <a:chExt cx="5793611" cy="322707"/>
          </a:xfrm>
        </p:grpSpPr>
        <p:sp>
          <p:nvSpPr>
            <p:cNvPr id="19" name="TextBox 19"/>
            <p:cNvSpPr txBox="1"/>
            <p:nvPr/>
          </p:nvSpPr>
          <p:spPr>
            <a:xfrm>
              <a:off x="3199194" y="3702050"/>
              <a:ext cx="57936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Ключевые источники: Селигман, Канеман, Килингсворт</a:t>
              </a:r>
            </a:p>
          </p:txBody>
        </p:sp>
      </p:grpSp>
      <p:grpSp>
        <p:nvGrpSpPr>
          <p:cNvPr id="24" name="qr"/>
          <p:cNvGrpSpPr/>
          <p:nvPr/>
        </p:nvGrpSpPr>
        <p:grpSpPr>
          <a:xfrm>
            <a:off x="4547374" y="4083050"/>
            <a:ext cx="3097252" cy="2494407"/>
            <a:chOff x="4547374" y="4083050"/>
            <a:chExt cx="3097252" cy="2494407"/>
          </a:xfrm>
        </p:grpSpPr>
        <p:sp>
          <p:nvSpPr>
            <p:cNvPr id="21" name="TextBox 21"/>
            <p:cNvSpPr txBox="1"/>
            <p:nvPr/>
          </p:nvSpPr>
          <p:spPr>
            <a:xfrm>
              <a:off x="4547374" y="4083050"/>
              <a:ext cx="3097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154360"/>
                  </a:solidFill>
                  <a:latin typeface="Arial"/>
                  <a:ea typeface="Arial"/>
                  <a:cs typeface="Arial"/>
                </a:rPr>
                <a:t>Полный список источников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43500" y="4457700"/>
              <a:ext cx="1905000" cy="190500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4638701" y="6254750"/>
              <a:ext cx="29145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2C2C2C"/>
                  </a:solidFill>
                  <a:latin typeface="Arial"/>
                  <a:ea typeface="Arial"/>
                  <a:cs typeface="Arial"/>
                </a:rPr>
                <a:t>Наведите камеру телефона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762000" y="65151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10304A">
                <a:alpha val="12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174528" y="65405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2C2C2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happiness_concept">
  <a:themeElements>
    <a:clrScheme name="happiness_concep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appiness_concep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appiness_concept">
  <a:themeElements>
    <a:clrScheme name="happiness_concep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appiness_concep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ru</dc:language>
  <cp:lastModifiedBy/>
  <cp:revision>1</cp:revision>
  <dcterms:created xsi:type="dcterms:W3CDTF">2026-10-09T21:34:11Z</dcterms:created>
  <dcterms:modified xsi:type="dcterms:W3CDTF">2026-10-09T21:34:11Z</dcterms:modified>
  <cp:category/>
  <cp:contentStatus/>
</cp:coreProperties>
</file>