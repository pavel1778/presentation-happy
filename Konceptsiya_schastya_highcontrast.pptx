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4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  <Relationship Id="rId2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Западная линия — только одна из многих. У счастья есть и русская традиция осмысления: философская и религиозная. Об этом — дальше.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Русская традиция ставит в центр не обладание, а состояние души. Преподобный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 — вера преображает страдание в надежду.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знак того, что счастье есть культурный феномен, и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Но счастье изучали не только философы и писатели — были и отечественные учёные.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Отечественная психология тоже вносила вклад в понимание счастья. С. Л. Рубинштейн в книге «Бытие и сознание» (1957) рассматривал счастье как единство знания и переживания. Д. А. Леонтьев в «Психологии смысла» (2003) показал, что смысл жизни и жизненные ориентации — основа благополучия. И. А. Джидарьян («Психология счастья и оптимизма», 2013) связывала счастье с оптимизмом и удовлетворённостью жизнью. Л. В. Куликов («Психология настроения», 1997) описал настроение как фон и регулятор субъективного благополучия. Идею активности и потока в отечественной традиции развивали Рубинштейн, Выготский и Петровский.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Шмукля 2018 года уточняет: гены и среда взаимодействуют, а не суммируются. Что реально влияет на счастье? Формула впервые предложена Любомирским, Шелдоном и Шкейдом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по уровню дохода.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efefa2fb4b90a1b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86000"/>
                </a:srgbClr>
              </a:gs>
              <a:gs pos="100000">
                <a:srgbClr val="EFE1C9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E8449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5236" y="1130300"/>
            <a:ext cx="7982493" cy="2309114"/>
            <a:chOff x="745236" y="1130300"/>
            <a:chExt cx="7982493" cy="2309114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5236" y="1612900"/>
              <a:ext cx="6760251" cy="18265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Концепция счастья:</a:t>
              </a:r>
              <a:b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</a:br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делает людей счастливыми</a:t>
              </a:r>
              <a:b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</a:br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rgbClr val="154360">
                <a:alpha val="92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38100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1E844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Группа ИС-24</a:t>
              </a:r>
              <a:b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CA6F1E"/>
                  </a:solidFill>
                  <a:latin typeface="Arial"/>
                  <a:ea typeface="Arial"/>
                  <a:cs typeface="Arial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A93226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6094066" cy="645414"/>
            <a:chOff x="745236" y="603250"/>
            <a:chExt cx="6094066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609406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CA6F1E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CA6F1E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CA6F1E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CA6F1E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2536" y="2089150"/>
              <a:ext cx="135627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Выяснить, что делает людей</a:t>
              </a:r>
              <a:b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3914137" cy="645414"/>
            <a:chOff x="745236" y="603250"/>
            <a:chExt cx="3914137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391413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1E8449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A93226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A93226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A93226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A93226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9402827" cy="645414"/>
            <a:chOff x="745236" y="603250"/>
            <a:chExt cx="9402827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940282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1845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Депрессия, РФ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A9322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A93226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A9322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45941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Источник: НМИЦ психиатрии им. Сербского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rgbClr val="154360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rgbClr val="15436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193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Источник: Росстат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7542294" cy="645414"/>
            <a:chOff x="745236" y="603250"/>
            <a:chExt cx="7542294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754229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rgbClr val="154360">
                <a:alpha val="12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A9322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922B21"/>
                  </a:solidFill>
                  <a:latin typeface="Arial"/>
                  <a:ea typeface="Arial"/>
                  <a:cs typeface="Arial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6601265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Теория «расширять и наращивать» (broaden-and-build):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позитивные эмоции расширяют мышление и накапливают 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8075253" cy="645414"/>
            <a:chOff x="745236" y="603250"/>
            <a:chExt cx="8075253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075253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rgbClr val="154360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32" r="0" b="231"/>
            <a:stretch>
              <a:fillRect/>
            </a:stretch>
          </p:blipFill>
          <p:spPr>
            <a:xfrm>
              <a:off x="4305300" y="2009775"/>
              <a:ext cx="3581400" cy="2562225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rgbClr val="154360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45A32"/>
                  </a:solidFill>
                  <a:latin typeface="Arial"/>
                  <a:ea typeface="Arial"/>
                  <a:cs typeface="Arial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922B2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922B21"/>
                  </a:solidFill>
                  <a:latin typeface="Arial"/>
                  <a:ea typeface="Arial"/>
                  <a:cs typeface="Arial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rgbClr val="154360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A93226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922B2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922B2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922B2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7531605" cy="645414"/>
            <a:chOff x="745236" y="603250"/>
            <a:chExt cx="7531605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753160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38100">
              <a:solidFill>
                <a:srgbClr val="2C2C2C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CA6F1E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CA6F1E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CA6F1E"/>
                  </a:solidFill>
                  <a:latin typeface="Arial"/>
                  <a:ea typeface="Arial"/>
                  <a:cs typeface="Arial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b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b-photo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A6F1E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6393196" cy="645414"/>
            <a:chOff x="745236" y="603250"/>
            <a:chExt cx="6393196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63931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в русской традиции</a:t>
              </a:r>
            </a:p>
          </p:txBody>
        </p:sp>
      </p:grpSp>
      <p:grpSp>
        <p:nvGrpSpPr>
          <p:cNvPr id="25" name="cards"/>
          <p:cNvGrpSpPr/>
          <p:nvPr/>
        </p:nvGrpSpPr>
        <p:grpSpPr>
          <a:xfrm>
            <a:off x="762000" y="1600200"/>
            <a:ext cx="10668000" cy="3143250"/>
            <a:chOff x="762000" y="1600200"/>
            <a:chExt cx="10668000" cy="3143250"/>
          </a:xfrm>
        </p:grpSpPr>
        <p:sp>
          <p:nvSpPr>
            <p:cNvPr id="7" name="Rectangle 7"/>
            <p:cNvSpPr/>
            <p:nvPr/>
          </p:nvSpPr>
          <p:spPr>
            <a:xfrm>
              <a:off x="762000" y="1600200"/>
              <a:ext cx="5143500" cy="1428750"/>
            </a:xfrm>
            <a:prstGeom prst="roundRect">
              <a:avLst>
                <a:gd name="adj" fmla="val 10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069975" y="1924050"/>
              <a:ext cx="222250" cy="190500"/>
              <a:chOff x="1069975" y="1924050"/>
              <a:chExt cx="222250" cy="1905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069975" y="19240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2850" y="19240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477518" y="1873250"/>
              <a:ext cx="35996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Преподобный Никон Оптинский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2218" y="2266950"/>
              <a:ext cx="4821096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«Счастью моему нет предела, я наконец</a:t>
              </a:r>
              <a:b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узнал, что такое Царствие Божие внутри вас»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286500" y="1600200"/>
              <a:ext cx="5143500" cy="1428750"/>
            </a:xfrm>
            <a:prstGeom prst="roundRect">
              <a:avLst>
                <a:gd name="adj" fmla="val 10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6562725" y="1892300"/>
              <a:ext cx="269876" cy="254001"/>
            </a:xfrm>
            <a:custGeom>
              <a:avLst/>
              <a:gdLst/>
              <a:ahLst/>
              <a:cxnLst/>
              <a:rect l="l" t="t" r="r" b="b"/>
              <a:pathLst>
                <a:path w="269876" h="254001">
                  <a:moveTo>
                    <a:pt x="206375" y="222250"/>
                  </a:moveTo>
                  <a:cubicBezTo>
                    <a:pt x="223910" y="222250"/>
                    <a:pt x="238125" y="236465"/>
                    <a:pt x="238125" y="254001"/>
                  </a:cubicBezTo>
                  <a:cubicBezTo>
                    <a:pt x="238125" y="236465"/>
                    <a:pt x="252340" y="222250"/>
                    <a:pt x="269876" y="222250"/>
                  </a:cubicBezTo>
                  <a:cubicBezTo>
                    <a:pt x="252340" y="222250"/>
                    <a:pt x="238125" y="208035"/>
                    <a:pt x="238125" y="190500"/>
                  </a:cubicBezTo>
                  <a:cubicBezTo>
                    <a:pt x="238125" y="208035"/>
                    <a:pt x="223910" y="222250"/>
                    <a:pt x="206375" y="222250"/>
                  </a:cubicBezTo>
                  <a:moveTo>
                    <a:pt x="206375" y="31750"/>
                  </a:moveTo>
                  <a:cubicBezTo>
                    <a:pt x="223910" y="31750"/>
                    <a:pt x="238125" y="45965"/>
                    <a:pt x="238125" y="63500"/>
                  </a:cubicBezTo>
                  <a:cubicBezTo>
                    <a:pt x="238125" y="45965"/>
                    <a:pt x="252340" y="31750"/>
                    <a:pt x="269876" y="31750"/>
                  </a:cubicBezTo>
                  <a:cubicBezTo>
                    <a:pt x="252340" y="31750"/>
                    <a:pt x="238125" y="17535"/>
                    <a:pt x="238125" y="0"/>
                  </a:cubicBezTo>
                  <a:cubicBezTo>
                    <a:pt x="238125" y="17535"/>
                    <a:pt x="223910" y="31750"/>
                    <a:pt x="206375" y="31750"/>
                  </a:cubicBezTo>
                  <a:moveTo>
                    <a:pt x="95250" y="222250"/>
                  </a:moveTo>
                  <a:cubicBezTo>
                    <a:pt x="95250" y="169645"/>
                    <a:pt x="137895" y="127000"/>
                    <a:pt x="190500" y="127000"/>
                  </a:cubicBezTo>
                  <a:cubicBezTo>
                    <a:pt x="137895" y="127000"/>
                    <a:pt x="95250" y="84355"/>
                    <a:pt x="95250" y="31750"/>
                  </a:cubicBezTo>
                  <a:cubicBezTo>
                    <a:pt x="95250" y="84355"/>
                    <a:pt x="52605" y="127000"/>
                    <a:pt x="0" y="127000"/>
                  </a:cubicBezTo>
                  <a:cubicBezTo>
                    <a:pt x="52605" y="127000"/>
                    <a:pt x="95250" y="169645"/>
                    <a:pt x="95250" y="222250"/>
                  </a:cubicBezTo>
                </a:path>
              </a:pathLst>
            </a:custGeom>
            <a:noFill/>
            <a:ln w="31750">
              <a:solidFill>
                <a:srgbClr val="CA6F1E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002018" y="1873250"/>
              <a:ext cx="21949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Мученик Евстратий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06718" y="2266950"/>
              <a:ext cx="3805742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«Мучение это суть радость» — вера</a:t>
              </a:r>
              <a:b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преображает страдание в надежду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314700"/>
              <a:ext cx="10668000" cy="1428750"/>
            </a:xfrm>
            <a:prstGeom prst="roundRect">
              <a:avLst>
                <a:gd name="adj" fmla="val 10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1069975" y="3606800"/>
              <a:ext cx="222250" cy="254001"/>
              <a:chOff x="1069975" y="3606800"/>
              <a:chExt cx="222250" cy="254001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69975" y="3606800"/>
                <a:ext cx="222250" cy="25400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54001">
                    <a:moveTo>
                      <a:pt x="222250" y="0"/>
                    </a:moveTo>
                    <a:lnTo>
                      <a:pt x="222250" y="254001"/>
                    </a:lnTo>
                    <a:lnTo>
                      <a:pt x="31750" y="254001"/>
                    </a:lnTo>
                    <a:cubicBezTo>
                      <a:pt x="14215" y="254001"/>
                      <a:pt x="0" y="239786"/>
                      <a:pt x="0" y="222250"/>
                    </a:cubicBez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069975" y="3797301"/>
                <a:ext cx="2222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31750">
                    <a:moveTo>
                      <a:pt x="222250" y="0"/>
                    </a:moveTo>
                    <a:lnTo>
                      <a:pt x="31750" y="0"/>
                    </a:ln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3475" y="3670300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77518" y="3587750"/>
              <a:ext cx="65484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Братья Стругацкие · «Понедельник начинается в субботу»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006850"/>
              <a:ext cx="87138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«Счастье есть отсутствие несчастья» — ироничная формула советской эпохи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4311650"/>
              <a:ext cx="70218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 Томске стоит памятник счастью: счастье — культурный феномен</a:t>
              </a:r>
            </a:p>
          </p:txBody>
        </p:sp>
      </p:grpSp>
      <p:grpSp>
        <p:nvGrpSpPr>
          <p:cNvPr id="32" name="note"/>
          <p:cNvGrpSpPr/>
          <p:nvPr/>
        </p:nvGrpSpPr>
        <p:grpSpPr>
          <a:xfrm>
            <a:off x="762000" y="4953000"/>
            <a:ext cx="10668000" cy="1143000"/>
            <a:chOff x="762000" y="4953000"/>
            <a:chExt cx="10668000" cy="1143000"/>
          </a:xfrm>
        </p:grpSpPr>
        <p:sp>
          <p:nvSpPr>
            <p:cNvPr id="26" name="Rectangle 26"/>
            <p:cNvSpPr/>
            <p:nvPr/>
          </p:nvSpPr>
          <p:spPr>
            <a:xfrm>
              <a:off x="762000" y="4953000"/>
              <a:ext cx="10668000" cy="1143000"/>
            </a:xfrm>
            <a:prstGeom prst="roundRect">
              <a:avLst>
                <a:gd name="adj" fmla="val 13333"/>
              </a:avLst>
            </a:prstGeom>
            <a:solidFill>
              <a:srgbClr val="CA6F1E">
                <a:alpha val="12000"/>
              </a:srgbClr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1038225" y="5229225"/>
              <a:ext cx="285751" cy="285750"/>
              <a:chOff x="1038225" y="5229225"/>
              <a:chExt cx="285751" cy="2857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38225" y="522922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8A4A12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094994" y="529272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8A4A12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44588" y="545147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8A4A12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515618" y="5137150"/>
              <a:ext cx="6595670" cy="6656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Русская традиция ставит в центр не обладание, а состояние души: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 нельзя купить — его можно только воспитать в себе.</a:t>
              </a:r>
            </a:p>
          </p:txBody>
        </p:sp>
      </p:grpSp>
      <p:sp>
        <p:nvSpPr>
          <p:cNvPr id="33" name="Line 3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c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c-photo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5854805" cy="645414"/>
            <a:chOff x="745236" y="603250"/>
            <a:chExt cx="5854805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585480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Русские учёные о счастье</a:t>
              </a:r>
            </a:p>
          </p:txBody>
        </p:sp>
      </p:grpSp>
      <p:grpSp>
        <p:nvGrpSpPr>
          <p:cNvPr id="37" name="cards"/>
          <p:cNvGrpSpPr/>
          <p:nvPr/>
        </p:nvGrpSpPr>
        <p:grpSpPr>
          <a:xfrm>
            <a:off x="762000" y="1600200"/>
            <a:ext cx="10668000" cy="3408807"/>
            <a:chOff x="762000" y="1600200"/>
            <a:chExt cx="10668000" cy="3408807"/>
          </a:xfrm>
        </p:grpSpPr>
        <p:sp>
          <p:nvSpPr>
            <p:cNvPr id="7" name="Rectangle 7"/>
            <p:cNvSpPr/>
            <p:nvPr/>
          </p:nvSpPr>
          <p:spPr>
            <a:xfrm>
              <a:off x="762000" y="16002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038225" y="1857375"/>
              <a:ext cx="285750" cy="279401"/>
              <a:chOff x="1038225" y="1857375"/>
              <a:chExt cx="285750" cy="27940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01725" y="2127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85850" y="1889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81100" y="1857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38225" y="1905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228725" y="1905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76756" y="1828800"/>
              <a:ext cx="2154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С. Л. Рубинштейн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2218" y="2235200"/>
              <a:ext cx="2834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«Бытие и сознание» (1957)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2218" y="2552700"/>
              <a:ext cx="4691573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 — единство знания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 переживания, связь философии и психологии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286500" y="16002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6562725" y="1857375"/>
              <a:ext cx="285751" cy="285750"/>
              <a:chOff x="6562725" y="1857375"/>
              <a:chExt cx="285751" cy="2857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6562725" y="18573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619494" y="19208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669088" y="20796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7001256" y="1828800"/>
              <a:ext cx="18157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Д. А. Леонтьев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06718" y="2235200"/>
              <a:ext cx="30356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«Психология смысла» (2003)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06718" y="2552700"/>
              <a:ext cx="3580120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Смысл жизни и жизненные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ориентации — основа благополучия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4290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1038225" y="3686175"/>
              <a:ext cx="285751" cy="285751"/>
              <a:chOff x="1038225" y="3686175"/>
              <a:chExt cx="285751" cy="285751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117600" y="37655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038225" y="36861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476756" y="3657600"/>
              <a:ext cx="20341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И. А. Джидарьян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82218" y="4064000"/>
              <a:ext cx="44176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«Психология счастья и оптимизма» (2013)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2218" y="4381500"/>
              <a:ext cx="2894263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Оптимизм, смысл жизни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 удовлетворённость жизнью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4290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6557228" y="3697977"/>
              <a:ext cx="296457" cy="258073"/>
            </a:xfrm>
            <a:custGeom>
              <a:avLst/>
              <a:gdLst/>
              <a:ahLst/>
              <a:cxnLst/>
              <a:rect l="l" t="t" r="r" b="b"/>
              <a:pathLst>
                <a:path w="296457" h="258073">
                  <a:moveTo>
                    <a:pt x="267435" y="140153"/>
                  </a:moveTo>
                  <a:lnTo>
                    <a:pt x="148372" y="258073"/>
                  </a:lnTo>
                  <a:lnTo>
                    <a:pt x="29310" y="140153"/>
                  </a:lnTo>
                  <a:cubicBezTo>
                    <a:pt x="7899" y="119319"/>
                    <a:pt x="0" y="88227"/>
                    <a:pt x="8870" y="59699"/>
                  </a:cubicBezTo>
                  <a:cubicBezTo>
                    <a:pt x="17740" y="31172"/>
                    <a:pt x="41877" y="10041"/>
                    <a:pt x="71327" y="5020"/>
                  </a:cubicBezTo>
                  <a:cubicBezTo>
                    <a:pt x="100777" y="0"/>
                    <a:pt x="130551" y="11941"/>
                    <a:pt x="148372" y="35918"/>
                  </a:cubicBezTo>
                  <a:cubicBezTo>
                    <a:pt x="166268" y="12118"/>
                    <a:pt x="195979" y="336"/>
                    <a:pt x="225322" y="5403"/>
                  </a:cubicBezTo>
                  <a:cubicBezTo>
                    <a:pt x="254665" y="10471"/>
                    <a:pt x="278704" y="31535"/>
                    <a:pt x="287580" y="59958"/>
                  </a:cubicBezTo>
                  <a:cubicBezTo>
                    <a:pt x="296457" y="88382"/>
                    <a:pt x="288679" y="119383"/>
                    <a:pt x="267435" y="140249"/>
                  </a:cubicBezTo>
                </a:path>
              </a:pathLst>
            </a:custGeom>
            <a:noFill/>
            <a:ln w="31750">
              <a:solidFill>
                <a:srgbClr val="A9322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01256" y="3657600"/>
              <a:ext cx="16669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Л. В. Куликов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06718" y="4064000"/>
              <a:ext cx="3443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«Психология настроения» (1997)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06718" y="4381500"/>
              <a:ext cx="3218038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Настроение как фон и регулятор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субъективного благополучия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219700"/>
            <a:ext cx="10668000" cy="971550"/>
            <a:chOff x="762000" y="5219700"/>
            <a:chExt cx="10668000" cy="971550"/>
          </a:xfrm>
        </p:grpSpPr>
        <p:sp>
          <p:nvSpPr>
            <p:cNvPr id="38" name="Rectangle 38"/>
            <p:cNvSpPr/>
            <p:nvPr/>
          </p:nvSpPr>
          <p:spPr>
            <a:xfrm>
              <a:off x="762000" y="5219700"/>
              <a:ext cx="10668000" cy="971550"/>
            </a:xfrm>
            <a:prstGeom prst="roundRect">
              <a:avLst>
                <a:gd name="adj" fmla="val 15686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38225" y="5476875"/>
              <a:ext cx="285751" cy="285751"/>
              <a:chOff x="1038225" y="5476875"/>
              <a:chExt cx="285751" cy="28575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1069975" y="54768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1038225" y="56673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244601" y="54789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20"/>
                      <a:pt x="28097" y="115837"/>
                      <a:pt x="0" y="123031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76351" y="5669757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15618" y="5384800"/>
              <a:ext cx="6511913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Идею активности и потока в отечественной психологии развивали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С. Л. Рубинштейн, Л. С. Выготский и В. А. Петровский.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A6F1E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8168580" cy="645414"/>
            <a:chOff x="745236" y="603250"/>
            <a:chExt cx="8168580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1685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45A32"/>
                  </a:solidFill>
                  <a:latin typeface="Arial"/>
                  <a:ea typeface="Arial"/>
                  <a:cs typeface="Arial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3948708" cy="645414"/>
            <a:chOff x="745236" y="603250"/>
            <a:chExt cx="3948708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394870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Формула счастья</a:t>
              </a:r>
            </a:p>
          </p:txBody>
        </p:sp>
      </p:grpSp>
      <p:grpSp>
        <p:nvGrpSpPr>
          <p:cNvPr id="16" name="donut"/>
          <p:cNvGrpSpPr/>
          <p:nvPr/>
        </p:nvGrpSpPr>
        <p:grpSpPr>
          <a:xfrm>
            <a:off x="1437804" y="1990660"/>
            <a:ext cx="3277071" cy="3539047"/>
            <a:chOff x="1437804" y="1990660"/>
            <a:chExt cx="3277071" cy="3539047"/>
          </a:xfrm>
        </p:grpSpPr>
        <p:sp>
          <p:nvSpPr>
            <p:cNvPr id="7" name="Ellipse 7"/>
            <p:cNvSpPr/>
            <p:nvPr/>
          </p:nvSpPr>
          <p:spPr>
            <a:xfrm>
              <a:off x="2000250" y="2419350"/>
              <a:ext cx="2286000" cy="22860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406383" y="3397250"/>
              <a:ext cx="1473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 = Г + В + О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1990725"/>
              <a:ext cx="1571625" cy="3143250"/>
            </a:xfrm>
            <a:custGeom>
              <a:avLst/>
              <a:gdLst/>
              <a:ahLst/>
              <a:cxnLst/>
              <a:rect l="l" t="t" r="r" b="b"/>
              <a:pathLst>
                <a:path w="1571625" h="3143250">
                  <a:moveTo>
                    <a:pt x="0" y="0"/>
                  </a:moveTo>
                  <a:cubicBezTo>
                    <a:pt x="867985" y="0"/>
                    <a:pt x="1571625" y="703640"/>
                    <a:pt x="1571625" y="1571625"/>
                  </a:cubicBezTo>
                  <a:cubicBezTo>
                    <a:pt x="1571625" y="2439610"/>
                    <a:pt x="867985" y="3143250"/>
                    <a:pt x="0" y="3143250"/>
                  </a:cubicBezTo>
                  <a:lnTo>
                    <a:pt x="0" y="2619375"/>
                  </a:lnTo>
                  <a:cubicBezTo>
                    <a:pt x="578656" y="2619375"/>
                    <a:pt x="1047750" y="2150281"/>
                    <a:pt x="1047750" y="1571625"/>
                  </a:cubicBezTo>
                  <a:cubicBezTo>
                    <a:pt x="1047750" y="992969"/>
                    <a:pt x="578656" y="523875"/>
                    <a:pt x="0" y="523875"/>
                  </a:cubicBezTo>
                  <a:close/>
                </a:path>
              </a:pathLst>
            </a:custGeom>
            <a:solidFill>
              <a:srgbClr val="154360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437804" y="2290763"/>
              <a:ext cx="1705446" cy="2843345"/>
            </a:xfrm>
            <a:custGeom>
              <a:avLst/>
              <a:gdLst/>
              <a:ahLst/>
              <a:cxnLst/>
              <a:rect l="l" t="t" r="r" b="b"/>
              <a:pathLst>
                <a:path w="1705446" h="2843345">
                  <a:moveTo>
                    <a:pt x="1705446" y="2843212"/>
                  </a:moveTo>
                  <a:cubicBezTo>
                    <a:pt x="1024483" y="2843345"/>
                    <a:pt x="420903" y="2404925"/>
                    <a:pt x="210451" y="1757298"/>
                  </a:cubicBezTo>
                  <a:cubicBezTo>
                    <a:pt x="0" y="1109672"/>
                    <a:pt x="230560" y="400190"/>
                    <a:pt x="781521" y="0"/>
                  </a:cubicBezTo>
                  <a:lnTo>
                    <a:pt x="1089178" y="423862"/>
                  </a:lnTo>
                  <a:cubicBezTo>
                    <a:pt x="721824" y="690690"/>
                    <a:pt x="568130" y="1163761"/>
                    <a:pt x="708514" y="1595546"/>
                  </a:cubicBezTo>
                  <a:cubicBezTo>
                    <a:pt x="848899" y="2027331"/>
                    <a:pt x="1251412" y="2319564"/>
                    <a:pt x="1705446" y="2319337"/>
                  </a:cubicBezTo>
                  <a:close/>
                </a:path>
              </a:pathLst>
            </a:custGeom>
            <a:solidFill>
              <a:srgbClr val="1E8449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19325" y="1990660"/>
              <a:ext cx="923925" cy="723965"/>
            </a:xfrm>
            <a:custGeom>
              <a:avLst/>
              <a:gdLst/>
              <a:ahLst/>
              <a:cxnLst/>
              <a:rect l="l" t="t" r="r" b="b"/>
              <a:pathLst>
                <a:path w="923925" h="723965">
                  <a:moveTo>
                    <a:pt x="0" y="300102"/>
                  </a:moveTo>
                  <a:cubicBezTo>
                    <a:pt x="268563" y="105031"/>
                    <a:pt x="591993" y="0"/>
                    <a:pt x="923925" y="65"/>
                  </a:cubicBezTo>
                  <a:lnTo>
                    <a:pt x="923925" y="523940"/>
                  </a:lnTo>
                  <a:cubicBezTo>
                    <a:pt x="702529" y="523830"/>
                    <a:pt x="486787" y="593854"/>
                    <a:pt x="307658" y="723965"/>
                  </a:cubicBezTo>
                  <a:close/>
                </a:path>
              </a:pathLst>
            </a:custGeom>
            <a:solidFill>
              <a:srgbClr val="2C2C2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267038" y="34290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00088" y="42672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40%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2038" y="2238375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10%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31072" y="520700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формула счастья</a:t>
              </a:r>
            </a:p>
          </p:txBody>
        </p:sp>
      </p:grpSp>
      <p:grpSp>
        <p:nvGrpSpPr>
          <p:cNvPr id="29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7" name="Rectangle 17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rgbClr val="1543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50% — генетика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наследственная предрасположенность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1E844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3333750"/>
              <a:ext cx="31124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Arial"/>
                  <a:ea typeface="Arial"/>
                  <a:cs typeface="Arial"/>
                </a:rPr>
                <a:t>40% — волевой контроль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намеренные усилия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2C2C2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10% — обстоятельства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внешние условия жизни</a:t>
              </a:r>
            </a:p>
          </p:txBody>
        </p:sp>
      </p:grpSp>
      <p:grpSp>
        <p:nvGrpSpPr>
          <p:cNvPr id="36" name="note"/>
          <p:cNvGrpSpPr/>
          <p:nvPr/>
        </p:nvGrpSpPr>
        <p:grpSpPr>
          <a:xfrm>
            <a:off x="1513077" y="5873750"/>
            <a:ext cx="9461435" cy="570357"/>
            <a:chOff x="1513077" y="5873750"/>
            <a:chExt cx="9461435" cy="570357"/>
          </a:xfrm>
        </p:grpSpPr>
        <p:grpSp>
          <p:nvGrpSpPr>
            <p:cNvPr id="33" name="Group 33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45A32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45A3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45A3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896618" y="5873750"/>
              <a:ext cx="90778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Формула: Любомирский, Шелдон и Шкейд (2005) — иллюстративная модель, не закон.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96618" y="6121400"/>
              <a:ext cx="74864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Мета-анализы (Рорер и Шмукль, 2018): гены и среда взаимодействуют.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7739506" cy="645414"/>
            <a:chOff x="745236" y="603250"/>
            <a:chExt cx="7739506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773950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A6F1E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A6F1E"/>
                  </a:solidFill>
                  <a:latin typeface="Arial"/>
                  <a:ea typeface="Arial"/>
                  <a:cs typeface="Arial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rgbClr val="15436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A93226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8895329" cy="645414"/>
            <a:chOff x="745236" y="603250"/>
            <a:chExt cx="8895329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89532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После определённого дохода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A93226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6662" y="2197100"/>
              <a:ext cx="8861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60 000 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3242" y="2559050"/>
              <a:ext cx="7145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3242" y="4826000"/>
              <a:ext cx="580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2392" y="5092700"/>
              <a:ext cx="1137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9642" y="5092700"/>
              <a:ext cx="1270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rgbClr val="154360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A93226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154360">
                <a:alpha val="12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157673" cy="12085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после порога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влияние дохода на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неудовлетворённость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1E8449"/>
                  </a:solidFill>
                  <a:latin typeface="Arial"/>
                  <a:ea typeface="Arial"/>
                  <a:cs typeface="Arial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 растёт и дальше;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плато — у 20% самых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A6F1E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5678944" cy="645414"/>
            <a:chOff x="745236" y="603250"/>
            <a:chExt cx="5678944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567894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6592" y="2559050"/>
              <a:ext cx="7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6592" y="5226050"/>
              <a:ext cx="57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rgbClr val="154360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CA6F1E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Провал у среднего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Косвенно: доход, статус,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8699985" cy="645414"/>
            <a:chOff x="745236" y="603250"/>
            <a:chExt cx="8699985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69998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45A32"/>
                  </a:solidFill>
                  <a:latin typeface="Arial"/>
                  <a:ea typeface="Arial"/>
                  <a:cs typeface="Arial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A93226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922B2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922B2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922B21"/>
                  </a:solidFill>
                  <a:latin typeface="Arial"/>
                  <a:ea typeface="Arial"/>
                  <a:cs typeface="Arial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154360">
                <a:alpha val="10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4905832" cy="645414"/>
            <a:chOff x="745236" y="603250"/>
            <a:chExt cx="4905832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490583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1E8449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6761447" cy="645414"/>
            <a:chOff x="745236" y="603250"/>
            <a:chExt cx="6761447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676144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32" name="sources"/>
          <p:cNvGrpSpPr/>
          <p:nvPr/>
        </p:nvGrpSpPr>
        <p:grpSpPr>
          <a:xfrm>
            <a:off x="762000" y="3695700"/>
            <a:ext cx="6096000" cy="2705100"/>
            <a:chOff x="762000" y="3695700"/>
            <a:chExt cx="6096000" cy="2705100"/>
          </a:xfrm>
        </p:grpSpPr>
        <p:sp>
          <p:nvSpPr>
            <p:cNvPr id="19" name="Rectangle 19"/>
            <p:cNvSpPr/>
            <p:nvPr/>
          </p:nvSpPr>
          <p:spPr>
            <a:xfrm>
              <a:off x="762000" y="3695700"/>
              <a:ext cx="6096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1054100" y="3879850"/>
              <a:ext cx="177800" cy="203199"/>
              <a:chOff x="1054100" y="3879850"/>
              <a:chExt cx="177800" cy="20319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054100" y="3879850"/>
                <a:ext cx="177800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03199">
                    <a:moveTo>
                      <a:pt x="177800" y="0"/>
                    </a:moveTo>
                    <a:lnTo>
                      <a:pt x="177800" y="203199"/>
                    </a:ln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25400">
                <a:solidFill>
                  <a:srgbClr val="1543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54100" y="4032249"/>
                <a:ext cx="177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5400">
                    <a:moveTo>
                      <a:pt x="1778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rgbClr val="1543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04900" y="393065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rgbClr val="154360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381506" y="384810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Источники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4504" y="4343400"/>
              <a:ext cx="23843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World Happiness Report (ВОЗ)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4504" y="4667250"/>
              <a:ext cx="2374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Канеман и Дитон (2010, 2023)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504" y="4991100"/>
              <a:ext cx="2088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Killingsworth, PNAS (2021)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32504" y="4343400"/>
              <a:ext cx="255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Селигман «Подлинное счастье»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32504" y="4667250"/>
              <a:ext cx="2069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Любомирский и др. (2005)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32504" y="4991100"/>
              <a:ext cx="24609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Джидарьян, Куликов, Леонтьев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4504" y="5314950"/>
              <a:ext cx="46937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Рубинштейн (1957), Выготский — отечественная психология</a:t>
              </a:r>
            </a:p>
          </p:txBody>
        </p:sp>
      </p:grpSp>
      <p:grpSp>
        <p:nvGrpSpPr>
          <p:cNvPr id="36" name="qr"/>
          <p:cNvGrpSpPr/>
          <p:nvPr/>
        </p:nvGrpSpPr>
        <p:grpSpPr>
          <a:xfrm>
            <a:off x="7048500" y="3695700"/>
            <a:ext cx="4191000" cy="2705100"/>
            <a:chOff x="7048500" y="3695700"/>
            <a:chExt cx="4191000" cy="2705100"/>
          </a:xfrm>
        </p:grpSpPr>
        <p:sp>
          <p:nvSpPr>
            <p:cNvPr id="33" name="Rectangle 33"/>
            <p:cNvSpPr/>
            <p:nvPr/>
          </p:nvSpPr>
          <p:spPr>
            <a:xfrm>
              <a:off x="7048500" y="3695700"/>
              <a:ext cx="4191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95374" y="387350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Полный список источников</a:t>
              </a:r>
            </a:p>
          </p:txBody>
        </p:sp>
        <p:pic>
          <p:nvPicPr>
            <p:cNvPr id="35" name="Image 3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305300"/>
              <a:ext cx="1905000" cy="1905000"/>
            </a:xfrm>
            <a:prstGeom prst="rect">
              <a:avLst/>
            </a:prstGeom>
          </p:spPr>
        </p:pic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appiness_concept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appiness_concept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2026-10-10T12:19:10Z</dcterms:created>
  <dcterms:modified xsi:type="dcterms:W3CDTF">2026-10-10T12:19:10Z</dcterms:modified>
  <cp:category/>
  <cp:contentStatus/>
</cp:coreProperties>
</file>