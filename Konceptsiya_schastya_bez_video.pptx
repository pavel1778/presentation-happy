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качество отношений важнее денег. Но деньги всё же важны — до определённого уровня. 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Спасибо за внимание.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83ee5f5f18c60d2b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096250" y="2762250"/>
            <a:ext cx="4381500" cy="43815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-476250"/>
            <a:ext cx="3238500" cy="32385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sp>
        <p:nvSpPr>
          <p:cNvPr id="6" name="cover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9" name="cover-header"/>
          <p:cNvGrpSpPr/>
          <p:nvPr/>
        </p:nvGrpSpPr>
        <p:grpSpPr>
          <a:xfrm>
            <a:off x="743712" y="1130300"/>
            <a:ext cx="7984017" cy="2367788"/>
            <a:chOff x="743712" y="1130300"/>
            <a:chExt cx="7984017" cy="2367788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1612900"/>
              <a:ext cx="7374819" cy="18851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40307"/>
            <a:chOff x="762000" y="3905250"/>
            <a:chExt cx="4749125" cy="1440307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9704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  <a:b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6648072" cy="704088"/>
            <a:chOff x="743712" y="565150"/>
            <a:chExt cx="664807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6480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3618" y="6540500"/>
            <a:ext cx="2907075" cy="322707"/>
            <a:chOff x="753618" y="6540500"/>
            <a:chExt cx="2907075" cy="322707"/>
          </a:xfrm>
        </p:grpSpPr>
        <p:sp>
          <p:nvSpPr>
            <p:cNvPr id="27" name="TextBox 27"/>
            <p:cNvSpPr txBox="1"/>
            <p:nvPr/>
          </p:nvSpPr>
          <p:spPr>
            <a:xfrm>
              <a:off x="753618" y="6540500"/>
              <a:ext cx="29070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4269967" cy="704088"/>
            <a:chOff x="743712" y="565150"/>
            <a:chExt cx="42699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42699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3618" y="6540500"/>
            <a:ext cx="2524167" cy="322707"/>
            <a:chOff x="753618" y="6540500"/>
            <a:chExt cx="2524167" cy="322707"/>
          </a:xfrm>
        </p:grpSpPr>
        <p:sp>
          <p:nvSpPr>
            <p:cNvPr id="69" name="TextBox 69"/>
            <p:cNvSpPr txBox="1"/>
            <p:nvPr/>
          </p:nvSpPr>
          <p:spPr>
            <a:xfrm>
              <a:off x="753618" y="6540500"/>
              <a:ext cx="25241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10257629" cy="704088"/>
            <a:chOff x="743712" y="565150"/>
            <a:chExt cx="1025762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102576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18" name="chart-dep"/>
          <p:cNvGrpSpPr/>
          <p:nvPr/>
        </p:nvGrpSpPr>
        <p:grpSpPr>
          <a:xfrm>
            <a:off x="762000" y="1762125"/>
            <a:ext cx="5238750" cy="3810000"/>
            <a:chOff x="762000" y="1762125"/>
            <a:chExt cx="523875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812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Polyline 11"/>
            <p:cNvSpPr/>
            <p:nvPr/>
          </p:nvSpPr>
          <p:spPr>
            <a:xfrm>
              <a:off x="142875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553402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48918" y="25781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6736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56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135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9368" y="52451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</p:grpSp>
      <p:grpSp>
        <p:nvGrpSpPr>
          <p:cNvPr id="30" name="chart-hap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19" name="Rectangle 19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3106" y="19812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6953250" y="2590800"/>
              <a:ext cx="9525" cy="2247900"/>
            </a:xfrm>
            <a:custGeom>
              <a:avLst/>
              <a:gdLst/>
              <a:ahLst/>
              <a:cxnLst/>
              <a:rect l="l" t="t" r="r" b="b"/>
              <a:pathLst>
                <a:path w="9525" h="2247900">
                  <a:moveTo>
                    <a:pt x="0" y="0"/>
                  </a:moveTo>
                  <a:lnTo>
                    <a:pt x="0" y="22479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6953250" y="48387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3" name="Polyline 23"/>
            <p:cNvSpPr/>
            <p:nvPr/>
          </p:nvSpPr>
          <p:spPr>
            <a:xfrm>
              <a:off x="6953250" y="3619500"/>
              <a:ext cx="3714750" cy="95250"/>
            </a:xfrm>
            <a:custGeom>
              <a:avLst/>
              <a:gdLst/>
              <a:ahLst/>
              <a:cxnLst/>
              <a:rect l="l" t="t" r="r" b="b"/>
              <a:pathLst>
                <a:path w="3714750" h="95250">
                  <a:moveTo>
                    <a:pt x="0" y="76200"/>
                  </a:moveTo>
                  <a:lnTo>
                    <a:pt x="742950" y="0"/>
                  </a:lnTo>
                  <a:lnTo>
                    <a:pt x="1485900" y="95250"/>
                  </a:lnTo>
                  <a:lnTo>
                    <a:pt x="2228850" y="19050"/>
                  </a:lnTo>
                  <a:lnTo>
                    <a:pt x="2971800" y="76200"/>
                  </a:lnTo>
                  <a:lnTo>
                    <a:pt x="371475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0582275" y="357187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54368" y="25781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54368" y="4673600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40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88118" y="49403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3868" y="5245100"/>
              <a:ext cx="18635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плато с 2005 года</a:t>
              </a:r>
            </a:p>
          </p:txBody>
        </p:sp>
      </p:grpSp>
      <p:grpSp>
        <p:nvGrpSpPr>
          <p:cNvPr id="35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33" name="Group 33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27957" cy="704088"/>
            <a:chOff x="743712" y="565150"/>
            <a:chExt cx="822795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2795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16" name="swb-left"/>
          <p:cNvGrpSpPr/>
          <p:nvPr/>
        </p:nvGrpSpPr>
        <p:grpSpPr>
          <a:xfrm>
            <a:off x="762000" y="1666875"/>
            <a:ext cx="3238500" cy="1857375"/>
            <a:chOff x="762000" y="1666875"/>
            <a:chExt cx="3238500" cy="1857375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22" name="swb-mid"/>
          <p:cNvGrpSpPr/>
          <p:nvPr/>
        </p:nvGrpSpPr>
        <p:grpSpPr>
          <a:xfrm>
            <a:off x="4286250" y="1600200"/>
            <a:ext cx="3619500" cy="2000250"/>
            <a:chOff x="4286250" y="1600200"/>
            <a:chExt cx="3619500" cy="2000250"/>
          </a:xfrm>
        </p:grpSpPr>
        <p:sp>
          <p:nvSpPr>
            <p:cNvPr id="17" name="Rectangle 1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</p:grpSp>
      <p:grpSp>
        <p:nvGrpSpPr>
          <p:cNvPr id="27" name="swb-right"/>
          <p:cNvGrpSpPr/>
          <p:nvPr/>
        </p:nvGrpSpPr>
        <p:grpSpPr>
          <a:xfrm>
            <a:off x="8191500" y="1666875"/>
            <a:ext cx="3238500" cy="1857375"/>
            <a:chOff x="8191500" y="1666875"/>
            <a:chExt cx="3238500" cy="1857375"/>
          </a:xfrm>
        </p:grpSpPr>
        <p:sp>
          <p:nvSpPr>
            <p:cNvPr id="23" name="Rectangle 23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</p:grpSp>
      <p:grpSp>
        <p:nvGrpSpPr>
          <p:cNvPr id="31" name="appr-1"/>
          <p:cNvGrpSpPr/>
          <p:nvPr/>
        </p:nvGrpSpPr>
        <p:grpSpPr>
          <a:xfrm>
            <a:off x="762000" y="3810000"/>
            <a:ext cx="2590800" cy="1123950"/>
            <a:chOff x="762000" y="3810000"/>
            <a:chExt cx="2590800" cy="1123950"/>
          </a:xfrm>
        </p:grpSpPr>
        <p:sp>
          <p:nvSpPr>
            <p:cNvPr id="28" name="Rectangle 28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35" name="appr-2"/>
          <p:cNvGrpSpPr/>
          <p:nvPr/>
        </p:nvGrpSpPr>
        <p:grpSpPr>
          <a:xfrm>
            <a:off x="3495675" y="3810000"/>
            <a:ext cx="2590800" cy="1123950"/>
            <a:chOff x="3495675" y="3810000"/>
            <a:chExt cx="2590800" cy="1123950"/>
          </a:xfrm>
        </p:grpSpPr>
        <p:sp>
          <p:nvSpPr>
            <p:cNvPr id="32" name="Rectangle 32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</p:grpSp>
      <p:grpSp>
        <p:nvGrpSpPr>
          <p:cNvPr id="39" name="appr-3"/>
          <p:cNvGrpSpPr/>
          <p:nvPr/>
        </p:nvGrpSpPr>
        <p:grpSpPr>
          <a:xfrm>
            <a:off x="6229350" y="3810000"/>
            <a:ext cx="2590800" cy="1123950"/>
            <a:chOff x="6229350" y="3810000"/>
            <a:chExt cx="2590800" cy="1123950"/>
          </a:xfrm>
        </p:grpSpPr>
        <p:sp>
          <p:nvSpPr>
            <p:cNvPr id="36" name="Rectangle 36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</p:grpSp>
      <p:grpSp>
        <p:nvGrpSpPr>
          <p:cNvPr id="43" name="appr-4"/>
          <p:cNvGrpSpPr/>
          <p:nvPr/>
        </p:nvGrpSpPr>
        <p:grpSpPr>
          <a:xfrm>
            <a:off x="8963025" y="3810000"/>
            <a:ext cx="2590800" cy="1123950"/>
            <a:chOff x="8963025" y="3810000"/>
            <a:chExt cx="2590800" cy="1123950"/>
          </a:xfrm>
        </p:grpSpPr>
        <p:sp>
          <p:nvSpPr>
            <p:cNvPr id="40" name="Rectangle 40"/>
            <p:cNvSpPr/>
            <p:nvPr/>
          </p:nvSpPr>
          <p:spPr>
            <a:xfrm>
              <a:off x="896302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400293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581431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</p:grpSp>
      <p:grpSp>
        <p:nvGrpSpPr>
          <p:cNvPr id="50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44" name="Rectangle 44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54" name="credits"/>
          <p:cNvGrpSpPr/>
          <p:nvPr/>
        </p:nvGrpSpPr>
        <p:grpSpPr>
          <a:xfrm>
            <a:off x="753618" y="6540500"/>
            <a:ext cx="3824147" cy="322707"/>
            <a:chOff x="753618" y="6540500"/>
            <a:chExt cx="3824147" cy="322707"/>
          </a:xfrm>
        </p:grpSpPr>
        <p:sp>
          <p:nvSpPr>
            <p:cNvPr id="53" name="TextBox 53"/>
            <p:cNvSpPr txBox="1"/>
            <p:nvPr/>
          </p:nvSpPr>
          <p:spPr>
            <a:xfrm>
              <a:off x="753618" y="6540500"/>
              <a:ext cx="38241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"/>
                            </p:stCondLst>
                            <p:childTnLst>
                              <p:par>
                                <p:cTn xmlns:p="http://schemas.openxmlformats.org/presentationml/2006/main"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xmlns:p="http://schemas.openxmlformats.org/presentationml/2006/main" id="42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46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809367" cy="704088"/>
            <a:chOff x="743712" y="565150"/>
            <a:chExt cx="880936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80936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9" name="video"/>
          <p:cNvGrpSpPr/>
          <p:nvPr/>
        </p:nvGrpSpPr>
        <p:grpSpPr>
          <a:xfrm>
            <a:off x="4476750" y="2000250"/>
            <a:ext cx="3238500" cy="2381250"/>
            <a:chOff x="4476750" y="2000250"/>
            <a:chExt cx="3238500" cy="2381250"/>
          </a:xfrm>
        </p:grpSpPr>
        <p:sp>
          <p:nvSpPr>
            <p:cNvPr id="7" name="Rectangle 7"/>
            <p:cNvSpPr/>
            <p:nvPr/>
          </p:nvSpPr>
          <p:spPr>
            <a:xfrm>
              <a:off x="4476750" y="2000250"/>
              <a:ext cx="3238500" cy="2381250"/>
            </a:xfrm>
            <a:prstGeom prst="roundRect">
              <a:avLst>
                <a:gd name="adj" fmla="val 6400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0" y="2095500"/>
              <a:ext cx="3048000" cy="2190750"/>
            </a:xfrm>
            <a:prstGeom prst="rect">
              <a:avLst/>
            </a:prstGeom>
          </p:spPr>
        </p:pic>
      </p:grpSp>
      <p:grpSp>
        <p:nvGrpSpPr>
          <p:cNvPr id="12" name="video-note"/>
          <p:cNvGrpSpPr/>
          <p:nvPr/>
        </p:nvGrpSpPr>
        <p:grpSpPr>
          <a:xfrm>
            <a:off x="4345781" y="4559300"/>
            <a:ext cx="3055047" cy="322707"/>
            <a:chOff x="4345781" y="4559300"/>
            <a:chExt cx="3055047" cy="322707"/>
          </a:xfrm>
        </p:grpSpPr>
        <p:sp>
          <p:nvSpPr>
            <p:cNvPr id="10" name="Freeform 10"/>
            <p:cNvSpPr/>
            <p:nvPr/>
          </p:nvSpPr>
          <p:spPr>
            <a:xfrm>
              <a:off x="4345781" y="45688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696968" y="4559300"/>
              <a:ext cx="27038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</p:grpSp>
      <p:grpSp>
        <p:nvGrpSpPr>
          <p:cNvPr id="17" name="dopamine"/>
          <p:cNvGrpSpPr/>
          <p:nvPr/>
        </p:nvGrpSpPr>
        <p:grpSpPr>
          <a:xfrm>
            <a:off x="762000" y="1714500"/>
            <a:ext cx="3238500" cy="1143000"/>
            <a:chOff x="762000" y="1714500"/>
            <a:chExt cx="3238500" cy="1143000"/>
          </a:xfrm>
        </p:grpSpPr>
        <p:sp>
          <p:nvSpPr>
            <p:cNvPr id="13" name="Rectangle 13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26" name="serotonin"/>
          <p:cNvGrpSpPr/>
          <p:nvPr/>
        </p:nvGrpSpPr>
        <p:grpSpPr>
          <a:xfrm>
            <a:off x="8191500" y="1714500"/>
            <a:ext cx="3238500" cy="1143000"/>
            <a:chOff x="8191500" y="1714500"/>
            <a:chExt cx="3238500" cy="1143000"/>
          </a:xfrm>
        </p:grpSpPr>
        <p:sp>
          <p:nvSpPr>
            <p:cNvPr id="18" name="Rectangle 18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35" name="endorphins"/>
          <p:cNvGrpSpPr/>
          <p:nvPr/>
        </p:nvGrpSpPr>
        <p:grpSpPr>
          <a:xfrm>
            <a:off x="762000" y="3810000"/>
            <a:ext cx="3238500" cy="1143000"/>
            <a:chOff x="762000" y="3810000"/>
            <a:chExt cx="3238500" cy="1143000"/>
          </a:xfrm>
        </p:grpSpPr>
        <p:sp>
          <p:nvSpPr>
            <p:cNvPr id="27" name="Rectangle 27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40" name="oxytocin"/>
          <p:cNvGrpSpPr/>
          <p:nvPr/>
        </p:nvGrpSpPr>
        <p:grpSpPr>
          <a:xfrm>
            <a:off x="8191500" y="3810000"/>
            <a:ext cx="3238500" cy="1143000"/>
            <a:chOff x="8191500" y="3810000"/>
            <a:chExt cx="32385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47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41" name="Rectangle 41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122397" y="5419725"/>
              <a:ext cx="193606" cy="285751"/>
              <a:chOff x="1122397" y="5419725"/>
              <a:chExt cx="193606" cy="28575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171575" y="54197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87450" y="55149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122397" y="54197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553718" y="53848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8" name="Line 48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51" name="credits"/>
          <p:cNvGrpSpPr/>
          <p:nvPr/>
        </p:nvGrpSpPr>
        <p:grpSpPr>
          <a:xfrm>
            <a:off x="753618" y="6540500"/>
            <a:ext cx="3180693" cy="322707"/>
            <a:chOff x="753618" y="6540500"/>
            <a:chExt cx="3180693" cy="322707"/>
          </a:xfrm>
        </p:grpSpPr>
        <p:sp>
          <p:nvSpPr>
            <p:cNvPr id="50" name="TextBox 50"/>
            <p:cNvSpPr txBox="1"/>
            <p:nvPr/>
          </p:nvSpPr>
          <p:spPr>
            <a:xfrm>
              <a:off x="753618" y="6540500"/>
              <a:ext cx="31806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4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8216297" cy="704088"/>
            <a:chOff x="743712" y="565150"/>
            <a:chExt cx="821629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21629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026406" y="3930650"/>
              <a:ext cx="18541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пользы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8911179" cy="704088"/>
            <a:chOff x="743712" y="565150"/>
            <a:chExt cx="8911179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91117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3618" y="6540500"/>
            <a:ext cx="5758934" cy="322707"/>
            <a:chOff x="753618" y="6540500"/>
            <a:chExt cx="5758934" cy="322707"/>
          </a:xfrm>
        </p:grpSpPr>
        <p:sp>
          <p:nvSpPr>
            <p:cNvPr id="26" name="TextBox 26"/>
            <p:cNvSpPr txBox="1"/>
            <p:nvPr/>
          </p:nvSpPr>
          <p:spPr>
            <a:xfrm>
              <a:off x="753618" y="6540500"/>
              <a:ext cx="5758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8" name="donut-seg1"/>
          <p:cNvGrpSpPr/>
          <p:nvPr/>
        </p:nvGrpSpPr>
        <p:grpSpPr>
          <a:xfrm>
            <a:off x="3143250" y="2114550"/>
            <a:ext cx="1428750" cy="2857500"/>
            <a:chOff x="3143250" y="2114550"/>
            <a:chExt cx="1428750" cy="2857500"/>
          </a:xfrm>
        </p:grpSpPr>
        <p:sp>
          <p:nvSpPr>
            <p:cNvPr id="7" name="Freeform 7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10" name="donut-seg2"/>
          <p:cNvGrpSpPr/>
          <p:nvPr/>
        </p:nvGrpSpPr>
        <p:grpSpPr>
          <a:xfrm>
            <a:off x="1592120" y="2386965"/>
            <a:ext cx="1551130" cy="2585488"/>
            <a:chOff x="1592120" y="2386965"/>
            <a:chExt cx="1551130" cy="2585488"/>
          </a:xfrm>
        </p:grpSpPr>
        <p:sp>
          <p:nvSpPr>
            <p:cNvPr id="9" name="Freeform 9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12" name="donut-seg3"/>
          <p:cNvGrpSpPr/>
          <p:nvPr/>
        </p:nvGrpSpPr>
        <p:grpSpPr>
          <a:xfrm>
            <a:off x="2303145" y="2114354"/>
            <a:ext cx="840105" cy="688854"/>
            <a:chOff x="2303145" y="2114354"/>
            <a:chExt cx="840105" cy="688854"/>
          </a:xfrm>
        </p:grpSpPr>
        <p:sp>
          <p:nvSpPr>
            <p:cNvPr id="11" name="Freeform 11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</p:grpSp>
      <p:grpSp>
        <p:nvGrpSpPr>
          <p:cNvPr id="15" name="donut-center"/>
          <p:cNvGrpSpPr/>
          <p:nvPr/>
        </p:nvGrpSpPr>
        <p:grpSpPr>
          <a:xfrm>
            <a:off x="2182225" y="3251200"/>
            <a:ext cx="1922049" cy="697357"/>
            <a:chOff x="2182225" y="3251200"/>
            <a:chExt cx="1922049" cy="697357"/>
          </a:xfrm>
        </p:grpSpPr>
        <p:sp>
          <p:nvSpPr>
            <p:cNvPr id="13" name="TextBox 13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8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6" name="Rectangle 16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4" name="note"/>
          <p:cNvGrpSpPr/>
          <p:nvPr/>
        </p:nvGrpSpPr>
        <p:grpSpPr>
          <a:xfrm>
            <a:off x="998727" y="5899150"/>
            <a:ext cx="9262868" cy="617982"/>
            <a:chOff x="998727" y="5899150"/>
            <a:chExt cx="9262868" cy="617982"/>
          </a:xfrm>
        </p:grpSpPr>
        <p:grpSp>
          <p:nvGrpSpPr>
            <p:cNvPr id="32" name="Group 32"/>
            <p:cNvGrpSpPr/>
            <p:nvPr/>
          </p:nvGrpSpPr>
          <p:grpSpPr>
            <a:xfrm>
              <a:off x="998727" y="5929312"/>
              <a:ext cx="174245" cy="257175"/>
              <a:chOff x="998727" y="5929312"/>
              <a:chExt cx="174245" cy="25717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042988" y="592931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057275" y="601503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998727" y="592931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401318" y="5899150"/>
              <a:ext cx="8860277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 предложена в 2000-х. Мета-анализы (Rohrer &amp; Schmukle, 2018) уточняют: гены 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среда взаимодействуют, а не суммируются</a:t>
              </a:r>
            </a:p>
          </p:txBody>
        </p:sp>
      </p:grpSp>
      <p:sp>
        <p:nvSpPr>
          <p:cNvPr id="35" name="Line 3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8443098" cy="704088"/>
            <a:chOff x="743712" y="565150"/>
            <a:chExt cx="8443098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844309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3618" y="6540500"/>
            <a:ext cx="3050187" cy="322707"/>
            <a:chOff x="753618" y="6540500"/>
            <a:chExt cx="3050187" cy="322707"/>
          </a:xfrm>
        </p:grpSpPr>
        <p:sp>
          <p:nvSpPr>
            <p:cNvPr id="44" name="TextBox 44"/>
            <p:cNvSpPr txBox="1"/>
            <p:nvPr/>
          </p:nvSpPr>
          <p:spPr>
            <a:xfrm>
              <a:off x="753618" y="6540500"/>
              <a:ext cx="30501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6036262" cy="704088"/>
            <a:chOff x="743712" y="565150"/>
            <a:chExt cx="603626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03626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19" name="chart-line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</p:grpSp>
      <p:grpSp>
        <p:nvGrpSpPr>
          <p:cNvPr id="21" name="chart-mark"/>
          <p:cNvGrpSpPr/>
          <p:nvPr/>
        </p:nvGrpSpPr>
        <p:grpSpPr>
          <a:xfrm>
            <a:off x="5524500" y="2781300"/>
            <a:ext cx="190500" cy="190500"/>
            <a:chOff x="5524500" y="2781300"/>
            <a:chExt cx="190500" cy="190500"/>
          </a:xfrm>
        </p:grpSpPr>
        <p:sp>
          <p:nvSpPr>
            <p:cNvPr id="20" name="Ellipse 20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8" name="theses"/>
          <p:cNvGrpSpPr/>
          <p:nvPr/>
        </p:nvGrpSpPr>
        <p:grpSpPr>
          <a:xfrm>
            <a:off x="8572500" y="1666875"/>
            <a:ext cx="3429000" cy="3905250"/>
            <a:chOff x="8572500" y="1666875"/>
            <a:chExt cx="3429000" cy="3905250"/>
          </a:xfrm>
        </p:grpSpPr>
        <p:sp>
          <p:nvSpPr>
            <p:cNvPr id="22" name="Rectangle 22"/>
            <p:cNvSpPr/>
            <p:nvPr/>
          </p:nvSpPr>
          <p:spPr>
            <a:xfrm>
              <a:off x="8572500" y="1666875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8308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8308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572500" y="3714750"/>
              <a:ext cx="3429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830818" y="4006850"/>
              <a:ext cx="29152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(2021, PNAS)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8308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9" name="Line 29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2" name="credits"/>
          <p:cNvGrpSpPr/>
          <p:nvPr/>
        </p:nvGrpSpPr>
        <p:grpSpPr>
          <a:xfrm>
            <a:off x="753618" y="6540500"/>
            <a:ext cx="4360934" cy="322707"/>
            <a:chOff x="753618" y="6540500"/>
            <a:chExt cx="4360934" cy="322707"/>
          </a:xfrm>
        </p:grpSpPr>
        <p:sp>
          <p:nvSpPr>
            <p:cNvPr id="31" name="TextBox 31"/>
            <p:cNvSpPr txBox="1"/>
            <p:nvPr/>
          </p:nvSpPr>
          <p:spPr>
            <a:xfrm>
              <a:off x="753618" y="6540500"/>
              <a:ext cx="43609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6195212" cy="704088"/>
            <a:chOff x="743712" y="565150"/>
            <a:chExt cx="6195212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619521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952500" y="1762125"/>
            <a:ext cx="6477000" cy="4476750"/>
            <a:chOff x="952500" y="1762125"/>
            <a:chExt cx="6477000" cy="4476750"/>
          </a:xfrm>
        </p:grpSpPr>
        <p:sp>
          <p:nvSpPr>
            <p:cNvPr id="7" name="Rectangle 7"/>
            <p:cNvSpPr/>
            <p:nvPr/>
          </p:nvSpPr>
          <p:spPr>
            <a:xfrm>
              <a:off x="952500" y="1762125"/>
              <a:ext cx="64770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8" name="chart-line"/>
          <p:cNvGrpSpPr/>
          <p:nvPr/>
        </p:nvGrpSpPr>
        <p:grpSpPr>
          <a:xfrm>
            <a:off x="1714500" y="2857500"/>
            <a:ext cx="5334000" cy="1905000"/>
            <a:chOff x="1714500" y="2857500"/>
            <a:chExt cx="5334000" cy="1905000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</p:grpSp>
      <p:grpSp>
        <p:nvGrpSpPr>
          <p:cNvPr id="20" name="chart-mark"/>
          <p:cNvGrpSpPr/>
          <p:nvPr/>
        </p:nvGrpSpPr>
        <p:grpSpPr>
          <a:xfrm>
            <a:off x="3895725" y="4657725"/>
            <a:ext cx="209550" cy="209550"/>
            <a:chOff x="3895725" y="4657725"/>
            <a:chExt cx="209550" cy="209550"/>
          </a:xfrm>
        </p:grpSpPr>
        <p:sp>
          <p:nvSpPr>
            <p:cNvPr id="19" name="Ellipse 19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9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1" name="Rectangle 21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30" name="Line 30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3712" y="565150"/>
            <a:ext cx="9490893" cy="704088"/>
            <a:chOff x="743712" y="565150"/>
            <a:chExt cx="9490893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94908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5351817" cy="704088"/>
            <a:chOff x="743712" y="565150"/>
            <a:chExt cx="5351817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535181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37" name="rec-4"/>
          <p:cNvGrpSpPr/>
          <p:nvPr/>
        </p:nvGrpSpPr>
        <p:grpSpPr>
          <a:xfrm>
            <a:off x="762000" y="3952875"/>
            <a:ext cx="3429000" cy="2047875"/>
            <a:chOff x="762000" y="3952875"/>
            <a:chExt cx="3429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grpSp>
        <p:nvGrpSpPr>
          <p:cNvPr id="45" name="rec-5"/>
          <p:cNvGrpSpPr/>
          <p:nvPr/>
        </p:nvGrpSpPr>
        <p:grpSpPr>
          <a:xfrm>
            <a:off x="4381500" y="3952875"/>
            <a:ext cx="3429000" cy="2047875"/>
            <a:chOff x="4381500" y="3952875"/>
            <a:chExt cx="3429000" cy="2047875"/>
          </a:xfrm>
        </p:grpSpPr>
        <p:sp>
          <p:nvSpPr>
            <p:cNvPr id="38" name="Rectangle 38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</p:grpSp>
      <p:grpSp>
        <p:nvGrpSpPr>
          <p:cNvPr id="53" name="rec-6"/>
          <p:cNvGrpSpPr/>
          <p:nvPr/>
        </p:nvGrpSpPr>
        <p:grpSpPr>
          <a:xfrm>
            <a:off x="8001000" y="3952875"/>
            <a:ext cx="3429000" cy="2047875"/>
            <a:chOff x="8001000" y="3952875"/>
            <a:chExt cx="3429000" cy="2047875"/>
          </a:xfrm>
        </p:grpSpPr>
        <p:sp>
          <p:nvSpPr>
            <p:cNvPr id="46" name="Rectangle 4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</p:grpSp>
      <p:sp>
        <p:nvSpPr>
          <p:cNvPr id="54" name="Line 5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7" name="credits"/>
          <p:cNvGrpSpPr/>
          <p:nvPr/>
        </p:nvGrpSpPr>
        <p:grpSpPr>
          <a:xfrm>
            <a:off x="753618" y="6540500"/>
            <a:ext cx="2301316" cy="322707"/>
            <a:chOff x="753618" y="6540500"/>
            <a:chExt cx="2301316" cy="322707"/>
          </a:xfrm>
        </p:grpSpPr>
        <p:sp>
          <p:nvSpPr>
            <p:cNvPr id="56" name="TextBox 56"/>
            <p:cNvSpPr txBox="1"/>
            <p:nvPr/>
          </p:nvSpPr>
          <p:spPr>
            <a:xfrm>
              <a:off x="753618" y="6540500"/>
              <a:ext cx="2301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"/>
                            </p:stCondLst>
                            <p:childTnLst>
                              <p:par>
                                <p:cTn xmlns:p="http://schemas.openxmlformats.org/presentationml/2006/main"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3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3712" y="565150"/>
            <a:ext cx="7376124" cy="704088"/>
            <a:chOff x="743712" y="565150"/>
            <a:chExt cx="7376124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65150"/>
              <a:ext cx="7376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114550"/>
            <a:chOff x="762000" y="1238250"/>
            <a:chExt cx="10668000" cy="211455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114550"/>
            </a:xfrm>
            <a:prstGeom prst="roundRect">
              <a:avLst>
                <a:gd name="adj" fmla="val 7207"/>
              </a:avLst>
            </a:prstGeom>
            <a:solidFill>
              <a:srgbClr val="FFFFFF">
                <a:alpha val="88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4780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1135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1135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2733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2733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63525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6" name="sources"/>
          <p:cNvGrpSpPr/>
          <p:nvPr/>
        </p:nvGrpSpPr>
        <p:grpSpPr>
          <a:xfrm>
            <a:off x="981456" y="3638550"/>
            <a:ext cx="3692903" cy="2310257"/>
            <a:chOff x="981456" y="3638550"/>
            <a:chExt cx="3692903" cy="2310257"/>
          </a:xfrm>
        </p:grpSpPr>
        <p:sp>
          <p:nvSpPr>
            <p:cNvPr id="19" name="TextBox 19"/>
            <p:cNvSpPr txBox="1"/>
            <p:nvPr/>
          </p:nvSpPr>
          <p:spPr>
            <a:xfrm>
              <a:off x="981456" y="363855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218" y="4006850"/>
              <a:ext cx="27061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1. World Happiness Report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82218" y="4330700"/>
              <a:ext cx="29914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2. Killingsworth, PNAS (2021)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2218" y="4654550"/>
              <a:ext cx="3382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3. Канеман и Дитон (2010, 2023)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218" y="4978400"/>
              <a:ext cx="36921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4. Селигман, «Подлинное счастье»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82218" y="5302250"/>
              <a:ext cx="22276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5. Рувики, «Счастье»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218" y="5626100"/>
              <a:ext cx="3284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6. Skillbox, «Что такое счастье»</a:t>
              </a:r>
            </a:p>
          </p:txBody>
        </p:sp>
      </p:grpSp>
      <p:grpSp>
        <p:nvGrpSpPr>
          <p:cNvPr id="30" name="qr"/>
          <p:cNvGrpSpPr/>
          <p:nvPr/>
        </p:nvGrpSpPr>
        <p:grpSpPr>
          <a:xfrm>
            <a:off x="8095241" y="3676650"/>
            <a:ext cx="1907019" cy="2538857"/>
            <a:chOff x="8095241" y="3676650"/>
            <a:chExt cx="1907019" cy="2538857"/>
          </a:xfrm>
        </p:grpSpPr>
        <p:sp>
          <p:nvSpPr>
            <p:cNvPr id="27" name="TextBox 27"/>
            <p:cNvSpPr txBox="1"/>
            <p:nvPr/>
          </p:nvSpPr>
          <p:spPr>
            <a:xfrm>
              <a:off x="8095241" y="3676650"/>
              <a:ext cx="19070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</a:t>
              </a:r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095750"/>
              <a:ext cx="1714500" cy="1714500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8137857" y="5892800"/>
              <a:ext cx="18217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</a:t>
              </a:r>
            </a:p>
          </p:txBody>
        </p:sp>
      </p:grpSp>
      <p:sp>
        <p:nvSpPr>
          <p:cNvPr id="31" name="Line 3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2026-10-09T19:26:08Z</dcterms:created>
  <dcterms:modified xsi:type="dcterms:W3CDTF">2026-10-09T19:26:08Z</dcterms:modified>
  <cp:category/>
  <cp:contentStatus/>
</cp:coreProperties>
</file>