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jpg" ContentType="image/jpeg"/>
  <Default Extension="png" ContentType="image/png"/>
  <Default Extension="mp3" ContentType="audio/m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notesMasterIdLst>
    <p:notesMasterId r:id="rId24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2000" cy="6858000" type="screen16x9"/>
  <p:notesSz cx="6858000" cy="9144000"/>
  <p:defaultTextStyle>
    <a:defPPr>
      <a:defRPr lang="ru"/>
    </a:defPPr>
    <a:lvl1pPr marL="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ru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  <Relationship Id="rId24" Type="http://schemas.openxmlformats.org/officeDocument/2006/relationships/notesMaster" Target="notesMasters/notesMaster1.xml"/>
</Relationships>
</file>

<file path=ppt/notesMasters/_rels/notesMaster1.xml.rels><?xml version="1.0" encoding="UTF-8" standalone="yes"?>
<Relationships xmlns="http://schemas.openxmlformats.org/package/2006/relationships">
  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r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/>
            <a:endParaRPr lang="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sz="1200" lang="ru"/>
    </a:lvl1pPr>
  </p:notesStyle>
</p:notesMaster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.xml"/>
</Relationships>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2.xml"/>
</Relationships>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3.xml"/>
</Relationships>
</file>

<file path=ppt/notesSlides/_rels/notesSlide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4.xml"/>
</Relationships>
</file>

<file path=ppt/notesSlides/_rels/notesSlide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5.xml"/>
</Relationships>
</file>

<file path=ppt/notesSlides/_rels/notesSlide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6.xml"/>
</Relationships>
</file>

<file path=ppt/notesSlides/_rels/notesSlide7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7.xml"/>
</Relationships>
</file>

<file path=ppt/notesSlides/_rels/notesSlide8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8.xml"/>
</Relationships>
</file>

<file path=ppt/notesSlides/_rels/notesSlide9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9.xml"/>
</Relationships>
</file>

<file path=ppt/notesSlides/_rels/notesSlide10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0.xml"/>
</Relationships>
</file>

<file path=ppt/notesSlides/_rels/notesSlide1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1.xml"/>
</Relationships>
</file>

<file path=ppt/notesSlides/_rels/notesSlide1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2.xml"/>
</Relationships>
</file>

<file path=ppt/notesSlides/_rels/notesSlide1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3.xml"/>
</Relationships>
</file>

<file path=ppt/notesSlides/_rels/notesSlide1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4.xml"/>
</Relationships>
</file>

<file path=ppt/notesSlides/_rels/notesSlide1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5.xml"/>
</Relationships>
</file>

<file path=ppt/notesSlides/_rels/notesSlide1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6.xml"/>
</Relationships>
</file>

<file path=ppt/notesSlides/_rels/notesSlide17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7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Здравствуйте. Тема моего доклада — концепция счастья: что делает людей счастливыми в современном мире. За последние десятилетия учёные выяснили: деньги, успех и даже образование не гарантируют счастья. Почему так? И что действительно важно? Об этом мы поговорим.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Цель нашей презентации — выяснить, что делает людей счастливыми. Мы рассмотрим научные подходы к счастью, выявим ключевые факторы и дадим практические рекомендации.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Мы рассмотрим счастье с точки зрения философии, психологии, нейробиологии и экономики. Узнаем формулу Селигмана, парадокс Истерлина, влияние образования и цифровых технологий.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Кратко о том, что вас ждёт. Тема — что делает людей счастливыми в современном мире. Подход — научные данные и честная критика позитивной психологии. Вы узнаете главные факторы счастья и получите практические шаги к благополучию. Презентация рассчитана на преподавателей колледжа и аттестационную комиссию.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Счастье — одна из главных целей человеческой жизни. Аристотель считал его деятельностью души в полноте добродетели. Но Всемирная организация здравоохранения регистрирует рост депрессии: по данным Центров по контролю заболеваний США, доля людей с депрессией выросла с восьми целых двух десятых процента до тринадцати целых одной десятой процента за десять лет. При этом уровень счастья в мире не растёт. Парадокс: литературы по позитивной психологии много, а счастливых людей меньше.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Счастье — состояние внутреннего благополучия. В психологии это субъективное благополучие. Оно включает когнитивный компонент — оценку жизни, и эмоциональный — положительные и отрицательные эмоции. Барбара Фредриксон доказала: для благополучия положительные эмоции должны преобладать над отрицательными примерно в соотношении три к одному. В психологии счастье рассматривают по-разному: психоанализ, когнитивное направление, позитивная психология и био-психо-социальный подход.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Физиология счастья связана с гормонами. Дофамин — система поощрения, мотивация, обучение, любовь. Серотонин — фон долговременной удовлетворённости, сон, подавление отрицательных эмоций. Эндорфины — кратковременная эйфория, обезболивание. Окситоцин — привязанность, доверие, эмпатия. Здоровый образ жизни, спорт и общение поддерживают баланс этих веществ.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Аристотель определял счастье как деятельность души в полноте добродетели. Стоики, Сенека и Марк Аврелий, — как внутреннее спокойствие. Индийская философия — как освобождение от страданий. Христианская традиция, Фома Аквинский, понимала счастье как дар Божий и созерцание блага. Просвещение провозгласило счастье естественным правом: Джефферсон писал о стремлении к счастью. Утилитаризм Бентама и Милля — это максимизация удовольствия. В двадцать первом веке счастье понимают как многомерный феномен.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Гедонизм: счастье — это максимум удовольствия и минимум страданий. Он связан с потребительской культурой. Риск — гедонистическая адаптация и давление пропаганды счастья. Эвдемония: счастье — это реализация потенциала, смысл и добродетели. Канадский психолог Гордон Ньюфелд говорит: «Счастье находится по ту сторону слёз».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Мартин Селигман вывел формулу: счастье равно наследственности плюс волевая деятельность плюс обстоятельства. Пятьдесят процентов — генетика, десять процентов — внешние обстоятельства, сорок процентов — намеренные действия. Соня Любомирски назвала это теорией сорока процентов: фокус на себе эффективнее изменения обстоятельств. Но есть критика: Барбара Эренрейх, Стивенсон и Вольферс напоминают, что игнорировать социальное неравенство и доход нельзя.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Сильнейший предиктор счастья — качество отношений. Одиночество сильно снижает счастье. Дэниел Хейброн выделяет источники благополучия: безопасность, самостоятельность, отношения и реализацию в профессии. Внутренние факторы — это осмысленность, самореализация, здоровье и благодарность. Внешние — материальная стабильность, справедливость и интересная деятельность.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Парадокс Истерлина: рост дохода не всегда ведёт к росту счастья. Канеман и Дитон в две тысячи десятом году выявили порог — семьдесят пять тысяч долларов в год. После него влияние дохода на эмоциональное благополучие прекращается. На макроуровне богатые страны счастливее бедных. Причина в гедонистической адаптации: люди быстро привыкают к улучшениям.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Связь счастья и образования сложна. На индивидуальном уровне прямая связь слабая. Есть нелинейность: самая низкая удовлетворённость — у людей со средним специальным образованием. Косвенные эффекты — доход, социальный статус, когнитивные навыки. И ещё один парадокс: рост образования повышает требования к жизни, что может снижать удовлетворённость.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Социальные сети дают связь с близкими, поддержку и доступ к знаниям. Но есть и риски: сравнение с другими, страх упустить важное, снижение самооценки. Цифровой детокс и осознанное потребление контента повышают счастье. Онлайн-терапия и приложения для медитации — инструменты улучшения благополучия. Баланс онлайн и офлайн критически важен.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Восемь шагов к счастью. Инвестируйте в отношения. Практикуйте благодарность. Занимайтесь физической активностью. Медитируйте. Ставьте цели. Помогайте другим людям. Ограничьте соцсети. Спите достаточно. Эти привычки, подтверждённые наукой, доступны каждому. Дополнительные материалы о счастье есть в открытых источниках.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Счастье — многомерный феномен. На него влияют генетика, обстоятельства и намеренные действия. Качество отношений — сильнейший предиктор. Деньги важны лишь до определённого уровня. Цифровые технологии амбивалентны. И главное: счастье можно развивать через осознанные усилия.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ru" dirty="0"/>
              <a:t>В работе использованы материалы научных и образовательных источников: исследования НИУ ВШЭ и УрФУ, публикации на Cyberleninka, а также научные работы Селигмана, Канемана и Дитона. Отдельно рассмотрена критика позитивной психологии — работы Эренрейх, Стивенсона и Вольферса. Все выводы опираются на перечисленные источники.</a:t>
            </a:r>
          </a:p>
        </p:txBody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happiness_concept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ru" smtClean="0"/>
              <a:t>1/27/13</a:t>
            </a:fld>
            <a:endParaRPr lang="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ru" smtClean="0"/>
              <a:t>‹#›</a:t>
            </a:fld>
            <a:endParaRPr lang="ru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happiness_concept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ru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ru" smtClean="0"/>
              <a:t>1/27/13</a:t>
            </a:fld>
            <a:endParaRPr lang="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ru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ru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ru" smtClean="0"/>
              <a:t>‹#›</a:t>
            </a:fld>
            <a:endParaRPr lang="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3600" kern="1200" lang="ru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800" kern="1200" lang="ru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700" kern="1200" lang="ru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600" kern="1200" lang="ru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450" kern="1200" lang="ru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350" kern="1200" lang="ru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1250" kern="1200" lang="ru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1100" kern="1200" lang="ru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1000" kern="1200" lang="ru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900" kern="1200" lang="ru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"/>
      </a:defPPr>
      <a:lvl1pPr marL="0" algn="l" defTabSz="457200" rtl="0" eaLnBrk="1" latinLnBrk="0" hangingPunct="1">
        <a:defRPr sz="1800" kern="1200" lang="ru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700" kern="1200" lang="ru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600" kern="1200" lang="ru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450" kern="1200" lang="ru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350" kern="1200" lang="ru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250" kern="1200" lang="ru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100" kern="1200" lang="ru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000" kern="1200" lang="ru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900" kern="1200" lang="ru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318ade41bd9de0e7.jpg"/>
  <Relationship Id="rId3" Type="http://schemas.openxmlformats.org/officeDocument/2006/relationships/notesSlide" Target="../notesSlides/notesSlide1.xml"/>
  <Relationship Id="rId4" Type="http://schemas.microsoft.com/office/2007/relationships/media" Target="../media/narration1.mp3"/>
  <Relationship Id="rId5" Type="http://schemas.openxmlformats.org/officeDocument/2006/relationships/audio" Target="../media/narration1.mp3"/>
  <Relationship Id="rId6" Type="http://schemas.openxmlformats.org/officeDocument/2006/relationships/image" Target="../media/narration_poster.png"/>
</Relationships>
</file>

<file path=ppt/slides/_rels/slide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bd4a9df1376ac73e.jpg"/>
  <Relationship Id="rId3" Type="http://schemas.openxmlformats.org/officeDocument/2006/relationships/notesSlide" Target="../notesSlides/notesSlide2.xml"/>
  <Relationship Id="rId4" Type="http://schemas.microsoft.com/office/2007/relationships/media" Target="../media/narration2.mp3"/>
  <Relationship Id="rId5" Type="http://schemas.openxmlformats.org/officeDocument/2006/relationships/audio" Target="../media/narration2.mp3"/>
  <Relationship Id="rId6" Type="http://schemas.openxmlformats.org/officeDocument/2006/relationships/image" Target="../media/narration_poster.png"/>
</Relationships>
</file>

<file path=ppt/slides/_rels/slide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e4e7b3384ccf1767.jpg"/>
  <Relationship Id="rId3" Type="http://schemas.openxmlformats.org/officeDocument/2006/relationships/notesSlide" Target="../notesSlides/notesSlide3.xml"/>
  <Relationship Id="rId4" Type="http://schemas.microsoft.com/office/2007/relationships/media" Target="../media/narration3.mp3"/>
  <Relationship Id="rId5" Type="http://schemas.openxmlformats.org/officeDocument/2006/relationships/audio" Target="../media/narration3.mp3"/>
  <Relationship Id="rId6" Type="http://schemas.openxmlformats.org/officeDocument/2006/relationships/image" Target="../media/narration_poster.png"/>
</Relationships>
</file>

<file path=ppt/slides/_rels/slide4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e4e7b3384ccf1767.jpg"/>
  <Relationship Id="rId3" Type="http://schemas.openxmlformats.org/officeDocument/2006/relationships/notesSlide" Target="../notesSlides/notesSlide4.xml"/>
  <Relationship Id="rId4" Type="http://schemas.microsoft.com/office/2007/relationships/media" Target="../media/narration4.mp3"/>
  <Relationship Id="rId5" Type="http://schemas.openxmlformats.org/officeDocument/2006/relationships/audio" Target="../media/narration4.mp3"/>
  <Relationship Id="rId6" Type="http://schemas.openxmlformats.org/officeDocument/2006/relationships/image" Target="../media/narration_poster.png"/>
</Relationships>
</file>

<file path=ppt/slides/_rels/slide5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92f55618fceb4ce6.jpg"/>
  <Relationship Id="rId3" Type="http://schemas.openxmlformats.org/officeDocument/2006/relationships/notesSlide" Target="../notesSlides/notesSlide5.xml"/>
  <Relationship Id="rId4" Type="http://schemas.microsoft.com/office/2007/relationships/media" Target="../media/narration5.mp3"/>
  <Relationship Id="rId5" Type="http://schemas.openxmlformats.org/officeDocument/2006/relationships/audio" Target="../media/narration5.mp3"/>
  <Relationship Id="rId6" Type="http://schemas.openxmlformats.org/officeDocument/2006/relationships/image" Target="../media/narration_poster.png"/>
</Relationships>
</file>

<file path=ppt/slides/_rels/slide6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257e2e7a59c4bea4.jpg"/>
  <Relationship Id="rId3" Type="http://schemas.openxmlformats.org/officeDocument/2006/relationships/notesSlide" Target="../notesSlides/notesSlide6.xml"/>
  <Relationship Id="rId4" Type="http://schemas.microsoft.com/office/2007/relationships/media" Target="../media/narration6.mp3"/>
  <Relationship Id="rId5" Type="http://schemas.openxmlformats.org/officeDocument/2006/relationships/audio" Target="../media/narration6.mp3"/>
  <Relationship Id="rId6" Type="http://schemas.openxmlformats.org/officeDocument/2006/relationships/image" Target="../media/narration_poster.png"/>
</Relationships>
</file>

<file path=ppt/slides/_rels/slide7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821692c47bf8da53.jpg"/>
  <Relationship Id="rId3" Type="http://schemas.openxmlformats.org/officeDocument/2006/relationships/image" Target="../media/image_fb9a4fe6da9ea8ca.jpg"/>
  <Relationship Id="rId4" Type="http://schemas.openxmlformats.org/officeDocument/2006/relationships/notesSlide" Target="../notesSlides/notesSlide7.xml"/>
  <Relationship Id="rId5" Type="http://schemas.microsoft.com/office/2007/relationships/media" Target="../media/narration7.mp3"/>
  <Relationship Id="rId6" Type="http://schemas.openxmlformats.org/officeDocument/2006/relationships/audio" Target="../media/narration7.mp3"/>
  <Relationship Id="rId7" Type="http://schemas.openxmlformats.org/officeDocument/2006/relationships/image" Target="../media/narration_poster.png"/>
</Relationships>
</file>

<file path=ppt/slides/_rels/slide8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1288d118ee0905d5.jpg"/>
  <Relationship Id="rId3" Type="http://schemas.openxmlformats.org/officeDocument/2006/relationships/image" Target="../media/image_b45662b9cbfa98ee.jpg"/>
  <Relationship Id="rId4" Type="http://schemas.openxmlformats.org/officeDocument/2006/relationships/image" Target="../media/image_57b71a4dc378653d.jpg"/>
  <Relationship Id="rId5" Type="http://schemas.openxmlformats.org/officeDocument/2006/relationships/image" Target="../media/image_cabb1b339030b4ed.jpg"/>
  <Relationship Id="rId6" Type="http://schemas.openxmlformats.org/officeDocument/2006/relationships/image" Target="../media/image_b792826eaa622c8f.jpg"/>
  <Relationship Id="rId7" Type="http://schemas.openxmlformats.org/officeDocument/2006/relationships/image" Target="../media/image_afd9db9fff54cca2.jpg"/>
  <Relationship Id="rId8" Type="http://schemas.openxmlformats.org/officeDocument/2006/relationships/notesSlide" Target="../notesSlides/notesSlide8.xml"/>
  <Relationship Id="rId9" Type="http://schemas.microsoft.com/office/2007/relationships/media" Target="../media/narration8.mp3"/>
  <Relationship Id="rId10" Type="http://schemas.openxmlformats.org/officeDocument/2006/relationships/audio" Target="../media/narration8.mp3"/>
  <Relationship Id="rId11" Type="http://schemas.openxmlformats.org/officeDocument/2006/relationships/image" Target="../media/narration_poster.png"/>
</Relationships>
</file>

<file path=ppt/slides/_rels/slide9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b44499b2209e30ac.jpg"/>
  <Relationship Id="rId3" Type="http://schemas.openxmlformats.org/officeDocument/2006/relationships/image" Target="../media/image_a2f711d4eb699204.jpg"/>
  <Relationship Id="rId4" Type="http://schemas.openxmlformats.org/officeDocument/2006/relationships/image" Target="../media/image_852cb707c4f2b7ad.jpg"/>
  <Relationship Id="rId5" Type="http://schemas.openxmlformats.org/officeDocument/2006/relationships/notesSlide" Target="../notesSlides/notesSlide9.xml"/>
  <Relationship Id="rId6" Type="http://schemas.microsoft.com/office/2007/relationships/media" Target="../media/narration9.mp3"/>
  <Relationship Id="rId7" Type="http://schemas.openxmlformats.org/officeDocument/2006/relationships/audio" Target="../media/narration9.mp3"/>
  <Relationship Id="rId8" Type="http://schemas.openxmlformats.org/officeDocument/2006/relationships/image" Target="../media/narration_poster.png"/>
</Relationships>
</file>

<file path=ppt/slides/_rels/slide10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459ada776e4b6156.jpg"/>
  <Relationship Id="rId3" Type="http://schemas.openxmlformats.org/officeDocument/2006/relationships/notesSlide" Target="../notesSlides/notesSlide10.xml"/>
  <Relationship Id="rId4" Type="http://schemas.microsoft.com/office/2007/relationships/media" Target="../media/narration10.mp3"/>
  <Relationship Id="rId5" Type="http://schemas.openxmlformats.org/officeDocument/2006/relationships/audio" Target="../media/narration10.mp3"/>
  <Relationship Id="rId6" Type="http://schemas.openxmlformats.org/officeDocument/2006/relationships/image" Target="../media/narration_poster.png"/>
</Relationships>
</file>

<file path=ppt/slides/_rels/slide1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d8daedaf61ee7641.jpg"/>
  <Relationship Id="rId3" Type="http://schemas.openxmlformats.org/officeDocument/2006/relationships/notesSlide" Target="../notesSlides/notesSlide11.xml"/>
  <Relationship Id="rId4" Type="http://schemas.microsoft.com/office/2007/relationships/media" Target="../media/narration11.mp3"/>
  <Relationship Id="rId5" Type="http://schemas.openxmlformats.org/officeDocument/2006/relationships/audio" Target="../media/narration11.mp3"/>
  <Relationship Id="rId6" Type="http://schemas.openxmlformats.org/officeDocument/2006/relationships/image" Target="../media/narration_poster.png"/>
</Relationships>
</file>

<file path=ppt/slides/_rels/slide1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83b3bfd2e122e64d.jpg"/>
  <Relationship Id="rId3" Type="http://schemas.openxmlformats.org/officeDocument/2006/relationships/image" Target="../media/image_3c78ba75b72158e1.jpg"/>
  <Relationship Id="rId4" Type="http://schemas.openxmlformats.org/officeDocument/2006/relationships/image" Target="../media/image_970dd5afa7fe1255.jpg"/>
  <Relationship Id="rId5" Type="http://schemas.openxmlformats.org/officeDocument/2006/relationships/notesSlide" Target="../notesSlides/notesSlide12.xml"/>
  <Relationship Id="rId6" Type="http://schemas.microsoft.com/office/2007/relationships/media" Target="../media/narration12.mp3"/>
  <Relationship Id="rId7" Type="http://schemas.openxmlformats.org/officeDocument/2006/relationships/audio" Target="../media/narration12.mp3"/>
  <Relationship Id="rId8" Type="http://schemas.openxmlformats.org/officeDocument/2006/relationships/image" Target="../media/narration_poster.png"/>
</Relationships>
</file>

<file path=ppt/slides/_rels/slide1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678ebc45bf979982.jpg"/>
  <Relationship Id="rId3" Type="http://schemas.openxmlformats.org/officeDocument/2006/relationships/notesSlide" Target="../notesSlides/notesSlide13.xml"/>
  <Relationship Id="rId4" Type="http://schemas.microsoft.com/office/2007/relationships/media" Target="../media/narration13.mp3"/>
  <Relationship Id="rId5" Type="http://schemas.openxmlformats.org/officeDocument/2006/relationships/audio" Target="../media/narration13.mp3"/>
  <Relationship Id="rId6" Type="http://schemas.openxmlformats.org/officeDocument/2006/relationships/image" Target="../media/narration_poster.png"/>
</Relationships>
</file>

<file path=ppt/slides/_rels/slide14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973e39d10fae920a.jpg"/>
  <Relationship Id="rId3" Type="http://schemas.openxmlformats.org/officeDocument/2006/relationships/notesSlide" Target="../notesSlides/notesSlide14.xml"/>
  <Relationship Id="rId4" Type="http://schemas.microsoft.com/office/2007/relationships/media" Target="../media/narration14.mp3"/>
  <Relationship Id="rId5" Type="http://schemas.openxmlformats.org/officeDocument/2006/relationships/audio" Target="../media/narration14.mp3"/>
  <Relationship Id="rId6" Type="http://schemas.openxmlformats.org/officeDocument/2006/relationships/image" Target="../media/narration_poster.png"/>
</Relationships>
</file>

<file path=ppt/slides/_rels/slide15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16d3fe47d56c9303.jpg"/>
  <Relationship Id="rId3" Type="http://schemas.openxmlformats.org/officeDocument/2006/relationships/notesSlide" Target="../notesSlides/notesSlide15.xml"/>
  <Relationship Id="rId4" Type="http://schemas.microsoft.com/office/2007/relationships/media" Target="../media/narration15.mp3"/>
  <Relationship Id="rId5" Type="http://schemas.openxmlformats.org/officeDocument/2006/relationships/audio" Target="../media/narration15.mp3"/>
  <Relationship Id="rId6" Type="http://schemas.openxmlformats.org/officeDocument/2006/relationships/image" Target="../media/narration_poster.png"/>
</Relationships>
</file>

<file path=ppt/slides/_rels/slide16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e943bc3fa4d211d5.jpg"/>
  <Relationship Id="rId3" Type="http://schemas.openxmlformats.org/officeDocument/2006/relationships/notesSlide" Target="../notesSlides/notesSlide16.xml"/>
  <Relationship Id="rId4" Type="http://schemas.microsoft.com/office/2007/relationships/media" Target="../media/narration16.mp3"/>
  <Relationship Id="rId5" Type="http://schemas.openxmlformats.org/officeDocument/2006/relationships/audio" Target="../media/narration16.mp3"/>
  <Relationship Id="rId6" Type="http://schemas.openxmlformats.org/officeDocument/2006/relationships/image" Target="../media/narration_poster.png"/>
</Relationships>
</file>

<file path=ppt/slides/_rels/slide17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  <Relationship Id="rId2" Type="http://schemas.openxmlformats.org/officeDocument/2006/relationships/image" Target="../media/image_e4e7b3384ccf1767.jpg"/>
  <Relationship Id="rId3" Type="http://schemas.openxmlformats.org/officeDocument/2006/relationships/notesSlide" Target="../notesSlides/notesSlide17.xml"/>
  <Relationship Id="rId4" Type="http://schemas.microsoft.com/office/2007/relationships/media" Target="../media/narration17.mp3"/>
  <Relationship Id="rId5" Type="http://schemas.openxmlformats.org/officeDocument/2006/relationships/audio" Target="../media/narration17.mp3"/>
  <Relationship Id="rId6" Type="http://schemas.openxmlformats.org/officeDocument/2006/relationships/image" Target="../media/narration_poster.png"/>
</Relationships>
</file>

<file path=ppt/slides/slide1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-photo"/>
          <p:cNvPicPr>
            <a:picLocks noChangeAspect="1"/>
          </p:cNvPicPr>
          <p:nvPr/>
        </p:nvPicPr>
        <p:blipFill>
          <a:blip r:embed="rId2"/>
          <a:srcRect l="0" t="5003" r="0" b="500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cover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82000"/>
                </a:srgbClr>
              </a:gs>
              <a:gs pos="100000">
                <a:srgbClr val="F5E6D3">
                  <a:alpha val="82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cover-orb"/>
          <p:cNvSpPr/>
          <p:nvPr/>
        </p:nvSpPr>
        <p:spPr>
          <a:xfrm>
            <a:off x="8382000" y="-762000"/>
            <a:ext cx="4191000" cy="4191000"/>
          </a:xfrm>
          <a:prstGeom prst="ellipse">
            <a:avLst/>
          </a:prstGeom>
          <a:solidFill>
            <a:srgbClr val="FFFFFF">
              <a:alpha val="35000"/>
            </a:srgbClr>
          </a:solidFill>
          <a:ln>
            <a:noFill/>
          </a:ln>
        </p:spPr>
      </p:sp>
      <p:sp>
        <p:nvSpPr>
          <p:cNvPr id="5" name="cover-orb-2"/>
          <p:cNvSpPr/>
          <p:nvPr/>
        </p:nvSpPr>
        <p:spPr>
          <a:xfrm>
            <a:off x="95250" y="4667250"/>
            <a:ext cx="3048000" cy="3048000"/>
          </a:xfrm>
          <a:prstGeom prst="ellipse">
            <a:avLst/>
          </a:prstGeom>
          <a:solidFill>
            <a:srgbClr val="27AE60">
              <a:alpha val="8000"/>
            </a:srgbClr>
          </a:solidFill>
          <a:ln>
            <a:noFill/>
          </a:ln>
        </p:spPr>
      </p:sp>
      <p:grpSp>
        <p:nvGrpSpPr>
          <p:cNvPr id="10" name="cover-header"/>
          <p:cNvGrpSpPr/>
          <p:nvPr/>
        </p:nvGrpSpPr>
        <p:grpSpPr>
          <a:xfrm>
            <a:off x="743712" y="1104900"/>
            <a:ext cx="7437343" cy="2450338"/>
            <a:chOff x="743712" y="1104900"/>
            <a:chExt cx="7437343" cy="2450338"/>
          </a:xfrm>
        </p:grpSpPr>
        <p:sp>
          <p:nvSpPr>
            <p:cNvPr id="6" name="TextBox 6"/>
            <p:cNvSpPr txBox="1"/>
            <p:nvPr/>
          </p:nvSpPr>
          <p:spPr>
            <a:xfrm>
              <a:off x="752856" y="1104900"/>
              <a:ext cx="706613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spc="15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РОСТОВСКИЙ-НА-ДОНУ КОЛЛЕДЖ СВЯЗИ И ИНФОРМАТИКИ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743712" y="1727200"/>
              <a:ext cx="4827478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Концепция счастья: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43712" y="2336800"/>
              <a:ext cx="7437343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что делает людей счастливыми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743712" y="2851150"/>
              <a:ext cx="5079850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в современном мире?</a:t>
              </a:r>
            </a:p>
          </p:txBody>
        </p:sp>
      </p:grpSp>
      <p:grpSp>
        <p:nvGrpSpPr>
          <p:cNvPr id="16" name="cover-author"/>
          <p:cNvGrpSpPr/>
          <p:nvPr/>
        </p:nvGrpSpPr>
        <p:grpSpPr>
          <a:xfrm>
            <a:off x="762000" y="4000500"/>
            <a:ext cx="4330332" cy="1609344"/>
            <a:chOff x="762000" y="4000500"/>
            <a:chExt cx="4330332" cy="1609344"/>
          </a:xfrm>
        </p:grpSpPr>
        <p:sp>
          <p:nvSpPr>
            <p:cNvPr id="11" name="Rectangle 11"/>
            <p:cNvSpPr/>
            <p:nvPr/>
          </p:nvSpPr>
          <p:spPr>
            <a:xfrm>
              <a:off x="762000" y="4000500"/>
              <a:ext cx="57150" cy="1524000"/>
            </a:xfrm>
            <a:prstGeom prst="roundRect">
              <a:avLst>
                <a:gd name="adj" fmla="val 50000"/>
              </a:avLst>
            </a:prstGeom>
            <a:solidFill>
              <a:srgbClr val="27AE60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057656" y="4171950"/>
              <a:ext cx="297538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Сабадаш Павел Андреевич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57656" y="4533900"/>
              <a:ext cx="153353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Группа ИС-24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057656" y="4895850"/>
              <a:ext cx="282375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sabadaspaha@gmail.com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057656" y="5257800"/>
              <a:ext cx="403467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Защита учебной презентации, 2026</a:t>
              </a:r>
            </a:p>
          </p:txBody>
        </p:sp>
      </p:grpSp>
      <p:grpSp>
        <p:nvGrpSpPr>
          <p:cNvPr id="34" name="cover-icons"/>
          <p:cNvGrpSpPr/>
          <p:nvPr/>
        </p:nvGrpSpPr>
        <p:grpSpPr>
          <a:xfrm>
            <a:off x="8372856" y="4824413"/>
            <a:ext cx="3463004" cy="842581"/>
            <a:chOff x="8372856" y="4824413"/>
            <a:chExt cx="3463004" cy="842581"/>
          </a:xfrm>
        </p:grpSpPr>
        <p:grpSp>
          <p:nvGrpSpPr>
            <p:cNvPr id="23" name="Group 23"/>
            <p:cNvGrpSpPr/>
            <p:nvPr/>
          </p:nvGrpSpPr>
          <p:grpSpPr>
            <a:xfrm>
              <a:off x="8443913" y="4824413"/>
              <a:ext cx="371475" cy="371475"/>
              <a:chOff x="8443913" y="4824413"/>
              <a:chExt cx="371475" cy="371475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8629650" y="5030788"/>
                <a:ext cx="144463" cy="165100"/>
              </a:xfrm>
              <a:custGeom>
                <a:avLst/>
                <a:gdLst/>
                <a:ahLst/>
                <a:cxnLst/>
                <a:rect l="l" t="t" r="r" b="b"/>
                <a:pathLst>
                  <a:path w="144463" h="165100">
                    <a:moveTo>
                      <a:pt x="72231" y="0"/>
                    </a:moveTo>
                    <a:cubicBezTo>
                      <a:pt x="32339" y="0"/>
                      <a:pt x="0" y="32339"/>
                      <a:pt x="0" y="72231"/>
                    </a:cubicBezTo>
                    <a:lnTo>
                      <a:pt x="0" y="92869"/>
                    </a:lnTo>
                    <a:cubicBezTo>
                      <a:pt x="0" y="132761"/>
                      <a:pt x="32339" y="165100"/>
                      <a:pt x="72231" y="165100"/>
                    </a:cubicBezTo>
                    <a:cubicBezTo>
                      <a:pt x="112124" y="165100"/>
                      <a:pt x="144463" y="132761"/>
                      <a:pt x="144463" y="92869"/>
                    </a:cubicBezTo>
                    <a:lnTo>
                      <a:pt x="144463" y="55721"/>
                    </a:lnTo>
                  </a:path>
                </a:pathLst>
              </a:custGeom>
              <a:noFill/>
              <a:ln w="41275">
                <a:solidFill>
                  <a:schemeClr val="accent1"/>
                </a:solidFill>
              </a:ln>
            </p:spPr>
          </p:sp>
          <p:sp>
            <p:nvSpPr>
              <p:cNvPr id="18" name="Freeform 18"/>
              <p:cNvSpPr/>
              <p:nvPr/>
            </p:nvSpPr>
            <p:spPr>
              <a:xfrm>
                <a:off x="8485188" y="5030788"/>
                <a:ext cx="144463" cy="165100"/>
              </a:xfrm>
              <a:custGeom>
                <a:avLst/>
                <a:gdLst/>
                <a:ahLst/>
                <a:cxnLst/>
                <a:rect l="l" t="t" r="r" b="b"/>
                <a:pathLst>
                  <a:path w="144463" h="165100">
                    <a:moveTo>
                      <a:pt x="72231" y="0"/>
                    </a:moveTo>
                    <a:cubicBezTo>
                      <a:pt x="112124" y="0"/>
                      <a:pt x="144463" y="32339"/>
                      <a:pt x="144463" y="72231"/>
                    </a:cubicBezTo>
                    <a:lnTo>
                      <a:pt x="144463" y="92869"/>
                    </a:lnTo>
                    <a:cubicBezTo>
                      <a:pt x="144463" y="132761"/>
                      <a:pt x="112124" y="165100"/>
                      <a:pt x="72231" y="165100"/>
                    </a:cubicBezTo>
                    <a:cubicBezTo>
                      <a:pt x="32339" y="165100"/>
                      <a:pt x="0" y="132761"/>
                      <a:pt x="0" y="92869"/>
                    </a:cubicBezTo>
                    <a:lnTo>
                      <a:pt x="0" y="55721"/>
                    </a:lnTo>
                  </a:path>
                </a:pathLst>
              </a:custGeom>
              <a:noFill/>
              <a:ln w="41275">
                <a:solidFill>
                  <a:schemeClr val="accent1"/>
                </a:solidFill>
              </a:ln>
            </p:spPr>
          </p:sp>
          <p:sp>
            <p:nvSpPr>
              <p:cNvPr id="19" name="Freeform 19"/>
              <p:cNvSpPr/>
              <p:nvPr/>
            </p:nvSpPr>
            <p:spPr>
              <a:xfrm>
                <a:off x="8732838" y="4948238"/>
                <a:ext cx="82550" cy="144463"/>
              </a:xfrm>
              <a:custGeom>
                <a:avLst/>
                <a:gdLst/>
                <a:ahLst/>
                <a:cxnLst/>
                <a:rect l="l" t="t" r="r" b="b"/>
                <a:pathLst>
                  <a:path w="82550" h="144463">
                    <a:moveTo>
                      <a:pt x="10319" y="144463"/>
                    </a:moveTo>
                    <a:cubicBezTo>
                      <a:pt x="50211" y="144463"/>
                      <a:pt x="82550" y="112124"/>
                      <a:pt x="82550" y="72231"/>
                    </a:cubicBezTo>
                    <a:cubicBezTo>
                      <a:pt x="82550" y="32339"/>
                      <a:pt x="50211" y="0"/>
                      <a:pt x="10319" y="0"/>
                    </a:cubicBezTo>
                    <a:lnTo>
                      <a:pt x="0" y="0"/>
                    </a:lnTo>
                  </a:path>
                </a:pathLst>
              </a:custGeom>
              <a:noFill/>
              <a:ln w="41275">
                <a:solidFill>
                  <a:schemeClr val="accent1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8629650" y="4824413"/>
                <a:ext cx="144463" cy="130016"/>
              </a:xfrm>
              <a:custGeom>
                <a:avLst/>
                <a:gdLst/>
                <a:ahLst/>
                <a:cxnLst/>
                <a:rect l="l" t="t" r="r" b="b"/>
                <a:pathLst>
                  <a:path w="144463" h="130016">
                    <a:moveTo>
                      <a:pt x="144463" y="130016"/>
                    </a:moveTo>
                    <a:lnTo>
                      <a:pt x="144463" y="72231"/>
                    </a:lnTo>
                    <a:cubicBezTo>
                      <a:pt x="144463" y="32339"/>
                      <a:pt x="112124" y="0"/>
                      <a:pt x="72231" y="0"/>
                    </a:cubicBezTo>
                    <a:cubicBezTo>
                      <a:pt x="32339" y="0"/>
                      <a:pt x="0" y="32339"/>
                      <a:pt x="0" y="72231"/>
                    </a:cubicBezTo>
                  </a:path>
                </a:pathLst>
              </a:custGeom>
              <a:noFill/>
              <a:ln w="41275">
                <a:solidFill>
                  <a:schemeClr val="accent1"/>
                </a:solidFill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8443913" y="4948238"/>
                <a:ext cx="82550" cy="144463"/>
              </a:xfrm>
              <a:custGeom>
                <a:avLst/>
                <a:gdLst/>
                <a:ahLst/>
                <a:cxnLst/>
                <a:rect l="l" t="t" r="r" b="b"/>
                <a:pathLst>
                  <a:path w="82550" h="144463">
                    <a:moveTo>
                      <a:pt x="72231" y="144463"/>
                    </a:moveTo>
                    <a:cubicBezTo>
                      <a:pt x="32339" y="144463"/>
                      <a:pt x="0" y="112124"/>
                      <a:pt x="0" y="72231"/>
                    </a:cubicBezTo>
                    <a:cubicBezTo>
                      <a:pt x="0" y="32339"/>
                      <a:pt x="32339" y="0"/>
                      <a:pt x="72231" y="0"/>
                    </a:cubicBezTo>
                    <a:lnTo>
                      <a:pt x="82550" y="0"/>
                    </a:lnTo>
                  </a:path>
                </a:pathLst>
              </a:custGeom>
              <a:noFill/>
              <a:ln w="41275">
                <a:solidFill>
                  <a:schemeClr val="accent1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8485188" y="4824413"/>
                <a:ext cx="144463" cy="278607"/>
              </a:xfrm>
              <a:custGeom>
                <a:avLst/>
                <a:gdLst/>
                <a:ahLst/>
                <a:cxnLst/>
                <a:rect l="l" t="t" r="r" b="b"/>
                <a:pathLst>
                  <a:path w="144463" h="278607">
                    <a:moveTo>
                      <a:pt x="0" y="130016"/>
                    </a:moveTo>
                    <a:lnTo>
                      <a:pt x="0" y="72231"/>
                    </a:lnTo>
                    <a:cubicBezTo>
                      <a:pt x="0" y="32339"/>
                      <a:pt x="32339" y="0"/>
                      <a:pt x="72231" y="0"/>
                    </a:cubicBezTo>
                    <a:cubicBezTo>
                      <a:pt x="112124" y="0"/>
                      <a:pt x="144463" y="32339"/>
                      <a:pt x="144463" y="72231"/>
                    </a:cubicBezTo>
                    <a:lnTo>
                      <a:pt x="144463" y="278607"/>
                    </a:lnTo>
                  </a:path>
                </a:pathLst>
              </a:custGeom>
              <a:noFill/>
              <a:ln w="41275">
                <a:solidFill>
                  <a:schemeClr val="accent1"/>
                </a:solidFill>
              </a:ln>
            </p:spPr>
          </p:sp>
        </p:grpSp>
        <p:sp>
          <p:nvSpPr>
            <p:cNvPr id="24" name="Freeform 24"/>
            <p:cNvSpPr/>
            <p:nvPr/>
          </p:nvSpPr>
          <p:spPr>
            <a:xfrm>
              <a:off x="9198766" y="4839756"/>
              <a:ext cx="385394" cy="335495"/>
            </a:xfrm>
            <a:custGeom>
              <a:avLst/>
              <a:gdLst/>
              <a:ahLst/>
              <a:cxnLst/>
              <a:rect l="l" t="t" r="r" b="b"/>
              <a:pathLst>
                <a:path w="385394" h="335495">
                  <a:moveTo>
                    <a:pt x="347665" y="182199"/>
                  </a:moveTo>
                  <a:lnTo>
                    <a:pt x="192884" y="335495"/>
                  </a:lnTo>
                  <a:lnTo>
                    <a:pt x="38102" y="182199"/>
                  </a:lnTo>
                  <a:cubicBezTo>
                    <a:pt x="10269" y="155114"/>
                    <a:pt x="0" y="114695"/>
                    <a:pt x="11531" y="77609"/>
                  </a:cubicBezTo>
                  <a:cubicBezTo>
                    <a:pt x="23062" y="40523"/>
                    <a:pt x="54440" y="13053"/>
                    <a:pt x="92725" y="6527"/>
                  </a:cubicBezTo>
                  <a:cubicBezTo>
                    <a:pt x="131010" y="0"/>
                    <a:pt x="169717" y="15523"/>
                    <a:pt x="192884" y="46693"/>
                  </a:cubicBezTo>
                  <a:cubicBezTo>
                    <a:pt x="216148" y="15753"/>
                    <a:pt x="254772" y="437"/>
                    <a:pt x="292918" y="7024"/>
                  </a:cubicBezTo>
                  <a:cubicBezTo>
                    <a:pt x="331064" y="13612"/>
                    <a:pt x="362314" y="40995"/>
                    <a:pt x="373854" y="77946"/>
                  </a:cubicBezTo>
                  <a:cubicBezTo>
                    <a:pt x="385394" y="114896"/>
                    <a:pt x="375282" y="155197"/>
                    <a:pt x="347665" y="182323"/>
                  </a:cubicBezTo>
                </a:path>
              </a:pathLst>
            </a:custGeom>
            <a:noFill/>
            <a:ln w="41275">
              <a:solidFill>
                <a:srgbClr val="E74C3C"/>
              </a:solidFill>
            </a:ln>
          </p:spPr>
        </p:sp>
        <p:grpSp>
          <p:nvGrpSpPr>
            <p:cNvPr id="27" name="Group 27"/>
            <p:cNvGrpSpPr/>
            <p:nvPr/>
          </p:nvGrpSpPr>
          <p:grpSpPr>
            <a:xfrm>
              <a:off x="9967913" y="4824413"/>
              <a:ext cx="371476" cy="371476"/>
              <a:chOff x="9967913" y="4824413"/>
              <a:chExt cx="371476" cy="371476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10071100" y="4927600"/>
                <a:ext cx="165100" cy="165100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165100">
                    <a:moveTo>
                      <a:pt x="0" y="82550"/>
                    </a:moveTo>
                    <a:cubicBezTo>
                      <a:pt x="0" y="128141"/>
                      <a:pt x="36959" y="165100"/>
                      <a:pt x="82550" y="165100"/>
                    </a:cubicBezTo>
                    <a:cubicBezTo>
                      <a:pt x="128141" y="165100"/>
                      <a:pt x="165100" y="128141"/>
                      <a:pt x="165100" y="82550"/>
                    </a:cubicBezTo>
                    <a:cubicBezTo>
                      <a:pt x="165100" y="36959"/>
                      <a:pt x="128141" y="0"/>
                      <a:pt x="82550" y="0"/>
                    </a:cubicBezTo>
                    <a:cubicBezTo>
                      <a:pt x="36959" y="0"/>
                      <a:pt x="0" y="36959"/>
                      <a:pt x="0" y="82550"/>
                    </a:cubicBezTo>
                  </a:path>
                </a:pathLst>
              </a:custGeom>
              <a:noFill/>
              <a:ln w="41275">
                <a:solidFill>
                  <a:srgbClr val="E67E22"/>
                </a:solidFill>
              </a:ln>
            </p:spPr>
          </p:sp>
          <p:sp>
            <p:nvSpPr>
              <p:cNvPr id="26" name="Freeform 26"/>
              <p:cNvSpPr/>
              <p:nvPr/>
            </p:nvSpPr>
            <p:spPr>
              <a:xfrm>
                <a:off x="9967913" y="4824413"/>
                <a:ext cx="371476" cy="371476"/>
              </a:xfrm>
              <a:custGeom>
                <a:avLst/>
                <a:gdLst/>
                <a:ahLst/>
                <a:cxnLst/>
                <a:rect l="l" t="t" r="r" b="b"/>
                <a:pathLst>
                  <a:path w="371476" h="371476">
                    <a:moveTo>
                      <a:pt x="0" y="185738"/>
                    </a:moveTo>
                    <a:lnTo>
                      <a:pt x="20638" y="185738"/>
                    </a:lnTo>
                    <a:moveTo>
                      <a:pt x="185738" y="0"/>
                    </a:moveTo>
                    <a:lnTo>
                      <a:pt x="185738" y="20638"/>
                    </a:lnTo>
                    <a:moveTo>
                      <a:pt x="350838" y="185738"/>
                    </a:moveTo>
                    <a:lnTo>
                      <a:pt x="371476" y="185738"/>
                    </a:lnTo>
                    <a:moveTo>
                      <a:pt x="185738" y="350838"/>
                    </a:moveTo>
                    <a:lnTo>
                      <a:pt x="185738" y="371476"/>
                    </a:lnTo>
                    <a:moveTo>
                      <a:pt x="53658" y="53658"/>
                    </a:moveTo>
                    <a:lnTo>
                      <a:pt x="68104" y="68104"/>
                    </a:lnTo>
                    <a:moveTo>
                      <a:pt x="317818" y="53658"/>
                    </a:moveTo>
                    <a:lnTo>
                      <a:pt x="303372" y="68104"/>
                    </a:lnTo>
                    <a:moveTo>
                      <a:pt x="303372" y="303372"/>
                    </a:moveTo>
                    <a:lnTo>
                      <a:pt x="317818" y="317818"/>
                    </a:lnTo>
                    <a:moveTo>
                      <a:pt x="68104" y="303372"/>
                    </a:moveTo>
                    <a:lnTo>
                      <a:pt x="53658" y="317818"/>
                    </a:lnTo>
                  </a:path>
                </a:pathLst>
              </a:custGeom>
              <a:noFill/>
              <a:ln w="41275">
                <a:solidFill>
                  <a:srgbClr val="E67E22"/>
                </a:solidFill>
              </a:ln>
            </p:spPr>
          </p:sp>
        </p:grpSp>
        <p:grpSp>
          <p:nvGrpSpPr>
            <p:cNvPr id="32" name="Group 32"/>
            <p:cNvGrpSpPr/>
            <p:nvPr/>
          </p:nvGrpSpPr>
          <p:grpSpPr>
            <a:xfrm>
              <a:off x="10729913" y="4824413"/>
              <a:ext cx="371476" cy="371476"/>
              <a:chOff x="10729913" y="4824413"/>
              <a:chExt cx="371476" cy="371476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10771188" y="4824413"/>
                <a:ext cx="165100" cy="165100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165100">
                    <a:moveTo>
                      <a:pt x="0" y="82550"/>
                    </a:moveTo>
                    <a:cubicBezTo>
                      <a:pt x="0" y="128141"/>
                      <a:pt x="36959" y="165100"/>
                      <a:pt x="82550" y="165100"/>
                    </a:cubicBezTo>
                    <a:cubicBezTo>
                      <a:pt x="128141" y="165100"/>
                      <a:pt x="165100" y="128141"/>
                      <a:pt x="165100" y="82550"/>
                    </a:cubicBezTo>
                    <a:cubicBezTo>
                      <a:pt x="165100" y="36959"/>
                      <a:pt x="128141" y="0"/>
                      <a:pt x="82550" y="0"/>
                    </a:cubicBezTo>
                    <a:cubicBezTo>
                      <a:pt x="36959" y="0"/>
                      <a:pt x="0" y="36959"/>
                      <a:pt x="0" y="82550"/>
                    </a:cubicBez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10729913" y="5072063"/>
                <a:ext cx="247650" cy="123825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123825">
                    <a:moveTo>
                      <a:pt x="0" y="123825"/>
                    </a:moveTo>
                    <a:lnTo>
                      <a:pt x="0" y="82550"/>
                    </a:lnTo>
                    <a:cubicBezTo>
                      <a:pt x="0" y="36959"/>
                      <a:pt x="36959" y="0"/>
                      <a:pt x="82550" y="0"/>
                    </a:cubicBezTo>
                    <a:lnTo>
                      <a:pt x="165100" y="0"/>
                    </a:lnTo>
                    <a:cubicBezTo>
                      <a:pt x="210691" y="0"/>
                      <a:pt x="247650" y="36959"/>
                      <a:pt x="247650" y="82550"/>
                    </a:cubicBezTo>
                    <a:lnTo>
                      <a:pt x="247650" y="123825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10998201" y="4827095"/>
                <a:ext cx="62074" cy="159941"/>
              </a:xfrm>
              <a:custGeom>
                <a:avLst/>
                <a:gdLst/>
                <a:ahLst/>
                <a:cxnLst/>
                <a:rect l="l" t="t" r="r" b="b"/>
                <a:pathLst>
                  <a:path w="62074" h="159941">
                    <a:moveTo>
                      <a:pt x="0" y="0"/>
                    </a:moveTo>
                    <a:cubicBezTo>
                      <a:pt x="36527" y="9352"/>
                      <a:pt x="62074" y="42265"/>
                      <a:pt x="62074" y="79970"/>
                    </a:cubicBezTo>
                    <a:cubicBezTo>
                      <a:pt x="62074" y="117675"/>
                      <a:pt x="36527" y="150589"/>
                      <a:pt x="0" y="159941"/>
                    </a:cubicBez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11039476" y="5075159"/>
                <a:ext cx="61913" cy="120730"/>
              </a:xfrm>
              <a:custGeom>
                <a:avLst/>
                <a:gdLst/>
                <a:ahLst/>
                <a:cxnLst/>
                <a:rect l="l" t="t" r="r" b="b"/>
                <a:pathLst>
                  <a:path w="61913" h="120730">
                    <a:moveTo>
                      <a:pt x="61913" y="120730"/>
                    </a:moveTo>
                    <a:lnTo>
                      <a:pt x="61913" y="79454"/>
                    </a:lnTo>
                    <a:cubicBezTo>
                      <a:pt x="61697" y="41989"/>
                      <a:pt x="36277" y="9366"/>
                      <a:pt x="0" y="0"/>
                    </a:cubicBez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</p:grpSp>
        <p:sp>
          <p:nvSpPr>
            <p:cNvPr id="33" name="TextBox 33"/>
            <p:cNvSpPr txBox="1"/>
            <p:nvPr/>
          </p:nvSpPr>
          <p:spPr>
            <a:xfrm>
              <a:off x="8372856" y="5314950"/>
              <a:ext cx="346300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мозг · сердце · солнце · семья</a:t>
              </a:r>
            </a:p>
          </p:txBody>
        </p:sp>
      </p:grpSp>
      <p:grpSp>
        <p:nvGrpSpPr>
          <p:cNvPr id="42" name="cover-logo"/>
          <p:cNvGrpSpPr/>
          <p:nvPr/>
        </p:nvGrpSpPr>
        <p:grpSpPr>
          <a:xfrm>
            <a:off x="10016056" y="857250"/>
            <a:ext cx="1684889" cy="1552194"/>
            <a:chOff x="10016056" y="857250"/>
            <a:chExt cx="1684889" cy="1552194"/>
          </a:xfrm>
        </p:grpSpPr>
        <p:sp>
          <p:nvSpPr>
            <p:cNvPr id="35" name="Ellipse 35"/>
            <p:cNvSpPr/>
            <p:nvPr/>
          </p:nvSpPr>
          <p:spPr>
            <a:xfrm>
              <a:off x="10382250" y="857250"/>
              <a:ext cx="952500" cy="952500"/>
            </a:xfrm>
            <a:prstGeom prst="ellipse">
              <a:avLst/>
            </a:prstGeom>
            <a:solidFill>
              <a:schemeClr val="accent1">
                <a:alpha val="92000"/>
              </a:schemeClr>
            </a:solidFill>
            <a:ln>
              <a:noFill/>
            </a:ln>
          </p:spPr>
        </p:sp>
        <p:sp>
          <p:nvSpPr>
            <p:cNvPr id="36" name="Ellipse 36"/>
            <p:cNvSpPr/>
            <p:nvPr/>
          </p:nvSpPr>
          <p:spPr>
            <a:xfrm>
              <a:off x="10458450" y="933450"/>
              <a:ext cx="800100" cy="800100"/>
            </a:xfrm>
            <a:prstGeom prst="ellipse">
              <a:avLst/>
            </a:prstGeom>
            <a:noFill/>
            <a:ln w="28575">
              <a:solidFill>
                <a:srgbClr val="FFFFFF"/>
              </a:solidFill>
            </a:ln>
          </p:spPr>
        </p:sp>
        <p:grpSp>
          <p:nvGrpSpPr>
            <p:cNvPr id="39" name="Group 39"/>
            <p:cNvGrpSpPr/>
            <p:nvPr/>
          </p:nvGrpSpPr>
          <p:grpSpPr>
            <a:xfrm>
              <a:off x="10668000" y="1200150"/>
              <a:ext cx="381000" cy="266700"/>
              <a:chOff x="10668000" y="1200150"/>
              <a:chExt cx="381000" cy="266700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10668000" y="1200150"/>
                <a:ext cx="381000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190500">
                    <a:moveTo>
                      <a:pt x="381000" y="76200"/>
                    </a:moveTo>
                    <a:lnTo>
                      <a:pt x="190500" y="0"/>
                    </a:lnTo>
                    <a:lnTo>
                      <a:pt x="0" y="76200"/>
                    </a:lnTo>
                    <a:lnTo>
                      <a:pt x="190500" y="152400"/>
                    </a:lnTo>
                    <a:lnTo>
                      <a:pt x="381000" y="76200"/>
                    </a:lnTo>
                    <a:lnTo>
                      <a:pt x="381000" y="190500"/>
                    </a:lnTo>
                  </a:path>
                </a:pathLst>
              </a:custGeom>
              <a:noFill/>
              <a:ln w="38100">
                <a:solidFill>
                  <a:srgbClr val="FFFFFF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10744200" y="1306830"/>
                <a:ext cx="228600" cy="160020"/>
              </a:xfrm>
              <a:custGeom>
                <a:avLst/>
                <a:gdLst/>
                <a:ahLst/>
                <a:cxnLst/>
                <a:rect l="l" t="t" r="r" b="b"/>
                <a:pathLst>
                  <a:path w="228600" h="160020">
                    <a:moveTo>
                      <a:pt x="0" y="0"/>
                    </a:moveTo>
                    <a:lnTo>
                      <a:pt x="0" y="102870"/>
                    </a:lnTo>
                    <a:cubicBezTo>
                      <a:pt x="0" y="134433"/>
                      <a:pt x="51174" y="160020"/>
                      <a:pt x="114300" y="160020"/>
                    </a:cubicBezTo>
                    <a:cubicBezTo>
                      <a:pt x="177426" y="160020"/>
                      <a:pt x="228600" y="134433"/>
                      <a:pt x="228600" y="102870"/>
                    </a:cubicBezTo>
                    <a:lnTo>
                      <a:pt x="228600" y="0"/>
                    </a:lnTo>
                  </a:path>
                </a:pathLst>
              </a:custGeom>
              <a:noFill/>
              <a:ln w="38100">
                <a:solidFill>
                  <a:srgbClr val="FFFFFF"/>
                </a:solidFill>
              </a:ln>
            </p:spPr>
          </p:sp>
        </p:grpSp>
        <p:sp>
          <p:nvSpPr>
            <p:cNvPr id="40" name="TextBox 40"/>
            <p:cNvSpPr txBox="1"/>
            <p:nvPr/>
          </p:nvSpPr>
          <p:spPr>
            <a:xfrm>
              <a:off x="10553639" y="1809750"/>
              <a:ext cx="60972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РКСИ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0016056" y="2057400"/>
              <a:ext cx="168488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колледж связи</a:t>
              </a:r>
            </a:p>
          </p:txBody>
        </p:sp>
      </p:grpSp>
      <p:grpSp>
        <p:nvGrpSpPr>
          <p:cNvPr id="44" name="cover-question"/>
          <p:cNvGrpSpPr/>
          <p:nvPr/>
        </p:nvGrpSpPr>
        <p:grpSpPr>
          <a:xfrm>
            <a:off x="752856" y="6115050"/>
            <a:ext cx="4695346" cy="352044"/>
            <a:chOff x="752856" y="6115050"/>
            <a:chExt cx="4695346" cy="352044"/>
          </a:xfrm>
        </p:grpSpPr>
        <p:sp>
          <p:nvSpPr>
            <p:cNvPr id="43" name="TextBox 43"/>
            <p:cNvSpPr txBox="1"/>
            <p:nvPr/>
          </p:nvSpPr>
          <p:spPr>
            <a:xfrm>
              <a:off x="752856" y="6115050"/>
              <a:ext cx="469534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i="1" dirty="0">
                  <a:solidFill>
                    <a:srgbClr val="E67E22"/>
                  </a:solidFill>
                  <a:latin typeface="+mn-lt"/>
                  <a:ea typeface="+mn-ea"/>
                  <a:cs typeface="+mn-cs"/>
                </a:rPr>
                <a:t>Почему деньги не гарантируют счастья?</a:t>
              </a:r>
            </a:p>
          </p:txBody>
        </p:sp>
      </p:grpSp>
      <p:grpSp>
        <p:nvGrpSpPr>
          <p:cNvPr id="46" name="cover-credit"/>
          <p:cNvGrpSpPr/>
          <p:nvPr/>
        </p:nvGrpSpPr>
        <p:grpSpPr>
          <a:xfrm>
            <a:off x="753618" y="6578600"/>
            <a:ext cx="5443991" cy="322707"/>
            <a:chOff x="753618" y="6578600"/>
            <a:chExt cx="5443991" cy="322707"/>
          </a:xfrm>
        </p:grpSpPr>
        <p:sp>
          <p:nvSpPr>
            <p:cNvPr id="45" name="credit"/>
            <p:cNvSpPr txBox="1"/>
            <p:nvPr/>
          </p:nvSpPr>
          <p:spPr>
            <a:xfrm>
              <a:off x="753618" y="6578600"/>
              <a:ext cx="544399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rgbClr val="7F8C8D"/>
                  </a:solidFill>
                  <a:latin typeface="+mn-lt"/>
                  <a:ea typeface="+mn-ea"/>
                  <a:cs typeface="+mn-cs"/>
                </a:rPr>
                <a:t>© Basile Morin / Wikimedia Commons / CC BY-SA 4.0</a:t>
              </a:r>
            </a:p>
          </p:txBody>
        </p:sp>
      </p:grpSp>
      <p:pic>
        <p:nvPicPr>
          <p:cNvPr id="47" name="PPT Master narration: narration1.mp3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audio>
              <p:cMediaNode vol="80000">
                <p:cTn id="2" fill="hold" display="0">
                  <p:stCondLst>
                    <p:cond delay="800"/>
                  </p:stCondLst>
                </p:cTn>
                <p:tgtEl>
                  <p:spTgt spid="47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2-photo"/>
          <p:cNvPicPr>
            <a:picLocks noChangeAspect="1"/>
          </p:cNvPicPr>
          <p:nvPr/>
        </p:nvPicPr>
        <p:blipFill>
          <a:blip r:embed="rId2"/>
          <a:srcRect l="0" t="7858" r="0" b="785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2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88000"/>
                </a:srgbClr>
              </a:gs>
              <a:gs pos="100000">
                <a:srgbClr val="F5E6D3">
                  <a:alpha val="88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p02-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sp>
        <p:nvSpPr>
          <p:cNvPr id="5" name="p02-foot"/>
          <p:cNvSpPr txBox="1"/>
          <p:nvPr/>
        </p:nvSpPr>
        <p:spPr>
          <a:xfrm>
            <a:off x="752856" y="6343650"/>
            <a:ext cx="3078699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ru" sz="180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Концепция счастья · ИС-24</a:t>
            </a:r>
          </a:p>
        </p:txBody>
      </p:sp>
      <p:sp>
        <p:nvSpPr>
          <p:cNvPr id="6" name="p02-num"/>
          <p:cNvSpPr txBox="1"/>
          <p:nvPr/>
        </p:nvSpPr>
        <p:spPr>
          <a:xfrm>
            <a:off x="11151304" y="6343650"/>
            <a:ext cx="287840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80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02</a:t>
            </a:r>
          </a:p>
        </p:txBody>
      </p:sp>
      <p:grpSp>
        <p:nvGrpSpPr>
          <p:cNvPr id="8" name="p02-title"/>
          <p:cNvGrpSpPr/>
          <p:nvPr/>
        </p:nvGrpSpPr>
        <p:grpSpPr>
          <a:xfrm>
            <a:off x="743712" y="565150"/>
            <a:ext cx="4376193" cy="704088"/>
            <a:chOff x="743712" y="565150"/>
            <a:chExt cx="4376193" cy="704088"/>
          </a:xfrm>
        </p:grpSpPr>
        <p:sp>
          <p:nvSpPr>
            <p:cNvPr id="7" name="TextBox 7"/>
            <p:cNvSpPr txBox="1"/>
            <p:nvPr/>
          </p:nvSpPr>
          <p:spPr>
            <a:xfrm>
              <a:off x="743712" y="565150"/>
              <a:ext cx="4376193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Цель и три задачи</a:t>
              </a:r>
            </a:p>
          </p:txBody>
        </p:sp>
      </p:grpSp>
      <p:grpSp>
        <p:nvGrpSpPr>
          <p:cNvPr id="21" name="p02-goal"/>
          <p:cNvGrpSpPr/>
          <p:nvPr/>
        </p:nvGrpSpPr>
        <p:grpSpPr>
          <a:xfrm>
            <a:off x="762000" y="1619250"/>
            <a:ext cx="4000500" cy="4095750"/>
            <a:chOff x="762000" y="1619250"/>
            <a:chExt cx="4000500" cy="4095750"/>
          </a:xfrm>
        </p:grpSpPr>
        <p:sp>
          <p:nvSpPr>
            <p:cNvPr id="9" name="Rectangle 9"/>
            <p:cNvSpPr/>
            <p:nvPr/>
          </p:nvSpPr>
          <p:spPr>
            <a:xfrm>
              <a:off x="762000" y="1619250"/>
              <a:ext cx="4000500" cy="4095750"/>
            </a:xfrm>
            <a:prstGeom prst="roundRect">
              <a:avLst>
                <a:gd name="adj" fmla="val 4286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grpSp>
          <p:nvGrpSpPr>
            <p:cNvPr id="13" name="Group 13"/>
            <p:cNvGrpSpPr/>
            <p:nvPr/>
          </p:nvGrpSpPr>
          <p:grpSpPr>
            <a:xfrm>
              <a:off x="1219200" y="2076450"/>
              <a:ext cx="457201" cy="457201"/>
              <a:chOff x="1219200" y="2076450"/>
              <a:chExt cx="457201" cy="457201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1422400" y="2279650"/>
                <a:ext cx="50800" cy="50800"/>
              </a:xfrm>
              <a:custGeom>
                <a:avLst/>
                <a:gdLst/>
                <a:ahLst/>
                <a:cxnLst/>
                <a:rect l="l" t="t" r="r" b="b"/>
                <a:pathLst>
                  <a:path w="50800" h="50800">
                    <a:moveTo>
                      <a:pt x="0" y="25400"/>
                    </a:moveTo>
                    <a:cubicBezTo>
                      <a:pt x="0" y="39428"/>
                      <a:pt x="11372" y="50800"/>
                      <a:pt x="25400" y="50800"/>
                    </a:cubicBezTo>
                    <a:cubicBezTo>
                      <a:pt x="39428" y="50800"/>
                      <a:pt x="50800" y="39428"/>
                      <a:pt x="50800" y="25400"/>
                    </a:cubicBezTo>
                    <a:cubicBezTo>
                      <a:pt x="50800" y="11372"/>
                      <a:pt x="39428" y="0"/>
                      <a:pt x="25400" y="0"/>
                    </a:cubicBezTo>
                    <a:cubicBezTo>
                      <a:pt x="11372" y="0"/>
                      <a:pt x="0" y="11372"/>
                      <a:pt x="0" y="25400"/>
                    </a:cubicBezTo>
                  </a:path>
                </a:pathLst>
              </a:custGeom>
              <a:noFill/>
              <a:ln w="50800">
                <a:solidFill>
                  <a:srgbClr val="27AE60"/>
                </a:solidFill>
              </a:ln>
            </p:spPr>
          </p:sp>
          <p:sp>
            <p:nvSpPr>
              <p:cNvPr id="11" name="Freeform 11"/>
              <p:cNvSpPr/>
              <p:nvPr/>
            </p:nvSpPr>
            <p:spPr>
              <a:xfrm>
                <a:off x="1320800" y="2178050"/>
                <a:ext cx="254000" cy="254000"/>
              </a:xfrm>
              <a:custGeom>
                <a:avLst/>
                <a:gdLst/>
                <a:ahLst/>
                <a:cxnLst/>
                <a:rect l="l" t="t" r="r" b="b"/>
                <a:pathLst>
                  <a:path w="254000" h="254000">
                    <a:moveTo>
                      <a:pt x="0" y="127000"/>
                    </a:moveTo>
                    <a:cubicBezTo>
                      <a:pt x="0" y="197140"/>
                      <a:pt x="56860" y="254000"/>
                      <a:pt x="127000" y="254000"/>
                    </a:cubicBezTo>
                    <a:cubicBezTo>
                      <a:pt x="197140" y="254000"/>
                      <a:pt x="254000" y="197140"/>
                      <a:pt x="254000" y="127000"/>
                    </a:cubicBezTo>
                    <a:cubicBezTo>
                      <a:pt x="254000" y="56860"/>
                      <a:pt x="197140" y="0"/>
                      <a:pt x="127000" y="0"/>
                    </a:cubicBezTo>
                    <a:cubicBezTo>
                      <a:pt x="56860" y="0"/>
                      <a:pt x="0" y="56860"/>
                      <a:pt x="0" y="127000"/>
                    </a:cubicBezTo>
                  </a:path>
                </a:pathLst>
              </a:custGeom>
              <a:noFill/>
              <a:ln w="50800">
                <a:solidFill>
                  <a:srgbClr val="27AE60"/>
                </a:solidFill>
              </a:ln>
            </p:spPr>
          </p:sp>
          <p:sp>
            <p:nvSpPr>
              <p:cNvPr id="12" name="Freeform 12"/>
              <p:cNvSpPr/>
              <p:nvPr/>
            </p:nvSpPr>
            <p:spPr>
              <a:xfrm>
                <a:off x="1219200" y="2076450"/>
                <a:ext cx="457201" cy="457201"/>
              </a:xfrm>
              <a:custGeom>
                <a:avLst/>
                <a:gdLst/>
                <a:ahLst/>
                <a:cxnLst/>
                <a:rect l="l" t="t" r="r" b="b"/>
                <a:pathLst>
                  <a:path w="457201" h="457201">
                    <a:moveTo>
                      <a:pt x="0" y="228600"/>
                    </a:moveTo>
                    <a:cubicBezTo>
                      <a:pt x="0" y="354853"/>
                      <a:pt x="102348" y="457201"/>
                      <a:pt x="228600" y="457201"/>
                    </a:cubicBezTo>
                    <a:cubicBezTo>
                      <a:pt x="354853" y="457201"/>
                      <a:pt x="457201" y="354853"/>
                      <a:pt x="457201" y="228600"/>
                    </a:cubicBezTo>
                    <a:cubicBezTo>
                      <a:pt x="457201" y="102348"/>
                      <a:pt x="354853" y="0"/>
                      <a:pt x="228600" y="0"/>
                    </a:cubicBezTo>
                    <a:cubicBezTo>
                      <a:pt x="102348" y="0"/>
                      <a:pt x="0" y="102348"/>
                      <a:pt x="0" y="228600"/>
                    </a:cubicBezTo>
                  </a:path>
                </a:pathLst>
              </a:custGeom>
              <a:noFill/>
              <a:ln w="50800">
                <a:solidFill>
                  <a:srgbClr val="27AE60"/>
                </a:solidFill>
              </a:ln>
            </p:spPr>
          </p:sp>
        </p:grpSp>
        <p:sp>
          <p:nvSpPr>
            <p:cNvPr id="14" name="TextBox 14"/>
            <p:cNvSpPr txBox="1"/>
            <p:nvPr/>
          </p:nvSpPr>
          <p:spPr>
            <a:xfrm>
              <a:off x="1895856" y="2209800"/>
              <a:ext cx="60972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27AE60"/>
                  </a:solidFill>
                  <a:latin typeface="+mn-lt"/>
                  <a:ea typeface="+mn-ea"/>
                  <a:cs typeface="+mn-cs"/>
                </a:rPr>
                <a:t>ЦЕЛЬ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133856" y="2971800"/>
              <a:ext cx="249410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Выяснить, что делает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133856" y="3295650"/>
              <a:ext cx="221798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людей счастливыми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133856" y="3619500"/>
              <a:ext cx="228530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в современном мире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1143000" y="4191000"/>
              <a:ext cx="3238500" cy="9525"/>
            </a:xfrm>
            <a:custGeom>
              <a:avLst/>
              <a:gdLst/>
              <a:ahLst/>
              <a:cxnLst/>
              <a:rect l="l" t="t" r="r" b="b"/>
              <a:pathLst>
                <a:path w="3238500" h="9525">
                  <a:moveTo>
                    <a:pt x="0" y="0"/>
                  </a:moveTo>
                  <a:lnTo>
                    <a:pt x="3238500" y="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133856" y="4438650"/>
              <a:ext cx="249228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Учебная презентация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133856" y="4762500"/>
              <a:ext cx="228530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для защиты проекта</a:t>
              </a:r>
            </a:p>
          </p:txBody>
        </p:sp>
      </p:grpSp>
      <p:grpSp>
        <p:nvGrpSpPr>
          <p:cNvPr id="46" name="p02-tasks"/>
          <p:cNvGrpSpPr/>
          <p:nvPr/>
        </p:nvGrpSpPr>
        <p:grpSpPr>
          <a:xfrm>
            <a:off x="5143500" y="1619250"/>
            <a:ext cx="6286500" cy="4095750"/>
            <a:chOff x="5143500" y="1619250"/>
            <a:chExt cx="6286500" cy="4095750"/>
          </a:xfrm>
        </p:grpSpPr>
        <p:grpSp>
          <p:nvGrpSpPr>
            <p:cNvPr id="29" name="p02-task1"/>
            <p:cNvGrpSpPr/>
            <p:nvPr/>
          </p:nvGrpSpPr>
          <p:grpSpPr>
            <a:xfrm>
              <a:off x="5143500" y="1619250"/>
              <a:ext cx="6286500" cy="1238250"/>
              <a:chOff x="5143500" y="1619250"/>
              <a:chExt cx="6286500" cy="1238250"/>
            </a:xfrm>
          </p:grpSpPr>
          <p:sp>
            <p:nvSpPr>
              <p:cNvPr id="22" name="Rectangle 22"/>
              <p:cNvSpPr/>
              <p:nvPr/>
            </p:nvSpPr>
            <p:spPr>
              <a:xfrm>
                <a:off x="5143500" y="1619250"/>
                <a:ext cx="6286500" cy="1238250"/>
              </a:xfrm>
              <a:prstGeom prst="roundRect">
                <a:avLst>
                  <a:gd name="adj" fmla="val 12308"/>
                </a:avLst>
              </a:prstGeom>
              <a:solidFill>
                <a:srgbClr val="FFFFFF">
                  <a:alpha val="85000"/>
                </a:srgbClr>
              </a:solidFill>
              <a:ln>
                <a:noFill/>
              </a:ln>
            </p:spPr>
          </p:sp>
          <p:sp>
            <p:nvSpPr>
              <p:cNvPr id="23" name="Ellipse 23"/>
              <p:cNvSpPr/>
              <p:nvPr/>
            </p:nvSpPr>
            <p:spPr>
              <a:xfrm>
                <a:off x="5429250" y="1952625"/>
                <a:ext cx="571500" cy="571500"/>
              </a:xfrm>
              <a:prstGeom prst="ellipse">
                <a:avLst/>
              </a:prstGeom>
              <a:noFill/>
              <a:ln w="38100">
                <a:solidFill>
                  <a:srgbClr val="E67E22"/>
                </a:solidFill>
              </a:ln>
            </p:spPr>
          </p:sp>
          <p:sp>
            <p:nvSpPr>
              <p:cNvPr id="24" name="Ellipse 24"/>
              <p:cNvSpPr/>
              <p:nvPr/>
            </p:nvSpPr>
            <p:spPr>
              <a:xfrm>
                <a:off x="5553075" y="2076450"/>
                <a:ext cx="323850" cy="323850"/>
              </a:xfrm>
              <a:prstGeom prst="ellipse">
                <a:avLst/>
              </a:prstGeom>
              <a:noFill/>
              <a:ln w="38100">
                <a:solidFill>
                  <a:srgbClr val="E67E22"/>
                </a:solidFill>
              </a:ln>
            </p:spPr>
          </p:sp>
          <p:sp>
            <p:nvSpPr>
              <p:cNvPr id="25" name="Ellipse 25"/>
              <p:cNvSpPr/>
              <p:nvPr/>
            </p:nvSpPr>
            <p:spPr>
              <a:xfrm>
                <a:off x="5667375" y="2190750"/>
                <a:ext cx="95250" cy="95250"/>
              </a:xfrm>
              <a:prstGeom prst="ellipse">
                <a:avLst/>
              </a:prstGeom>
              <a:solidFill>
                <a:srgbClr val="E67E22"/>
              </a:solidFill>
              <a:ln>
                <a:noFill/>
              </a:ln>
            </p:spPr>
          </p:sp>
          <p:sp>
            <p:nvSpPr>
              <p:cNvPr id="26" name="TextBox 26"/>
              <p:cNvSpPr txBox="1"/>
              <p:nvPr/>
            </p:nvSpPr>
            <p:spPr>
              <a:xfrm>
                <a:off x="5638468" y="2095500"/>
                <a:ext cx="153064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ru" sz="1800" b="1" dirty="0">
                    <a:solidFill>
                      <a:srgbClr val="E67E22"/>
                    </a:solidFill>
                    <a:latin typeface="+mn-lt"/>
                    <a:ea typeface="+mn-ea"/>
                    <a:cs typeface="+mn-cs"/>
                  </a:rPr>
                  <a:t>1</a:t>
                </a:r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6277356" y="1943100"/>
                <a:ext cx="2612611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Рассмотреть подходы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6277356" y="2266950"/>
                <a:ext cx="2818395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научные теории счастья</a:t>
                </a:r>
              </a:p>
            </p:txBody>
          </p:sp>
        </p:grpSp>
        <p:grpSp>
          <p:nvGrpSpPr>
            <p:cNvPr id="37" name="p02-task2"/>
            <p:cNvGrpSpPr/>
            <p:nvPr/>
          </p:nvGrpSpPr>
          <p:grpSpPr>
            <a:xfrm>
              <a:off x="5143500" y="3048000"/>
              <a:ext cx="6286500" cy="1238250"/>
              <a:chOff x="5143500" y="3048000"/>
              <a:chExt cx="6286500" cy="1238250"/>
            </a:xfrm>
          </p:grpSpPr>
          <p:sp>
            <p:nvSpPr>
              <p:cNvPr id="30" name="Rectangle 30"/>
              <p:cNvSpPr/>
              <p:nvPr/>
            </p:nvSpPr>
            <p:spPr>
              <a:xfrm>
                <a:off x="5143500" y="3048000"/>
                <a:ext cx="6286500" cy="1238250"/>
              </a:xfrm>
              <a:prstGeom prst="roundRect">
                <a:avLst>
                  <a:gd name="adj" fmla="val 12308"/>
                </a:avLst>
              </a:prstGeom>
              <a:solidFill>
                <a:srgbClr val="FFFFFF">
                  <a:alpha val="85000"/>
                </a:srgbClr>
              </a:solidFill>
              <a:ln>
                <a:noFill/>
              </a:ln>
            </p:spPr>
          </p:sp>
          <p:sp>
            <p:nvSpPr>
              <p:cNvPr id="31" name="Ellipse 31"/>
              <p:cNvSpPr/>
              <p:nvPr/>
            </p:nvSpPr>
            <p:spPr>
              <a:xfrm>
                <a:off x="5429250" y="3381375"/>
                <a:ext cx="571500" cy="571500"/>
              </a:xfrm>
              <a:prstGeom prst="ellipse">
                <a:avLst/>
              </a:prstGeom>
              <a:noFill/>
              <a:ln w="38100">
                <a:solidFill>
                  <a:srgbClr val="E67E22"/>
                </a:solidFill>
              </a:ln>
            </p:spPr>
          </p:sp>
          <p:sp>
            <p:nvSpPr>
              <p:cNvPr id="32" name="Ellipse 32"/>
              <p:cNvSpPr/>
              <p:nvPr/>
            </p:nvSpPr>
            <p:spPr>
              <a:xfrm>
                <a:off x="5553075" y="3505200"/>
                <a:ext cx="323850" cy="323850"/>
              </a:xfrm>
              <a:prstGeom prst="ellipse">
                <a:avLst/>
              </a:prstGeom>
              <a:noFill/>
              <a:ln w="38100">
                <a:solidFill>
                  <a:srgbClr val="E67E22"/>
                </a:solidFill>
              </a:ln>
            </p:spPr>
          </p:sp>
          <p:sp>
            <p:nvSpPr>
              <p:cNvPr id="33" name="Ellipse 33"/>
              <p:cNvSpPr/>
              <p:nvPr/>
            </p:nvSpPr>
            <p:spPr>
              <a:xfrm>
                <a:off x="5667375" y="3619500"/>
                <a:ext cx="95250" cy="95250"/>
              </a:xfrm>
              <a:prstGeom prst="ellipse">
                <a:avLst/>
              </a:prstGeom>
              <a:solidFill>
                <a:srgbClr val="E67E22"/>
              </a:solidFill>
              <a:ln>
                <a:noFill/>
              </a:ln>
            </p:spPr>
          </p:sp>
          <p:sp>
            <p:nvSpPr>
              <p:cNvPr id="34" name="TextBox 34"/>
              <p:cNvSpPr txBox="1"/>
              <p:nvPr/>
            </p:nvSpPr>
            <p:spPr>
              <a:xfrm>
                <a:off x="5638468" y="3524250"/>
                <a:ext cx="153064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ru" sz="1800" b="1" dirty="0">
                    <a:solidFill>
                      <a:srgbClr val="E67E22"/>
                    </a:solidFill>
                    <a:latin typeface="+mn-lt"/>
                    <a:ea typeface="+mn-ea"/>
                    <a:cs typeface="+mn-cs"/>
                  </a:rPr>
                  <a:t>2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6277356" y="3371850"/>
                <a:ext cx="2052921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Выявить факторы</a:t>
                </a:r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6277356" y="3695700"/>
                <a:ext cx="3084942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что действительно влияет</a:t>
                </a:r>
              </a:p>
            </p:txBody>
          </p:sp>
        </p:grpSp>
        <p:grpSp>
          <p:nvGrpSpPr>
            <p:cNvPr id="45" name="p02-task3"/>
            <p:cNvGrpSpPr/>
            <p:nvPr/>
          </p:nvGrpSpPr>
          <p:grpSpPr>
            <a:xfrm>
              <a:off x="5143500" y="4476750"/>
              <a:ext cx="6286500" cy="1238250"/>
              <a:chOff x="5143500" y="4476750"/>
              <a:chExt cx="6286500" cy="1238250"/>
            </a:xfrm>
          </p:grpSpPr>
          <p:sp>
            <p:nvSpPr>
              <p:cNvPr id="38" name="Rectangle 38"/>
              <p:cNvSpPr/>
              <p:nvPr/>
            </p:nvSpPr>
            <p:spPr>
              <a:xfrm>
                <a:off x="5143500" y="4476750"/>
                <a:ext cx="6286500" cy="1238250"/>
              </a:xfrm>
              <a:prstGeom prst="roundRect">
                <a:avLst>
                  <a:gd name="adj" fmla="val 12308"/>
                </a:avLst>
              </a:prstGeom>
              <a:solidFill>
                <a:srgbClr val="FFFFFF">
                  <a:alpha val="85000"/>
                </a:srgbClr>
              </a:solidFill>
              <a:ln>
                <a:noFill/>
              </a:ln>
            </p:spPr>
          </p:sp>
          <p:sp>
            <p:nvSpPr>
              <p:cNvPr id="39" name="Ellipse 39"/>
              <p:cNvSpPr/>
              <p:nvPr/>
            </p:nvSpPr>
            <p:spPr>
              <a:xfrm>
                <a:off x="5429250" y="4810125"/>
                <a:ext cx="571500" cy="571500"/>
              </a:xfrm>
              <a:prstGeom prst="ellipse">
                <a:avLst/>
              </a:prstGeom>
              <a:noFill/>
              <a:ln w="38100">
                <a:solidFill>
                  <a:srgbClr val="E67E22"/>
                </a:solidFill>
              </a:ln>
            </p:spPr>
          </p:sp>
          <p:sp>
            <p:nvSpPr>
              <p:cNvPr id="40" name="Ellipse 40"/>
              <p:cNvSpPr/>
              <p:nvPr/>
            </p:nvSpPr>
            <p:spPr>
              <a:xfrm>
                <a:off x="5553075" y="4933950"/>
                <a:ext cx="323850" cy="323850"/>
              </a:xfrm>
              <a:prstGeom prst="ellipse">
                <a:avLst/>
              </a:prstGeom>
              <a:noFill/>
              <a:ln w="38100">
                <a:solidFill>
                  <a:srgbClr val="E67E22"/>
                </a:solidFill>
              </a:ln>
            </p:spPr>
          </p:sp>
          <p:sp>
            <p:nvSpPr>
              <p:cNvPr id="41" name="Ellipse 41"/>
              <p:cNvSpPr/>
              <p:nvPr/>
            </p:nvSpPr>
            <p:spPr>
              <a:xfrm>
                <a:off x="5667375" y="5048250"/>
                <a:ext cx="95250" cy="95250"/>
              </a:xfrm>
              <a:prstGeom prst="ellipse">
                <a:avLst/>
              </a:prstGeom>
              <a:solidFill>
                <a:srgbClr val="E67E22"/>
              </a:solidFill>
              <a:ln>
                <a:noFill/>
              </a:ln>
            </p:spPr>
          </p:sp>
          <p:sp>
            <p:nvSpPr>
              <p:cNvPr id="42" name="TextBox 42"/>
              <p:cNvSpPr txBox="1"/>
              <p:nvPr/>
            </p:nvSpPr>
            <p:spPr>
              <a:xfrm>
                <a:off x="5638468" y="4953000"/>
                <a:ext cx="153064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ru" sz="1800" b="1" dirty="0">
                    <a:solidFill>
                      <a:srgbClr val="E67E22"/>
                    </a:solidFill>
                    <a:latin typeface="+mn-lt"/>
                    <a:ea typeface="+mn-ea"/>
                    <a:cs typeface="+mn-cs"/>
                  </a:rPr>
                  <a:t>3</a:t>
                </a:r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6277356" y="4800600"/>
                <a:ext cx="2332762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Дать рекомендации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6277356" y="5124450"/>
                <a:ext cx="2217984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практические шаги</a:t>
                </a:r>
              </a:p>
            </p:txBody>
          </p:sp>
        </p:grpSp>
      </p:grpSp>
      <p:sp>
        <p:nvSpPr>
          <p:cNvPr id="47" name="credit"/>
          <p:cNvSpPr txBox="1"/>
          <p:nvPr/>
        </p:nvSpPr>
        <p:spPr>
          <a:xfrm>
            <a:off x="753618" y="6578600"/>
            <a:ext cx="4312076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650" dirty="0">
                <a:solidFill>
                  <a:srgbClr val="7F8C8D"/>
                </a:solidFill>
                <a:latin typeface="+mn-lt"/>
                <a:ea typeface="+mn-ea"/>
                <a:cs typeface="+mn-cs"/>
              </a:rPr>
              <a:t>© Wacky1976 / Wikimedia / CC BY-SA 4.0</a:t>
            </a:r>
          </a:p>
        </p:txBody>
      </p:sp>
      <p:pic>
        <p:nvPicPr>
          <p:cNvPr id="48" name="PPT Master narration: narration2.mp3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4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6" fill="hold" display="0">
                  <p:stCondLst>
                    <p:cond delay="300"/>
                  </p:stCondLst>
                </p:cTn>
                <p:tgtEl>
                  <p:spTgt spid="48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3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3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88000"/>
                </a:srgbClr>
              </a:gs>
              <a:gs pos="100000">
                <a:srgbClr val="F5E6D3">
                  <a:alpha val="88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p03-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sp>
        <p:nvSpPr>
          <p:cNvPr id="5" name="p03-foot"/>
          <p:cNvSpPr txBox="1"/>
          <p:nvPr/>
        </p:nvSpPr>
        <p:spPr>
          <a:xfrm>
            <a:off x="752856" y="6343650"/>
            <a:ext cx="3078699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ru" sz="180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Концепция счастья · ИС-24</a:t>
            </a:r>
          </a:p>
        </p:txBody>
      </p:sp>
      <p:sp>
        <p:nvSpPr>
          <p:cNvPr id="6" name="p03-num"/>
          <p:cNvSpPr txBox="1"/>
          <p:nvPr/>
        </p:nvSpPr>
        <p:spPr>
          <a:xfrm>
            <a:off x="11151304" y="6343650"/>
            <a:ext cx="287840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80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03</a:t>
            </a:r>
          </a:p>
        </p:txBody>
      </p:sp>
      <p:grpSp>
        <p:nvGrpSpPr>
          <p:cNvPr id="8" name="p03-title"/>
          <p:cNvGrpSpPr/>
          <p:nvPr/>
        </p:nvGrpSpPr>
        <p:grpSpPr>
          <a:xfrm>
            <a:off x="743712" y="565150"/>
            <a:ext cx="3961227" cy="704088"/>
            <a:chOff x="743712" y="565150"/>
            <a:chExt cx="3961227" cy="704088"/>
          </a:xfrm>
        </p:grpSpPr>
        <p:sp>
          <p:nvSpPr>
            <p:cNvPr id="7" name="TextBox 7"/>
            <p:cNvSpPr txBox="1"/>
            <p:nvPr/>
          </p:nvSpPr>
          <p:spPr>
            <a:xfrm>
              <a:off x="743712" y="565150"/>
              <a:ext cx="3961227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Что мы разберём</a:t>
              </a:r>
            </a:p>
          </p:txBody>
        </p:sp>
      </p:grpSp>
      <p:grpSp>
        <p:nvGrpSpPr>
          <p:cNvPr id="78" name="p03-grid"/>
          <p:cNvGrpSpPr/>
          <p:nvPr/>
        </p:nvGrpSpPr>
        <p:grpSpPr>
          <a:xfrm>
            <a:off x="762000" y="1905000"/>
            <a:ext cx="10715625" cy="3333750"/>
            <a:chOff x="762000" y="1905000"/>
            <a:chExt cx="10715625" cy="3333750"/>
          </a:xfrm>
        </p:grpSpPr>
        <p:grpSp>
          <p:nvGrpSpPr>
            <p:cNvPr id="13" name="p03-t01"/>
            <p:cNvGrpSpPr/>
            <p:nvPr/>
          </p:nvGrpSpPr>
          <p:grpSpPr>
            <a:xfrm>
              <a:off x="762000" y="1905000"/>
              <a:ext cx="2571750" cy="1428750"/>
              <a:chOff x="762000" y="1905000"/>
              <a:chExt cx="2571750" cy="1428750"/>
            </a:xfrm>
          </p:grpSpPr>
          <p:sp>
            <p:nvSpPr>
              <p:cNvPr id="9" name="Rectangle 9"/>
              <p:cNvSpPr/>
              <p:nvPr/>
            </p:nvSpPr>
            <p:spPr>
              <a:xfrm>
                <a:off x="762000" y="1905000"/>
                <a:ext cx="2571750" cy="1428750"/>
              </a:xfrm>
              <a:prstGeom prst="roundRect">
                <a:avLst>
                  <a:gd name="adj" fmla="val 10667"/>
                </a:avLst>
              </a:prstGeom>
              <a:solidFill>
                <a:srgbClr val="FFFFFF">
                  <a:alpha val="85000"/>
                </a:srgbClr>
              </a:solidFill>
              <a:ln>
                <a:noFill/>
              </a:ln>
            </p:spPr>
          </p:sp>
          <p:sp>
            <p:nvSpPr>
              <p:cNvPr id="10" name="Freeform 10"/>
              <p:cNvSpPr/>
              <p:nvPr/>
            </p:nvSpPr>
            <p:spPr>
              <a:xfrm>
                <a:off x="1042987" y="2203450"/>
                <a:ext cx="314324" cy="279399"/>
              </a:xfrm>
              <a:custGeom>
                <a:avLst/>
                <a:gdLst/>
                <a:ahLst/>
                <a:cxnLst/>
                <a:rect l="l" t="t" r="r" b="b"/>
                <a:pathLst>
                  <a:path w="314324" h="279399">
                    <a:moveTo>
                      <a:pt x="0" y="139700"/>
                    </a:moveTo>
                    <a:lnTo>
                      <a:pt x="69850" y="139700"/>
                    </a:lnTo>
                    <a:lnTo>
                      <a:pt x="122237" y="279399"/>
                    </a:lnTo>
                    <a:lnTo>
                      <a:pt x="192087" y="0"/>
                    </a:lnTo>
                    <a:lnTo>
                      <a:pt x="244475" y="139700"/>
                    </a:lnTo>
                    <a:lnTo>
                      <a:pt x="314324" y="139700"/>
                    </a:lnTo>
                  </a:path>
                </a:pathLst>
              </a:custGeom>
              <a:noFill/>
              <a:ln w="34925">
                <a:solidFill>
                  <a:srgbClr val="27AE60"/>
                </a:solidFill>
              </a:ln>
            </p:spPr>
          </p:sp>
          <p:sp>
            <p:nvSpPr>
              <p:cNvPr id="11" name="TextBox 11"/>
              <p:cNvSpPr txBox="1"/>
              <p:nvPr/>
            </p:nvSpPr>
            <p:spPr>
              <a:xfrm>
                <a:off x="1514856" y="2228850"/>
                <a:ext cx="1773092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b="1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Зачем изучать</a:t>
                </a:r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981456" y="2781300"/>
                <a:ext cx="951205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dirty="0">
                    <a:solidFill>
                      <a:srgbClr val="5D6D7E"/>
                    </a:solidFill>
                    <a:latin typeface="+mn-lt"/>
                    <a:ea typeface="+mn-ea"/>
                    <a:cs typeface="+mn-cs"/>
                  </a:rPr>
                  <a:t>счастье</a:t>
                </a:r>
              </a:p>
            </p:txBody>
          </p:sp>
        </p:grpSp>
        <p:grpSp>
          <p:nvGrpSpPr>
            <p:cNvPr id="23" name="p03-t02"/>
            <p:cNvGrpSpPr/>
            <p:nvPr/>
          </p:nvGrpSpPr>
          <p:grpSpPr>
            <a:xfrm>
              <a:off x="3476625" y="1905000"/>
              <a:ext cx="2571750" cy="1428750"/>
              <a:chOff x="3476625" y="1905000"/>
              <a:chExt cx="2571750" cy="1428750"/>
            </a:xfrm>
          </p:grpSpPr>
          <p:sp>
            <p:nvSpPr>
              <p:cNvPr id="14" name="Rectangle 14"/>
              <p:cNvSpPr/>
              <p:nvPr/>
            </p:nvSpPr>
            <p:spPr>
              <a:xfrm>
                <a:off x="3476625" y="1905000"/>
                <a:ext cx="2571750" cy="1428750"/>
              </a:xfrm>
              <a:prstGeom prst="roundRect">
                <a:avLst>
                  <a:gd name="adj" fmla="val 10667"/>
                </a:avLst>
              </a:prstGeom>
              <a:solidFill>
                <a:srgbClr val="FFFFFF">
                  <a:alpha val="85000"/>
                </a:srgbClr>
              </a:solidFill>
              <a:ln>
                <a:noFill/>
              </a:ln>
            </p:spPr>
          </p:sp>
          <p:grpSp>
            <p:nvGrpSpPr>
              <p:cNvPr id="20" name="Group 20"/>
              <p:cNvGrpSpPr/>
              <p:nvPr/>
            </p:nvGrpSpPr>
            <p:grpSpPr>
              <a:xfrm>
                <a:off x="3757612" y="2185987"/>
                <a:ext cx="314325" cy="306387"/>
                <a:chOff x="3757612" y="2185987"/>
                <a:chExt cx="314325" cy="306387"/>
              </a:xfrm>
            </p:grpSpPr>
            <p:sp>
              <p:nvSpPr>
                <p:cNvPr id="15" name="Freeform 15"/>
                <p:cNvSpPr/>
                <p:nvPr/>
              </p:nvSpPr>
              <p:spPr>
                <a:xfrm>
                  <a:off x="3827462" y="2482849"/>
                  <a:ext cx="1746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4625" h="9525">
                      <a:moveTo>
                        <a:pt x="0" y="0"/>
                      </a:moveTo>
                      <a:lnTo>
                        <a:pt x="174625" y="0"/>
                      </a:lnTo>
                    </a:path>
                  </a:pathLst>
                </a:custGeom>
                <a:noFill/>
                <a:ln w="34925">
                  <a:solidFill>
                    <a:srgbClr val="27AE60"/>
                  </a:solidFill>
                </a:ln>
              </p:spPr>
            </p:sp>
            <p:sp>
              <p:nvSpPr>
                <p:cNvPr id="16" name="Freeform 16"/>
                <p:cNvSpPr/>
                <p:nvPr/>
              </p:nvSpPr>
              <p:spPr>
                <a:xfrm>
                  <a:off x="3810000" y="2220912"/>
                  <a:ext cx="209550" cy="1746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9550" h="17462">
                      <a:moveTo>
                        <a:pt x="0" y="17462"/>
                      </a:moveTo>
                      <a:lnTo>
                        <a:pt x="104775" y="0"/>
                      </a:lnTo>
                      <a:lnTo>
                        <a:pt x="209550" y="17462"/>
                      </a:lnTo>
                    </a:path>
                  </a:pathLst>
                </a:custGeom>
                <a:noFill/>
                <a:ln w="34925">
                  <a:solidFill>
                    <a:srgbClr val="27AE60"/>
                  </a:solidFill>
                </a:ln>
              </p:spPr>
            </p:sp>
            <p:sp>
              <p:nvSpPr>
                <p:cNvPr id="17" name="Freeform 17"/>
                <p:cNvSpPr/>
                <p:nvPr/>
              </p:nvSpPr>
              <p:spPr>
                <a:xfrm>
                  <a:off x="3914775" y="2185987"/>
                  <a:ext cx="9525" cy="29686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296862">
                      <a:moveTo>
                        <a:pt x="0" y="0"/>
                      </a:moveTo>
                      <a:lnTo>
                        <a:pt x="0" y="296862"/>
                      </a:lnTo>
                    </a:path>
                  </a:pathLst>
                </a:custGeom>
                <a:noFill/>
                <a:ln w="34925">
                  <a:solidFill>
                    <a:srgbClr val="27AE60"/>
                  </a:solidFill>
                </a:ln>
              </p:spPr>
            </p:sp>
            <p:sp>
              <p:nvSpPr>
                <p:cNvPr id="18" name="Freeform 18"/>
                <p:cNvSpPr/>
                <p:nvPr/>
              </p:nvSpPr>
              <p:spPr>
                <a:xfrm>
                  <a:off x="3757612" y="2238375"/>
                  <a:ext cx="104775" cy="15716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4775" h="157162">
                      <a:moveTo>
                        <a:pt x="104775" y="104775"/>
                      </a:moveTo>
                      <a:lnTo>
                        <a:pt x="52387" y="0"/>
                      </a:lnTo>
                      <a:lnTo>
                        <a:pt x="0" y="104775"/>
                      </a:lnTo>
                      <a:cubicBezTo>
                        <a:pt x="0" y="133708"/>
                        <a:pt x="23455" y="157162"/>
                        <a:pt x="52387" y="157162"/>
                      </a:cubicBezTo>
                      <a:cubicBezTo>
                        <a:pt x="81320" y="157162"/>
                        <a:pt x="104775" y="133708"/>
                        <a:pt x="104775" y="104775"/>
                      </a:cubicBezTo>
                    </a:path>
                  </a:pathLst>
                </a:custGeom>
                <a:noFill/>
                <a:ln w="34925">
                  <a:solidFill>
                    <a:srgbClr val="27AE60"/>
                  </a:solidFill>
                </a:ln>
              </p:spPr>
            </p:sp>
            <p:sp>
              <p:nvSpPr>
                <p:cNvPr id="19" name="Freeform 19"/>
                <p:cNvSpPr/>
                <p:nvPr/>
              </p:nvSpPr>
              <p:spPr>
                <a:xfrm>
                  <a:off x="3967162" y="2238375"/>
                  <a:ext cx="104775" cy="15716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4775" h="157162">
                      <a:moveTo>
                        <a:pt x="104775" y="104775"/>
                      </a:moveTo>
                      <a:lnTo>
                        <a:pt x="52387" y="0"/>
                      </a:lnTo>
                      <a:lnTo>
                        <a:pt x="0" y="104775"/>
                      </a:lnTo>
                      <a:cubicBezTo>
                        <a:pt x="0" y="133708"/>
                        <a:pt x="23455" y="157162"/>
                        <a:pt x="52387" y="157162"/>
                      </a:cubicBezTo>
                      <a:cubicBezTo>
                        <a:pt x="81320" y="157162"/>
                        <a:pt x="104775" y="133708"/>
                        <a:pt x="104775" y="104775"/>
                      </a:cubicBezTo>
                    </a:path>
                  </a:pathLst>
                </a:custGeom>
                <a:noFill/>
                <a:ln w="34925">
                  <a:solidFill>
                    <a:srgbClr val="27AE60"/>
                  </a:solidFill>
                </a:ln>
              </p:spPr>
            </p:sp>
          </p:grpSp>
          <p:sp>
            <p:nvSpPr>
              <p:cNvPr id="21" name="TextBox 21"/>
              <p:cNvSpPr txBox="1"/>
              <p:nvPr/>
            </p:nvSpPr>
            <p:spPr>
              <a:xfrm>
                <a:off x="4229481" y="2228850"/>
                <a:ext cx="1005771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b="1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Научный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3696081" y="2781300"/>
                <a:ext cx="817931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dirty="0">
                    <a:solidFill>
                      <a:srgbClr val="5D6D7E"/>
                    </a:solidFill>
                    <a:latin typeface="+mn-lt"/>
                    <a:ea typeface="+mn-ea"/>
                    <a:cs typeface="+mn-cs"/>
                  </a:rPr>
                  <a:t>подход</a:t>
                </a:r>
              </a:p>
            </p:txBody>
          </p:sp>
        </p:grpSp>
        <p:grpSp>
          <p:nvGrpSpPr>
            <p:cNvPr id="34" name="p03-t03"/>
            <p:cNvGrpSpPr/>
            <p:nvPr/>
          </p:nvGrpSpPr>
          <p:grpSpPr>
            <a:xfrm>
              <a:off x="6191250" y="1905000"/>
              <a:ext cx="2571750" cy="1428750"/>
              <a:chOff x="6191250" y="1905000"/>
              <a:chExt cx="2571750" cy="1428750"/>
            </a:xfrm>
          </p:grpSpPr>
          <p:sp>
            <p:nvSpPr>
              <p:cNvPr id="24" name="Rectangle 24"/>
              <p:cNvSpPr/>
              <p:nvPr/>
            </p:nvSpPr>
            <p:spPr>
              <a:xfrm>
                <a:off x="6191250" y="1905000"/>
                <a:ext cx="2571750" cy="1428750"/>
              </a:xfrm>
              <a:prstGeom prst="roundRect">
                <a:avLst>
                  <a:gd name="adj" fmla="val 10667"/>
                </a:avLst>
              </a:prstGeom>
              <a:solidFill>
                <a:srgbClr val="FFFFFF">
                  <a:alpha val="85000"/>
                </a:srgbClr>
              </a:solidFill>
              <a:ln>
                <a:noFill/>
              </a:ln>
            </p:spPr>
          </p:sp>
          <p:grpSp>
            <p:nvGrpSpPr>
              <p:cNvPr id="31" name="Group 31"/>
              <p:cNvGrpSpPr/>
              <p:nvPr/>
            </p:nvGrpSpPr>
            <p:grpSpPr>
              <a:xfrm>
                <a:off x="6472237" y="2185987"/>
                <a:ext cx="314325" cy="314325"/>
                <a:chOff x="6472237" y="2185987"/>
                <a:chExt cx="314325" cy="314325"/>
              </a:xfrm>
            </p:grpSpPr>
            <p:sp>
              <p:nvSpPr>
                <p:cNvPr id="25" name="Freeform 25"/>
                <p:cNvSpPr/>
                <p:nvPr/>
              </p:nvSpPr>
              <p:spPr>
                <a:xfrm>
                  <a:off x="6629400" y="2360612"/>
                  <a:ext cx="122237" cy="139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237" h="139700">
                      <a:moveTo>
                        <a:pt x="61119" y="0"/>
                      </a:moveTo>
                      <a:cubicBezTo>
                        <a:pt x="27364" y="0"/>
                        <a:pt x="0" y="27364"/>
                        <a:pt x="0" y="61119"/>
                      </a:cubicBezTo>
                      <a:lnTo>
                        <a:pt x="0" y="78581"/>
                      </a:lnTo>
                      <a:cubicBezTo>
                        <a:pt x="0" y="112336"/>
                        <a:pt x="27364" y="139700"/>
                        <a:pt x="61119" y="139700"/>
                      </a:cubicBezTo>
                      <a:cubicBezTo>
                        <a:pt x="94874" y="139700"/>
                        <a:pt x="122237" y="112336"/>
                        <a:pt x="122237" y="78581"/>
                      </a:cubicBezTo>
                      <a:lnTo>
                        <a:pt x="122237" y="47149"/>
                      </a:lnTo>
                    </a:path>
                  </a:pathLst>
                </a:custGeom>
                <a:noFill/>
                <a:ln w="34925">
                  <a:solidFill>
                    <a:srgbClr val="27AE60"/>
                  </a:solidFill>
                </a:ln>
              </p:spPr>
            </p:sp>
            <p:sp>
              <p:nvSpPr>
                <p:cNvPr id="26" name="Freeform 26"/>
                <p:cNvSpPr/>
                <p:nvPr/>
              </p:nvSpPr>
              <p:spPr>
                <a:xfrm>
                  <a:off x="6507162" y="2360612"/>
                  <a:ext cx="122237" cy="139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237" h="139700">
                      <a:moveTo>
                        <a:pt x="61119" y="0"/>
                      </a:moveTo>
                      <a:cubicBezTo>
                        <a:pt x="94874" y="0"/>
                        <a:pt x="122237" y="27364"/>
                        <a:pt x="122237" y="61119"/>
                      </a:cubicBezTo>
                      <a:lnTo>
                        <a:pt x="122237" y="78581"/>
                      </a:lnTo>
                      <a:cubicBezTo>
                        <a:pt x="122237" y="112336"/>
                        <a:pt x="94874" y="139700"/>
                        <a:pt x="61119" y="139700"/>
                      </a:cubicBezTo>
                      <a:cubicBezTo>
                        <a:pt x="27364" y="139700"/>
                        <a:pt x="0" y="112336"/>
                        <a:pt x="0" y="78581"/>
                      </a:cubicBezTo>
                      <a:lnTo>
                        <a:pt x="0" y="47149"/>
                      </a:lnTo>
                    </a:path>
                  </a:pathLst>
                </a:custGeom>
                <a:noFill/>
                <a:ln w="34925">
                  <a:solidFill>
                    <a:srgbClr val="27AE60"/>
                  </a:solidFill>
                </a:ln>
              </p:spPr>
            </p:sp>
            <p:sp>
              <p:nvSpPr>
                <p:cNvPr id="27" name="Freeform 27"/>
                <p:cNvSpPr/>
                <p:nvPr/>
              </p:nvSpPr>
              <p:spPr>
                <a:xfrm>
                  <a:off x="6716712" y="2290762"/>
                  <a:ext cx="69850" cy="12223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9850" h="122237">
                      <a:moveTo>
                        <a:pt x="8731" y="122237"/>
                      </a:moveTo>
                      <a:cubicBezTo>
                        <a:pt x="42486" y="122237"/>
                        <a:pt x="69850" y="94874"/>
                        <a:pt x="69850" y="61119"/>
                      </a:cubicBezTo>
                      <a:cubicBezTo>
                        <a:pt x="69850" y="27364"/>
                        <a:pt x="42486" y="0"/>
                        <a:pt x="8731" y="0"/>
                      </a:cubicBezTo>
                      <a:lnTo>
                        <a:pt x="0" y="0"/>
                      </a:lnTo>
                    </a:path>
                  </a:pathLst>
                </a:custGeom>
                <a:noFill/>
                <a:ln w="34925">
                  <a:solidFill>
                    <a:srgbClr val="27AE60"/>
                  </a:solidFill>
                </a:ln>
              </p:spPr>
            </p:sp>
            <p:sp>
              <p:nvSpPr>
                <p:cNvPr id="28" name="Freeform 28"/>
                <p:cNvSpPr/>
                <p:nvPr/>
              </p:nvSpPr>
              <p:spPr>
                <a:xfrm>
                  <a:off x="6629400" y="2185987"/>
                  <a:ext cx="122237" cy="11001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237" h="110014">
                      <a:moveTo>
                        <a:pt x="122237" y="110014"/>
                      </a:moveTo>
                      <a:lnTo>
                        <a:pt x="122237" y="61119"/>
                      </a:lnTo>
                      <a:cubicBezTo>
                        <a:pt x="122237" y="27364"/>
                        <a:pt x="94874" y="0"/>
                        <a:pt x="61119" y="0"/>
                      </a:cubicBezTo>
                      <a:cubicBezTo>
                        <a:pt x="27364" y="0"/>
                        <a:pt x="0" y="27364"/>
                        <a:pt x="0" y="61119"/>
                      </a:cubicBezTo>
                    </a:path>
                  </a:pathLst>
                </a:custGeom>
                <a:noFill/>
                <a:ln w="34925">
                  <a:solidFill>
                    <a:srgbClr val="27AE60"/>
                  </a:solidFill>
                </a:ln>
              </p:spPr>
            </p:sp>
            <p:sp>
              <p:nvSpPr>
                <p:cNvPr id="29" name="Freeform 29"/>
                <p:cNvSpPr/>
                <p:nvPr/>
              </p:nvSpPr>
              <p:spPr>
                <a:xfrm>
                  <a:off x="6472237" y="2290762"/>
                  <a:ext cx="69850" cy="12223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9850" h="122237">
                      <a:moveTo>
                        <a:pt x="61119" y="122237"/>
                      </a:moveTo>
                      <a:cubicBezTo>
                        <a:pt x="27364" y="122237"/>
                        <a:pt x="0" y="94874"/>
                        <a:pt x="0" y="61119"/>
                      </a:cubicBezTo>
                      <a:cubicBezTo>
                        <a:pt x="0" y="27364"/>
                        <a:pt x="27364" y="0"/>
                        <a:pt x="61119" y="0"/>
                      </a:cubicBezTo>
                      <a:lnTo>
                        <a:pt x="69850" y="0"/>
                      </a:lnTo>
                    </a:path>
                  </a:pathLst>
                </a:custGeom>
                <a:noFill/>
                <a:ln w="34925">
                  <a:solidFill>
                    <a:srgbClr val="27AE60"/>
                  </a:solidFill>
                </a:ln>
              </p:spPr>
            </p:sp>
            <p:sp>
              <p:nvSpPr>
                <p:cNvPr id="30" name="Freeform 30"/>
                <p:cNvSpPr/>
                <p:nvPr/>
              </p:nvSpPr>
              <p:spPr>
                <a:xfrm>
                  <a:off x="6507162" y="2185987"/>
                  <a:ext cx="122237" cy="23574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237" h="235743">
                      <a:moveTo>
                        <a:pt x="0" y="110014"/>
                      </a:moveTo>
                      <a:lnTo>
                        <a:pt x="0" y="61119"/>
                      </a:lnTo>
                      <a:cubicBezTo>
                        <a:pt x="0" y="27364"/>
                        <a:pt x="27364" y="0"/>
                        <a:pt x="61119" y="0"/>
                      </a:cubicBezTo>
                      <a:cubicBezTo>
                        <a:pt x="94874" y="0"/>
                        <a:pt x="122237" y="27364"/>
                        <a:pt x="122237" y="61119"/>
                      </a:cubicBezTo>
                      <a:lnTo>
                        <a:pt x="122237" y="235743"/>
                      </a:lnTo>
                    </a:path>
                  </a:pathLst>
                </a:custGeom>
                <a:noFill/>
                <a:ln w="34925">
                  <a:solidFill>
                    <a:srgbClr val="27AE60"/>
                  </a:solidFill>
                </a:ln>
              </p:spPr>
            </p:sp>
          </p:grpSp>
          <p:sp>
            <p:nvSpPr>
              <p:cNvPr id="32" name="TextBox 32"/>
              <p:cNvSpPr txBox="1"/>
              <p:nvPr/>
            </p:nvSpPr>
            <p:spPr>
              <a:xfrm>
                <a:off x="6944106" y="2228850"/>
                <a:ext cx="1425584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b="1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Физиология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6410706" y="2781300"/>
                <a:ext cx="1151794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dirty="0">
                    <a:solidFill>
                      <a:srgbClr val="5D6D7E"/>
                    </a:solidFill>
                    <a:latin typeface="+mn-lt"/>
                    <a:ea typeface="+mn-ea"/>
                    <a:cs typeface="+mn-cs"/>
                  </a:rPr>
                  <a:t>и гормоны</a:t>
                </a:r>
              </a:p>
            </p:txBody>
          </p:sp>
        </p:grpSp>
        <p:grpSp>
          <p:nvGrpSpPr>
            <p:cNvPr id="44" name="p03-t04"/>
            <p:cNvGrpSpPr/>
            <p:nvPr/>
          </p:nvGrpSpPr>
          <p:grpSpPr>
            <a:xfrm>
              <a:off x="8905875" y="1905000"/>
              <a:ext cx="2571750" cy="1428750"/>
              <a:chOff x="8905875" y="1905000"/>
              <a:chExt cx="2571750" cy="1428750"/>
            </a:xfrm>
          </p:grpSpPr>
          <p:sp>
            <p:nvSpPr>
              <p:cNvPr id="35" name="Rectangle 35"/>
              <p:cNvSpPr/>
              <p:nvPr/>
            </p:nvSpPr>
            <p:spPr>
              <a:xfrm>
                <a:off x="8905875" y="1905000"/>
                <a:ext cx="2571750" cy="1428750"/>
              </a:xfrm>
              <a:prstGeom prst="roundRect">
                <a:avLst>
                  <a:gd name="adj" fmla="val 10667"/>
                </a:avLst>
              </a:prstGeom>
              <a:solidFill>
                <a:srgbClr val="FFFFFF">
                  <a:alpha val="85000"/>
                </a:srgbClr>
              </a:solidFill>
              <a:ln>
                <a:noFill/>
              </a:ln>
            </p:spPr>
          </p:sp>
          <p:grpSp>
            <p:nvGrpSpPr>
              <p:cNvPr id="41" name="Group 41"/>
              <p:cNvGrpSpPr/>
              <p:nvPr/>
            </p:nvGrpSpPr>
            <p:grpSpPr>
              <a:xfrm>
                <a:off x="9186862" y="2255837"/>
                <a:ext cx="314325" cy="174625"/>
                <a:chOff x="9186862" y="2255837"/>
                <a:chExt cx="314325" cy="174625"/>
              </a:xfrm>
            </p:grpSpPr>
            <p:sp>
              <p:nvSpPr>
                <p:cNvPr id="36" name="Freeform 36"/>
                <p:cNvSpPr/>
                <p:nvPr/>
              </p:nvSpPr>
              <p:spPr>
                <a:xfrm>
                  <a:off x="9204325" y="2273300"/>
                  <a:ext cx="279399" cy="1397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79399" h="139700">
                      <a:moveTo>
                        <a:pt x="0" y="139700"/>
                      </a:moveTo>
                      <a:lnTo>
                        <a:pt x="104775" y="17462"/>
                      </a:lnTo>
                      <a:lnTo>
                        <a:pt x="192087" y="104775"/>
                      </a:lnTo>
                      <a:lnTo>
                        <a:pt x="279399" y="0"/>
                      </a:lnTo>
                    </a:path>
                  </a:pathLst>
                </a:custGeom>
                <a:noFill/>
                <a:ln w="34925">
                  <a:solidFill>
                    <a:srgbClr val="27AE60"/>
                  </a:solidFill>
                </a:ln>
              </p:spPr>
            </p:sp>
            <p:sp>
              <p:nvSpPr>
                <p:cNvPr id="37" name="Freeform 37"/>
                <p:cNvSpPr/>
                <p:nvPr/>
              </p:nvSpPr>
              <p:spPr>
                <a:xfrm>
                  <a:off x="9378950" y="2360612"/>
                  <a:ext cx="34925" cy="34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925" h="34925">
                      <a:moveTo>
                        <a:pt x="0" y="17462"/>
                      </a:moveTo>
                      <a:cubicBezTo>
                        <a:pt x="0" y="27107"/>
                        <a:pt x="7818" y="34925"/>
                        <a:pt x="17462" y="34925"/>
                      </a:cubicBezTo>
                      <a:cubicBezTo>
                        <a:pt x="27107" y="34925"/>
                        <a:pt x="34925" y="27107"/>
                        <a:pt x="34925" y="17462"/>
                      </a:cubicBezTo>
                      <a:cubicBezTo>
                        <a:pt x="34925" y="7818"/>
                        <a:pt x="27107" y="0"/>
                        <a:pt x="17462" y="0"/>
                      </a:cubicBezTo>
                      <a:cubicBezTo>
                        <a:pt x="7818" y="0"/>
                        <a:pt x="0" y="7818"/>
                        <a:pt x="0" y="17462"/>
                      </a:cubicBezTo>
                    </a:path>
                  </a:pathLst>
                </a:custGeom>
                <a:noFill/>
                <a:ln w="34925">
                  <a:solidFill>
                    <a:srgbClr val="27AE60"/>
                  </a:solidFill>
                </a:ln>
              </p:spPr>
            </p:sp>
            <p:sp>
              <p:nvSpPr>
                <p:cNvPr id="38" name="Freeform 38"/>
                <p:cNvSpPr/>
                <p:nvPr/>
              </p:nvSpPr>
              <p:spPr>
                <a:xfrm>
                  <a:off x="9291637" y="2273300"/>
                  <a:ext cx="34925" cy="34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925" h="34925">
                      <a:moveTo>
                        <a:pt x="0" y="17462"/>
                      </a:moveTo>
                      <a:cubicBezTo>
                        <a:pt x="0" y="27107"/>
                        <a:pt x="7818" y="34925"/>
                        <a:pt x="17462" y="34925"/>
                      </a:cubicBezTo>
                      <a:cubicBezTo>
                        <a:pt x="27107" y="34925"/>
                        <a:pt x="34925" y="27107"/>
                        <a:pt x="34925" y="17462"/>
                      </a:cubicBezTo>
                      <a:cubicBezTo>
                        <a:pt x="34925" y="7818"/>
                        <a:pt x="27107" y="0"/>
                        <a:pt x="17462" y="0"/>
                      </a:cubicBezTo>
                      <a:cubicBezTo>
                        <a:pt x="7818" y="0"/>
                        <a:pt x="0" y="7818"/>
                        <a:pt x="0" y="17462"/>
                      </a:cubicBezTo>
                    </a:path>
                  </a:pathLst>
                </a:custGeom>
                <a:noFill/>
                <a:ln w="34925">
                  <a:solidFill>
                    <a:srgbClr val="27AE60"/>
                  </a:solidFill>
                </a:ln>
              </p:spPr>
            </p:sp>
            <p:sp>
              <p:nvSpPr>
                <p:cNvPr id="39" name="Freeform 39"/>
                <p:cNvSpPr/>
                <p:nvPr/>
              </p:nvSpPr>
              <p:spPr>
                <a:xfrm>
                  <a:off x="9186862" y="2395537"/>
                  <a:ext cx="34925" cy="34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925" h="34925">
                      <a:moveTo>
                        <a:pt x="0" y="17462"/>
                      </a:moveTo>
                      <a:cubicBezTo>
                        <a:pt x="0" y="27107"/>
                        <a:pt x="7818" y="34925"/>
                        <a:pt x="17462" y="34925"/>
                      </a:cubicBezTo>
                      <a:cubicBezTo>
                        <a:pt x="27107" y="34925"/>
                        <a:pt x="34925" y="27107"/>
                        <a:pt x="34925" y="17462"/>
                      </a:cubicBezTo>
                      <a:cubicBezTo>
                        <a:pt x="34925" y="7818"/>
                        <a:pt x="27107" y="0"/>
                        <a:pt x="17462" y="0"/>
                      </a:cubicBezTo>
                      <a:cubicBezTo>
                        <a:pt x="7818" y="0"/>
                        <a:pt x="0" y="7818"/>
                        <a:pt x="0" y="17462"/>
                      </a:cubicBezTo>
                    </a:path>
                  </a:pathLst>
                </a:custGeom>
                <a:noFill/>
                <a:ln w="34925">
                  <a:solidFill>
                    <a:srgbClr val="27AE60"/>
                  </a:solidFill>
                </a:ln>
              </p:spPr>
            </p:sp>
            <p:sp>
              <p:nvSpPr>
                <p:cNvPr id="40" name="Freeform 40"/>
                <p:cNvSpPr/>
                <p:nvPr/>
              </p:nvSpPr>
              <p:spPr>
                <a:xfrm>
                  <a:off x="9466262" y="2255837"/>
                  <a:ext cx="34925" cy="34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925" h="34925">
                      <a:moveTo>
                        <a:pt x="0" y="17462"/>
                      </a:moveTo>
                      <a:cubicBezTo>
                        <a:pt x="0" y="27107"/>
                        <a:pt x="7818" y="34925"/>
                        <a:pt x="17462" y="34925"/>
                      </a:cubicBezTo>
                      <a:cubicBezTo>
                        <a:pt x="27107" y="34925"/>
                        <a:pt x="34925" y="27107"/>
                        <a:pt x="34925" y="17462"/>
                      </a:cubicBezTo>
                      <a:cubicBezTo>
                        <a:pt x="34925" y="7818"/>
                        <a:pt x="27107" y="0"/>
                        <a:pt x="17462" y="0"/>
                      </a:cubicBezTo>
                      <a:cubicBezTo>
                        <a:pt x="7818" y="0"/>
                        <a:pt x="0" y="7818"/>
                        <a:pt x="0" y="17462"/>
                      </a:cubicBezTo>
                    </a:path>
                  </a:pathLst>
                </a:custGeom>
                <a:noFill/>
                <a:ln w="34925">
                  <a:solidFill>
                    <a:srgbClr val="27AE60"/>
                  </a:solidFill>
                </a:ln>
              </p:spPr>
            </p:sp>
          </p:grpSp>
          <p:sp>
            <p:nvSpPr>
              <p:cNvPr id="42" name="TextBox 42"/>
              <p:cNvSpPr txBox="1"/>
              <p:nvPr/>
            </p:nvSpPr>
            <p:spPr>
              <a:xfrm>
                <a:off x="9658731" y="2228850"/>
                <a:ext cx="1005771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b="1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История</a:t>
                </a:r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9125331" y="2781300"/>
                <a:ext cx="1084478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dirty="0">
                    <a:solidFill>
                      <a:srgbClr val="5D6D7E"/>
                    </a:solidFill>
                    <a:latin typeface="+mn-lt"/>
                    <a:ea typeface="+mn-ea"/>
                    <a:cs typeface="+mn-cs"/>
                  </a:rPr>
                  <a:t>взглядов</a:t>
                </a:r>
              </a:p>
            </p:txBody>
          </p:sp>
        </p:grpSp>
        <p:grpSp>
          <p:nvGrpSpPr>
            <p:cNvPr id="53" name="p03-t05"/>
            <p:cNvGrpSpPr/>
            <p:nvPr/>
          </p:nvGrpSpPr>
          <p:grpSpPr>
            <a:xfrm>
              <a:off x="762000" y="3810000"/>
              <a:ext cx="2571750" cy="1428750"/>
              <a:chOff x="762000" y="3810000"/>
              <a:chExt cx="2571750" cy="1428750"/>
            </a:xfrm>
          </p:grpSpPr>
          <p:sp>
            <p:nvSpPr>
              <p:cNvPr id="45" name="Rectangle 45"/>
              <p:cNvSpPr/>
              <p:nvPr/>
            </p:nvSpPr>
            <p:spPr>
              <a:xfrm>
                <a:off x="762000" y="3810000"/>
                <a:ext cx="2571750" cy="1428750"/>
              </a:xfrm>
              <a:prstGeom prst="roundRect">
                <a:avLst>
                  <a:gd name="adj" fmla="val 10667"/>
                </a:avLst>
              </a:prstGeom>
              <a:solidFill>
                <a:srgbClr val="FFFFFF">
                  <a:alpha val="85000"/>
                </a:srgbClr>
              </a:solidFill>
              <a:ln>
                <a:noFill/>
              </a:ln>
            </p:spPr>
          </p:sp>
          <p:grpSp>
            <p:nvGrpSpPr>
              <p:cNvPr id="50" name="Group 50"/>
              <p:cNvGrpSpPr/>
              <p:nvPr/>
            </p:nvGrpSpPr>
            <p:grpSpPr>
              <a:xfrm>
                <a:off x="1042987" y="4090987"/>
                <a:ext cx="314324" cy="314324"/>
                <a:chOff x="1042987" y="4090987"/>
                <a:chExt cx="314324" cy="314324"/>
              </a:xfrm>
            </p:grpSpPr>
            <p:sp>
              <p:nvSpPr>
                <p:cNvPr id="46" name="Freeform 46"/>
                <p:cNvSpPr/>
                <p:nvPr/>
              </p:nvSpPr>
              <p:spPr>
                <a:xfrm>
                  <a:off x="1042987" y="4090987"/>
                  <a:ext cx="314324" cy="31432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4324" h="314324">
                      <a:moveTo>
                        <a:pt x="0" y="157162"/>
                      </a:moveTo>
                      <a:cubicBezTo>
                        <a:pt x="0" y="243961"/>
                        <a:pt x="70364" y="314324"/>
                        <a:pt x="157162" y="314324"/>
                      </a:cubicBezTo>
                      <a:cubicBezTo>
                        <a:pt x="243961" y="314324"/>
                        <a:pt x="314324" y="243961"/>
                        <a:pt x="314324" y="157162"/>
                      </a:cubicBezTo>
                      <a:cubicBezTo>
                        <a:pt x="314324" y="70364"/>
                        <a:pt x="243961" y="0"/>
                        <a:pt x="157162" y="0"/>
                      </a:cubicBezTo>
                      <a:cubicBezTo>
                        <a:pt x="70364" y="0"/>
                        <a:pt x="0" y="70364"/>
                        <a:pt x="0" y="157162"/>
                      </a:cubicBezTo>
                    </a:path>
                  </a:pathLst>
                </a:custGeom>
                <a:noFill/>
                <a:ln w="34925">
                  <a:solidFill>
                    <a:srgbClr val="E67E22"/>
                  </a:solidFill>
                </a:ln>
              </p:spPr>
            </p:sp>
            <p:sp>
              <p:nvSpPr>
                <p:cNvPr id="47" name="Freeform 47"/>
                <p:cNvSpPr/>
                <p:nvPr/>
              </p:nvSpPr>
              <p:spPr>
                <a:xfrm>
                  <a:off x="1147762" y="42132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175" y="0"/>
                      </a:lnTo>
                    </a:path>
                  </a:pathLst>
                </a:custGeom>
                <a:noFill/>
                <a:ln w="34925">
                  <a:solidFill>
                    <a:srgbClr val="E67E22"/>
                  </a:solidFill>
                </a:ln>
              </p:spPr>
            </p:sp>
            <p:sp>
              <p:nvSpPr>
                <p:cNvPr id="48" name="Freeform 48"/>
                <p:cNvSpPr/>
                <p:nvPr/>
              </p:nvSpPr>
              <p:spPr>
                <a:xfrm>
                  <a:off x="1252537" y="4213225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175" y="0"/>
                      </a:lnTo>
                    </a:path>
                  </a:pathLst>
                </a:custGeom>
                <a:noFill/>
                <a:ln w="34925">
                  <a:solidFill>
                    <a:srgbClr val="E67E22"/>
                  </a:solidFill>
                </a:ln>
              </p:spPr>
            </p:sp>
            <p:sp>
              <p:nvSpPr>
                <p:cNvPr id="49" name="Freeform 49"/>
                <p:cNvSpPr/>
                <p:nvPr/>
              </p:nvSpPr>
              <p:spPr>
                <a:xfrm>
                  <a:off x="1156493" y="4300537"/>
                  <a:ext cx="87312" cy="1834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7312" h="18345">
                      <a:moveTo>
                        <a:pt x="0" y="0"/>
                      </a:moveTo>
                      <a:cubicBezTo>
                        <a:pt x="11496" y="11733"/>
                        <a:pt x="27230" y="18345"/>
                        <a:pt x="43656" y="18345"/>
                      </a:cubicBezTo>
                      <a:cubicBezTo>
                        <a:pt x="60082" y="18345"/>
                        <a:pt x="75817" y="11733"/>
                        <a:pt x="87312" y="0"/>
                      </a:cubicBezTo>
                    </a:path>
                  </a:pathLst>
                </a:custGeom>
                <a:noFill/>
                <a:ln w="34925">
                  <a:solidFill>
                    <a:srgbClr val="E67E22"/>
                  </a:solidFill>
                </a:ln>
              </p:spPr>
            </p:sp>
          </p:grpSp>
          <p:sp>
            <p:nvSpPr>
              <p:cNvPr id="51" name="TextBox 51"/>
              <p:cNvSpPr txBox="1"/>
              <p:nvPr/>
            </p:nvSpPr>
            <p:spPr>
              <a:xfrm>
                <a:off x="1514856" y="4133850"/>
                <a:ext cx="1145709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b="1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Гедонизм</a:t>
                </a:r>
              </a:p>
            </p:txBody>
          </p:sp>
          <p:sp>
            <p:nvSpPr>
              <p:cNvPr id="52" name="TextBox 52"/>
              <p:cNvSpPr txBox="1"/>
              <p:nvPr/>
            </p:nvSpPr>
            <p:spPr>
              <a:xfrm>
                <a:off x="981456" y="4686300"/>
                <a:ext cx="1418341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dirty="0">
                    <a:solidFill>
                      <a:srgbClr val="5D6D7E"/>
                    </a:solidFill>
                    <a:latin typeface="+mn-lt"/>
                    <a:ea typeface="+mn-ea"/>
                    <a:cs typeface="+mn-cs"/>
                  </a:rPr>
                  <a:t>и эвдемония</a:t>
                </a:r>
              </a:p>
            </p:txBody>
          </p:sp>
        </p:grpSp>
        <p:grpSp>
          <p:nvGrpSpPr>
            <p:cNvPr id="60" name="p03-t06"/>
            <p:cNvGrpSpPr/>
            <p:nvPr/>
          </p:nvGrpSpPr>
          <p:grpSpPr>
            <a:xfrm>
              <a:off x="3476625" y="3810000"/>
              <a:ext cx="2571750" cy="1428750"/>
              <a:chOff x="3476625" y="3810000"/>
              <a:chExt cx="2571750" cy="1428750"/>
            </a:xfrm>
          </p:grpSpPr>
          <p:sp>
            <p:nvSpPr>
              <p:cNvPr id="54" name="Rectangle 54"/>
              <p:cNvSpPr/>
              <p:nvPr/>
            </p:nvSpPr>
            <p:spPr>
              <a:xfrm>
                <a:off x="3476625" y="3810000"/>
                <a:ext cx="2571750" cy="1428750"/>
              </a:xfrm>
              <a:prstGeom prst="roundRect">
                <a:avLst>
                  <a:gd name="adj" fmla="val 10667"/>
                </a:avLst>
              </a:prstGeom>
              <a:solidFill>
                <a:srgbClr val="FFFFFF">
                  <a:alpha val="85000"/>
                </a:srgbClr>
              </a:solidFill>
              <a:ln>
                <a:noFill/>
              </a:ln>
            </p:spPr>
          </p:sp>
          <p:grpSp>
            <p:nvGrpSpPr>
              <p:cNvPr id="57" name="Group 57"/>
              <p:cNvGrpSpPr/>
              <p:nvPr/>
            </p:nvGrpSpPr>
            <p:grpSpPr>
              <a:xfrm>
                <a:off x="3752745" y="4093990"/>
                <a:ext cx="315699" cy="316189"/>
                <a:chOff x="3752745" y="4093990"/>
                <a:chExt cx="315699" cy="316189"/>
              </a:xfrm>
            </p:grpSpPr>
            <p:sp>
              <p:nvSpPr>
                <p:cNvPr id="55" name="Freeform 55"/>
                <p:cNvSpPr/>
                <p:nvPr/>
              </p:nvSpPr>
              <p:spPr>
                <a:xfrm>
                  <a:off x="3752745" y="4093990"/>
                  <a:ext cx="315699" cy="31618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5699" h="316189">
                      <a:moveTo>
                        <a:pt x="127105" y="490"/>
                      </a:moveTo>
                      <a:cubicBezTo>
                        <a:pt x="51493" y="18018"/>
                        <a:pt x="0" y="88120"/>
                        <a:pt x="5888" y="165514"/>
                      </a:cubicBezTo>
                      <a:cubicBezTo>
                        <a:pt x="11776" y="242908"/>
                        <a:pt x="73281" y="304413"/>
                        <a:pt x="150675" y="310301"/>
                      </a:cubicBezTo>
                      <a:cubicBezTo>
                        <a:pt x="228069" y="316189"/>
                        <a:pt x="298171" y="264697"/>
                        <a:pt x="315699" y="189084"/>
                      </a:cubicBezTo>
                      <a:cubicBezTo>
                        <a:pt x="315699" y="179440"/>
                        <a:pt x="307881" y="171622"/>
                        <a:pt x="298237" y="171622"/>
                      </a:cubicBezTo>
                      <a:lnTo>
                        <a:pt x="179492" y="171622"/>
                      </a:lnTo>
                      <a:cubicBezTo>
                        <a:pt x="160204" y="171622"/>
                        <a:pt x="144567" y="155986"/>
                        <a:pt x="144567" y="136697"/>
                      </a:cubicBezTo>
                      <a:lnTo>
                        <a:pt x="144567" y="14460"/>
                      </a:lnTo>
                      <a:cubicBezTo>
                        <a:pt x="144129" y="10281"/>
                        <a:pt x="142036" y="6451"/>
                        <a:pt x="138755" y="3827"/>
                      </a:cubicBezTo>
                      <a:cubicBezTo>
                        <a:pt x="135474" y="1202"/>
                        <a:pt x="131278" y="0"/>
                        <a:pt x="127105" y="490"/>
                      </a:cubicBezTo>
                    </a:path>
                  </a:pathLst>
                </a:custGeom>
                <a:noFill/>
                <a:ln w="34925">
                  <a:solidFill>
                    <a:srgbClr val="E67E22"/>
                  </a:solidFill>
                </a:ln>
              </p:spPr>
            </p:sp>
            <p:sp>
              <p:nvSpPr>
                <p:cNvPr id="56" name="Freeform 56"/>
                <p:cNvSpPr/>
                <p:nvPr/>
              </p:nvSpPr>
              <p:spPr>
                <a:xfrm>
                  <a:off x="3967162" y="4099719"/>
                  <a:ext cx="96044" cy="960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6044" h="96044">
                      <a:moveTo>
                        <a:pt x="0" y="0"/>
                      </a:moveTo>
                      <a:cubicBezTo>
                        <a:pt x="44910" y="15813"/>
                        <a:pt x="80230" y="51133"/>
                        <a:pt x="96044" y="96044"/>
                      </a:cubicBezTo>
                      <a:lnTo>
                        <a:pt x="17462" y="96044"/>
                      </a:lnTo>
                      <a:cubicBezTo>
                        <a:pt x="7818" y="96044"/>
                        <a:pt x="0" y="88225"/>
                        <a:pt x="0" y="78581"/>
                      </a:cubicBezTo>
                      <a:lnTo>
                        <a:pt x="0" y="0"/>
                      </a:lnTo>
                    </a:path>
                  </a:pathLst>
                </a:custGeom>
                <a:noFill/>
                <a:ln w="34925">
                  <a:solidFill>
                    <a:srgbClr val="E67E22"/>
                  </a:solidFill>
                </a:ln>
              </p:spPr>
            </p:sp>
          </p:grpSp>
          <p:sp>
            <p:nvSpPr>
              <p:cNvPr id="58" name="TextBox 58"/>
              <p:cNvSpPr txBox="1"/>
              <p:nvPr/>
            </p:nvSpPr>
            <p:spPr>
              <a:xfrm>
                <a:off x="4229481" y="4133850"/>
                <a:ext cx="1005771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b="1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Формула</a:t>
                </a:r>
              </a:p>
            </p:txBody>
          </p:sp>
          <p:sp>
            <p:nvSpPr>
              <p:cNvPr id="59" name="TextBox 59"/>
              <p:cNvSpPr txBox="1"/>
              <p:nvPr/>
            </p:nvSpPr>
            <p:spPr>
              <a:xfrm>
                <a:off x="3696081" y="4686300"/>
                <a:ext cx="951205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dirty="0">
                    <a:solidFill>
                      <a:srgbClr val="5D6D7E"/>
                    </a:solidFill>
                    <a:latin typeface="+mn-lt"/>
                    <a:ea typeface="+mn-ea"/>
                    <a:cs typeface="+mn-cs"/>
                  </a:rPr>
                  <a:t>счастья</a:t>
                </a:r>
              </a:p>
            </p:txBody>
          </p:sp>
        </p:grpSp>
        <p:grpSp>
          <p:nvGrpSpPr>
            <p:cNvPr id="69" name="p03-t07"/>
            <p:cNvGrpSpPr/>
            <p:nvPr/>
          </p:nvGrpSpPr>
          <p:grpSpPr>
            <a:xfrm>
              <a:off x="6191250" y="3810000"/>
              <a:ext cx="2571750" cy="1428750"/>
              <a:chOff x="6191250" y="3810000"/>
              <a:chExt cx="2571750" cy="1428750"/>
            </a:xfrm>
          </p:grpSpPr>
          <p:sp>
            <p:nvSpPr>
              <p:cNvPr id="61" name="Rectangle 61"/>
              <p:cNvSpPr/>
              <p:nvPr/>
            </p:nvSpPr>
            <p:spPr>
              <a:xfrm>
                <a:off x="6191250" y="3810000"/>
                <a:ext cx="2571750" cy="1428750"/>
              </a:xfrm>
              <a:prstGeom prst="roundRect">
                <a:avLst>
                  <a:gd name="adj" fmla="val 10667"/>
                </a:avLst>
              </a:prstGeom>
              <a:solidFill>
                <a:srgbClr val="FFFFFF">
                  <a:alpha val="85000"/>
                </a:srgbClr>
              </a:solidFill>
              <a:ln>
                <a:noFill/>
              </a:ln>
            </p:spPr>
          </p:sp>
          <p:grpSp>
            <p:nvGrpSpPr>
              <p:cNvPr id="66" name="Group 66"/>
              <p:cNvGrpSpPr/>
              <p:nvPr/>
            </p:nvGrpSpPr>
            <p:grpSpPr>
              <a:xfrm>
                <a:off x="6523693" y="4086575"/>
                <a:ext cx="211409" cy="318737"/>
                <a:chOff x="6523693" y="4086575"/>
                <a:chExt cx="211409" cy="318737"/>
              </a:xfrm>
            </p:grpSpPr>
            <p:sp>
              <p:nvSpPr>
                <p:cNvPr id="62" name="Freeform 62"/>
                <p:cNvSpPr/>
                <p:nvPr/>
              </p:nvSpPr>
              <p:spPr>
                <a:xfrm>
                  <a:off x="6594475" y="4230687"/>
                  <a:ext cx="34925" cy="34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925" h="34925">
                      <a:moveTo>
                        <a:pt x="34925" y="34925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34925">
                  <a:solidFill>
                    <a:srgbClr val="E67E22"/>
                  </a:solidFill>
                </a:ln>
              </p:spPr>
            </p:sp>
            <p:sp>
              <p:nvSpPr>
                <p:cNvPr id="63" name="Freeform 63"/>
                <p:cNvSpPr/>
                <p:nvPr/>
              </p:nvSpPr>
              <p:spPr>
                <a:xfrm>
                  <a:off x="6629400" y="4213225"/>
                  <a:ext cx="34925" cy="34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925" h="34925">
                      <a:moveTo>
                        <a:pt x="0" y="34925"/>
                      </a:moveTo>
                      <a:lnTo>
                        <a:pt x="34925" y="0"/>
                      </a:lnTo>
                    </a:path>
                  </a:pathLst>
                </a:custGeom>
                <a:noFill/>
                <a:ln w="34925">
                  <a:solidFill>
                    <a:srgbClr val="E67E22"/>
                  </a:solidFill>
                </a:ln>
              </p:spPr>
            </p:sp>
            <p:sp>
              <p:nvSpPr>
                <p:cNvPr id="64" name="Freeform 64"/>
                <p:cNvSpPr/>
                <p:nvPr/>
              </p:nvSpPr>
              <p:spPr>
                <a:xfrm>
                  <a:off x="6629400" y="4178300"/>
                  <a:ext cx="9525" cy="22701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227012">
                      <a:moveTo>
                        <a:pt x="0" y="227012"/>
                      </a:moveTo>
                      <a:lnTo>
                        <a:pt x="0" y="0"/>
                      </a:lnTo>
                    </a:path>
                  </a:pathLst>
                </a:custGeom>
                <a:noFill/>
                <a:ln w="34925">
                  <a:solidFill>
                    <a:srgbClr val="E67E22"/>
                  </a:solidFill>
                </a:ln>
              </p:spPr>
            </p:sp>
            <p:sp>
              <p:nvSpPr>
                <p:cNvPr id="65" name="Freeform 65"/>
                <p:cNvSpPr/>
                <p:nvPr/>
              </p:nvSpPr>
              <p:spPr>
                <a:xfrm>
                  <a:off x="6523693" y="4086575"/>
                  <a:ext cx="211409" cy="23151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11409" h="231515">
                      <a:moveTo>
                        <a:pt x="67708" y="231424"/>
                      </a:moveTo>
                      <a:cubicBezTo>
                        <a:pt x="52242" y="230518"/>
                        <a:pt x="37970" y="222814"/>
                        <a:pt x="28727" y="210380"/>
                      </a:cubicBezTo>
                      <a:cubicBezTo>
                        <a:pt x="19484" y="197946"/>
                        <a:pt x="16219" y="182059"/>
                        <a:pt x="19809" y="166988"/>
                      </a:cubicBezTo>
                      <a:cubicBezTo>
                        <a:pt x="6969" y="156295"/>
                        <a:pt x="0" y="140119"/>
                        <a:pt x="1049" y="123443"/>
                      </a:cubicBezTo>
                      <a:cubicBezTo>
                        <a:pt x="2098" y="106766"/>
                        <a:pt x="11039" y="91591"/>
                        <a:pt x="25117" y="82591"/>
                      </a:cubicBezTo>
                      <a:cubicBezTo>
                        <a:pt x="12545" y="60256"/>
                        <a:pt x="17979" y="32103"/>
                        <a:pt x="37962" y="16051"/>
                      </a:cubicBezTo>
                      <a:cubicBezTo>
                        <a:pt x="57945" y="0"/>
                        <a:pt x="86608" y="764"/>
                        <a:pt x="105707" y="17858"/>
                      </a:cubicBezTo>
                      <a:cubicBezTo>
                        <a:pt x="124809" y="792"/>
                        <a:pt x="153452" y="43"/>
                        <a:pt x="173420" y="16086"/>
                      </a:cubicBezTo>
                      <a:cubicBezTo>
                        <a:pt x="193389" y="32130"/>
                        <a:pt x="198828" y="60261"/>
                        <a:pt x="186279" y="82591"/>
                      </a:cubicBezTo>
                      <a:cubicBezTo>
                        <a:pt x="200359" y="91588"/>
                        <a:pt x="209304" y="106762"/>
                        <a:pt x="210356" y="123438"/>
                      </a:cubicBezTo>
                      <a:cubicBezTo>
                        <a:pt x="211409" y="140114"/>
                        <a:pt x="204443" y="156292"/>
                        <a:pt x="191605" y="166988"/>
                      </a:cubicBezTo>
                      <a:cubicBezTo>
                        <a:pt x="195318" y="182582"/>
                        <a:pt x="191688" y="199019"/>
                        <a:pt x="181750" y="211599"/>
                      </a:cubicBezTo>
                      <a:cubicBezTo>
                        <a:pt x="171813" y="224178"/>
                        <a:pt x="156663" y="231515"/>
                        <a:pt x="140632" y="231511"/>
                      </a:cubicBezTo>
                      <a:lnTo>
                        <a:pt x="70782" y="231511"/>
                      </a:lnTo>
                      <a:lnTo>
                        <a:pt x="67708" y="231424"/>
                      </a:lnTo>
                    </a:path>
                  </a:pathLst>
                </a:custGeom>
                <a:noFill/>
                <a:ln w="34925">
                  <a:solidFill>
                    <a:srgbClr val="E67E22"/>
                  </a:solidFill>
                </a:ln>
              </p:spPr>
            </p:sp>
          </p:grpSp>
          <p:sp>
            <p:nvSpPr>
              <p:cNvPr id="67" name="TextBox 67"/>
              <p:cNvSpPr txBox="1"/>
              <p:nvPr/>
            </p:nvSpPr>
            <p:spPr>
              <a:xfrm>
                <a:off x="6944106" y="4133850"/>
                <a:ext cx="1005771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b="1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Факторы</a:t>
                </a:r>
              </a:p>
            </p:txBody>
          </p:sp>
          <p:sp>
            <p:nvSpPr>
              <p:cNvPr id="68" name="TextBox 68"/>
              <p:cNvSpPr txBox="1"/>
              <p:nvPr/>
            </p:nvSpPr>
            <p:spPr>
              <a:xfrm>
                <a:off x="6410706" y="4686300"/>
                <a:ext cx="951205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dirty="0">
                    <a:solidFill>
                      <a:srgbClr val="5D6D7E"/>
                    </a:solidFill>
                    <a:latin typeface="+mn-lt"/>
                    <a:ea typeface="+mn-ea"/>
                    <a:cs typeface="+mn-cs"/>
                  </a:rPr>
                  <a:t>счастья</a:t>
                </a:r>
              </a:p>
            </p:txBody>
          </p:sp>
        </p:grpSp>
        <p:grpSp>
          <p:nvGrpSpPr>
            <p:cNvPr id="77" name="p03-t08"/>
            <p:cNvGrpSpPr/>
            <p:nvPr/>
          </p:nvGrpSpPr>
          <p:grpSpPr>
            <a:xfrm>
              <a:off x="8905875" y="3810000"/>
              <a:ext cx="2571750" cy="1428750"/>
              <a:chOff x="8905875" y="3810000"/>
              <a:chExt cx="2571750" cy="1428750"/>
            </a:xfrm>
          </p:grpSpPr>
          <p:sp>
            <p:nvSpPr>
              <p:cNvPr id="70" name="Rectangle 70"/>
              <p:cNvSpPr/>
              <p:nvPr/>
            </p:nvSpPr>
            <p:spPr>
              <a:xfrm>
                <a:off x="8905875" y="3810000"/>
                <a:ext cx="2571750" cy="1428750"/>
              </a:xfrm>
              <a:prstGeom prst="roundRect">
                <a:avLst>
                  <a:gd name="adj" fmla="val 10667"/>
                </a:avLst>
              </a:prstGeom>
              <a:solidFill>
                <a:srgbClr val="FFFFFF">
                  <a:alpha val="85000"/>
                </a:srgbClr>
              </a:solidFill>
              <a:ln>
                <a:noFill/>
              </a:ln>
            </p:spPr>
          </p:sp>
          <p:grpSp>
            <p:nvGrpSpPr>
              <p:cNvPr id="74" name="Group 74"/>
              <p:cNvGrpSpPr/>
              <p:nvPr/>
            </p:nvGrpSpPr>
            <p:grpSpPr>
              <a:xfrm>
                <a:off x="9193882" y="4090987"/>
                <a:ext cx="300250" cy="312404"/>
                <a:chOff x="9193882" y="4090987"/>
                <a:chExt cx="300250" cy="312404"/>
              </a:xfrm>
            </p:grpSpPr>
            <p:sp>
              <p:nvSpPr>
                <p:cNvPr id="71" name="Freeform 71"/>
                <p:cNvSpPr/>
                <p:nvPr/>
              </p:nvSpPr>
              <p:spPr>
                <a:xfrm>
                  <a:off x="9239250" y="4090987"/>
                  <a:ext cx="209550" cy="2095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9550" h="209550">
                      <a:moveTo>
                        <a:pt x="0" y="104775"/>
                      </a:moveTo>
                      <a:cubicBezTo>
                        <a:pt x="0" y="162640"/>
                        <a:pt x="46909" y="209550"/>
                        <a:pt x="104775" y="209550"/>
                      </a:cubicBezTo>
                      <a:cubicBezTo>
                        <a:pt x="162640" y="209550"/>
                        <a:pt x="209550" y="162640"/>
                        <a:pt x="209550" y="104775"/>
                      </a:cubicBezTo>
                      <a:cubicBezTo>
                        <a:pt x="209550" y="46909"/>
                        <a:pt x="162640" y="0"/>
                        <a:pt x="104775" y="0"/>
                      </a:cubicBezTo>
                      <a:cubicBezTo>
                        <a:pt x="46909" y="0"/>
                        <a:pt x="0" y="46909"/>
                        <a:pt x="0" y="104775"/>
                      </a:cubicBezTo>
                    </a:path>
                  </a:pathLst>
                </a:custGeom>
                <a:noFill/>
                <a:ln w="34925">
                  <a:solidFill>
                    <a:srgbClr val="E74C3C"/>
                  </a:solidFill>
                </a:ln>
              </p:spPr>
            </p:sp>
            <p:sp>
              <p:nvSpPr>
                <p:cNvPr id="72" name="Freeform 72"/>
                <p:cNvSpPr/>
                <p:nvPr/>
              </p:nvSpPr>
              <p:spPr>
                <a:xfrm>
                  <a:off x="9344025" y="4248150"/>
                  <a:ext cx="150107" cy="15524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0107" h="155241">
                      <a:moveTo>
                        <a:pt x="0" y="52387"/>
                      </a:moveTo>
                      <a:lnTo>
                        <a:pt x="59372" y="155241"/>
                      </a:lnTo>
                      <a:lnTo>
                        <a:pt x="87277" y="98785"/>
                      </a:lnTo>
                      <a:lnTo>
                        <a:pt x="150107" y="102836"/>
                      </a:lnTo>
                      <a:lnTo>
                        <a:pt x="90735" y="0"/>
                      </a:lnTo>
                    </a:path>
                  </a:pathLst>
                </a:custGeom>
                <a:noFill/>
                <a:ln w="34925">
                  <a:solidFill>
                    <a:srgbClr val="E74C3C"/>
                  </a:solidFill>
                </a:ln>
              </p:spPr>
            </p:sp>
            <p:sp>
              <p:nvSpPr>
                <p:cNvPr id="73" name="Freeform 73"/>
                <p:cNvSpPr/>
                <p:nvPr/>
              </p:nvSpPr>
              <p:spPr>
                <a:xfrm>
                  <a:off x="9193882" y="4248150"/>
                  <a:ext cx="150107" cy="15522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0107" h="155224">
                      <a:moveTo>
                        <a:pt x="59372" y="0"/>
                      </a:moveTo>
                      <a:lnTo>
                        <a:pt x="0" y="102854"/>
                      </a:lnTo>
                      <a:lnTo>
                        <a:pt x="62830" y="98785"/>
                      </a:lnTo>
                      <a:lnTo>
                        <a:pt x="90735" y="155224"/>
                      </a:lnTo>
                      <a:lnTo>
                        <a:pt x="150107" y="52387"/>
                      </a:lnTo>
                    </a:path>
                  </a:pathLst>
                </a:custGeom>
                <a:noFill/>
                <a:ln w="34925">
                  <a:solidFill>
                    <a:srgbClr val="E74C3C"/>
                  </a:solidFill>
                </a:ln>
              </p:spPr>
            </p:sp>
          </p:grpSp>
          <p:sp>
            <p:nvSpPr>
              <p:cNvPr id="75" name="TextBox 75"/>
              <p:cNvSpPr txBox="1"/>
              <p:nvPr/>
            </p:nvSpPr>
            <p:spPr>
              <a:xfrm>
                <a:off x="9658731" y="4133850"/>
                <a:ext cx="865834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b="1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Выводы</a:t>
                </a:r>
              </a:p>
            </p:txBody>
          </p:sp>
          <p:sp>
            <p:nvSpPr>
              <p:cNvPr id="76" name="TextBox 76"/>
              <p:cNvSpPr txBox="1"/>
              <p:nvPr/>
            </p:nvSpPr>
            <p:spPr>
              <a:xfrm>
                <a:off x="9125331" y="4686300"/>
                <a:ext cx="1818163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dirty="0">
                    <a:solidFill>
                      <a:srgbClr val="5D6D7E"/>
                    </a:solidFill>
                    <a:latin typeface="+mn-lt"/>
                    <a:ea typeface="+mn-ea"/>
                    <a:cs typeface="+mn-cs"/>
                  </a:rPr>
                  <a:t>и рекомендации</a:t>
                </a:r>
              </a:p>
            </p:txBody>
          </p:sp>
        </p:grpSp>
      </p:grpSp>
      <p:sp>
        <p:nvSpPr>
          <p:cNvPr id="79" name="credit"/>
          <p:cNvSpPr txBox="1"/>
          <p:nvPr/>
        </p:nvSpPr>
        <p:spPr>
          <a:xfrm>
            <a:off x="753618" y="6578600"/>
            <a:ext cx="3937125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650" dirty="0">
                <a:solidFill>
                  <a:srgbClr val="7F8C8D"/>
                </a:solidFill>
                <a:latin typeface="+mn-lt"/>
                <a:ea typeface="+mn-ea"/>
                <a:cs typeface="+mn-cs"/>
              </a:rPr>
              <a:t>© Shixart1985 / Wikimedia / CC BY 2.0</a:t>
            </a:r>
          </a:p>
        </p:txBody>
      </p:sp>
      <p:pic>
        <p:nvPicPr>
          <p:cNvPr id="80" name="PPT Master narration: narration3.mp3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2" fill="hold" display="0">
                  <p:stCondLst>
                    <p:cond delay="300"/>
                  </p:stCondLst>
                </p:cTn>
                <p:tgtEl>
                  <p:spTgt spid="80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4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4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p04-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5" name="p04-foot"/>
          <p:cNvSpPr txBox="1"/>
          <p:nvPr/>
        </p:nvSpPr>
        <p:spPr>
          <a:xfrm>
            <a:off x="752856" y="6343650"/>
            <a:ext cx="3078699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ru" sz="180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Концепция счастья · ИС-24</a:t>
            </a:r>
          </a:p>
        </p:txBody>
      </p:sp>
      <p:sp>
        <p:nvSpPr>
          <p:cNvPr id="6" name="p04-num"/>
          <p:cNvSpPr txBox="1"/>
          <p:nvPr/>
        </p:nvSpPr>
        <p:spPr>
          <a:xfrm>
            <a:off x="11151304" y="6343650"/>
            <a:ext cx="287840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80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04</a:t>
            </a:r>
          </a:p>
        </p:txBody>
      </p:sp>
      <p:grpSp>
        <p:nvGrpSpPr>
          <p:cNvPr id="8" name="p04-title"/>
          <p:cNvGrpSpPr/>
          <p:nvPr/>
        </p:nvGrpSpPr>
        <p:grpSpPr>
          <a:xfrm>
            <a:off x="743712" y="565150"/>
            <a:ext cx="5495330" cy="704088"/>
            <a:chOff x="743712" y="565150"/>
            <a:chExt cx="5495330" cy="704088"/>
          </a:xfrm>
        </p:grpSpPr>
        <p:sp>
          <p:nvSpPr>
            <p:cNvPr id="7" name="TextBox 7"/>
            <p:cNvSpPr txBox="1"/>
            <p:nvPr/>
          </p:nvSpPr>
          <p:spPr>
            <a:xfrm>
              <a:off x="743712" y="565150"/>
              <a:ext cx="5495330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О чём эта презентация</a:t>
              </a:r>
            </a:p>
          </p:txBody>
        </p:sp>
      </p:grpSp>
      <p:grpSp>
        <p:nvGrpSpPr>
          <p:cNvPr id="53" name="p04-abstract"/>
          <p:cNvGrpSpPr/>
          <p:nvPr/>
        </p:nvGrpSpPr>
        <p:grpSpPr>
          <a:xfrm>
            <a:off x="762000" y="1714500"/>
            <a:ext cx="10858500" cy="4200144"/>
            <a:chOff x="762000" y="1714500"/>
            <a:chExt cx="10858500" cy="4200144"/>
          </a:xfrm>
        </p:grpSpPr>
        <p:grpSp>
          <p:nvGrpSpPr>
            <p:cNvPr id="21" name="p04-a1"/>
            <p:cNvGrpSpPr/>
            <p:nvPr/>
          </p:nvGrpSpPr>
          <p:grpSpPr>
            <a:xfrm>
              <a:off x="762000" y="1714500"/>
              <a:ext cx="3429000" cy="2190750"/>
              <a:chOff x="762000" y="1714500"/>
              <a:chExt cx="3429000" cy="2190750"/>
            </a:xfrm>
          </p:grpSpPr>
          <p:sp>
            <p:nvSpPr>
              <p:cNvPr id="9" name="Rectangle 9"/>
              <p:cNvSpPr/>
              <p:nvPr/>
            </p:nvSpPr>
            <p:spPr>
              <a:xfrm>
                <a:off x="762000" y="1714500"/>
                <a:ext cx="3429000" cy="2190750"/>
              </a:xfrm>
              <a:prstGeom prst="roundRect">
                <a:avLst>
                  <a:gd name="adj" fmla="val 7826"/>
                </a:avLst>
              </a:prstGeom>
              <a:solidFill>
                <a:srgbClr val="FFFFFF">
                  <a:alpha val="85000"/>
                </a:srgbClr>
              </a:solidFill>
              <a:ln>
                <a:noFill/>
              </a:ln>
            </p:spPr>
          </p:sp>
          <p:grpSp>
            <p:nvGrpSpPr>
              <p:cNvPr id="16" name="Group 16"/>
              <p:cNvGrpSpPr/>
              <p:nvPr/>
            </p:nvGrpSpPr>
            <p:grpSpPr>
              <a:xfrm>
                <a:off x="1047750" y="2038350"/>
                <a:ext cx="342900" cy="342900"/>
                <a:chOff x="1047750" y="2038350"/>
                <a:chExt cx="342900" cy="342900"/>
              </a:xfrm>
            </p:grpSpPr>
            <p:sp>
              <p:nvSpPr>
                <p:cNvPr id="10" name="Freeform 10"/>
                <p:cNvSpPr/>
                <p:nvPr/>
              </p:nvSpPr>
              <p:spPr>
                <a:xfrm>
                  <a:off x="1219200" y="2228850"/>
                  <a:ext cx="133350" cy="152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350" h="152400">
                      <a:moveTo>
                        <a:pt x="66675" y="0"/>
                      </a:moveTo>
                      <a:cubicBezTo>
                        <a:pt x="29851" y="0"/>
                        <a:pt x="0" y="29851"/>
                        <a:pt x="0" y="66675"/>
                      </a:cubicBezTo>
                      <a:lnTo>
                        <a:pt x="0" y="85725"/>
                      </a:lnTo>
                      <a:cubicBezTo>
                        <a:pt x="0" y="122549"/>
                        <a:pt x="29851" y="152400"/>
                        <a:pt x="66675" y="152400"/>
                      </a:cubicBezTo>
                      <a:cubicBezTo>
                        <a:pt x="103499" y="152400"/>
                        <a:pt x="133350" y="122549"/>
                        <a:pt x="133350" y="85725"/>
                      </a:cubicBezTo>
                      <a:lnTo>
                        <a:pt x="133350" y="51435"/>
                      </a:lnTo>
                    </a:path>
                  </a:pathLst>
                </a:custGeom>
                <a:noFill/>
                <a:ln w="38100">
                  <a:solidFill>
                    <a:schemeClr val="accent1"/>
                  </a:solidFill>
                </a:ln>
              </p:spPr>
            </p:sp>
            <p:sp>
              <p:nvSpPr>
                <p:cNvPr id="11" name="Freeform 11"/>
                <p:cNvSpPr/>
                <p:nvPr/>
              </p:nvSpPr>
              <p:spPr>
                <a:xfrm>
                  <a:off x="1085850" y="2228850"/>
                  <a:ext cx="133350" cy="1524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350" h="152400">
                      <a:moveTo>
                        <a:pt x="66675" y="0"/>
                      </a:moveTo>
                      <a:cubicBezTo>
                        <a:pt x="103499" y="0"/>
                        <a:pt x="133350" y="29851"/>
                        <a:pt x="133350" y="66675"/>
                      </a:cubicBezTo>
                      <a:lnTo>
                        <a:pt x="133350" y="85725"/>
                      </a:lnTo>
                      <a:cubicBezTo>
                        <a:pt x="133350" y="122549"/>
                        <a:pt x="103499" y="152400"/>
                        <a:pt x="66675" y="152400"/>
                      </a:cubicBezTo>
                      <a:cubicBezTo>
                        <a:pt x="29851" y="152400"/>
                        <a:pt x="0" y="122549"/>
                        <a:pt x="0" y="85725"/>
                      </a:cubicBezTo>
                      <a:lnTo>
                        <a:pt x="0" y="51435"/>
                      </a:lnTo>
                    </a:path>
                  </a:pathLst>
                </a:custGeom>
                <a:noFill/>
                <a:ln w="38100">
                  <a:solidFill>
                    <a:schemeClr val="accent1"/>
                  </a:solidFill>
                </a:ln>
              </p:spPr>
            </p:sp>
            <p:sp>
              <p:nvSpPr>
                <p:cNvPr id="12" name="Freeform 12"/>
                <p:cNvSpPr/>
                <p:nvPr/>
              </p:nvSpPr>
              <p:spPr>
                <a:xfrm>
                  <a:off x="1314450" y="2152650"/>
                  <a:ext cx="76200" cy="1333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200" h="133350">
                      <a:moveTo>
                        <a:pt x="9525" y="133350"/>
                      </a:moveTo>
                      <a:cubicBezTo>
                        <a:pt x="46349" y="133350"/>
                        <a:pt x="76200" y="103499"/>
                        <a:pt x="76200" y="66675"/>
                      </a:cubicBezTo>
                      <a:cubicBezTo>
                        <a:pt x="76200" y="29851"/>
                        <a:pt x="46349" y="0"/>
                        <a:pt x="9525" y="0"/>
                      </a:cubicBezTo>
                      <a:lnTo>
                        <a:pt x="0" y="0"/>
                      </a:lnTo>
                    </a:path>
                  </a:pathLst>
                </a:custGeom>
                <a:noFill/>
                <a:ln w="38100">
                  <a:solidFill>
                    <a:schemeClr val="accent1"/>
                  </a:solidFill>
                </a:ln>
              </p:spPr>
            </p:sp>
            <p:sp>
              <p:nvSpPr>
                <p:cNvPr id="13" name="Freeform 13"/>
                <p:cNvSpPr/>
                <p:nvPr/>
              </p:nvSpPr>
              <p:spPr>
                <a:xfrm>
                  <a:off x="1219200" y="2038350"/>
                  <a:ext cx="133350" cy="12001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350" h="120015">
                      <a:moveTo>
                        <a:pt x="133350" y="120015"/>
                      </a:moveTo>
                      <a:lnTo>
                        <a:pt x="133350" y="66675"/>
                      </a:lnTo>
                      <a:cubicBezTo>
                        <a:pt x="133350" y="29851"/>
                        <a:pt x="103499" y="0"/>
                        <a:pt x="66675" y="0"/>
                      </a:cubicBezTo>
                      <a:cubicBezTo>
                        <a:pt x="29851" y="0"/>
                        <a:pt x="0" y="29851"/>
                        <a:pt x="0" y="66675"/>
                      </a:cubicBezTo>
                    </a:path>
                  </a:pathLst>
                </a:custGeom>
                <a:noFill/>
                <a:ln w="38100">
                  <a:solidFill>
                    <a:schemeClr val="accent1"/>
                  </a:solidFill>
                </a:ln>
              </p:spPr>
            </p:sp>
            <p:sp>
              <p:nvSpPr>
                <p:cNvPr id="14" name="Freeform 14"/>
                <p:cNvSpPr/>
                <p:nvPr/>
              </p:nvSpPr>
              <p:spPr>
                <a:xfrm>
                  <a:off x="1047750" y="2152650"/>
                  <a:ext cx="76200" cy="1333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6200" h="133350">
                      <a:moveTo>
                        <a:pt x="66675" y="133350"/>
                      </a:moveTo>
                      <a:cubicBezTo>
                        <a:pt x="29851" y="133350"/>
                        <a:pt x="0" y="103499"/>
                        <a:pt x="0" y="66675"/>
                      </a:cubicBezTo>
                      <a:cubicBezTo>
                        <a:pt x="0" y="29851"/>
                        <a:pt x="29851" y="0"/>
                        <a:pt x="66675" y="0"/>
                      </a:cubicBezTo>
                      <a:lnTo>
                        <a:pt x="76200" y="0"/>
                      </a:lnTo>
                    </a:path>
                  </a:pathLst>
                </a:custGeom>
                <a:noFill/>
                <a:ln w="38100">
                  <a:solidFill>
                    <a:schemeClr val="accent1"/>
                  </a:solidFill>
                </a:ln>
              </p:spPr>
            </p:sp>
            <p:sp>
              <p:nvSpPr>
                <p:cNvPr id="15" name="Freeform 15"/>
                <p:cNvSpPr/>
                <p:nvPr/>
              </p:nvSpPr>
              <p:spPr>
                <a:xfrm>
                  <a:off x="1085850" y="2038350"/>
                  <a:ext cx="133350" cy="2571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3350" h="257175">
                      <a:moveTo>
                        <a:pt x="0" y="120015"/>
                      </a:moveTo>
                      <a:lnTo>
                        <a:pt x="0" y="66675"/>
                      </a:lnTo>
                      <a:cubicBezTo>
                        <a:pt x="0" y="29851"/>
                        <a:pt x="29851" y="0"/>
                        <a:pt x="66675" y="0"/>
                      </a:cubicBezTo>
                      <a:cubicBezTo>
                        <a:pt x="103499" y="0"/>
                        <a:pt x="133350" y="29851"/>
                        <a:pt x="133350" y="66675"/>
                      </a:cubicBezTo>
                      <a:lnTo>
                        <a:pt x="133350" y="257175"/>
                      </a:lnTo>
                    </a:path>
                  </a:pathLst>
                </a:custGeom>
                <a:noFill/>
                <a:ln w="38100">
                  <a:solidFill>
                    <a:schemeClr val="accent1"/>
                  </a:solidFill>
                </a:ln>
              </p:spPr>
            </p:sp>
          </p:grpSp>
          <p:sp>
            <p:nvSpPr>
              <p:cNvPr id="17" name="TextBox 17"/>
              <p:cNvSpPr txBox="1"/>
              <p:nvPr/>
            </p:nvSpPr>
            <p:spPr>
              <a:xfrm>
                <a:off x="1591056" y="2095500"/>
                <a:ext cx="585959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Тема</a:t>
                </a: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981456" y="2628900"/>
                <a:ext cx="2018752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что делает людей</a:t>
                </a:r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981456" y="2933700"/>
                <a:ext cx="1684889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счастливыми в</a:t>
                </a:r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981456" y="3238500"/>
                <a:ext cx="2084710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современном мире</a:t>
                </a:r>
              </a:p>
            </p:txBody>
          </p:sp>
        </p:grpSp>
        <p:grpSp>
          <p:nvGrpSpPr>
            <p:cNvPr id="28" name="p04-a2"/>
            <p:cNvGrpSpPr/>
            <p:nvPr/>
          </p:nvGrpSpPr>
          <p:grpSpPr>
            <a:xfrm>
              <a:off x="4476750" y="1714500"/>
              <a:ext cx="3429000" cy="2190750"/>
              <a:chOff x="4476750" y="1714500"/>
              <a:chExt cx="3429000" cy="2190750"/>
            </a:xfrm>
          </p:grpSpPr>
          <p:sp>
            <p:nvSpPr>
              <p:cNvPr id="22" name="Rectangle 22"/>
              <p:cNvSpPr/>
              <p:nvPr/>
            </p:nvSpPr>
            <p:spPr>
              <a:xfrm>
                <a:off x="4476750" y="1714500"/>
                <a:ext cx="3429000" cy="2190750"/>
              </a:xfrm>
              <a:prstGeom prst="roundRect">
                <a:avLst>
                  <a:gd name="adj" fmla="val 7826"/>
                </a:avLst>
              </a:prstGeom>
              <a:solidFill>
                <a:srgbClr val="FFFFFF">
                  <a:alpha val="85000"/>
                </a:srgbClr>
              </a:solidFill>
              <a:ln>
                <a:noFill/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4755904" y="2052513"/>
                <a:ext cx="355748" cy="309687"/>
              </a:xfrm>
              <a:custGeom>
                <a:avLst/>
                <a:gdLst/>
                <a:ahLst/>
                <a:cxnLst/>
                <a:rect l="l" t="t" r="r" b="b"/>
                <a:pathLst>
                  <a:path w="355748" h="309687">
                    <a:moveTo>
                      <a:pt x="320921" y="168184"/>
                    </a:moveTo>
                    <a:lnTo>
                      <a:pt x="178046" y="309687"/>
                    </a:lnTo>
                    <a:lnTo>
                      <a:pt x="35171" y="168184"/>
                    </a:lnTo>
                    <a:cubicBezTo>
                      <a:pt x="9479" y="143182"/>
                      <a:pt x="0" y="105872"/>
                      <a:pt x="10644" y="71639"/>
                    </a:cubicBezTo>
                    <a:cubicBezTo>
                      <a:pt x="21288" y="37406"/>
                      <a:pt x="50252" y="12049"/>
                      <a:pt x="85592" y="6024"/>
                    </a:cubicBezTo>
                    <a:cubicBezTo>
                      <a:pt x="120932" y="0"/>
                      <a:pt x="156661" y="14329"/>
                      <a:pt x="178046" y="43101"/>
                    </a:cubicBezTo>
                    <a:cubicBezTo>
                      <a:pt x="199521" y="14541"/>
                      <a:pt x="235174" y="403"/>
                      <a:pt x="270386" y="6484"/>
                    </a:cubicBezTo>
                    <a:cubicBezTo>
                      <a:pt x="305597" y="12565"/>
                      <a:pt x="334444" y="37842"/>
                      <a:pt x="345096" y="71950"/>
                    </a:cubicBezTo>
                    <a:cubicBezTo>
                      <a:pt x="355748" y="106058"/>
                      <a:pt x="346414" y="143259"/>
                      <a:pt x="320921" y="168298"/>
                    </a:cubicBezTo>
                  </a:path>
                </a:pathLst>
              </a:custGeom>
              <a:noFill/>
              <a:ln w="38100">
                <a:solidFill>
                  <a:srgbClr val="E74C3C"/>
                </a:solidFill>
              </a:ln>
            </p:spPr>
          </p:sp>
          <p:sp>
            <p:nvSpPr>
              <p:cNvPr id="24" name="TextBox 24"/>
              <p:cNvSpPr txBox="1"/>
              <p:nvPr/>
            </p:nvSpPr>
            <p:spPr>
              <a:xfrm>
                <a:off x="5305806" y="2095500"/>
                <a:ext cx="865834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Подход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4696206" y="2628900"/>
                <a:ext cx="1818163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научные данные</a:t>
                </a:r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4696206" y="2933700"/>
                <a:ext cx="1151794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и критика</a:t>
                </a:r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4696206" y="3238500"/>
                <a:ext cx="2751079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позитивной психологии</a:t>
                </a:r>
              </a:p>
            </p:txBody>
          </p:sp>
        </p:grpSp>
        <p:grpSp>
          <p:nvGrpSpPr>
            <p:cNvPr id="40" name="p04-a3"/>
            <p:cNvGrpSpPr/>
            <p:nvPr/>
          </p:nvGrpSpPr>
          <p:grpSpPr>
            <a:xfrm>
              <a:off x="8191500" y="1714500"/>
              <a:ext cx="3429000" cy="2190750"/>
              <a:chOff x="8191500" y="1714500"/>
              <a:chExt cx="3429000" cy="2190750"/>
            </a:xfrm>
          </p:grpSpPr>
          <p:sp>
            <p:nvSpPr>
              <p:cNvPr id="29" name="Rectangle 29"/>
              <p:cNvSpPr/>
              <p:nvPr/>
            </p:nvSpPr>
            <p:spPr>
              <a:xfrm>
                <a:off x="8191500" y="1714500"/>
                <a:ext cx="3429000" cy="2190750"/>
              </a:xfrm>
              <a:prstGeom prst="roundRect">
                <a:avLst>
                  <a:gd name="adj" fmla="val 7826"/>
                </a:avLst>
              </a:prstGeom>
              <a:solidFill>
                <a:srgbClr val="FFFFFF">
                  <a:alpha val="85000"/>
                </a:srgbClr>
              </a:solidFill>
              <a:ln>
                <a:noFill/>
              </a:ln>
            </p:spPr>
          </p:sp>
          <p:grpSp>
            <p:nvGrpSpPr>
              <p:cNvPr id="35" name="Group 35"/>
              <p:cNvGrpSpPr/>
              <p:nvPr/>
            </p:nvGrpSpPr>
            <p:grpSpPr>
              <a:xfrm>
                <a:off x="8477250" y="2064873"/>
                <a:ext cx="352425" cy="278277"/>
                <a:chOff x="8477250" y="2064873"/>
                <a:chExt cx="352425" cy="278277"/>
              </a:xfrm>
            </p:grpSpPr>
            <p:sp>
              <p:nvSpPr>
                <p:cNvPr id="30" name="Freeform 30"/>
                <p:cNvSpPr/>
                <p:nvPr/>
              </p:nvSpPr>
              <p:spPr>
                <a:xfrm>
                  <a:off x="8477250" y="2312523"/>
                  <a:ext cx="342900" cy="3062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2900" h="30627">
                      <a:moveTo>
                        <a:pt x="0" y="30627"/>
                      </a:moveTo>
                      <a:cubicBezTo>
                        <a:pt x="53047" y="0"/>
                        <a:pt x="118403" y="0"/>
                        <a:pt x="171450" y="30627"/>
                      </a:cubicBezTo>
                      <a:cubicBezTo>
                        <a:pt x="224497" y="0"/>
                        <a:pt x="289853" y="0"/>
                        <a:pt x="342900" y="30627"/>
                      </a:cubicBezTo>
                    </a:path>
                  </a:pathLst>
                </a:custGeom>
                <a:noFill/>
                <a:ln w="38100">
                  <a:solidFill>
                    <a:srgbClr val="27AE60"/>
                  </a:solidFill>
                </a:ln>
              </p:spPr>
            </p:sp>
            <p:sp>
              <p:nvSpPr>
                <p:cNvPr id="31" name="Freeform 31"/>
                <p:cNvSpPr/>
                <p:nvPr/>
              </p:nvSpPr>
              <p:spPr>
                <a:xfrm>
                  <a:off x="8477250" y="2064873"/>
                  <a:ext cx="342900" cy="3062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2900" h="30627">
                      <a:moveTo>
                        <a:pt x="0" y="30627"/>
                      </a:moveTo>
                      <a:cubicBezTo>
                        <a:pt x="53047" y="0"/>
                        <a:pt x="118403" y="0"/>
                        <a:pt x="171450" y="30627"/>
                      </a:cubicBezTo>
                      <a:cubicBezTo>
                        <a:pt x="224497" y="0"/>
                        <a:pt x="289853" y="0"/>
                        <a:pt x="342900" y="30627"/>
                      </a:cubicBezTo>
                    </a:path>
                  </a:pathLst>
                </a:custGeom>
                <a:noFill/>
                <a:ln w="38100">
                  <a:solidFill>
                    <a:srgbClr val="27AE60"/>
                  </a:solidFill>
                </a:ln>
              </p:spPr>
            </p:sp>
            <p:sp>
              <p:nvSpPr>
                <p:cNvPr id="32" name="Freeform 32"/>
                <p:cNvSpPr/>
                <p:nvPr/>
              </p:nvSpPr>
              <p:spPr>
                <a:xfrm>
                  <a:off x="8477250" y="2095500"/>
                  <a:ext cx="9525" cy="2476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247650">
                      <a:moveTo>
                        <a:pt x="0" y="0"/>
                      </a:moveTo>
                      <a:lnTo>
                        <a:pt x="0" y="247650"/>
                      </a:lnTo>
                    </a:path>
                  </a:pathLst>
                </a:custGeom>
                <a:noFill/>
                <a:ln w="38100">
                  <a:solidFill>
                    <a:srgbClr val="27AE60"/>
                  </a:solidFill>
                </a:ln>
              </p:spPr>
            </p:sp>
            <p:sp>
              <p:nvSpPr>
                <p:cNvPr id="33" name="Freeform 33"/>
                <p:cNvSpPr/>
                <p:nvPr/>
              </p:nvSpPr>
              <p:spPr>
                <a:xfrm>
                  <a:off x="8648700" y="2095500"/>
                  <a:ext cx="9525" cy="2476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247650">
                      <a:moveTo>
                        <a:pt x="0" y="0"/>
                      </a:moveTo>
                      <a:lnTo>
                        <a:pt x="0" y="247650"/>
                      </a:lnTo>
                    </a:path>
                  </a:pathLst>
                </a:custGeom>
                <a:noFill/>
                <a:ln w="38100">
                  <a:solidFill>
                    <a:srgbClr val="27AE60"/>
                  </a:solidFill>
                </a:ln>
              </p:spPr>
            </p:sp>
            <p:sp>
              <p:nvSpPr>
                <p:cNvPr id="34" name="Freeform 34"/>
                <p:cNvSpPr/>
                <p:nvPr/>
              </p:nvSpPr>
              <p:spPr>
                <a:xfrm>
                  <a:off x="8820150" y="2095500"/>
                  <a:ext cx="9525" cy="2476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247650">
                      <a:moveTo>
                        <a:pt x="0" y="0"/>
                      </a:moveTo>
                      <a:lnTo>
                        <a:pt x="0" y="247650"/>
                      </a:lnTo>
                    </a:path>
                  </a:pathLst>
                </a:custGeom>
                <a:noFill/>
                <a:ln w="38100">
                  <a:solidFill>
                    <a:srgbClr val="27AE60"/>
                  </a:solidFill>
                </a:ln>
              </p:spPr>
            </p:sp>
          </p:grpSp>
          <p:sp>
            <p:nvSpPr>
              <p:cNvPr id="36" name="TextBox 36"/>
              <p:cNvSpPr txBox="1"/>
              <p:nvPr/>
            </p:nvSpPr>
            <p:spPr>
              <a:xfrm>
                <a:off x="9020556" y="2095500"/>
                <a:ext cx="1493280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Что узнаете</a:t>
                </a: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8410956" y="2628900"/>
                <a:ext cx="1951437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факторы счастья</a:t>
                </a:r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8410956" y="2933700"/>
                <a:ext cx="1752204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и восемь шагов</a:t>
                </a:r>
              </a:p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8410956" y="3238500"/>
                <a:ext cx="1818163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к благополучию</a:t>
                </a:r>
              </a:p>
            </p:txBody>
          </p:sp>
        </p:grpSp>
        <p:grpSp>
          <p:nvGrpSpPr>
            <p:cNvPr id="52" name="p04-audience"/>
            <p:cNvGrpSpPr/>
            <p:nvPr/>
          </p:nvGrpSpPr>
          <p:grpSpPr>
            <a:xfrm>
              <a:off x="762000" y="4286250"/>
              <a:ext cx="10858500" cy="1628394"/>
              <a:chOff x="762000" y="4286250"/>
              <a:chExt cx="10858500" cy="1628394"/>
            </a:xfrm>
          </p:grpSpPr>
          <p:sp>
            <p:nvSpPr>
              <p:cNvPr id="41" name="Rectangle 41"/>
              <p:cNvSpPr/>
              <p:nvPr/>
            </p:nvSpPr>
            <p:spPr>
              <a:xfrm>
                <a:off x="762000" y="4286250"/>
                <a:ext cx="10858500" cy="1619250"/>
              </a:xfrm>
              <a:prstGeom prst="roundRect">
                <a:avLst>
                  <a:gd name="adj" fmla="val 10588"/>
                </a:avLst>
              </a:prstGeom>
              <a:solidFill>
                <a:schemeClr val="accent1">
                  <a:alpha val="12000"/>
                </a:schemeClr>
              </a:solidFill>
              <a:ln>
                <a:noFill/>
              </a:ln>
            </p:spPr>
          </p:sp>
          <p:grpSp>
            <p:nvGrpSpPr>
              <p:cNvPr id="48" name="Group 48"/>
              <p:cNvGrpSpPr/>
              <p:nvPr/>
            </p:nvGrpSpPr>
            <p:grpSpPr>
              <a:xfrm>
                <a:off x="1128713" y="4672013"/>
                <a:ext cx="371475" cy="371476"/>
                <a:chOff x="1128713" y="4672013"/>
                <a:chExt cx="371475" cy="371476"/>
              </a:xfrm>
            </p:grpSpPr>
            <p:sp>
              <p:nvSpPr>
                <p:cNvPr id="42" name="Freeform 42"/>
                <p:cNvSpPr/>
                <p:nvPr/>
              </p:nvSpPr>
              <p:spPr>
                <a:xfrm>
                  <a:off x="1273175" y="4837113"/>
                  <a:ext cx="82550" cy="825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2550" h="82550">
                      <a:moveTo>
                        <a:pt x="0" y="41275"/>
                      </a:moveTo>
                      <a:cubicBezTo>
                        <a:pt x="0" y="64071"/>
                        <a:pt x="18479" y="82550"/>
                        <a:pt x="41275" y="82550"/>
                      </a:cubicBezTo>
                      <a:cubicBezTo>
                        <a:pt x="64071" y="82550"/>
                        <a:pt x="82550" y="64071"/>
                        <a:pt x="82550" y="41275"/>
                      </a:cubicBezTo>
                      <a:cubicBezTo>
                        <a:pt x="82550" y="18479"/>
                        <a:pt x="64071" y="0"/>
                        <a:pt x="41275" y="0"/>
                      </a:cubicBezTo>
                      <a:cubicBezTo>
                        <a:pt x="18479" y="0"/>
                        <a:pt x="0" y="18479"/>
                        <a:pt x="0" y="41275"/>
                      </a:cubicBezTo>
                    </a:path>
                  </a:pathLst>
                </a:custGeom>
                <a:noFill/>
                <a:ln w="41275">
                  <a:solidFill>
                    <a:schemeClr val="accent1"/>
                  </a:solidFill>
                </a:ln>
              </p:spPr>
            </p:sp>
            <p:sp>
              <p:nvSpPr>
                <p:cNvPr id="43" name="Freeform 43"/>
                <p:cNvSpPr/>
                <p:nvPr/>
              </p:nvSpPr>
              <p:spPr>
                <a:xfrm>
                  <a:off x="1231900" y="4981576"/>
                  <a:ext cx="165100" cy="619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5100" h="61913">
                      <a:moveTo>
                        <a:pt x="0" y="61913"/>
                      </a:moveTo>
                      <a:lnTo>
                        <a:pt x="0" y="41275"/>
                      </a:lnTo>
                      <a:cubicBezTo>
                        <a:pt x="0" y="18479"/>
                        <a:pt x="18479" y="0"/>
                        <a:pt x="41275" y="0"/>
                      </a:cubicBezTo>
                      <a:lnTo>
                        <a:pt x="123825" y="0"/>
                      </a:lnTo>
                      <a:cubicBezTo>
                        <a:pt x="146621" y="0"/>
                        <a:pt x="165100" y="18479"/>
                        <a:pt x="165100" y="41275"/>
                      </a:cubicBezTo>
                      <a:lnTo>
                        <a:pt x="165100" y="61913"/>
                      </a:lnTo>
                    </a:path>
                  </a:pathLst>
                </a:custGeom>
                <a:noFill/>
                <a:ln w="41275">
                  <a:solidFill>
                    <a:schemeClr val="accent1"/>
                  </a:solidFill>
                </a:ln>
              </p:spPr>
            </p:sp>
            <p:sp>
              <p:nvSpPr>
                <p:cNvPr id="44" name="Freeform 44"/>
                <p:cNvSpPr/>
                <p:nvPr/>
              </p:nvSpPr>
              <p:spPr>
                <a:xfrm>
                  <a:off x="1376363" y="4672013"/>
                  <a:ext cx="82550" cy="825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2550" h="82550">
                      <a:moveTo>
                        <a:pt x="0" y="41275"/>
                      </a:moveTo>
                      <a:cubicBezTo>
                        <a:pt x="0" y="64071"/>
                        <a:pt x="18479" y="82550"/>
                        <a:pt x="41275" y="82550"/>
                      </a:cubicBezTo>
                      <a:cubicBezTo>
                        <a:pt x="64071" y="82550"/>
                        <a:pt x="82550" y="64071"/>
                        <a:pt x="82550" y="41275"/>
                      </a:cubicBezTo>
                      <a:cubicBezTo>
                        <a:pt x="82550" y="18479"/>
                        <a:pt x="64071" y="0"/>
                        <a:pt x="41275" y="0"/>
                      </a:cubicBezTo>
                      <a:cubicBezTo>
                        <a:pt x="18479" y="0"/>
                        <a:pt x="0" y="18479"/>
                        <a:pt x="0" y="41275"/>
                      </a:cubicBezTo>
                    </a:path>
                  </a:pathLst>
                </a:custGeom>
                <a:noFill/>
                <a:ln w="41275">
                  <a:solidFill>
                    <a:schemeClr val="accent1"/>
                  </a:solidFill>
                </a:ln>
              </p:spPr>
            </p:sp>
            <p:sp>
              <p:nvSpPr>
                <p:cNvPr id="45" name="Freeform 45"/>
                <p:cNvSpPr/>
                <p:nvPr/>
              </p:nvSpPr>
              <p:spPr>
                <a:xfrm>
                  <a:off x="1417638" y="4816475"/>
                  <a:ext cx="82550" cy="619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2550" h="61913">
                      <a:moveTo>
                        <a:pt x="0" y="0"/>
                      </a:moveTo>
                      <a:lnTo>
                        <a:pt x="41275" y="0"/>
                      </a:lnTo>
                      <a:cubicBezTo>
                        <a:pt x="64071" y="0"/>
                        <a:pt x="82550" y="18479"/>
                        <a:pt x="82550" y="41275"/>
                      </a:cubicBezTo>
                      <a:lnTo>
                        <a:pt x="82550" y="61913"/>
                      </a:lnTo>
                    </a:path>
                  </a:pathLst>
                </a:custGeom>
                <a:noFill/>
                <a:ln w="41275">
                  <a:solidFill>
                    <a:schemeClr val="accent1"/>
                  </a:solidFill>
                </a:ln>
              </p:spPr>
            </p:sp>
            <p:sp>
              <p:nvSpPr>
                <p:cNvPr id="46" name="Freeform 46"/>
                <p:cNvSpPr/>
                <p:nvPr/>
              </p:nvSpPr>
              <p:spPr>
                <a:xfrm>
                  <a:off x="1169988" y="4672013"/>
                  <a:ext cx="82550" cy="825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2550" h="82550">
                      <a:moveTo>
                        <a:pt x="0" y="41275"/>
                      </a:moveTo>
                      <a:cubicBezTo>
                        <a:pt x="0" y="64071"/>
                        <a:pt x="18479" y="82550"/>
                        <a:pt x="41275" y="82550"/>
                      </a:cubicBezTo>
                      <a:cubicBezTo>
                        <a:pt x="64071" y="82550"/>
                        <a:pt x="82550" y="64071"/>
                        <a:pt x="82550" y="41275"/>
                      </a:cubicBezTo>
                      <a:cubicBezTo>
                        <a:pt x="82550" y="18479"/>
                        <a:pt x="64071" y="0"/>
                        <a:pt x="41275" y="0"/>
                      </a:cubicBezTo>
                      <a:cubicBezTo>
                        <a:pt x="18479" y="0"/>
                        <a:pt x="0" y="18479"/>
                        <a:pt x="0" y="41275"/>
                      </a:cubicBezTo>
                    </a:path>
                  </a:pathLst>
                </a:custGeom>
                <a:noFill/>
                <a:ln w="41275">
                  <a:solidFill>
                    <a:schemeClr val="accent1"/>
                  </a:solidFill>
                </a:ln>
              </p:spPr>
            </p:sp>
            <p:sp>
              <p:nvSpPr>
                <p:cNvPr id="47" name="Freeform 47"/>
                <p:cNvSpPr/>
                <p:nvPr/>
              </p:nvSpPr>
              <p:spPr>
                <a:xfrm>
                  <a:off x="1128713" y="4816475"/>
                  <a:ext cx="82550" cy="619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2550" h="61913">
                      <a:moveTo>
                        <a:pt x="0" y="61913"/>
                      </a:moveTo>
                      <a:lnTo>
                        <a:pt x="0" y="41275"/>
                      </a:lnTo>
                      <a:cubicBezTo>
                        <a:pt x="0" y="18479"/>
                        <a:pt x="18479" y="0"/>
                        <a:pt x="41275" y="0"/>
                      </a:cubicBezTo>
                      <a:lnTo>
                        <a:pt x="82550" y="0"/>
                      </a:lnTo>
                    </a:path>
                  </a:pathLst>
                </a:custGeom>
                <a:noFill/>
                <a:ln w="41275">
                  <a:solidFill>
                    <a:schemeClr val="accent1"/>
                  </a:solidFill>
                </a:ln>
              </p:spPr>
            </p:sp>
          </p:grpSp>
          <p:sp>
            <p:nvSpPr>
              <p:cNvPr id="49" name="TextBox 49"/>
              <p:cNvSpPr txBox="1"/>
              <p:nvPr/>
            </p:nvSpPr>
            <p:spPr>
              <a:xfrm>
                <a:off x="1743456" y="4743450"/>
                <a:ext cx="1073631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Для кого</a:t>
                </a:r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1057656" y="5257800"/>
                <a:ext cx="7427790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Учебная презентация для преподавателей колледжа и комиссии.</a:t>
                </a:r>
              </a:p>
            </p:txBody>
          </p:sp>
          <p:sp>
            <p:nvSpPr>
              <p:cNvPr id="51" name="TextBox 51"/>
              <p:cNvSpPr txBox="1"/>
              <p:nvPr/>
            </p:nvSpPr>
            <p:spPr>
              <a:xfrm>
                <a:off x="1057656" y="5562600"/>
                <a:ext cx="5910710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dirty="0">
                    <a:solidFill>
                      <a:srgbClr val="5D6D7E"/>
                    </a:solidFill>
                    <a:latin typeface="+mn-lt"/>
                    <a:ea typeface="+mn-ea"/>
                    <a:cs typeface="+mn-cs"/>
                  </a:rPr>
                  <a:t>Основана на исследованиях Селигмана и Канемана.</a:t>
                </a:r>
              </a:p>
            </p:txBody>
          </p:sp>
        </p:grpSp>
      </p:grpSp>
      <p:sp>
        <p:nvSpPr>
          <p:cNvPr id="54" name="credit"/>
          <p:cNvSpPr txBox="1"/>
          <p:nvPr/>
        </p:nvSpPr>
        <p:spPr>
          <a:xfrm>
            <a:off x="753618" y="6578600"/>
            <a:ext cx="3937125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650" dirty="0">
                <a:solidFill>
                  <a:srgbClr val="7F8C8D"/>
                </a:solidFill>
                <a:latin typeface="+mn-lt"/>
                <a:ea typeface="+mn-ea"/>
                <a:cs typeface="+mn-cs"/>
              </a:rPr>
              <a:t>© Shixart1985 / Wikimedia / CC BY 2.0</a:t>
            </a:r>
          </a:p>
        </p:txBody>
      </p:sp>
      <p:pic>
        <p:nvPicPr>
          <p:cNvPr id="55" name="PPT Master narration: narration4.mp3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2" fill="hold" display="0">
                  <p:stCondLst>
                    <p:cond delay="300"/>
                  </p:stCondLst>
                </p:cTn>
                <p:tgtEl>
                  <p:spTgt spid="55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4"/>
          <p:cNvPicPr>
            <a:picLocks noChangeAspect="1"/>
          </p:cNvPicPr>
          <p:nvPr/>
        </p:nvPicPr>
        <p:blipFill>
          <a:blip r:embed="rId2"/>
          <a:srcRect l="0" t="14932" r="0" b="1493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4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88000"/>
                </a:srgbClr>
              </a:gs>
              <a:gs pos="100000">
                <a:srgbClr val="F5E6D3">
                  <a:alpha val="88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p04-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E74C3C"/>
          </a:solidFill>
          <a:ln>
            <a:noFill/>
          </a:ln>
        </p:spPr>
      </p:sp>
      <p:sp>
        <p:nvSpPr>
          <p:cNvPr id="5" name="p04-foot"/>
          <p:cNvSpPr txBox="1"/>
          <p:nvPr/>
        </p:nvSpPr>
        <p:spPr>
          <a:xfrm>
            <a:off x="752856" y="6343650"/>
            <a:ext cx="3078699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ru" sz="180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Концепция счастья · ИС-24</a:t>
            </a:r>
          </a:p>
        </p:txBody>
      </p:sp>
      <p:sp>
        <p:nvSpPr>
          <p:cNvPr id="6" name="p04-num"/>
          <p:cNvSpPr txBox="1"/>
          <p:nvPr/>
        </p:nvSpPr>
        <p:spPr>
          <a:xfrm>
            <a:off x="11151304" y="6343650"/>
            <a:ext cx="287840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80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05</a:t>
            </a:r>
          </a:p>
        </p:txBody>
      </p:sp>
      <p:grpSp>
        <p:nvGrpSpPr>
          <p:cNvPr id="9" name="p04-title"/>
          <p:cNvGrpSpPr/>
          <p:nvPr/>
        </p:nvGrpSpPr>
        <p:grpSpPr>
          <a:xfrm>
            <a:off x="743712" y="527050"/>
            <a:ext cx="8074764" cy="967994"/>
            <a:chOff x="743712" y="527050"/>
            <a:chExt cx="8074764" cy="967994"/>
          </a:xfrm>
        </p:grpSpPr>
        <p:sp>
          <p:nvSpPr>
            <p:cNvPr id="7" name="TextBox 7"/>
            <p:cNvSpPr txBox="1"/>
            <p:nvPr/>
          </p:nvSpPr>
          <p:spPr>
            <a:xfrm>
              <a:off x="743712" y="527050"/>
              <a:ext cx="8074764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Депрессия растёт — счастье нет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52856" y="1143000"/>
              <a:ext cx="694847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Литературы о счастье всё больше. Счастливых людей — нет.</a:t>
              </a:r>
            </a:p>
          </p:txBody>
        </p:sp>
      </p:grpSp>
      <p:grpSp>
        <p:nvGrpSpPr>
          <p:cNvPr id="21" name="p04-depression"/>
          <p:cNvGrpSpPr/>
          <p:nvPr/>
        </p:nvGrpSpPr>
        <p:grpSpPr>
          <a:xfrm>
            <a:off x="762000" y="1762125"/>
            <a:ext cx="5143500" cy="3810000"/>
            <a:chOff x="762000" y="1762125"/>
            <a:chExt cx="5143500" cy="3810000"/>
          </a:xfrm>
        </p:grpSpPr>
        <p:sp>
          <p:nvSpPr>
            <p:cNvPr id="10" name="Rectangle 10"/>
            <p:cNvSpPr/>
            <p:nvPr/>
          </p:nvSpPr>
          <p:spPr>
            <a:xfrm>
              <a:off x="762000" y="1762125"/>
              <a:ext cx="5143500" cy="3810000"/>
            </a:xfrm>
            <a:prstGeom prst="roundRect">
              <a:avLst>
                <a:gd name="adj" fmla="val 4000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38606" y="1962150"/>
              <a:ext cx="366408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E74C3C"/>
                  </a:solidFill>
                  <a:latin typeface="+mn-lt"/>
                  <a:ea typeface="+mn-ea"/>
                  <a:cs typeface="+mn-cs"/>
                </a:rPr>
                <a:t>Депрессия, США: 8,2% → 13,1%</a:t>
              </a:r>
            </a:p>
          </p:txBody>
        </p:sp>
        <p:sp>
          <p:nvSpPr>
            <p:cNvPr id="12" name="Line 12"/>
            <p:cNvSpPr/>
            <p:nvPr/>
          </p:nvSpPr>
          <p:spPr>
            <a:xfrm>
              <a:off x="1333500" y="2552700"/>
              <a:ext cx="9525" cy="2286000"/>
            </a:xfrm>
            <a:custGeom>
              <a:avLst/>
              <a:gdLst/>
              <a:ahLst/>
              <a:cxnLst/>
              <a:rect l="l" t="t" r="r" b="b"/>
              <a:pathLst>
                <a:path w="9525" h="2286000">
                  <a:moveTo>
                    <a:pt x="0" y="0"/>
                  </a:moveTo>
                  <a:lnTo>
                    <a:pt x="0" y="228600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13" name="Line 13"/>
            <p:cNvSpPr/>
            <p:nvPr/>
          </p:nvSpPr>
          <p:spPr>
            <a:xfrm>
              <a:off x="1333500" y="4838700"/>
              <a:ext cx="4286250" cy="9525"/>
            </a:xfrm>
            <a:custGeom>
              <a:avLst/>
              <a:gdLst/>
              <a:ahLst/>
              <a:cxnLst/>
              <a:rect l="l" t="t" r="r" b="b"/>
              <a:pathLst>
                <a:path w="4286250" h="9525">
                  <a:moveTo>
                    <a:pt x="0" y="0"/>
                  </a:moveTo>
                  <a:lnTo>
                    <a:pt x="4286250" y="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14" name="Polyline 14"/>
            <p:cNvSpPr/>
            <p:nvPr/>
          </p:nvSpPr>
          <p:spPr>
            <a:xfrm>
              <a:off x="1333500" y="2705100"/>
              <a:ext cx="4191000" cy="1924050"/>
            </a:xfrm>
            <a:custGeom>
              <a:avLst/>
              <a:gdLst/>
              <a:ahLst/>
              <a:cxnLst/>
              <a:rect l="l" t="t" r="r" b="b"/>
              <a:pathLst>
                <a:path w="4191000" h="1924050">
                  <a:moveTo>
                    <a:pt x="0" y="1924050"/>
                  </a:moveTo>
                  <a:lnTo>
                    <a:pt x="857250" y="1657350"/>
                  </a:lnTo>
                  <a:lnTo>
                    <a:pt x="1714500" y="1276350"/>
                  </a:lnTo>
                  <a:lnTo>
                    <a:pt x="2571750" y="838200"/>
                  </a:lnTo>
                  <a:lnTo>
                    <a:pt x="3429000" y="323850"/>
                  </a:lnTo>
                  <a:lnTo>
                    <a:pt x="4191000" y="0"/>
                  </a:lnTo>
                </a:path>
              </a:pathLst>
            </a:custGeom>
            <a:noFill/>
            <a:ln w="57150">
              <a:solidFill>
                <a:srgbClr val="E74C3C"/>
              </a:solidFill>
            </a:ln>
          </p:spPr>
        </p:sp>
        <p:sp>
          <p:nvSpPr>
            <p:cNvPr id="15" name="Ellipse 15"/>
            <p:cNvSpPr/>
            <p:nvPr/>
          </p:nvSpPr>
          <p:spPr>
            <a:xfrm>
              <a:off x="5438775" y="2619375"/>
              <a:ext cx="171450" cy="171450"/>
            </a:xfrm>
            <a:prstGeom prst="ellipse">
              <a:avLst/>
            </a:prstGeom>
            <a:solidFill>
              <a:srgbClr val="E74C3C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1210056" y="2514600"/>
              <a:ext cx="50330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15%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210056" y="4610100"/>
              <a:ext cx="36853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0%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19606" y="4876800"/>
              <a:ext cx="55739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2013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134356" y="4876800"/>
              <a:ext cx="55739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2023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38606" y="5200650"/>
              <a:ext cx="295105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Ось Y: доля населения, %</a:t>
              </a:r>
            </a:p>
          </p:txBody>
        </p:sp>
      </p:grpSp>
      <p:grpSp>
        <p:nvGrpSpPr>
          <p:cNvPr id="33" name="p04-happiness"/>
          <p:cNvGrpSpPr/>
          <p:nvPr/>
        </p:nvGrpSpPr>
        <p:grpSpPr>
          <a:xfrm>
            <a:off x="6286500" y="1762125"/>
            <a:ext cx="5143500" cy="3810000"/>
            <a:chOff x="6286500" y="1762125"/>
            <a:chExt cx="5143500" cy="3810000"/>
          </a:xfrm>
        </p:grpSpPr>
        <p:sp>
          <p:nvSpPr>
            <p:cNvPr id="22" name="Rectangle 22"/>
            <p:cNvSpPr/>
            <p:nvPr/>
          </p:nvSpPr>
          <p:spPr>
            <a:xfrm>
              <a:off x="6286500" y="1762125"/>
              <a:ext cx="5143500" cy="3810000"/>
            </a:xfrm>
            <a:prstGeom prst="roundRect">
              <a:avLst>
                <a:gd name="adj" fmla="val 4000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563106" y="1962150"/>
              <a:ext cx="299074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Индекс счастья — плато</a:t>
              </a:r>
            </a:p>
          </p:txBody>
        </p:sp>
        <p:sp>
          <p:nvSpPr>
            <p:cNvPr id="24" name="Line 24"/>
            <p:cNvSpPr/>
            <p:nvPr/>
          </p:nvSpPr>
          <p:spPr>
            <a:xfrm>
              <a:off x="6858000" y="2552700"/>
              <a:ext cx="9525" cy="2286000"/>
            </a:xfrm>
            <a:custGeom>
              <a:avLst/>
              <a:gdLst/>
              <a:ahLst/>
              <a:cxnLst/>
              <a:rect l="l" t="t" r="r" b="b"/>
              <a:pathLst>
                <a:path w="9525" h="2286000">
                  <a:moveTo>
                    <a:pt x="0" y="0"/>
                  </a:moveTo>
                  <a:lnTo>
                    <a:pt x="0" y="228600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25" name="Line 25"/>
            <p:cNvSpPr/>
            <p:nvPr/>
          </p:nvSpPr>
          <p:spPr>
            <a:xfrm>
              <a:off x="6858000" y="4838700"/>
              <a:ext cx="4286250" cy="9525"/>
            </a:xfrm>
            <a:custGeom>
              <a:avLst/>
              <a:gdLst/>
              <a:ahLst/>
              <a:cxnLst/>
              <a:rect l="l" t="t" r="r" b="b"/>
              <a:pathLst>
                <a:path w="4286250" h="9525">
                  <a:moveTo>
                    <a:pt x="0" y="0"/>
                  </a:moveTo>
                  <a:lnTo>
                    <a:pt x="4286250" y="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26" name="Polyline 26"/>
            <p:cNvSpPr/>
            <p:nvPr/>
          </p:nvSpPr>
          <p:spPr>
            <a:xfrm>
              <a:off x="6858000" y="3524250"/>
              <a:ext cx="4191000" cy="95250"/>
            </a:xfrm>
            <a:custGeom>
              <a:avLst/>
              <a:gdLst/>
              <a:ahLst/>
              <a:cxnLst/>
              <a:rect l="l" t="t" r="r" b="b"/>
              <a:pathLst>
                <a:path w="4191000" h="95250">
                  <a:moveTo>
                    <a:pt x="0" y="76200"/>
                  </a:moveTo>
                  <a:lnTo>
                    <a:pt x="857250" y="0"/>
                  </a:lnTo>
                  <a:lnTo>
                    <a:pt x="1714500" y="95250"/>
                  </a:lnTo>
                  <a:lnTo>
                    <a:pt x="2571750" y="19050"/>
                  </a:lnTo>
                  <a:lnTo>
                    <a:pt x="3429000" y="76200"/>
                  </a:lnTo>
                  <a:lnTo>
                    <a:pt x="4191000" y="38100"/>
                  </a:lnTo>
                </a:path>
              </a:pathLst>
            </a:custGeom>
            <a:noFill/>
            <a:ln w="57150">
              <a:solidFill>
                <a:schemeClr val="accent1"/>
              </a:solidFill>
            </a:ln>
          </p:spPr>
        </p:sp>
        <p:sp>
          <p:nvSpPr>
            <p:cNvPr id="27" name="Ellipse 27"/>
            <p:cNvSpPr/>
            <p:nvPr/>
          </p:nvSpPr>
          <p:spPr>
            <a:xfrm>
              <a:off x="10963275" y="3476625"/>
              <a:ext cx="171450" cy="1714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734556" y="2514600"/>
              <a:ext cx="15306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8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734556" y="4610100"/>
              <a:ext cx="15306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0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944106" y="4876800"/>
              <a:ext cx="55739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2005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10468356" y="4876800"/>
              <a:ext cx="55739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2025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563106" y="5200650"/>
              <a:ext cx="314397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Ось Y: баллы индекса, 0–10</a:t>
              </a:r>
            </a:p>
          </p:txBody>
        </p:sp>
      </p:grpSp>
      <p:grpSp>
        <p:nvGrpSpPr>
          <p:cNvPr id="38" name="p04-quote"/>
          <p:cNvGrpSpPr/>
          <p:nvPr/>
        </p:nvGrpSpPr>
        <p:grpSpPr>
          <a:xfrm>
            <a:off x="993775" y="5905500"/>
            <a:ext cx="7654547" cy="352044"/>
            <a:chOff x="993775" y="5905500"/>
            <a:chExt cx="7654547" cy="352044"/>
          </a:xfrm>
        </p:grpSpPr>
        <p:grpSp>
          <p:nvGrpSpPr>
            <p:cNvPr id="36" name="Group 36"/>
            <p:cNvGrpSpPr/>
            <p:nvPr/>
          </p:nvGrpSpPr>
          <p:grpSpPr>
            <a:xfrm>
              <a:off x="993775" y="5924550"/>
              <a:ext cx="222250" cy="190500"/>
              <a:chOff x="993775" y="5924550"/>
              <a:chExt cx="222250" cy="190500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993775" y="5924550"/>
                <a:ext cx="79375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79375" h="190500">
                    <a:moveTo>
                      <a:pt x="79375" y="79375"/>
                    </a:moveTo>
                    <a:lnTo>
                      <a:pt x="15875" y="79375"/>
                    </a:lnTo>
                    <a:cubicBezTo>
                      <a:pt x="7107" y="79375"/>
                      <a:pt x="0" y="72268"/>
                      <a:pt x="0" y="635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63500" y="0"/>
                    </a:lnTo>
                    <a:cubicBezTo>
                      <a:pt x="72268" y="0"/>
                      <a:pt x="79375" y="7107"/>
                      <a:pt x="79375" y="15875"/>
                    </a:cubicBezTo>
                    <a:lnTo>
                      <a:pt x="79375" y="111125"/>
                    </a:lnTo>
                    <a:cubicBezTo>
                      <a:pt x="79375" y="153464"/>
                      <a:pt x="58214" y="179912"/>
                      <a:pt x="15875" y="190500"/>
                    </a:cubicBezTo>
                  </a:path>
                </a:pathLst>
              </a:custGeom>
              <a:noFill/>
              <a:ln w="31750">
                <a:solidFill>
                  <a:srgbClr val="E67E22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1136650" y="5924550"/>
                <a:ext cx="79375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79375" h="190500">
                    <a:moveTo>
                      <a:pt x="79375" y="79375"/>
                    </a:moveTo>
                    <a:lnTo>
                      <a:pt x="15875" y="79375"/>
                    </a:lnTo>
                    <a:cubicBezTo>
                      <a:pt x="7107" y="79375"/>
                      <a:pt x="0" y="72268"/>
                      <a:pt x="0" y="63500"/>
                    </a:cubicBezTo>
                    <a:lnTo>
                      <a:pt x="0" y="15875"/>
                    </a:lnTo>
                    <a:cubicBezTo>
                      <a:pt x="0" y="7107"/>
                      <a:pt x="7107" y="0"/>
                      <a:pt x="15875" y="0"/>
                    </a:cubicBezTo>
                    <a:lnTo>
                      <a:pt x="63500" y="0"/>
                    </a:lnTo>
                    <a:cubicBezTo>
                      <a:pt x="72268" y="0"/>
                      <a:pt x="79375" y="7107"/>
                      <a:pt x="79375" y="15875"/>
                    </a:cubicBezTo>
                    <a:lnTo>
                      <a:pt x="79375" y="111125"/>
                    </a:lnTo>
                    <a:cubicBezTo>
                      <a:pt x="79375" y="153464"/>
                      <a:pt x="58214" y="179912"/>
                      <a:pt x="15875" y="190500"/>
                    </a:cubicBezTo>
                  </a:path>
                </a:pathLst>
              </a:custGeom>
              <a:noFill/>
              <a:ln w="31750">
                <a:solidFill>
                  <a:srgbClr val="E67E22"/>
                </a:solidFill>
              </a:ln>
            </p:spPr>
          </p:sp>
        </p:grpSp>
        <p:sp>
          <p:nvSpPr>
            <p:cNvPr id="37" name="TextBox 37"/>
            <p:cNvSpPr txBox="1"/>
            <p:nvPr/>
          </p:nvSpPr>
          <p:spPr>
            <a:xfrm>
              <a:off x="1438656" y="5905500"/>
              <a:ext cx="720966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i="1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Аристотель: счастье — «хороший удел», а не случайная удача</a:t>
              </a:r>
            </a:p>
          </p:txBody>
        </p:sp>
      </p:grpSp>
      <p:pic>
        <p:nvPicPr>
          <p:cNvPr id="39" name="PPT Master narration: narration5.mp3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4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6" fill="hold" display="0">
                  <p:stCondLst>
                    <p:cond delay="300"/>
                  </p:stCondLst>
                </p:cTn>
                <p:tgtEl>
                  <p:spTgt spid="39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5"/>
          <p:cNvPicPr>
            <a:picLocks noChangeAspect="1"/>
          </p:cNvPicPr>
          <p:nvPr/>
        </p:nvPicPr>
        <p:blipFill>
          <a:blip r:embed="rId2"/>
          <a:srcRect l="0" t="17056" r="0" b="1705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5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88000"/>
                </a:srgbClr>
              </a:gs>
              <a:gs pos="100000">
                <a:srgbClr val="F5E6D3">
                  <a:alpha val="88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p05-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sp>
        <p:nvSpPr>
          <p:cNvPr id="5" name="p05-foot"/>
          <p:cNvSpPr txBox="1"/>
          <p:nvPr/>
        </p:nvSpPr>
        <p:spPr>
          <a:xfrm>
            <a:off x="752856" y="6553200"/>
            <a:ext cx="3078699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ru" sz="180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Концепция счастья · ИС-24</a:t>
            </a:r>
          </a:p>
        </p:txBody>
      </p:sp>
      <p:sp>
        <p:nvSpPr>
          <p:cNvPr id="6" name="p05-num"/>
          <p:cNvSpPr txBox="1"/>
          <p:nvPr/>
        </p:nvSpPr>
        <p:spPr>
          <a:xfrm>
            <a:off x="11151304" y="6553200"/>
            <a:ext cx="287840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80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06</a:t>
            </a:r>
          </a:p>
        </p:txBody>
      </p:sp>
      <p:grpSp>
        <p:nvGrpSpPr>
          <p:cNvPr id="8" name="p05-title"/>
          <p:cNvGrpSpPr/>
          <p:nvPr/>
        </p:nvGrpSpPr>
        <p:grpSpPr>
          <a:xfrm>
            <a:off x="743712" y="565150"/>
            <a:ext cx="8011544" cy="704088"/>
            <a:chOff x="743712" y="565150"/>
            <a:chExt cx="8011544" cy="704088"/>
          </a:xfrm>
        </p:grpSpPr>
        <p:sp>
          <p:nvSpPr>
            <p:cNvPr id="7" name="TextBox 7"/>
            <p:cNvSpPr txBox="1"/>
            <p:nvPr/>
          </p:nvSpPr>
          <p:spPr>
            <a:xfrm>
              <a:off x="743712" y="565150"/>
              <a:ext cx="8011544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Счастье = оценка жизни + эмоции</a:t>
              </a:r>
            </a:p>
          </p:txBody>
        </p:sp>
      </p:grpSp>
      <p:grpSp>
        <p:nvGrpSpPr>
          <p:cNvPr id="25" name="p05-venn"/>
          <p:cNvGrpSpPr/>
          <p:nvPr/>
        </p:nvGrpSpPr>
        <p:grpSpPr>
          <a:xfrm>
            <a:off x="3095625" y="1952625"/>
            <a:ext cx="6676465" cy="2762250"/>
            <a:chOff x="3095625" y="1952625"/>
            <a:chExt cx="6676465" cy="2762250"/>
          </a:xfrm>
        </p:grpSpPr>
        <p:sp>
          <p:nvSpPr>
            <p:cNvPr id="9" name="Ellipse 9"/>
            <p:cNvSpPr/>
            <p:nvPr/>
          </p:nvSpPr>
          <p:spPr>
            <a:xfrm>
              <a:off x="3095625" y="1952625"/>
              <a:ext cx="2762250" cy="2762250"/>
            </a:xfrm>
            <a:prstGeom prst="ellipse">
              <a:avLst/>
            </a:prstGeom>
            <a:solidFill>
              <a:schemeClr val="accent1">
                <a:alpha val="16000"/>
              </a:schemeClr>
            </a:solidFill>
            <a:ln w="28575">
              <a:solidFill>
                <a:schemeClr val="accent1"/>
              </a:solidFill>
            </a:ln>
          </p:spPr>
        </p:sp>
        <p:sp>
          <p:nvSpPr>
            <p:cNvPr id="10" name="Ellipse 10"/>
            <p:cNvSpPr/>
            <p:nvPr/>
          </p:nvSpPr>
          <p:spPr>
            <a:xfrm>
              <a:off x="6334125" y="1952625"/>
              <a:ext cx="2762250" cy="2762250"/>
            </a:xfrm>
            <a:prstGeom prst="ellipse">
              <a:avLst/>
            </a:prstGeom>
            <a:solidFill>
              <a:srgbClr val="E67E22">
                <a:alpha val="16000"/>
              </a:srgbClr>
            </a:solidFill>
            <a:ln w="28575">
              <a:solidFill>
                <a:srgbClr val="E67E22"/>
              </a:solidFill>
            </a:ln>
          </p:spPr>
        </p:sp>
        <p:grpSp>
          <p:nvGrpSpPr>
            <p:cNvPr id="16" name="Group 16"/>
            <p:cNvGrpSpPr/>
            <p:nvPr/>
          </p:nvGrpSpPr>
          <p:grpSpPr>
            <a:xfrm>
              <a:off x="3195637" y="2319337"/>
              <a:ext cx="314325" cy="306387"/>
              <a:chOff x="3195637" y="2319337"/>
              <a:chExt cx="314325" cy="306387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3265487" y="2616199"/>
                <a:ext cx="1746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625" h="9525">
                    <a:moveTo>
                      <a:pt x="0" y="0"/>
                    </a:moveTo>
                    <a:lnTo>
                      <a:pt x="174625" y="0"/>
                    </a:ln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  <p:sp>
            <p:nvSpPr>
              <p:cNvPr id="12" name="Freeform 12"/>
              <p:cNvSpPr/>
              <p:nvPr/>
            </p:nvSpPr>
            <p:spPr>
              <a:xfrm>
                <a:off x="3248025" y="2354262"/>
                <a:ext cx="209550" cy="17462"/>
              </a:xfrm>
              <a:custGeom>
                <a:avLst/>
                <a:gdLst/>
                <a:ahLst/>
                <a:cxnLst/>
                <a:rect l="l" t="t" r="r" b="b"/>
                <a:pathLst>
                  <a:path w="209550" h="17462">
                    <a:moveTo>
                      <a:pt x="0" y="17462"/>
                    </a:moveTo>
                    <a:lnTo>
                      <a:pt x="104775" y="0"/>
                    </a:lnTo>
                    <a:lnTo>
                      <a:pt x="209550" y="17462"/>
                    </a:ln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3352800" y="2319337"/>
                <a:ext cx="9525" cy="296862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96862">
                    <a:moveTo>
                      <a:pt x="0" y="0"/>
                    </a:moveTo>
                    <a:lnTo>
                      <a:pt x="0" y="296862"/>
                    </a:ln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3195637" y="2371725"/>
                <a:ext cx="104775" cy="157162"/>
              </a:xfrm>
              <a:custGeom>
                <a:avLst/>
                <a:gdLst/>
                <a:ahLst/>
                <a:cxnLst/>
                <a:rect l="l" t="t" r="r" b="b"/>
                <a:pathLst>
                  <a:path w="104775" h="157162">
                    <a:moveTo>
                      <a:pt x="104775" y="104775"/>
                    </a:moveTo>
                    <a:lnTo>
                      <a:pt x="52387" y="0"/>
                    </a:lnTo>
                    <a:lnTo>
                      <a:pt x="0" y="104775"/>
                    </a:lnTo>
                    <a:cubicBezTo>
                      <a:pt x="0" y="133708"/>
                      <a:pt x="23455" y="157162"/>
                      <a:pt x="52387" y="157162"/>
                    </a:cubicBezTo>
                    <a:cubicBezTo>
                      <a:pt x="81320" y="157162"/>
                      <a:pt x="104775" y="133708"/>
                      <a:pt x="104775" y="104775"/>
                    </a:cubicBez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  <p:sp>
            <p:nvSpPr>
              <p:cNvPr id="15" name="Freeform 15"/>
              <p:cNvSpPr/>
              <p:nvPr/>
            </p:nvSpPr>
            <p:spPr>
              <a:xfrm>
                <a:off x="3405187" y="2371725"/>
                <a:ext cx="104775" cy="157162"/>
              </a:xfrm>
              <a:custGeom>
                <a:avLst/>
                <a:gdLst/>
                <a:ahLst/>
                <a:cxnLst/>
                <a:rect l="l" t="t" r="r" b="b"/>
                <a:pathLst>
                  <a:path w="104775" h="157162">
                    <a:moveTo>
                      <a:pt x="104775" y="104775"/>
                    </a:moveTo>
                    <a:lnTo>
                      <a:pt x="52387" y="0"/>
                    </a:lnTo>
                    <a:lnTo>
                      <a:pt x="0" y="104775"/>
                    </a:lnTo>
                    <a:cubicBezTo>
                      <a:pt x="0" y="133708"/>
                      <a:pt x="23455" y="157162"/>
                      <a:pt x="52387" y="157162"/>
                    </a:cubicBezTo>
                    <a:cubicBezTo>
                      <a:pt x="81320" y="157162"/>
                      <a:pt x="104775" y="133708"/>
                      <a:pt x="104775" y="104775"/>
                    </a:cubicBez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</p:grpSp>
        <p:sp>
          <p:nvSpPr>
            <p:cNvPr id="17" name="TextBox 17"/>
            <p:cNvSpPr txBox="1"/>
            <p:nvPr/>
          </p:nvSpPr>
          <p:spPr>
            <a:xfrm>
              <a:off x="3667506" y="2343150"/>
              <a:ext cx="156552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Когнитивный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229356" y="2705100"/>
              <a:ext cx="155161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оценка жизни</a:t>
              </a:r>
            </a:p>
          </p:txBody>
        </p:sp>
        <p:sp>
          <p:nvSpPr>
            <p:cNvPr id="19" name="Freeform 19"/>
            <p:cNvSpPr/>
            <p:nvPr/>
          </p:nvSpPr>
          <p:spPr>
            <a:xfrm>
              <a:off x="8428341" y="2332320"/>
              <a:ext cx="326102" cy="283879"/>
            </a:xfrm>
            <a:custGeom>
              <a:avLst/>
              <a:gdLst/>
              <a:ahLst/>
              <a:cxnLst/>
              <a:rect l="l" t="t" r="r" b="b"/>
              <a:pathLst>
                <a:path w="326102" h="283879">
                  <a:moveTo>
                    <a:pt x="294177" y="154168"/>
                  </a:moveTo>
                  <a:lnTo>
                    <a:pt x="163209" y="283879"/>
                  </a:lnTo>
                  <a:lnTo>
                    <a:pt x="32240" y="154168"/>
                  </a:lnTo>
                  <a:cubicBezTo>
                    <a:pt x="8689" y="131250"/>
                    <a:pt x="0" y="97049"/>
                    <a:pt x="9757" y="65669"/>
                  </a:cubicBezTo>
                  <a:cubicBezTo>
                    <a:pt x="19514" y="34289"/>
                    <a:pt x="46065" y="11045"/>
                    <a:pt x="78459" y="5522"/>
                  </a:cubicBezTo>
                  <a:cubicBezTo>
                    <a:pt x="110854" y="0"/>
                    <a:pt x="143606" y="13135"/>
                    <a:pt x="163209" y="39510"/>
                  </a:cubicBezTo>
                  <a:cubicBezTo>
                    <a:pt x="182894" y="13330"/>
                    <a:pt x="215576" y="369"/>
                    <a:pt x="247853" y="5944"/>
                  </a:cubicBezTo>
                  <a:cubicBezTo>
                    <a:pt x="280130" y="11518"/>
                    <a:pt x="306573" y="34688"/>
                    <a:pt x="316337" y="65954"/>
                  </a:cubicBezTo>
                  <a:cubicBezTo>
                    <a:pt x="326102" y="97220"/>
                    <a:pt x="317546" y="131320"/>
                    <a:pt x="294177" y="154273"/>
                  </a:cubicBezTo>
                </a:path>
              </a:pathLst>
            </a:custGeom>
            <a:noFill/>
            <a:ln w="34925">
              <a:solidFill>
                <a:srgbClr val="E67E22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8906256" y="2343150"/>
              <a:ext cx="86583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Эмоции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8087106" y="2705100"/>
              <a:ext cx="148430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переживания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5788195" y="3124200"/>
              <a:ext cx="61561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SWB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5287213" y="3429000"/>
              <a:ext cx="161757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субъективное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287213" y="3714750"/>
              <a:ext cx="161757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благополучие</a:t>
              </a:r>
            </a:p>
          </p:txBody>
        </p:sp>
      </p:grpSp>
      <p:grpSp>
        <p:nvGrpSpPr>
          <p:cNvPr id="55" name="p05-approaches"/>
          <p:cNvGrpSpPr/>
          <p:nvPr/>
        </p:nvGrpSpPr>
        <p:grpSpPr>
          <a:xfrm>
            <a:off x="1143000" y="5286375"/>
            <a:ext cx="9906000" cy="952500"/>
            <a:chOff x="1143000" y="5286375"/>
            <a:chExt cx="9906000" cy="952500"/>
          </a:xfrm>
        </p:grpSpPr>
        <p:sp>
          <p:nvSpPr>
            <p:cNvPr id="26" name="Rectangle 26"/>
            <p:cNvSpPr/>
            <p:nvPr/>
          </p:nvSpPr>
          <p:spPr>
            <a:xfrm>
              <a:off x="1143000" y="5286375"/>
              <a:ext cx="2286000" cy="952500"/>
            </a:xfrm>
            <a:prstGeom prst="roundRect">
              <a:avLst>
                <a:gd name="adj" fmla="val 14000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grpSp>
          <p:nvGrpSpPr>
            <p:cNvPr id="31" name="Group 31"/>
            <p:cNvGrpSpPr/>
            <p:nvPr/>
          </p:nvGrpSpPr>
          <p:grpSpPr>
            <a:xfrm>
              <a:off x="1376362" y="5548312"/>
              <a:ext cx="257175" cy="257176"/>
              <a:chOff x="1376362" y="5548312"/>
              <a:chExt cx="257175" cy="257176"/>
            </a:xfrm>
          </p:grpSpPr>
          <p:sp>
            <p:nvSpPr>
              <p:cNvPr id="27" name="Freeform 27"/>
              <p:cNvSpPr/>
              <p:nvPr/>
            </p:nvSpPr>
            <p:spPr>
              <a:xfrm>
                <a:off x="1404938" y="5548312"/>
                <a:ext cx="114300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114300">
                    <a:moveTo>
                      <a:pt x="0" y="57150"/>
                    </a:moveTo>
                    <a:cubicBezTo>
                      <a:pt x="0" y="88713"/>
                      <a:pt x="25587" y="114300"/>
                      <a:pt x="57150" y="114300"/>
                    </a:cubicBezTo>
                    <a:cubicBezTo>
                      <a:pt x="88713" y="114300"/>
                      <a:pt x="114300" y="88713"/>
                      <a:pt x="114300" y="57150"/>
                    </a:cubicBezTo>
                    <a:cubicBezTo>
                      <a:pt x="114300" y="25587"/>
                      <a:pt x="88713" y="0"/>
                      <a:pt x="57150" y="0"/>
                    </a:cubicBezTo>
                    <a:cubicBezTo>
                      <a:pt x="25587" y="0"/>
                      <a:pt x="0" y="25587"/>
                      <a:pt x="0" y="57150"/>
                    </a:cubicBez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1376362" y="5719762"/>
                <a:ext cx="171450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171450" h="85725">
                    <a:moveTo>
                      <a:pt x="0" y="85725"/>
                    </a:moveTo>
                    <a:lnTo>
                      <a:pt x="0" y="57150"/>
                    </a:lnTo>
                    <a:cubicBezTo>
                      <a:pt x="0" y="25587"/>
                      <a:pt x="25587" y="0"/>
                      <a:pt x="57150" y="0"/>
                    </a:cubicBezTo>
                    <a:lnTo>
                      <a:pt x="114300" y="0"/>
                    </a:lnTo>
                    <a:cubicBezTo>
                      <a:pt x="145863" y="0"/>
                      <a:pt x="171450" y="25587"/>
                      <a:pt x="171450" y="57150"/>
                    </a:cubicBezTo>
                    <a:lnTo>
                      <a:pt x="171450" y="85725"/>
                    </a:ln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1562100" y="5550170"/>
                <a:ext cx="42975" cy="110728"/>
              </a:xfrm>
              <a:custGeom>
                <a:avLst/>
                <a:gdLst/>
                <a:ahLst/>
                <a:cxnLst/>
                <a:rect l="l" t="t" r="r" b="b"/>
                <a:pathLst>
                  <a:path w="42975" h="110728">
                    <a:moveTo>
                      <a:pt x="0" y="0"/>
                    </a:moveTo>
                    <a:cubicBezTo>
                      <a:pt x="25288" y="6475"/>
                      <a:pt x="42975" y="29261"/>
                      <a:pt x="42975" y="55364"/>
                    </a:cubicBezTo>
                    <a:cubicBezTo>
                      <a:pt x="42975" y="81467"/>
                      <a:pt x="25288" y="104253"/>
                      <a:pt x="0" y="110728"/>
                    </a:cubicBez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1590675" y="5721906"/>
                <a:ext cx="42862" cy="83582"/>
              </a:xfrm>
              <a:custGeom>
                <a:avLst/>
                <a:gdLst/>
                <a:ahLst/>
                <a:cxnLst/>
                <a:rect l="l" t="t" r="r" b="b"/>
                <a:pathLst>
                  <a:path w="42862" h="83582">
                    <a:moveTo>
                      <a:pt x="42862" y="83582"/>
                    </a:moveTo>
                    <a:lnTo>
                      <a:pt x="42862" y="55007"/>
                    </a:lnTo>
                    <a:cubicBezTo>
                      <a:pt x="42713" y="29069"/>
                      <a:pt x="25115" y="6484"/>
                      <a:pt x="0" y="0"/>
                    </a:cubicBez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</p:grpSp>
        <p:sp>
          <p:nvSpPr>
            <p:cNvPr id="32" name="TextBox 32"/>
            <p:cNvSpPr txBox="1"/>
            <p:nvPr/>
          </p:nvSpPr>
          <p:spPr>
            <a:xfrm>
              <a:off x="1762506" y="5534025"/>
              <a:ext cx="42565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Юнг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1324356" y="5848350"/>
              <a:ext cx="148430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психоанализ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3619500" y="5286375"/>
              <a:ext cx="2286000" cy="952500"/>
            </a:xfrm>
            <a:prstGeom prst="roundRect">
              <a:avLst>
                <a:gd name="adj" fmla="val 14000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grpSp>
          <p:nvGrpSpPr>
            <p:cNvPr id="41" name="Group 41"/>
            <p:cNvGrpSpPr/>
            <p:nvPr/>
          </p:nvGrpSpPr>
          <p:grpSpPr>
            <a:xfrm>
              <a:off x="3852862" y="5548312"/>
              <a:ext cx="257176" cy="257176"/>
              <a:chOff x="3852862" y="5548312"/>
              <a:chExt cx="257176" cy="257176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3981450" y="5691188"/>
                <a:ext cx="100012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100012" h="114300">
                    <a:moveTo>
                      <a:pt x="50006" y="0"/>
                    </a:moveTo>
                    <a:cubicBezTo>
                      <a:pt x="22389" y="0"/>
                      <a:pt x="0" y="22389"/>
                      <a:pt x="0" y="50006"/>
                    </a:cubicBezTo>
                    <a:lnTo>
                      <a:pt x="0" y="64294"/>
                    </a:lnTo>
                    <a:cubicBezTo>
                      <a:pt x="0" y="91911"/>
                      <a:pt x="22389" y="114300"/>
                      <a:pt x="50006" y="114300"/>
                    </a:cubicBezTo>
                    <a:cubicBezTo>
                      <a:pt x="77624" y="114300"/>
                      <a:pt x="100012" y="91911"/>
                      <a:pt x="100012" y="64294"/>
                    </a:cubicBezTo>
                    <a:lnTo>
                      <a:pt x="100012" y="38576"/>
                    </a:ln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3881438" y="5691188"/>
                <a:ext cx="100012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100012" h="114300">
                    <a:moveTo>
                      <a:pt x="50006" y="0"/>
                    </a:moveTo>
                    <a:cubicBezTo>
                      <a:pt x="77624" y="0"/>
                      <a:pt x="100012" y="22389"/>
                      <a:pt x="100012" y="50006"/>
                    </a:cubicBezTo>
                    <a:lnTo>
                      <a:pt x="100012" y="64294"/>
                    </a:lnTo>
                    <a:cubicBezTo>
                      <a:pt x="100012" y="91911"/>
                      <a:pt x="77624" y="114300"/>
                      <a:pt x="50006" y="114300"/>
                    </a:cubicBezTo>
                    <a:cubicBezTo>
                      <a:pt x="22389" y="114300"/>
                      <a:pt x="0" y="91911"/>
                      <a:pt x="0" y="64294"/>
                    </a:cubicBezTo>
                    <a:lnTo>
                      <a:pt x="0" y="38576"/>
                    </a:ln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4052888" y="5634038"/>
                <a:ext cx="57150" cy="100012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100012">
                    <a:moveTo>
                      <a:pt x="7144" y="100012"/>
                    </a:moveTo>
                    <a:cubicBezTo>
                      <a:pt x="34761" y="100012"/>
                      <a:pt x="57150" y="77624"/>
                      <a:pt x="57150" y="50006"/>
                    </a:cubicBezTo>
                    <a:cubicBezTo>
                      <a:pt x="57150" y="22389"/>
                      <a:pt x="34761" y="0"/>
                      <a:pt x="7144" y="0"/>
                    </a:cubicBezTo>
                    <a:lnTo>
                      <a:pt x="0" y="0"/>
                    </a:ln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3981450" y="5548312"/>
                <a:ext cx="100012" cy="90011"/>
              </a:xfrm>
              <a:custGeom>
                <a:avLst/>
                <a:gdLst/>
                <a:ahLst/>
                <a:cxnLst/>
                <a:rect l="l" t="t" r="r" b="b"/>
                <a:pathLst>
                  <a:path w="100012" h="90011">
                    <a:moveTo>
                      <a:pt x="100012" y="90011"/>
                    </a:moveTo>
                    <a:lnTo>
                      <a:pt x="100012" y="50006"/>
                    </a:lnTo>
                    <a:cubicBezTo>
                      <a:pt x="100012" y="22389"/>
                      <a:pt x="77624" y="0"/>
                      <a:pt x="50006" y="0"/>
                    </a:cubicBezTo>
                    <a:cubicBezTo>
                      <a:pt x="22389" y="0"/>
                      <a:pt x="0" y="22389"/>
                      <a:pt x="0" y="50006"/>
                    </a:cubicBez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3852862" y="5634038"/>
                <a:ext cx="57150" cy="100012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100012">
                    <a:moveTo>
                      <a:pt x="50006" y="100012"/>
                    </a:moveTo>
                    <a:cubicBezTo>
                      <a:pt x="22389" y="100012"/>
                      <a:pt x="0" y="77624"/>
                      <a:pt x="0" y="50006"/>
                    </a:cubicBezTo>
                    <a:cubicBezTo>
                      <a:pt x="0" y="22389"/>
                      <a:pt x="22389" y="0"/>
                      <a:pt x="50006" y="0"/>
                    </a:cubicBezTo>
                    <a:lnTo>
                      <a:pt x="57150" y="0"/>
                    </a:ln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  <p:sp>
            <p:nvSpPr>
              <p:cNvPr id="40" name="Freeform 40"/>
              <p:cNvSpPr/>
              <p:nvPr/>
            </p:nvSpPr>
            <p:spPr>
              <a:xfrm>
                <a:off x="3881438" y="5548312"/>
                <a:ext cx="100012" cy="192881"/>
              </a:xfrm>
              <a:custGeom>
                <a:avLst/>
                <a:gdLst/>
                <a:ahLst/>
                <a:cxnLst/>
                <a:rect l="l" t="t" r="r" b="b"/>
                <a:pathLst>
                  <a:path w="100012" h="192881">
                    <a:moveTo>
                      <a:pt x="0" y="90011"/>
                    </a:moveTo>
                    <a:lnTo>
                      <a:pt x="0" y="50006"/>
                    </a:lnTo>
                    <a:cubicBezTo>
                      <a:pt x="0" y="22389"/>
                      <a:pt x="22389" y="0"/>
                      <a:pt x="50006" y="0"/>
                    </a:cubicBezTo>
                    <a:cubicBezTo>
                      <a:pt x="77624" y="0"/>
                      <a:pt x="100012" y="22389"/>
                      <a:pt x="100012" y="50006"/>
                    </a:cubicBezTo>
                    <a:lnTo>
                      <a:pt x="100012" y="192881"/>
                    </a:ln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</p:grpSp>
        <p:sp>
          <p:nvSpPr>
            <p:cNvPr id="42" name="TextBox 42"/>
            <p:cNvSpPr txBox="1"/>
            <p:nvPr/>
          </p:nvSpPr>
          <p:spPr>
            <a:xfrm>
              <a:off x="4239006" y="5534025"/>
              <a:ext cx="149184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Когнитивный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6096000" y="5286375"/>
              <a:ext cx="2286000" cy="952500"/>
            </a:xfrm>
            <a:prstGeom prst="roundRect">
              <a:avLst>
                <a:gd name="adj" fmla="val 14000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grpSp>
          <p:nvGrpSpPr>
            <p:cNvPr id="46" name="Group 46"/>
            <p:cNvGrpSpPr/>
            <p:nvPr/>
          </p:nvGrpSpPr>
          <p:grpSpPr>
            <a:xfrm>
              <a:off x="6329362" y="5548312"/>
              <a:ext cx="257175" cy="257175"/>
              <a:chOff x="6329362" y="5548312"/>
              <a:chExt cx="257175" cy="257175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6400800" y="5619750"/>
                <a:ext cx="114300" cy="114300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114300">
                    <a:moveTo>
                      <a:pt x="0" y="57150"/>
                    </a:moveTo>
                    <a:cubicBezTo>
                      <a:pt x="0" y="88713"/>
                      <a:pt x="25587" y="114300"/>
                      <a:pt x="57150" y="114300"/>
                    </a:cubicBezTo>
                    <a:cubicBezTo>
                      <a:pt x="88713" y="114300"/>
                      <a:pt x="114300" y="88713"/>
                      <a:pt x="114300" y="57150"/>
                    </a:cubicBezTo>
                    <a:cubicBezTo>
                      <a:pt x="114300" y="25587"/>
                      <a:pt x="88713" y="0"/>
                      <a:pt x="57150" y="0"/>
                    </a:cubicBezTo>
                    <a:cubicBezTo>
                      <a:pt x="25587" y="0"/>
                      <a:pt x="0" y="25587"/>
                      <a:pt x="0" y="57150"/>
                    </a:cubicBez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6329362" y="5548312"/>
                <a:ext cx="257175" cy="257175"/>
              </a:xfrm>
              <a:custGeom>
                <a:avLst/>
                <a:gdLst/>
                <a:ahLst/>
                <a:cxnLst/>
                <a:rect l="l" t="t" r="r" b="b"/>
                <a:pathLst>
                  <a:path w="257175" h="257175">
                    <a:moveTo>
                      <a:pt x="0" y="128588"/>
                    </a:moveTo>
                    <a:lnTo>
                      <a:pt x="14288" y="128588"/>
                    </a:lnTo>
                    <a:moveTo>
                      <a:pt x="128588" y="0"/>
                    </a:moveTo>
                    <a:lnTo>
                      <a:pt x="128588" y="14288"/>
                    </a:lnTo>
                    <a:moveTo>
                      <a:pt x="242888" y="128588"/>
                    </a:moveTo>
                    <a:lnTo>
                      <a:pt x="257175" y="128588"/>
                    </a:lnTo>
                    <a:moveTo>
                      <a:pt x="128588" y="242888"/>
                    </a:moveTo>
                    <a:lnTo>
                      <a:pt x="128588" y="257175"/>
                    </a:lnTo>
                    <a:moveTo>
                      <a:pt x="37147" y="37147"/>
                    </a:moveTo>
                    <a:lnTo>
                      <a:pt x="47149" y="47149"/>
                    </a:lnTo>
                    <a:moveTo>
                      <a:pt x="220028" y="37147"/>
                    </a:moveTo>
                    <a:lnTo>
                      <a:pt x="210026" y="47149"/>
                    </a:lnTo>
                    <a:moveTo>
                      <a:pt x="210026" y="210026"/>
                    </a:moveTo>
                    <a:lnTo>
                      <a:pt x="220028" y="220028"/>
                    </a:lnTo>
                    <a:moveTo>
                      <a:pt x="47149" y="210026"/>
                    </a:moveTo>
                    <a:lnTo>
                      <a:pt x="37147" y="220028"/>
                    </a:ln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</p:grpSp>
        <p:sp>
          <p:nvSpPr>
            <p:cNvPr id="47" name="TextBox 47"/>
            <p:cNvSpPr txBox="1"/>
            <p:nvPr/>
          </p:nvSpPr>
          <p:spPr>
            <a:xfrm>
              <a:off x="6715506" y="5534025"/>
              <a:ext cx="135857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Позитивный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8572500" y="5286375"/>
              <a:ext cx="2476500" cy="952500"/>
            </a:xfrm>
            <a:prstGeom prst="roundRect">
              <a:avLst>
                <a:gd name="adj" fmla="val 14000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grpSp>
          <p:nvGrpSpPr>
            <p:cNvPr id="52" name="Group 52"/>
            <p:cNvGrpSpPr/>
            <p:nvPr/>
          </p:nvGrpSpPr>
          <p:grpSpPr>
            <a:xfrm>
              <a:off x="8813221" y="5555671"/>
              <a:ext cx="242458" cy="242458"/>
              <a:chOff x="8813221" y="5555671"/>
              <a:chExt cx="242458" cy="242458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8872387" y="5615680"/>
                <a:ext cx="123283" cy="123283"/>
              </a:xfrm>
              <a:custGeom>
                <a:avLst/>
                <a:gdLst/>
                <a:ahLst/>
                <a:cxnLst/>
                <a:rect l="l" t="t" r="r" b="b"/>
                <a:pathLst>
                  <a:path w="123283" h="123283">
                    <a:moveTo>
                      <a:pt x="102468" y="101625"/>
                    </a:moveTo>
                    <a:cubicBezTo>
                      <a:pt x="117325" y="87276"/>
                      <a:pt x="123283" y="66027"/>
                      <a:pt x="118053" y="46046"/>
                    </a:cubicBezTo>
                    <a:cubicBezTo>
                      <a:pt x="112823" y="26065"/>
                      <a:pt x="97218" y="10460"/>
                      <a:pt x="77237" y="5230"/>
                    </a:cubicBezTo>
                    <a:cubicBezTo>
                      <a:pt x="57256" y="0"/>
                      <a:pt x="36007" y="5958"/>
                      <a:pt x="21658" y="20815"/>
                    </a:cubicBezTo>
                    <a:cubicBezTo>
                      <a:pt x="0" y="43239"/>
                      <a:pt x="310" y="78884"/>
                      <a:pt x="22354" y="100929"/>
                    </a:cubicBezTo>
                    <a:cubicBezTo>
                      <a:pt x="44399" y="122973"/>
                      <a:pt x="80044" y="123283"/>
                      <a:pt x="102468" y="101625"/>
                    </a:cubicBez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8813221" y="5694986"/>
                <a:ext cx="103143" cy="103143"/>
              </a:xfrm>
              <a:custGeom>
                <a:avLst/>
                <a:gdLst/>
                <a:ahLst/>
                <a:cxnLst/>
                <a:rect l="l" t="t" r="r" b="b"/>
                <a:pathLst>
                  <a:path w="103143" h="103143">
                    <a:moveTo>
                      <a:pt x="80824" y="103143"/>
                    </a:moveTo>
                    <a:cubicBezTo>
                      <a:pt x="103143" y="80824"/>
                      <a:pt x="103143" y="44638"/>
                      <a:pt x="80824" y="22319"/>
                    </a:cubicBezTo>
                    <a:cubicBezTo>
                      <a:pt x="58505" y="0"/>
                      <a:pt x="22319" y="0"/>
                      <a:pt x="0" y="22319"/>
                    </a:cubicBez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  <p:sp>
            <p:nvSpPr>
              <p:cNvPr id="51" name="Freeform 51"/>
              <p:cNvSpPr/>
              <p:nvPr/>
            </p:nvSpPr>
            <p:spPr>
              <a:xfrm>
                <a:off x="8952536" y="5555671"/>
                <a:ext cx="103143" cy="103143"/>
              </a:xfrm>
              <a:custGeom>
                <a:avLst/>
                <a:gdLst/>
                <a:ahLst/>
                <a:cxnLst/>
                <a:rect l="l" t="t" r="r" b="b"/>
                <a:pathLst>
                  <a:path w="103143" h="103143">
                    <a:moveTo>
                      <a:pt x="22319" y="0"/>
                    </a:moveTo>
                    <a:cubicBezTo>
                      <a:pt x="0" y="22319"/>
                      <a:pt x="0" y="58505"/>
                      <a:pt x="22319" y="80824"/>
                    </a:cubicBezTo>
                    <a:cubicBezTo>
                      <a:pt x="44638" y="103143"/>
                      <a:pt x="80824" y="103143"/>
                      <a:pt x="103143" y="80824"/>
                    </a:cubicBezTo>
                  </a:path>
                </a:pathLst>
              </a:custGeom>
              <a:noFill/>
              <a:ln w="28575">
                <a:solidFill>
                  <a:schemeClr val="accent1"/>
                </a:solidFill>
              </a:ln>
            </p:spPr>
          </p:sp>
        </p:grpSp>
        <p:sp>
          <p:nvSpPr>
            <p:cNvPr id="53" name="TextBox 53"/>
            <p:cNvSpPr txBox="1"/>
            <p:nvPr/>
          </p:nvSpPr>
          <p:spPr>
            <a:xfrm>
              <a:off x="9192006" y="5534025"/>
              <a:ext cx="125454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Био-психо-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8753856" y="5848350"/>
              <a:ext cx="135102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социальный</a:t>
              </a:r>
            </a:p>
          </p:txBody>
        </p:sp>
      </p:grpSp>
      <p:grpSp>
        <p:nvGrpSpPr>
          <p:cNvPr id="58" name="p05-note"/>
          <p:cNvGrpSpPr/>
          <p:nvPr/>
        </p:nvGrpSpPr>
        <p:grpSpPr>
          <a:xfrm>
            <a:off x="753618" y="6248400"/>
            <a:ext cx="7851483" cy="557657"/>
            <a:chOff x="753618" y="6248400"/>
            <a:chExt cx="7851483" cy="557657"/>
          </a:xfrm>
        </p:grpSpPr>
        <p:sp>
          <p:nvSpPr>
            <p:cNvPr id="56" name="TextBox 56"/>
            <p:cNvSpPr txBox="1"/>
            <p:nvPr/>
          </p:nvSpPr>
          <p:spPr>
            <a:xfrm>
              <a:off x="1133856" y="6248400"/>
              <a:ext cx="747124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Фредриксон: на одно негативное переживание — три позитивных</a:t>
              </a:r>
            </a:p>
          </p:txBody>
        </p:sp>
        <p:sp>
          <p:nvSpPr>
            <p:cNvPr id="57" name="credit"/>
            <p:cNvSpPr txBox="1"/>
            <p:nvPr/>
          </p:nvSpPr>
          <p:spPr>
            <a:xfrm>
              <a:off x="753618" y="6483350"/>
              <a:ext cx="5243543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rgbClr val="7F8C8D"/>
                  </a:solidFill>
                  <a:latin typeface="+mn-lt"/>
                  <a:ea typeface="+mn-ea"/>
                  <a:cs typeface="+mn-cs"/>
                </a:rPr>
                <a:t>© YVC Biology Department / Wikimedia / CC BY 2.0</a:t>
              </a:r>
            </a:p>
          </p:txBody>
        </p:sp>
      </p:grpSp>
      <p:pic>
        <p:nvPicPr>
          <p:cNvPr id="59" name="PPT Master narration: narration6.mp3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4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6" fill="hold" display="0">
                  <p:stCondLst>
                    <p:cond delay="300"/>
                  </p:stCondLst>
                </p:cTn>
                <p:tgtEl>
                  <p:spTgt spid="59"/>
                </p:tgtEl>
              </p:cMediaNode>
            </p:audio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6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6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88000"/>
                </a:srgbClr>
              </a:gs>
              <a:gs pos="100000">
                <a:srgbClr val="F5E6D3">
                  <a:alpha val="88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p06-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grpSp>
        <p:nvGrpSpPr>
          <p:cNvPr id="6" name="p06-title"/>
          <p:cNvGrpSpPr/>
          <p:nvPr/>
        </p:nvGrpSpPr>
        <p:grpSpPr>
          <a:xfrm>
            <a:off x="743712" y="527050"/>
            <a:ext cx="5919941" cy="704088"/>
            <a:chOff x="743712" y="527050"/>
            <a:chExt cx="5919941" cy="704088"/>
          </a:xfrm>
        </p:grpSpPr>
        <p:sp>
          <p:nvSpPr>
            <p:cNvPr id="5" name="TextBox 5"/>
            <p:cNvSpPr txBox="1"/>
            <p:nvPr/>
          </p:nvSpPr>
          <p:spPr>
            <a:xfrm>
              <a:off x="743712" y="527050"/>
              <a:ext cx="5919941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Четыре гормона счастья</a:t>
              </a:r>
            </a:p>
          </p:txBody>
        </p:sp>
      </p:grpSp>
      <p:grpSp>
        <p:nvGrpSpPr>
          <p:cNvPr id="11" name="p06-dopamine"/>
          <p:cNvGrpSpPr/>
          <p:nvPr/>
        </p:nvGrpSpPr>
        <p:grpSpPr>
          <a:xfrm>
            <a:off x="762000" y="1666875"/>
            <a:ext cx="3429000" cy="1143000"/>
            <a:chOff x="762000" y="1666875"/>
            <a:chExt cx="3429000" cy="1143000"/>
          </a:xfrm>
        </p:grpSpPr>
        <p:sp>
          <p:nvSpPr>
            <p:cNvPr id="7" name="Rectangle 7"/>
            <p:cNvSpPr/>
            <p:nvPr/>
          </p:nvSpPr>
          <p:spPr>
            <a:xfrm>
              <a:off x="762000" y="1666875"/>
              <a:ext cx="3429000" cy="1143000"/>
            </a:xfrm>
            <a:prstGeom prst="roundRect">
              <a:avLst>
                <a:gd name="adj" fmla="val 11667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8" name="Freeform 8"/>
            <p:cNvSpPr/>
            <p:nvPr/>
          </p:nvSpPr>
          <p:spPr>
            <a:xfrm>
              <a:off x="1052513" y="2054225"/>
              <a:ext cx="350838" cy="330201"/>
            </a:xfrm>
            <a:custGeom>
              <a:avLst/>
              <a:gdLst/>
              <a:ahLst/>
              <a:cxnLst/>
              <a:rect l="l" t="t" r="r" b="b"/>
              <a:pathLst>
                <a:path w="350838" h="330201">
                  <a:moveTo>
                    <a:pt x="268288" y="288925"/>
                  </a:moveTo>
                  <a:cubicBezTo>
                    <a:pt x="291084" y="288925"/>
                    <a:pt x="309563" y="307405"/>
                    <a:pt x="309563" y="330201"/>
                  </a:cubicBezTo>
                  <a:cubicBezTo>
                    <a:pt x="309563" y="307405"/>
                    <a:pt x="328042" y="288925"/>
                    <a:pt x="350838" y="288925"/>
                  </a:cubicBezTo>
                  <a:cubicBezTo>
                    <a:pt x="328042" y="288925"/>
                    <a:pt x="309563" y="270446"/>
                    <a:pt x="309563" y="247650"/>
                  </a:cubicBezTo>
                  <a:cubicBezTo>
                    <a:pt x="309563" y="270446"/>
                    <a:pt x="291084" y="288925"/>
                    <a:pt x="268288" y="288925"/>
                  </a:cubicBezTo>
                  <a:moveTo>
                    <a:pt x="268288" y="41275"/>
                  </a:moveTo>
                  <a:cubicBezTo>
                    <a:pt x="291084" y="41275"/>
                    <a:pt x="309563" y="59755"/>
                    <a:pt x="309563" y="82550"/>
                  </a:cubicBezTo>
                  <a:cubicBezTo>
                    <a:pt x="309563" y="59755"/>
                    <a:pt x="328042" y="41275"/>
                    <a:pt x="350838" y="41275"/>
                  </a:cubicBezTo>
                  <a:cubicBezTo>
                    <a:pt x="328042" y="41275"/>
                    <a:pt x="309563" y="22796"/>
                    <a:pt x="309563" y="0"/>
                  </a:cubicBezTo>
                  <a:cubicBezTo>
                    <a:pt x="309563" y="22796"/>
                    <a:pt x="291084" y="41275"/>
                    <a:pt x="268288" y="41275"/>
                  </a:cubicBezTo>
                  <a:moveTo>
                    <a:pt x="123825" y="288925"/>
                  </a:moveTo>
                  <a:cubicBezTo>
                    <a:pt x="123825" y="220539"/>
                    <a:pt x="179264" y="165100"/>
                    <a:pt x="247650" y="165100"/>
                  </a:cubicBezTo>
                  <a:cubicBezTo>
                    <a:pt x="179264" y="165100"/>
                    <a:pt x="123825" y="109662"/>
                    <a:pt x="123825" y="41275"/>
                  </a:cubicBezTo>
                  <a:cubicBezTo>
                    <a:pt x="123825" y="109662"/>
                    <a:pt x="68387" y="165100"/>
                    <a:pt x="0" y="165100"/>
                  </a:cubicBezTo>
                  <a:cubicBezTo>
                    <a:pt x="68387" y="165100"/>
                    <a:pt x="123825" y="220539"/>
                    <a:pt x="123825" y="288925"/>
                  </a:cubicBezTo>
                </a:path>
              </a:pathLst>
            </a:custGeom>
            <a:noFill/>
            <a:ln w="41275">
              <a:solidFill>
                <a:schemeClr val="accent1"/>
              </a:solidFill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667256" y="1914525"/>
              <a:ext cx="100577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Дофамин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667256" y="2276475"/>
              <a:ext cx="241857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мотивация и награда</a:t>
              </a:r>
            </a:p>
          </p:txBody>
        </p:sp>
      </p:grpSp>
      <p:grpSp>
        <p:nvGrpSpPr>
          <p:cNvPr id="18" name="p06-serotonin"/>
          <p:cNvGrpSpPr/>
          <p:nvPr/>
        </p:nvGrpSpPr>
        <p:grpSpPr>
          <a:xfrm>
            <a:off x="8001000" y="1666875"/>
            <a:ext cx="3429000" cy="1143000"/>
            <a:chOff x="8001000" y="1666875"/>
            <a:chExt cx="3429000" cy="1143000"/>
          </a:xfrm>
        </p:grpSpPr>
        <p:sp>
          <p:nvSpPr>
            <p:cNvPr id="12" name="Rectangle 12"/>
            <p:cNvSpPr/>
            <p:nvPr/>
          </p:nvSpPr>
          <p:spPr>
            <a:xfrm>
              <a:off x="8001000" y="1666875"/>
              <a:ext cx="3429000" cy="1143000"/>
            </a:xfrm>
            <a:prstGeom prst="roundRect">
              <a:avLst>
                <a:gd name="adj" fmla="val 11667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grpSp>
          <p:nvGrpSpPr>
            <p:cNvPr id="15" name="Group 15"/>
            <p:cNvGrpSpPr/>
            <p:nvPr/>
          </p:nvGrpSpPr>
          <p:grpSpPr>
            <a:xfrm>
              <a:off x="8291513" y="2033588"/>
              <a:ext cx="371476" cy="371476"/>
              <a:chOff x="8291513" y="2033588"/>
              <a:chExt cx="371476" cy="371476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8394700" y="2136775"/>
                <a:ext cx="165100" cy="165100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165100">
                    <a:moveTo>
                      <a:pt x="0" y="82550"/>
                    </a:moveTo>
                    <a:cubicBezTo>
                      <a:pt x="0" y="128141"/>
                      <a:pt x="36959" y="165100"/>
                      <a:pt x="82550" y="165100"/>
                    </a:cubicBezTo>
                    <a:cubicBezTo>
                      <a:pt x="128141" y="165100"/>
                      <a:pt x="165100" y="128141"/>
                      <a:pt x="165100" y="82550"/>
                    </a:cubicBezTo>
                    <a:cubicBezTo>
                      <a:pt x="165100" y="36959"/>
                      <a:pt x="128141" y="0"/>
                      <a:pt x="82550" y="0"/>
                    </a:cubicBezTo>
                    <a:cubicBezTo>
                      <a:pt x="36959" y="0"/>
                      <a:pt x="0" y="36959"/>
                      <a:pt x="0" y="82550"/>
                    </a:cubicBez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8291513" y="2033588"/>
                <a:ext cx="371476" cy="371476"/>
              </a:xfrm>
              <a:custGeom>
                <a:avLst/>
                <a:gdLst/>
                <a:ahLst/>
                <a:cxnLst/>
                <a:rect l="l" t="t" r="r" b="b"/>
                <a:pathLst>
                  <a:path w="371476" h="371476">
                    <a:moveTo>
                      <a:pt x="0" y="185738"/>
                    </a:moveTo>
                    <a:lnTo>
                      <a:pt x="20638" y="185738"/>
                    </a:lnTo>
                    <a:moveTo>
                      <a:pt x="185738" y="0"/>
                    </a:moveTo>
                    <a:lnTo>
                      <a:pt x="185738" y="20638"/>
                    </a:lnTo>
                    <a:moveTo>
                      <a:pt x="350838" y="185738"/>
                    </a:moveTo>
                    <a:lnTo>
                      <a:pt x="371476" y="185738"/>
                    </a:lnTo>
                    <a:moveTo>
                      <a:pt x="185738" y="350838"/>
                    </a:moveTo>
                    <a:lnTo>
                      <a:pt x="185738" y="371476"/>
                    </a:lnTo>
                    <a:moveTo>
                      <a:pt x="53658" y="53658"/>
                    </a:moveTo>
                    <a:lnTo>
                      <a:pt x="68104" y="68104"/>
                    </a:lnTo>
                    <a:moveTo>
                      <a:pt x="317818" y="53658"/>
                    </a:moveTo>
                    <a:lnTo>
                      <a:pt x="303372" y="68104"/>
                    </a:lnTo>
                    <a:moveTo>
                      <a:pt x="303372" y="303372"/>
                    </a:moveTo>
                    <a:lnTo>
                      <a:pt x="317818" y="317818"/>
                    </a:lnTo>
                    <a:moveTo>
                      <a:pt x="68104" y="303372"/>
                    </a:moveTo>
                    <a:lnTo>
                      <a:pt x="53658" y="317818"/>
                    </a:lnTo>
                  </a:path>
                </a:pathLst>
              </a:custGeom>
              <a:noFill/>
              <a:ln w="41275">
                <a:solidFill>
                  <a:srgbClr val="27AE60"/>
                </a:solidFill>
              </a:ln>
            </p:spPr>
          </p:sp>
        </p:grpSp>
        <p:sp>
          <p:nvSpPr>
            <p:cNvPr id="16" name="TextBox 16"/>
            <p:cNvSpPr txBox="1"/>
            <p:nvPr/>
          </p:nvSpPr>
          <p:spPr>
            <a:xfrm>
              <a:off x="8906256" y="1914525"/>
              <a:ext cx="128564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1E8449"/>
                  </a:solidFill>
                  <a:latin typeface="+mn-lt"/>
                  <a:ea typeface="+mn-ea"/>
                  <a:cs typeface="+mn-cs"/>
                </a:rPr>
                <a:t>Серотонин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8906256" y="2276475"/>
              <a:ext cx="201875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настроение и сон</a:t>
              </a:r>
            </a:p>
          </p:txBody>
        </p:sp>
      </p:grpSp>
      <p:grpSp>
        <p:nvGrpSpPr>
          <p:cNvPr id="27" name="p06-endorphins"/>
          <p:cNvGrpSpPr/>
          <p:nvPr/>
        </p:nvGrpSpPr>
        <p:grpSpPr>
          <a:xfrm>
            <a:off x="762000" y="3095625"/>
            <a:ext cx="3429000" cy="1143000"/>
            <a:chOff x="762000" y="3095625"/>
            <a:chExt cx="3429000" cy="1143000"/>
          </a:xfrm>
        </p:grpSpPr>
        <p:sp>
          <p:nvSpPr>
            <p:cNvPr id="19" name="Rectangle 19"/>
            <p:cNvSpPr/>
            <p:nvPr/>
          </p:nvSpPr>
          <p:spPr>
            <a:xfrm>
              <a:off x="762000" y="3095625"/>
              <a:ext cx="3429000" cy="1143000"/>
            </a:xfrm>
            <a:prstGeom prst="roundRect">
              <a:avLst>
                <a:gd name="adj" fmla="val 11667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grpSp>
          <p:nvGrpSpPr>
            <p:cNvPr id="24" name="Group 24"/>
            <p:cNvGrpSpPr/>
            <p:nvPr/>
          </p:nvGrpSpPr>
          <p:grpSpPr>
            <a:xfrm>
              <a:off x="1073150" y="3462338"/>
              <a:ext cx="288926" cy="371475"/>
              <a:chOff x="1073150" y="3462338"/>
              <a:chExt cx="288926" cy="371475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1217757" y="3462338"/>
                <a:ext cx="82550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82550" h="82550">
                    <a:moveTo>
                      <a:pt x="0" y="41275"/>
                    </a:moveTo>
                    <a:cubicBezTo>
                      <a:pt x="0" y="64071"/>
                      <a:pt x="18479" y="82550"/>
                      <a:pt x="41275" y="82550"/>
                    </a:cubicBezTo>
                    <a:cubicBezTo>
                      <a:pt x="64071" y="82550"/>
                      <a:pt x="82550" y="64071"/>
                      <a:pt x="82550" y="41275"/>
                    </a:cubicBezTo>
                    <a:cubicBezTo>
                      <a:pt x="82550" y="18479"/>
                      <a:pt x="64071" y="0"/>
                      <a:pt x="41275" y="0"/>
                    </a:cubicBezTo>
                    <a:cubicBezTo>
                      <a:pt x="18479" y="0"/>
                      <a:pt x="0" y="18479"/>
                      <a:pt x="0" y="41275"/>
                    </a:cubicBezTo>
                  </a:path>
                </a:pathLst>
              </a:custGeom>
              <a:noFill/>
              <a:ln w="41275">
                <a:solidFill>
                  <a:srgbClr val="E67E22"/>
                </a:solidFill>
              </a:ln>
            </p:spPr>
          </p:sp>
          <p:sp>
            <p:nvSpPr>
              <p:cNvPr id="21" name="Freeform 21"/>
              <p:cNvSpPr/>
              <p:nvPr/>
            </p:nvSpPr>
            <p:spPr>
              <a:xfrm>
                <a:off x="1073150" y="3740944"/>
                <a:ext cx="118666" cy="30956"/>
              </a:xfrm>
              <a:custGeom>
                <a:avLst/>
                <a:gdLst/>
                <a:ahLst/>
                <a:cxnLst/>
                <a:rect l="l" t="t" r="r" b="b"/>
                <a:pathLst>
                  <a:path w="118666" h="30956">
                    <a:moveTo>
                      <a:pt x="0" y="10319"/>
                    </a:moveTo>
                    <a:lnTo>
                      <a:pt x="103188" y="30956"/>
                    </a:lnTo>
                    <a:lnTo>
                      <a:pt x="118666" y="0"/>
                    </a:lnTo>
                  </a:path>
                </a:pathLst>
              </a:custGeom>
              <a:noFill/>
              <a:ln w="41275">
                <a:solidFill>
                  <a:srgbClr val="E67E22"/>
                </a:solidFill>
              </a:ln>
            </p:spPr>
          </p:sp>
          <p:sp>
            <p:nvSpPr>
              <p:cNvPr id="22" name="Freeform 22"/>
              <p:cNvSpPr/>
              <p:nvPr/>
            </p:nvSpPr>
            <p:spPr>
              <a:xfrm>
                <a:off x="1217613" y="3565525"/>
                <a:ext cx="82550" cy="268288"/>
              </a:xfrm>
              <a:custGeom>
                <a:avLst/>
                <a:gdLst/>
                <a:ahLst/>
                <a:cxnLst/>
                <a:rect l="l" t="t" r="r" b="b"/>
                <a:pathLst>
                  <a:path w="82550" h="268288">
                    <a:moveTo>
                      <a:pt x="82550" y="268288"/>
                    </a:moveTo>
                    <a:lnTo>
                      <a:pt x="82550" y="185738"/>
                    </a:lnTo>
                    <a:lnTo>
                      <a:pt x="0" y="123825"/>
                    </a:lnTo>
                    <a:lnTo>
                      <a:pt x="20638" y="0"/>
                    </a:lnTo>
                  </a:path>
                </a:pathLst>
              </a:custGeom>
              <a:noFill/>
              <a:ln w="41275">
                <a:solidFill>
                  <a:srgbClr val="E67E22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1135063" y="3565525"/>
                <a:ext cx="227013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227013" h="82550">
                    <a:moveTo>
                      <a:pt x="0" y="82550"/>
                    </a:moveTo>
                    <a:lnTo>
                      <a:pt x="0" y="20638"/>
                    </a:lnTo>
                    <a:lnTo>
                      <a:pt x="103188" y="0"/>
                    </a:lnTo>
                    <a:lnTo>
                      <a:pt x="165100" y="61913"/>
                    </a:lnTo>
                    <a:lnTo>
                      <a:pt x="227013" y="82550"/>
                    </a:lnTo>
                  </a:path>
                </a:pathLst>
              </a:custGeom>
              <a:noFill/>
              <a:ln w="41275">
                <a:solidFill>
                  <a:srgbClr val="E67E22"/>
                </a:solidFill>
              </a:ln>
            </p:spPr>
          </p:sp>
        </p:grpSp>
        <p:sp>
          <p:nvSpPr>
            <p:cNvPr id="25" name="TextBox 25"/>
            <p:cNvSpPr txBox="1"/>
            <p:nvPr/>
          </p:nvSpPr>
          <p:spPr>
            <a:xfrm>
              <a:off x="1667256" y="3343275"/>
              <a:ext cx="128564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Эндорфины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667256" y="3705225"/>
              <a:ext cx="228530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эйфория и лёгкость</a:t>
              </a:r>
            </a:p>
          </p:txBody>
        </p:sp>
      </p:grpSp>
      <p:grpSp>
        <p:nvGrpSpPr>
          <p:cNvPr id="32" name="p06-oxytocin"/>
          <p:cNvGrpSpPr/>
          <p:nvPr/>
        </p:nvGrpSpPr>
        <p:grpSpPr>
          <a:xfrm>
            <a:off x="8001000" y="3095625"/>
            <a:ext cx="3429000" cy="1143000"/>
            <a:chOff x="8001000" y="3095625"/>
            <a:chExt cx="3429000" cy="1143000"/>
          </a:xfrm>
        </p:grpSpPr>
        <p:sp>
          <p:nvSpPr>
            <p:cNvPr id="28" name="Rectangle 28"/>
            <p:cNvSpPr/>
            <p:nvPr/>
          </p:nvSpPr>
          <p:spPr>
            <a:xfrm>
              <a:off x="8001000" y="3095625"/>
              <a:ext cx="3429000" cy="1143000"/>
            </a:xfrm>
            <a:prstGeom prst="roundRect">
              <a:avLst>
                <a:gd name="adj" fmla="val 11667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29" name="Freeform 29"/>
            <p:cNvSpPr/>
            <p:nvPr/>
          </p:nvSpPr>
          <p:spPr>
            <a:xfrm>
              <a:off x="8284366" y="3477681"/>
              <a:ext cx="385394" cy="335495"/>
            </a:xfrm>
            <a:custGeom>
              <a:avLst/>
              <a:gdLst/>
              <a:ahLst/>
              <a:cxnLst/>
              <a:rect l="l" t="t" r="r" b="b"/>
              <a:pathLst>
                <a:path w="385394" h="335495">
                  <a:moveTo>
                    <a:pt x="347665" y="182199"/>
                  </a:moveTo>
                  <a:lnTo>
                    <a:pt x="192884" y="335495"/>
                  </a:lnTo>
                  <a:lnTo>
                    <a:pt x="38102" y="182199"/>
                  </a:lnTo>
                  <a:cubicBezTo>
                    <a:pt x="10269" y="155114"/>
                    <a:pt x="0" y="114695"/>
                    <a:pt x="11531" y="77609"/>
                  </a:cubicBezTo>
                  <a:cubicBezTo>
                    <a:pt x="23062" y="40523"/>
                    <a:pt x="54440" y="13053"/>
                    <a:pt x="92725" y="6527"/>
                  </a:cubicBezTo>
                  <a:cubicBezTo>
                    <a:pt x="131010" y="0"/>
                    <a:pt x="169717" y="15523"/>
                    <a:pt x="192884" y="46693"/>
                  </a:cubicBezTo>
                  <a:cubicBezTo>
                    <a:pt x="216148" y="15753"/>
                    <a:pt x="254772" y="437"/>
                    <a:pt x="292918" y="7024"/>
                  </a:cubicBezTo>
                  <a:cubicBezTo>
                    <a:pt x="331064" y="13612"/>
                    <a:pt x="362314" y="40995"/>
                    <a:pt x="373854" y="77946"/>
                  </a:cubicBezTo>
                  <a:cubicBezTo>
                    <a:pt x="385394" y="114896"/>
                    <a:pt x="375282" y="155197"/>
                    <a:pt x="347665" y="182323"/>
                  </a:cubicBezTo>
                </a:path>
              </a:pathLst>
            </a:custGeom>
            <a:noFill/>
            <a:ln w="41275">
              <a:solidFill>
                <a:srgbClr val="E74C3C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8906256" y="3343275"/>
              <a:ext cx="128564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C0392B"/>
                  </a:solidFill>
                  <a:latin typeface="+mn-lt"/>
                  <a:ea typeface="+mn-ea"/>
                  <a:cs typeface="+mn-cs"/>
                </a:rPr>
                <a:t>Окситоцин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906256" y="3705225"/>
              <a:ext cx="228530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доверие и близость</a:t>
              </a:r>
            </a:p>
          </p:txBody>
        </p:sp>
      </p:grpSp>
      <p:grpSp>
        <p:nvGrpSpPr>
          <p:cNvPr id="37" name="p06-video"/>
          <p:cNvGrpSpPr/>
          <p:nvPr/>
        </p:nvGrpSpPr>
        <p:grpSpPr>
          <a:xfrm>
            <a:off x="4333875" y="1619250"/>
            <a:ext cx="3524250" cy="2019300"/>
            <a:chOff x="4333875" y="1619250"/>
            <a:chExt cx="3524250" cy="2019300"/>
          </a:xfrm>
        </p:grpSpPr>
        <p:sp>
          <p:nvSpPr>
            <p:cNvPr id="33" name="Rectangle 33"/>
            <p:cNvSpPr/>
            <p:nvPr/>
          </p:nvSpPr>
          <p:spPr>
            <a:xfrm>
              <a:off x="4333875" y="1619250"/>
              <a:ext cx="3524250" cy="2019300"/>
            </a:xfrm>
            <a:prstGeom prst="roundRect">
              <a:avLst>
                <a:gd name="adj" fmla="val 6604"/>
              </a:avLst>
            </a:prstGeom>
            <a:solidFill>
              <a:srgbClr val="FFFFFF">
                <a:alpha val="90000"/>
              </a:srgbClr>
            </a:solidFill>
            <a:ln w="19050">
              <a:solidFill>
                <a:schemeClr val="accent1"/>
              </a:solidFill>
            </a:ln>
          </p:spPr>
        </p:sp>
        <p:pic>
          <p:nvPicPr>
            <p:cNvPr id="34" name="Image 34"/>
            <p:cNvPicPr>
              <a:picLocks noChangeAspect="1"/>
            </p:cNvPicPr>
            <p:nvPr/>
          </p:nvPicPr>
          <p:blipFill>
            <a:blip r:embed="rId3"/>
            <a:srcRect l="0" t="93" r="0" b="93"/>
            <a:stretch>
              <a:fillRect/>
            </a:stretch>
          </p:blipFill>
          <p:spPr>
            <a:xfrm>
              <a:off x="4391025" y="1676400"/>
              <a:ext cx="3409950" cy="1914525"/>
            </a:xfrm>
            <a:prstGeom prst="rect">
              <a:avLst/>
            </a:prstGeom>
          </p:spPr>
        </p:pic>
        <p:sp>
          <p:nvSpPr>
            <p:cNvPr id="35" name="Ellipse 35"/>
            <p:cNvSpPr/>
            <p:nvPr/>
          </p:nvSpPr>
          <p:spPr>
            <a:xfrm>
              <a:off x="5772150" y="2305050"/>
              <a:ext cx="647700" cy="647700"/>
            </a:xfrm>
            <a:prstGeom prst="ellipse">
              <a:avLst/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36" name="Freeform 36"/>
            <p:cNvSpPr/>
            <p:nvPr/>
          </p:nvSpPr>
          <p:spPr>
            <a:xfrm>
              <a:off x="6000750" y="2476500"/>
              <a:ext cx="266700" cy="304800"/>
            </a:xfrm>
            <a:custGeom>
              <a:avLst/>
              <a:gdLst/>
              <a:ahLst/>
              <a:cxnLst/>
              <a:rect l="l" t="t" r="r" b="b"/>
              <a:pathLst>
                <a:path w="266700" h="304800">
                  <a:moveTo>
                    <a:pt x="0" y="0"/>
                  </a:moveTo>
                  <a:lnTo>
                    <a:pt x="266700" y="152400"/>
                  </a:lnTo>
                  <a:lnTo>
                    <a:pt x="0" y="30480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</p:grpSp>
      <p:grpSp>
        <p:nvGrpSpPr>
          <p:cNvPr id="43" name="p06-video-note"/>
          <p:cNvGrpSpPr/>
          <p:nvPr/>
        </p:nvGrpSpPr>
        <p:grpSpPr>
          <a:xfrm>
            <a:off x="4514850" y="3886200"/>
            <a:ext cx="3272841" cy="675894"/>
            <a:chOff x="4514850" y="3886200"/>
            <a:chExt cx="3272841" cy="675894"/>
          </a:xfrm>
        </p:grpSpPr>
        <p:grpSp>
          <p:nvGrpSpPr>
            <p:cNvPr id="40" name="Group 40"/>
            <p:cNvGrpSpPr/>
            <p:nvPr/>
          </p:nvGrpSpPr>
          <p:grpSpPr>
            <a:xfrm>
              <a:off x="4514850" y="4019550"/>
              <a:ext cx="228600" cy="152400"/>
              <a:chOff x="4514850" y="4019550"/>
              <a:chExt cx="228600" cy="152400"/>
            </a:xfrm>
          </p:grpSpPr>
          <p:sp>
            <p:nvSpPr>
              <p:cNvPr id="38" name="Freeform 38"/>
              <p:cNvSpPr/>
              <p:nvPr/>
            </p:nvSpPr>
            <p:spPr>
              <a:xfrm>
                <a:off x="4667250" y="4039478"/>
                <a:ext cx="76200" cy="112544"/>
              </a:xfrm>
              <a:custGeom>
                <a:avLst/>
                <a:gdLst/>
                <a:ahLst/>
                <a:cxnLst/>
                <a:rect l="l" t="t" r="r" b="b"/>
                <a:pathLst>
                  <a:path w="76200" h="112544">
                    <a:moveTo>
                      <a:pt x="0" y="30872"/>
                    </a:moveTo>
                    <a:lnTo>
                      <a:pt x="57823" y="1967"/>
                    </a:lnTo>
                    <a:cubicBezTo>
                      <a:pt x="61759" y="0"/>
                      <a:pt x="66432" y="210"/>
                      <a:pt x="70175" y="2523"/>
                    </a:cubicBezTo>
                    <a:cubicBezTo>
                      <a:pt x="73918" y="4836"/>
                      <a:pt x="76197" y="8921"/>
                      <a:pt x="76200" y="13320"/>
                    </a:cubicBezTo>
                    <a:lnTo>
                      <a:pt x="76200" y="99223"/>
                    </a:lnTo>
                    <a:cubicBezTo>
                      <a:pt x="76197" y="103623"/>
                      <a:pt x="73918" y="107708"/>
                      <a:pt x="70175" y="110021"/>
                    </a:cubicBezTo>
                    <a:cubicBezTo>
                      <a:pt x="66432" y="112333"/>
                      <a:pt x="61759" y="112544"/>
                      <a:pt x="57823" y="110577"/>
                    </a:cubicBezTo>
                    <a:lnTo>
                      <a:pt x="0" y="81672"/>
                    </a:lnTo>
                    <a:lnTo>
                      <a:pt x="0" y="30872"/>
                    </a:lnTo>
                  </a:path>
                </a:pathLst>
              </a:custGeom>
              <a:noFill/>
              <a:ln w="25400">
                <a:solidFill>
                  <a:schemeClr val="accent1"/>
                </a:solidFill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4514850" y="4019550"/>
                <a:ext cx="152400" cy="152400"/>
              </a:xfrm>
              <a:custGeom>
                <a:avLst/>
                <a:gdLst/>
                <a:ahLst/>
                <a:cxnLst/>
                <a:rect l="l" t="t" r="r" b="b"/>
                <a:pathLst>
                  <a:path w="152400" h="152400">
                    <a:moveTo>
                      <a:pt x="0" y="25400"/>
                    </a:moveTo>
                    <a:cubicBezTo>
                      <a:pt x="0" y="11372"/>
                      <a:pt x="11372" y="0"/>
                      <a:pt x="25400" y="0"/>
                    </a:cubicBezTo>
                    <a:lnTo>
                      <a:pt x="127000" y="0"/>
                    </a:lnTo>
                    <a:cubicBezTo>
                      <a:pt x="141028" y="0"/>
                      <a:pt x="152400" y="11372"/>
                      <a:pt x="152400" y="25400"/>
                    </a:cubicBezTo>
                    <a:lnTo>
                      <a:pt x="152400" y="127000"/>
                    </a:lnTo>
                    <a:cubicBezTo>
                      <a:pt x="152400" y="141028"/>
                      <a:pt x="141028" y="152400"/>
                      <a:pt x="127000" y="152400"/>
                    </a:cubicBezTo>
                    <a:lnTo>
                      <a:pt x="25400" y="152400"/>
                    </a:lnTo>
                    <a:cubicBezTo>
                      <a:pt x="11372" y="152400"/>
                      <a:pt x="0" y="141028"/>
                      <a:pt x="0" y="127000"/>
                    </a:cubicBezTo>
                    <a:lnTo>
                      <a:pt x="0" y="25400"/>
                    </a:lnTo>
                  </a:path>
                </a:pathLst>
              </a:custGeom>
              <a:noFill/>
              <a:ln w="25400">
                <a:solidFill>
                  <a:schemeClr val="accent1"/>
                </a:solidFill>
              </a:ln>
            </p:spPr>
          </p:sp>
        </p:grpSp>
        <p:sp>
          <p:nvSpPr>
            <p:cNvPr id="41" name="TextBox 41"/>
            <p:cNvSpPr txBox="1"/>
            <p:nvPr/>
          </p:nvSpPr>
          <p:spPr>
            <a:xfrm>
              <a:off x="4886706" y="3886200"/>
              <a:ext cx="290098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Видео: нейросети мозга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4886706" y="4210050"/>
              <a:ext cx="115479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12 секунд</a:t>
              </a:r>
            </a:p>
          </p:txBody>
        </p:sp>
      </p:grpSp>
      <p:grpSp>
        <p:nvGrpSpPr>
          <p:cNvPr id="65" name="p06-summary"/>
          <p:cNvGrpSpPr/>
          <p:nvPr/>
        </p:nvGrpSpPr>
        <p:grpSpPr>
          <a:xfrm>
            <a:off x="762000" y="4667250"/>
            <a:ext cx="10668000" cy="1333500"/>
            <a:chOff x="762000" y="4667250"/>
            <a:chExt cx="10668000" cy="1333500"/>
          </a:xfrm>
        </p:grpSpPr>
        <p:sp>
          <p:nvSpPr>
            <p:cNvPr id="44" name="Rectangle 44"/>
            <p:cNvSpPr/>
            <p:nvPr/>
          </p:nvSpPr>
          <p:spPr>
            <a:xfrm>
              <a:off x="762000" y="4667250"/>
              <a:ext cx="10668000" cy="1333500"/>
            </a:xfrm>
            <a:prstGeom prst="roundRect">
              <a:avLst>
                <a:gd name="adj" fmla="val 11429"/>
              </a:avLst>
            </a:prstGeom>
            <a:solidFill>
              <a:schemeClr val="accent1">
                <a:alpha val="10000"/>
              </a:schemeClr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1057656" y="4838700"/>
              <a:ext cx="388037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Баланс гормонов поддерживают:</a:t>
              </a:r>
            </a:p>
          </p:txBody>
        </p:sp>
        <p:grpSp>
          <p:nvGrpSpPr>
            <p:cNvPr id="50" name="Group 50"/>
            <p:cNvGrpSpPr/>
            <p:nvPr/>
          </p:nvGrpSpPr>
          <p:grpSpPr>
            <a:xfrm>
              <a:off x="1114425" y="5331619"/>
              <a:ext cx="166688" cy="214312"/>
              <a:chOff x="1114425" y="5331619"/>
              <a:chExt cx="166688" cy="214312"/>
            </a:xfrm>
          </p:grpSpPr>
          <p:sp>
            <p:nvSpPr>
              <p:cNvPr id="46" name="Freeform 46"/>
              <p:cNvSpPr/>
              <p:nvPr/>
            </p:nvSpPr>
            <p:spPr>
              <a:xfrm>
                <a:off x="1197852" y="5331619"/>
                <a:ext cx="476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47625">
                    <a:moveTo>
                      <a:pt x="0" y="23812"/>
                    </a:moveTo>
                    <a:cubicBezTo>
                      <a:pt x="0" y="36964"/>
                      <a:pt x="10661" y="47625"/>
                      <a:pt x="23812" y="47625"/>
                    </a:cubicBezTo>
                    <a:cubicBezTo>
                      <a:pt x="36964" y="47625"/>
                      <a:pt x="47625" y="36964"/>
                      <a:pt x="47625" y="23812"/>
                    </a:cubicBezTo>
                    <a:cubicBezTo>
                      <a:pt x="47625" y="10661"/>
                      <a:pt x="36964" y="0"/>
                      <a:pt x="23812" y="0"/>
                    </a:cubicBezTo>
                    <a:cubicBezTo>
                      <a:pt x="10661" y="0"/>
                      <a:pt x="0" y="10661"/>
                      <a:pt x="0" y="23812"/>
                    </a:cubicBezTo>
                  </a:path>
                </a:pathLst>
              </a:custGeom>
              <a:noFill/>
              <a:ln w="23812">
                <a:solidFill>
                  <a:srgbClr val="27AE60"/>
                </a:solidFill>
              </a:ln>
            </p:spPr>
          </p:sp>
          <p:sp>
            <p:nvSpPr>
              <p:cNvPr id="47" name="Freeform 47"/>
              <p:cNvSpPr/>
              <p:nvPr/>
            </p:nvSpPr>
            <p:spPr>
              <a:xfrm>
                <a:off x="1114425" y="5492353"/>
                <a:ext cx="68461" cy="17859"/>
              </a:xfrm>
              <a:custGeom>
                <a:avLst/>
                <a:gdLst/>
                <a:ahLst/>
                <a:cxnLst/>
                <a:rect l="l" t="t" r="r" b="b"/>
                <a:pathLst>
                  <a:path w="68461" h="17859">
                    <a:moveTo>
                      <a:pt x="0" y="5953"/>
                    </a:moveTo>
                    <a:lnTo>
                      <a:pt x="59531" y="17859"/>
                    </a:lnTo>
                    <a:lnTo>
                      <a:pt x="68461" y="0"/>
                    </a:lnTo>
                  </a:path>
                </a:pathLst>
              </a:custGeom>
              <a:noFill/>
              <a:ln w="23812">
                <a:solidFill>
                  <a:srgbClr val="27AE60"/>
                </a:solidFill>
              </a:ln>
            </p:spPr>
          </p:sp>
          <p:sp>
            <p:nvSpPr>
              <p:cNvPr id="48" name="Freeform 48"/>
              <p:cNvSpPr/>
              <p:nvPr/>
            </p:nvSpPr>
            <p:spPr>
              <a:xfrm>
                <a:off x="1197769" y="5391150"/>
                <a:ext cx="47625" cy="154781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154781">
                    <a:moveTo>
                      <a:pt x="47625" y="154781"/>
                    </a:moveTo>
                    <a:lnTo>
                      <a:pt x="47625" y="107156"/>
                    </a:lnTo>
                    <a:lnTo>
                      <a:pt x="0" y="71438"/>
                    </a:lnTo>
                    <a:lnTo>
                      <a:pt x="11906" y="0"/>
                    </a:lnTo>
                  </a:path>
                </a:pathLst>
              </a:custGeom>
              <a:noFill/>
              <a:ln w="23812">
                <a:solidFill>
                  <a:srgbClr val="27AE60"/>
                </a:solidFill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1150144" y="5391150"/>
                <a:ext cx="130969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130969" h="47625">
                    <a:moveTo>
                      <a:pt x="0" y="47625"/>
                    </a:moveTo>
                    <a:lnTo>
                      <a:pt x="0" y="11906"/>
                    </a:lnTo>
                    <a:lnTo>
                      <a:pt x="59531" y="0"/>
                    </a:lnTo>
                    <a:lnTo>
                      <a:pt x="95250" y="35719"/>
                    </a:lnTo>
                    <a:lnTo>
                      <a:pt x="130969" y="47625"/>
                    </a:lnTo>
                  </a:path>
                </a:pathLst>
              </a:custGeom>
              <a:noFill/>
              <a:ln w="23812">
                <a:solidFill>
                  <a:srgbClr val="27AE60"/>
                </a:solidFill>
              </a:ln>
            </p:spPr>
          </p:sp>
        </p:grpSp>
        <p:sp>
          <p:nvSpPr>
            <p:cNvPr id="51" name="TextBox 51"/>
            <p:cNvSpPr txBox="1"/>
            <p:nvPr/>
          </p:nvSpPr>
          <p:spPr>
            <a:xfrm>
              <a:off x="1457706" y="5295900"/>
              <a:ext cx="68465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спорт</a:t>
              </a:r>
            </a:p>
          </p:txBody>
        </p:sp>
        <p:sp>
          <p:nvSpPr>
            <p:cNvPr id="52" name="Freeform 52"/>
            <p:cNvSpPr/>
            <p:nvPr/>
          </p:nvSpPr>
          <p:spPr>
            <a:xfrm>
              <a:off x="3172886" y="5331524"/>
              <a:ext cx="212216" cy="224591"/>
            </a:xfrm>
            <a:custGeom>
              <a:avLst/>
              <a:gdLst/>
              <a:ahLst/>
              <a:cxnLst/>
              <a:rect l="l" t="t" r="r" b="b"/>
              <a:pathLst>
                <a:path w="212216" h="224591">
                  <a:moveTo>
                    <a:pt x="113239" y="95"/>
                  </a:moveTo>
                  <a:cubicBezTo>
                    <a:pt x="114811" y="95"/>
                    <a:pt x="116371" y="95"/>
                    <a:pt x="117918" y="95"/>
                  </a:cubicBezTo>
                  <a:cubicBezTo>
                    <a:pt x="86357" y="29422"/>
                    <a:pt x="80236" y="77103"/>
                    <a:pt x="103366" y="113451"/>
                  </a:cubicBezTo>
                  <a:cubicBezTo>
                    <a:pt x="126496" y="149800"/>
                    <a:pt x="172281" y="164450"/>
                    <a:pt x="212216" y="148280"/>
                  </a:cubicBezTo>
                  <a:cubicBezTo>
                    <a:pt x="191586" y="197919"/>
                    <a:pt x="137371" y="224591"/>
                    <a:pt x="85458" y="210642"/>
                  </a:cubicBezTo>
                  <a:cubicBezTo>
                    <a:pt x="33544" y="196692"/>
                    <a:pt x="0" y="146438"/>
                    <a:pt x="7029" y="93145"/>
                  </a:cubicBezTo>
                  <a:cubicBezTo>
                    <a:pt x="14058" y="39851"/>
                    <a:pt x="59484" y="13"/>
                    <a:pt x="113239" y="0"/>
                  </a:cubicBezTo>
                  <a:lnTo>
                    <a:pt x="113239" y="95"/>
                  </a:lnTo>
                </a:path>
              </a:pathLst>
            </a:custGeom>
            <a:noFill/>
            <a:ln w="23812">
              <a:solidFill>
                <a:srgbClr val="27AE60"/>
              </a:solidFill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3534156" y="5295900"/>
              <a:ext cx="41810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сон</a:t>
              </a:r>
            </a:p>
          </p:txBody>
        </p:sp>
        <p:grpSp>
          <p:nvGrpSpPr>
            <p:cNvPr id="58" name="Group 58"/>
            <p:cNvGrpSpPr/>
            <p:nvPr/>
          </p:nvGrpSpPr>
          <p:grpSpPr>
            <a:xfrm>
              <a:off x="5095875" y="5331619"/>
              <a:ext cx="202406" cy="226219"/>
              <a:chOff x="5095875" y="5331619"/>
              <a:chExt cx="202406" cy="226219"/>
            </a:xfrm>
          </p:grpSpPr>
          <p:sp>
            <p:nvSpPr>
              <p:cNvPr id="54" name="Freeform 54"/>
              <p:cNvSpPr/>
              <p:nvPr/>
            </p:nvSpPr>
            <p:spPr>
              <a:xfrm>
                <a:off x="5107781" y="5331619"/>
                <a:ext cx="476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47625">
                    <a:moveTo>
                      <a:pt x="0" y="23812"/>
                    </a:moveTo>
                    <a:cubicBezTo>
                      <a:pt x="0" y="36964"/>
                      <a:pt x="10661" y="47625"/>
                      <a:pt x="23812" y="47625"/>
                    </a:cubicBezTo>
                    <a:cubicBezTo>
                      <a:pt x="36964" y="47625"/>
                      <a:pt x="47625" y="36964"/>
                      <a:pt x="47625" y="23812"/>
                    </a:cubicBezTo>
                    <a:cubicBezTo>
                      <a:pt x="47625" y="10661"/>
                      <a:pt x="36964" y="0"/>
                      <a:pt x="23812" y="0"/>
                    </a:cubicBezTo>
                    <a:cubicBezTo>
                      <a:pt x="10661" y="0"/>
                      <a:pt x="0" y="10661"/>
                      <a:pt x="0" y="23812"/>
                    </a:cubicBezTo>
                  </a:path>
                </a:pathLst>
              </a:custGeom>
              <a:noFill/>
              <a:ln w="23812">
                <a:solidFill>
                  <a:srgbClr val="27AE60"/>
                </a:solidFill>
              </a:ln>
            </p:spPr>
          </p:sp>
          <p:sp>
            <p:nvSpPr>
              <p:cNvPr id="55" name="Freeform 55"/>
              <p:cNvSpPr/>
              <p:nvPr/>
            </p:nvSpPr>
            <p:spPr>
              <a:xfrm>
                <a:off x="5095875" y="5426869"/>
                <a:ext cx="71438" cy="130969"/>
              </a:xfrm>
              <a:custGeom>
                <a:avLst/>
                <a:gdLst/>
                <a:ahLst/>
                <a:cxnLst/>
                <a:rect l="l" t="t" r="r" b="b"/>
                <a:pathLst>
                  <a:path w="71438" h="130969">
                    <a:moveTo>
                      <a:pt x="11906" y="130969"/>
                    </a:moveTo>
                    <a:lnTo>
                      <a:pt x="11906" y="71438"/>
                    </a:lnTo>
                    <a:lnTo>
                      <a:pt x="0" y="59531"/>
                    </a:lnTo>
                    <a:lnTo>
                      <a:pt x="0" y="11906"/>
                    </a:lnTo>
                    <a:cubicBezTo>
                      <a:pt x="0" y="5331"/>
                      <a:pt x="5331" y="0"/>
                      <a:pt x="11906" y="0"/>
                    </a:cubicBezTo>
                    <a:lnTo>
                      <a:pt x="59531" y="0"/>
                    </a:lnTo>
                    <a:cubicBezTo>
                      <a:pt x="66107" y="0"/>
                      <a:pt x="71438" y="5331"/>
                      <a:pt x="71438" y="11906"/>
                    </a:cubicBezTo>
                    <a:lnTo>
                      <a:pt x="71438" y="59531"/>
                    </a:lnTo>
                    <a:lnTo>
                      <a:pt x="59531" y="71438"/>
                    </a:lnTo>
                    <a:lnTo>
                      <a:pt x="59531" y="130969"/>
                    </a:lnTo>
                  </a:path>
                </a:pathLst>
              </a:custGeom>
              <a:noFill/>
              <a:ln w="23812">
                <a:solidFill>
                  <a:srgbClr val="27AE60"/>
                </a:solidFill>
              </a:ln>
            </p:spPr>
          </p:sp>
          <p:sp>
            <p:nvSpPr>
              <p:cNvPr id="56" name="Freeform 56"/>
              <p:cNvSpPr/>
              <p:nvPr/>
            </p:nvSpPr>
            <p:spPr>
              <a:xfrm>
                <a:off x="5226844" y="5331619"/>
                <a:ext cx="47625" cy="47625"/>
              </a:xfrm>
              <a:custGeom>
                <a:avLst/>
                <a:gdLst/>
                <a:ahLst/>
                <a:cxnLst/>
                <a:rect l="l" t="t" r="r" b="b"/>
                <a:pathLst>
                  <a:path w="47625" h="47625">
                    <a:moveTo>
                      <a:pt x="0" y="23812"/>
                    </a:moveTo>
                    <a:cubicBezTo>
                      <a:pt x="0" y="36964"/>
                      <a:pt x="10661" y="47625"/>
                      <a:pt x="23812" y="47625"/>
                    </a:cubicBezTo>
                    <a:cubicBezTo>
                      <a:pt x="36964" y="47625"/>
                      <a:pt x="47625" y="36964"/>
                      <a:pt x="47625" y="23812"/>
                    </a:cubicBezTo>
                    <a:cubicBezTo>
                      <a:pt x="47625" y="10661"/>
                      <a:pt x="36964" y="0"/>
                      <a:pt x="23812" y="0"/>
                    </a:cubicBezTo>
                    <a:cubicBezTo>
                      <a:pt x="10661" y="0"/>
                      <a:pt x="0" y="10661"/>
                      <a:pt x="0" y="23812"/>
                    </a:cubicBezTo>
                  </a:path>
                </a:pathLst>
              </a:custGeom>
              <a:noFill/>
              <a:ln w="23812">
                <a:solidFill>
                  <a:srgbClr val="27AE60"/>
                </a:solidFill>
              </a:ln>
            </p:spPr>
          </p:sp>
          <p:sp>
            <p:nvSpPr>
              <p:cNvPr id="57" name="Freeform 57"/>
              <p:cNvSpPr/>
              <p:nvPr/>
            </p:nvSpPr>
            <p:spPr>
              <a:xfrm>
                <a:off x="5203031" y="5426869"/>
                <a:ext cx="95250" cy="130969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130969">
                    <a:moveTo>
                      <a:pt x="23812" y="130969"/>
                    </a:moveTo>
                    <a:lnTo>
                      <a:pt x="23812" y="83344"/>
                    </a:lnTo>
                    <a:lnTo>
                      <a:pt x="0" y="83344"/>
                    </a:lnTo>
                    <a:lnTo>
                      <a:pt x="23812" y="11906"/>
                    </a:lnTo>
                    <a:cubicBezTo>
                      <a:pt x="23812" y="5331"/>
                      <a:pt x="29143" y="0"/>
                      <a:pt x="35719" y="0"/>
                    </a:cubicBezTo>
                    <a:lnTo>
                      <a:pt x="59531" y="0"/>
                    </a:lnTo>
                    <a:cubicBezTo>
                      <a:pt x="66107" y="0"/>
                      <a:pt x="71438" y="5331"/>
                      <a:pt x="71438" y="11906"/>
                    </a:cubicBezTo>
                    <a:lnTo>
                      <a:pt x="95250" y="83344"/>
                    </a:lnTo>
                    <a:lnTo>
                      <a:pt x="71438" y="83344"/>
                    </a:lnTo>
                    <a:lnTo>
                      <a:pt x="71438" y="130969"/>
                    </a:lnTo>
                  </a:path>
                </a:pathLst>
              </a:custGeom>
              <a:noFill/>
              <a:ln w="23812">
                <a:solidFill>
                  <a:srgbClr val="27AE60"/>
                </a:solidFill>
              </a:ln>
            </p:spPr>
          </p:sp>
        </p:grpSp>
        <p:sp>
          <p:nvSpPr>
            <p:cNvPr id="59" name="TextBox 59"/>
            <p:cNvSpPr txBox="1"/>
            <p:nvPr/>
          </p:nvSpPr>
          <p:spPr>
            <a:xfrm>
              <a:off x="5439156" y="5295900"/>
              <a:ext cx="95120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общение</a:t>
              </a:r>
            </a:p>
          </p:txBody>
        </p:sp>
        <p:grpSp>
          <p:nvGrpSpPr>
            <p:cNvPr id="63" name="Group 63"/>
            <p:cNvGrpSpPr/>
            <p:nvPr/>
          </p:nvGrpSpPr>
          <p:grpSpPr>
            <a:xfrm>
              <a:off x="7489031" y="5343525"/>
              <a:ext cx="166688" cy="214312"/>
              <a:chOff x="7489031" y="5343525"/>
              <a:chExt cx="166688" cy="214312"/>
            </a:xfrm>
          </p:grpSpPr>
          <p:sp>
            <p:nvSpPr>
              <p:cNvPr id="60" name="Freeform 60"/>
              <p:cNvSpPr/>
              <p:nvPr/>
            </p:nvSpPr>
            <p:spPr>
              <a:xfrm>
                <a:off x="7489031" y="5343525"/>
                <a:ext cx="166688" cy="214312"/>
              </a:xfrm>
              <a:custGeom>
                <a:avLst/>
                <a:gdLst/>
                <a:ahLst/>
                <a:cxnLst/>
                <a:rect l="l" t="t" r="r" b="b"/>
                <a:pathLst>
                  <a:path w="166688" h="214312">
                    <a:moveTo>
                      <a:pt x="11906" y="0"/>
                    </a:moveTo>
                    <a:lnTo>
                      <a:pt x="142875" y="0"/>
                    </a:lnTo>
                    <a:cubicBezTo>
                      <a:pt x="156026" y="0"/>
                      <a:pt x="166688" y="10661"/>
                      <a:pt x="166688" y="23812"/>
                    </a:cubicBezTo>
                    <a:lnTo>
                      <a:pt x="166688" y="166688"/>
                    </a:lnTo>
                    <a:cubicBezTo>
                      <a:pt x="166688" y="179839"/>
                      <a:pt x="156026" y="190500"/>
                      <a:pt x="142875" y="190500"/>
                    </a:cubicBezTo>
                    <a:lnTo>
                      <a:pt x="11906" y="190500"/>
                    </a:lnTo>
                    <a:cubicBezTo>
                      <a:pt x="5331" y="190500"/>
                      <a:pt x="0" y="185169"/>
                      <a:pt x="0" y="178594"/>
                    </a:cubicBezTo>
                    <a:lnTo>
                      <a:pt x="0" y="11906"/>
                    </a:lnTo>
                    <a:cubicBezTo>
                      <a:pt x="0" y="5331"/>
                      <a:pt x="5331" y="0"/>
                      <a:pt x="11906" y="0"/>
                    </a:cubicBezTo>
                    <a:moveTo>
                      <a:pt x="47625" y="0"/>
                    </a:moveTo>
                    <a:lnTo>
                      <a:pt x="47625" y="214312"/>
                    </a:lnTo>
                  </a:path>
                </a:pathLst>
              </a:custGeom>
              <a:noFill/>
              <a:ln w="23812">
                <a:solidFill>
                  <a:srgbClr val="27AE60"/>
                </a:solidFill>
              </a:ln>
            </p:spPr>
          </p:sp>
          <p:sp>
            <p:nvSpPr>
              <p:cNvPr id="61" name="Freeform 61"/>
              <p:cNvSpPr/>
              <p:nvPr/>
            </p:nvSpPr>
            <p:spPr>
              <a:xfrm>
                <a:off x="7584281" y="5391150"/>
                <a:ext cx="2381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3812" h="9525">
                    <a:moveTo>
                      <a:pt x="0" y="0"/>
                    </a:moveTo>
                    <a:lnTo>
                      <a:pt x="23812" y="0"/>
                    </a:lnTo>
                  </a:path>
                </a:pathLst>
              </a:custGeom>
              <a:noFill/>
              <a:ln w="23812">
                <a:solidFill>
                  <a:srgbClr val="27AE60"/>
                </a:solidFill>
              </a:ln>
            </p:spPr>
          </p:sp>
          <p:sp>
            <p:nvSpPr>
              <p:cNvPr id="62" name="Freeform 62"/>
              <p:cNvSpPr/>
              <p:nvPr/>
            </p:nvSpPr>
            <p:spPr>
              <a:xfrm>
                <a:off x="7584281" y="5438775"/>
                <a:ext cx="2381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3812" h="9525">
                    <a:moveTo>
                      <a:pt x="0" y="0"/>
                    </a:moveTo>
                    <a:lnTo>
                      <a:pt x="23812" y="0"/>
                    </a:lnTo>
                  </a:path>
                </a:pathLst>
              </a:custGeom>
              <a:noFill/>
              <a:ln w="23812">
                <a:solidFill>
                  <a:srgbClr val="27AE60"/>
                </a:solidFill>
              </a:ln>
            </p:spPr>
          </p:sp>
        </p:grpSp>
        <p:sp>
          <p:nvSpPr>
            <p:cNvPr id="64" name="TextBox 64"/>
            <p:cNvSpPr txBox="1"/>
            <p:nvPr/>
          </p:nvSpPr>
          <p:spPr>
            <a:xfrm>
              <a:off x="7820406" y="5295900"/>
              <a:ext cx="255184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здоровый образ жизни</a:t>
              </a:r>
            </a:p>
          </p:txBody>
        </p:sp>
      </p:grpSp>
      <p:grpSp>
        <p:nvGrpSpPr>
          <p:cNvPr id="68" name="p06-credits"/>
          <p:cNvGrpSpPr/>
          <p:nvPr/>
        </p:nvGrpSpPr>
        <p:grpSpPr>
          <a:xfrm>
            <a:off x="752856" y="6197600"/>
            <a:ext cx="11025761" cy="555244"/>
            <a:chOff x="752856" y="6197600"/>
            <a:chExt cx="11025761" cy="555244"/>
          </a:xfrm>
        </p:grpSpPr>
        <p:sp>
          <p:nvSpPr>
            <p:cNvPr id="66" name="TextBox 66"/>
            <p:cNvSpPr txBox="1"/>
            <p:nvPr/>
          </p:nvSpPr>
          <p:spPr>
            <a:xfrm>
              <a:off x="753618" y="6197600"/>
              <a:ext cx="1102499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650" dirty="0">
                  <a:solidFill>
                    <a:srgbClr val="7F8C8D"/>
                  </a:solidFill>
                  <a:latin typeface="+mn-lt"/>
                  <a:ea typeface="+mn-ea"/>
                  <a:cs typeface="+mn-cs"/>
                </a:rPr>
                <a:t>© Katherine Stember / Wikimedia / CC BY 4.0; видео — © JOGOS Public Assets / Wikimedia / CC BY-SA 4.0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752856" y="6400800"/>
              <a:ext cx="307869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Концепция счастья · ИС-24</a:t>
              </a:r>
            </a:p>
          </p:txBody>
        </p:sp>
      </p:grpSp>
      <p:sp>
        <p:nvSpPr>
          <p:cNvPr id="69" name="p06-num"/>
          <p:cNvSpPr txBox="1"/>
          <p:nvPr/>
        </p:nvSpPr>
        <p:spPr>
          <a:xfrm>
            <a:off x="11151304" y="6400800"/>
            <a:ext cx="287840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80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07</a:t>
            </a:r>
          </a:p>
        </p:txBody>
      </p:sp>
      <p:pic>
        <p:nvPicPr>
          <p:cNvPr id="70" name="PPT Master narration: narration7.mp3">
            <a:hlinkClick r:id="" action="ppaction://media"/>
          </p:cNvPr>
          <p:cNvPicPr>
            <a:picLocks noChangeAspect="1"/>
          </p:cNvPicPr>
          <p:nvPr>
            <a:audioFile r:link="rId6"/>
            <p:extLst>
              <p:ext uri="{DAA4B4D4-6D71-4841-9C94-3DE7FCFB9230}">
                <p14:media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4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6" fill="hold" display="0">
                  <p:stCondLst>
                    <p:cond delay="300"/>
                  </p:stCondLst>
                </p:cTn>
                <p:tgtEl>
                  <p:spTgt spid="70"/>
                </p:tgtEl>
              </p:cMediaNode>
            </p:audio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7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7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88000"/>
                </a:srgbClr>
              </a:gs>
              <a:gs pos="100000">
                <a:srgbClr val="F5E6D3">
                  <a:alpha val="88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p07-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E67E22"/>
          </a:solidFill>
          <a:ln>
            <a:noFill/>
          </a:ln>
        </p:spPr>
      </p:sp>
      <p:sp>
        <p:nvSpPr>
          <p:cNvPr id="5" name="08_history-foot"/>
          <p:cNvSpPr txBox="1"/>
          <p:nvPr/>
        </p:nvSpPr>
        <p:spPr>
          <a:xfrm>
            <a:off x="752856" y="6343650"/>
            <a:ext cx="3078699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ru" sz="180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Концепция счастья · ИС-24</a:t>
            </a:r>
          </a:p>
        </p:txBody>
      </p:sp>
      <p:sp>
        <p:nvSpPr>
          <p:cNvPr id="6" name="p07-num"/>
          <p:cNvSpPr txBox="1"/>
          <p:nvPr/>
        </p:nvSpPr>
        <p:spPr>
          <a:xfrm>
            <a:off x="11151304" y="6343650"/>
            <a:ext cx="287840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80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08</a:t>
            </a:r>
          </a:p>
        </p:txBody>
      </p:sp>
      <p:grpSp>
        <p:nvGrpSpPr>
          <p:cNvPr id="8" name="p07-title"/>
          <p:cNvGrpSpPr/>
          <p:nvPr/>
        </p:nvGrpSpPr>
        <p:grpSpPr>
          <a:xfrm>
            <a:off x="743712" y="565150"/>
            <a:ext cx="7309211" cy="704088"/>
            <a:chOff x="743712" y="565150"/>
            <a:chExt cx="7309211" cy="704088"/>
          </a:xfrm>
        </p:grpSpPr>
        <p:sp>
          <p:nvSpPr>
            <p:cNvPr id="7" name="TextBox 7"/>
            <p:cNvSpPr txBox="1"/>
            <p:nvPr/>
          </p:nvSpPr>
          <p:spPr>
            <a:xfrm>
              <a:off x="743712" y="565150"/>
              <a:ext cx="7309211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Семь вех в понимании счастья</a:t>
              </a:r>
            </a:p>
          </p:txBody>
        </p:sp>
      </p:grpSp>
      <p:grpSp>
        <p:nvGrpSpPr>
          <p:cNvPr id="43" name="p07-timeline"/>
          <p:cNvGrpSpPr/>
          <p:nvPr/>
        </p:nvGrpSpPr>
        <p:grpSpPr>
          <a:xfrm>
            <a:off x="763583" y="2019300"/>
            <a:ext cx="10897388" cy="2157857"/>
            <a:chOff x="763583" y="2019300"/>
            <a:chExt cx="10897388" cy="2157857"/>
          </a:xfrm>
        </p:grpSpPr>
        <p:sp>
          <p:nvSpPr>
            <p:cNvPr id="9" name="Line 9"/>
            <p:cNvSpPr/>
            <p:nvPr/>
          </p:nvSpPr>
          <p:spPr>
            <a:xfrm>
              <a:off x="1143000" y="2857500"/>
              <a:ext cx="10096500" cy="9525"/>
            </a:xfrm>
            <a:custGeom>
              <a:avLst/>
              <a:gdLst/>
              <a:ahLst/>
              <a:cxnLst/>
              <a:rect l="l" t="t" r="r" b="b"/>
              <a:pathLst>
                <a:path w="10096500" h="9525">
                  <a:moveTo>
                    <a:pt x="0" y="0"/>
                  </a:moveTo>
                  <a:lnTo>
                    <a:pt x="10096500" y="0"/>
                  </a:lnTo>
                </a:path>
              </a:pathLst>
            </a:custGeom>
            <a:noFill/>
            <a:ln w="38100">
              <a:solidFill>
                <a:schemeClr val="accent1"/>
              </a:solidFill>
            </a:ln>
          </p:spPr>
        </p:sp>
        <p:grpSp>
          <p:nvGrpSpPr>
            <p:cNvPr id="14" name="p07-c0"/>
            <p:cNvGrpSpPr/>
            <p:nvPr/>
          </p:nvGrpSpPr>
          <p:grpSpPr>
            <a:xfrm>
              <a:off x="763583" y="2019300"/>
              <a:ext cx="1425584" cy="1529207"/>
              <a:chOff x="763583" y="2019300"/>
              <a:chExt cx="1425584" cy="1529207"/>
            </a:xfrm>
          </p:grpSpPr>
          <p:pic>
            <p:nvPicPr>
              <p:cNvPr id="10" name="Image 10"/>
              <p:cNvPicPr>
                <a:picLocks noChangeAspect="1"/>
              </p:cNvPicPr>
              <p:nvPr/>
            </p:nvPicPr>
            <p:blipFill>
              <a:blip r:embed="rId3"/>
              <a:srcRect l="0" t="15806" r="0" b="15807"/>
              <a:stretch>
                <a:fillRect/>
              </a:stretch>
            </p:blipFill>
            <p:spPr>
              <a:xfrm>
                <a:off x="1114425" y="2019300"/>
                <a:ext cx="723900" cy="723900"/>
              </a:xfrm>
              <a:prstGeom prst="rect">
                <a:avLst/>
              </a:prstGeom>
            </p:spPr>
          </p:pic>
          <p:sp>
            <p:nvSpPr>
              <p:cNvPr id="11" name="Ellipse 11"/>
              <p:cNvSpPr/>
              <p:nvPr/>
            </p:nvSpPr>
            <p:spPr>
              <a:xfrm>
                <a:off x="1419225" y="2800350"/>
                <a:ext cx="114300" cy="1143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</p:sp>
          <p:sp>
            <p:nvSpPr>
              <p:cNvPr id="12" name="TextBox 12"/>
              <p:cNvSpPr txBox="1"/>
              <p:nvPr/>
            </p:nvSpPr>
            <p:spPr>
              <a:xfrm>
                <a:off x="763583" y="2933700"/>
                <a:ext cx="1425584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ru" sz="18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Аристотель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918239" y="3225800"/>
                <a:ext cx="1116273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ru" sz="16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эвдемония</a:t>
                </a:r>
              </a:p>
            </p:txBody>
          </p:sp>
        </p:grpSp>
        <p:grpSp>
          <p:nvGrpSpPr>
            <p:cNvPr id="19" name="p07-c1"/>
            <p:cNvGrpSpPr/>
            <p:nvPr/>
          </p:nvGrpSpPr>
          <p:grpSpPr>
            <a:xfrm>
              <a:off x="2415321" y="2019300"/>
              <a:ext cx="1360608" cy="2157857"/>
              <a:chOff x="2415321" y="2019300"/>
              <a:chExt cx="1360608" cy="2157857"/>
            </a:xfrm>
          </p:grpSpPr>
          <p:pic>
            <p:nvPicPr>
              <p:cNvPr id="15" name="Image 15"/>
              <p:cNvPicPr>
                <a:picLocks noChangeAspect="1"/>
              </p:cNvPicPr>
              <p:nvPr/>
            </p:nvPicPr>
            <p:blipFill>
              <a:blip r:embed="rId4"/>
              <a:srcRect l="20099" t="0" r="20099" b="0"/>
              <a:stretch>
                <a:fillRect/>
              </a:stretch>
            </p:blipFill>
            <p:spPr>
              <a:xfrm>
                <a:off x="2733675" y="2019300"/>
                <a:ext cx="723900" cy="723900"/>
              </a:xfrm>
              <a:prstGeom prst="rect">
                <a:avLst/>
              </a:prstGeom>
            </p:spPr>
          </p:pic>
          <p:sp>
            <p:nvSpPr>
              <p:cNvPr id="16" name="Ellipse 16"/>
              <p:cNvSpPr/>
              <p:nvPr/>
            </p:nvSpPr>
            <p:spPr>
              <a:xfrm>
                <a:off x="3038475" y="2800350"/>
                <a:ext cx="114300" cy="1143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</p:sp>
          <p:sp>
            <p:nvSpPr>
              <p:cNvPr id="17" name="TextBox 17"/>
              <p:cNvSpPr txBox="1"/>
              <p:nvPr/>
            </p:nvSpPr>
            <p:spPr>
              <a:xfrm>
                <a:off x="2662708" y="3562350"/>
                <a:ext cx="865834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ru" sz="18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Стоики</a:t>
                </a: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2415321" y="3854450"/>
                <a:ext cx="1360608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ru" sz="16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спокойствие</a:t>
                </a:r>
              </a:p>
            </p:txBody>
          </p:sp>
        </p:grpSp>
        <p:grpSp>
          <p:nvGrpSpPr>
            <p:cNvPr id="23" name="p07-c2"/>
            <p:cNvGrpSpPr/>
            <p:nvPr/>
          </p:nvGrpSpPr>
          <p:grpSpPr>
            <a:xfrm>
              <a:off x="3973487" y="2019300"/>
              <a:ext cx="1482776" cy="1529207"/>
              <a:chOff x="3973487" y="2019300"/>
              <a:chExt cx="1482776" cy="1529207"/>
            </a:xfrm>
          </p:grpSpPr>
          <p:sp>
            <p:nvSpPr>
              <p:cNvPr id="20" name="Ellipse 20"/>
              <p:cNvSpPr/>
              <p:nvPr/>
            </p:nvSpPr>
            <p:spPr>
              <a:xfrm>
                <a:off x="4352925" y="2019300"/>
                <a:ext cx="723900" cy="723900"/>
              </a:xfrm>
              <a:prstGeom prst="ellipse">
                <a:avLst/>
              </a:prstGeom>
              <a:solidFill>
                <a:schemeClr val="accent1">
                  <a:alpha val="12000"/>
                </a:schemeClr>
              </a:solidFill>
              <a:ln w="28575">
                <a:solidFill>
                  <a:schemeClr val="accent1"/>
                </a:solidFill>
              </a:ln>
            </p:spPr>
          </p:sp>
          <p:sp>
            <p:nvSpPr>
              <p:cNvPr id="21" name="TextBox 21"/>
              <p:cNvSpPr txBox="1"/>
              <p:nvPr/>
            </p:nvSpPr>
            <p:spPr>
              <a:xfrm>
                <a:off x="4351927" y="2933700"/>
                <a:ext cx="725896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ru" sz="18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Индия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3973487" y="3225800"/>
                <a:ext cx="1482776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ru" sz="16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освобождение</a:t>
                </a:r>
              </a:p>
            </p:txBody>
          </p:sp>
        </p:grpSp>
        <p:grpSp>
          <p:nvGrpSpPr>
            <p:cNvPr id="28" name="p07-c3"/>
            <p:cNvGrpSpPr/>
            <p:nvPr/>
          </p:nvGrpSpPr>
          <p:grpSpPr>
            <a:xfrm>
              <a:off x="5373516" y="2019300"/>
              <a:ext cx="1921219" cy="2157857"/>
              <a:chOff x="5373516" y="2019300"/>
              <a:chExt cx="1921219" cy="2157857"/>
            </a:xfrm>
          </p:grpSpPr>
          <p:pic>
            <p:nvPicPr>
              <p:cNvPr id="24" name="Image 24"/>
              <p:cNvPicPr>
                <a:picLocks noChangeAspect="1"/>
              </p:cNvPicPr>
              <p:nvPr/>
            </p:nvPicPr>
            <p:blipFill>
              <a:blip r:embed="rId5"/>
              <a:srcRect l="12500" t="0" r="12500" b="0"/>
              <a:stretch>
                <a:fillRect/>
              </a:stretch>
            </p:blipFill>
            <p:spPr>
              <a:xfrm>
                <a:off x="5972175" y="2019300"/>
                <a:ext cx="723900" cy="723900"/>
              </a:xfrm>
              <a:prstGeom prst="rect">
                <a:avLst/>
              </a:prstGeom>
            </p:spPr>
          </p:pic>
          <p:sp>
            <p:nvSpPr>
              <p:cNvPr id="25" name="Ellipse 25"/>
              <p:cNvSpPr/>
              <p:nvPr/>
            </p:nvSpPr>
            <p:spPr>
              <a:xfrm>
                <a:off x="6276975" y="2800350"/>
                <a:ext cx="114300" cy="1143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</p:sp>
          <p:sp>
            <p:nvSpPr>
              <p:cNvPr id="26" name="TextBox 26"/>
              <p:cNvSpPr txBox="1"/>
              <p:nvPr/>
            </p:nvSpPr>
            <p:spPr>
              <a:xfrm>
                <a:off x="5373516" y="3562350"/>
                <a:ext cx="1921219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ru" sz="18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Фома Аквинский</a:t>
                </a:r>
              </a:p>
            </p:txBody>
          </p:sp>
          <p:sp>
            <p:nvSpPr>
              <p:cNvPr id="27" name="TextBox 27"/>
              <p:cNvSpPr txBox="1"/>
              <p:nvPr/>
            </p:nvSpPr>
            <p:spPr>
              <a:xfrm>
                <a:off x="5802544" y="3854450"/>
                <a:ext cx="1063163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ru" sz="16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дар Божий</a:t>
                </a:r>
              </a:p>
            </p:txBody>
          </p:sp>
        </p:grpSp>
        <p:grpSp>
          <p:nvGrpSpPr>
            <p:cNvPr id="33" name="p07-c4"/>
            <p:cNvGrpSpPr/>
            <p:nvPr/>
          </p:nvGrpSpPr>
          <p:grpSpPr>
            <a:xfrm>
              <a:off x="7028114" y="2019300"/>
              <a:ext cx="1850523" cy="1529207"/>
              <a:chOff x="7028114" y="2019300"/>
              <a:chExt cx="1850523" cy="1529207"/>
            </a:xfrm>
          </p:grpSpPr>
          <p:pic>
            <p:nvPicPr>
              <p:cNvPr id="29" name="Image 29"/>
              <p:cNvPicPr>
                <a:picLocks noChangeAspect="1"/>
              </p:cNvPicPr>
              <p:nvPr/>
            </p:nvPicPr>
            <p:blipFill>
              <a:blip r:embed="rId6"/>
              <a:srcRect l="271" t="0" r="271" b="0"/>
              <a:stretch>
                <a:fillRect/>
              </a:stretch>
            </p:blipFill>
            <p:spPr>
              <a:xfrm>
                <a:off x="7591425" y="2019300"/>
                <a:ext cx="723900" cy="723900"/>
              </a:xfrm>
              <a:prstGeom prst="rect">
                <a:avLst/>
              </a:prstGeom>
            </p:spPr>
          </p:pic>
          <p:sp>
            <p:nvSpPr>
              <p:cNvPr id="30" name="Ellipse 30"/>
              <p:cNvSpPr/>
              <p:nvPr/>
            </p:nvSpPr>
            <p:spPr>
              <a:xfrm>
                <a:off x="7896225" y="2800350"/>
                <a:ext cx="114300" cy="1143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</p:sp>
          <p:sp>
            <p:nvSpPr>
              <p:cNvPr id="31" name="TextBox 31"/>
              <p:cNvSpPr txBox="1"/>
              <p:nvPr/>
            </p:nvSpPr>
            <p:spPr>
              <a:xfrm>
                <a:off x="7240583" y="2933700"/>
                <a:ext cx="1425584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ru" sz="18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Джефферсон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7028114" y="3225800"/>
                <a:ext cx="1850523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ru" sz="16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право на счастье</a:t>
                </a:r>
              </a:p>
            </p:txBody>
          </p:sp>
        </p:grpSp>
        <p:grpSp>
          <p:nvGrpSpPr>
            <p:cNvPr id="38" name="p07-c5"/>
            <p:cNvGrpSpPr/>
            <p:nvPr/>
          </p:nvGrpSpPr>
          <p:grpSpPr>
            <a:xfrm>
              <a:off x="8647985" y="2019300"/>
              <a:ext cx="1849281" cy="2157857"/>
              <a:chOff x="8647985" y="2019300"/>
              <a:chExt cx="1849281" cy="2157857"/>
            </a:xfrm>
          </p:grpSpPr>
          <p:pic>
            <p:nvPicPr>
              <p:cNvPr id="34" name="Image 34"/>
              <p:cNvPicPr>
                <a:picLocks noChangeAspect="1"/>
              </p:cNvPicPr>
              <p:nvPr/>
            </p:nvPicPr>
            <p:blipFill>
              <a:blip r:embed="rId7"/>
              <a:srcRect l="1267" t="0" r="1267" b="0"/>
              <a:stretch>
                <a:fillRect/>
              </a:stretch>
            </p:blipFill>
            <p:spPr>
              <a:xfrm>
                <a:off x="9210675" y="2019300"/>
                <a:ext cx="723900" cy="723900"/>
              </a:xfrm>
              <a:prstGeom prst="rect">
                <a:avLst/>
              </a:prstGeom>
            </p:spPr>
          </p:pic>
          <p:sp>
            <p:nvSpPr>
              <p:cNvPr id="35" name="Ellipse 35"/>
              <p:cNvSpPr/>
              <p:nvPr/>
            </p:nvSpPr>
            <p:spPr>
              <a:xfrm>
                <a:off x="9515475" y="2800350"/>
                <a:ext cx="114300" cy="1143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</p:sp>
          <p:sp>
            <p:nvSpPr>
              <p:cNvPr id="36" name="TextBox 36"/>
              <p:cNvSpPr txBox="1"/>
              <p:nvPr/>
            </p:nvSpPr>
            <p:spPr>
              <a:xfrm>
                <a:off x="8647985" y="3562350"/>
                <a:ext cx="1849281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ru" sz="18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Бентам и Милль</a:t>
                </a: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8831237" y="3854450"/>
                <a:ext cx="1482776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ru" sz="16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удовольствие</a:t>
                </a:r>
              </a:p>
            </p:txBody>
          </p:sp>
        </p:grpSp>
        <p:grpSp>
          <p:nvGrpSpPr>
            <p:cNvPr id="42" name="p07-c6"/>
            <p:cNvGrpSpPr/>
            <p:nvPr/>
          </p:nvGrpSpPr>
          <p:grpSpPr>
            <a:xfrm>
              <a:off x="10056028" y="2019300"/>
              <a:ext cx="1604943" cy="1529207"/>
              <a:chOff x="10056028" y="2019300"/>
              <a:chExt cx="1604943" cy="1529207"/>
            </a:xfrm>
          </p:grpSpPr>
          <p:sp>
            <p:nvSpPr>
              <p:cNvPr id="39" name="Ellipse 39"/>
              <p:cNvSpPr/>
              <p:nvPr/>
            </p:nvSpPr>
            <p:spPr>
              <a:xfrm>
                <a:off x="10496550" y="2019300"/>
                <a:ext cx="723900" cy="723900"/>
              </a:xfrm>
              <a:prstGeom prst="ellipse">
                <a:avLst/>
              </a:prstGeom>
              <a:solidFill>
                <a:srgbClr val="E67E22">
                  <a:alpha val="12000"/>
                </a:srgbClr>
              </a:solidFill>
              <a:ln w="28575">
                <a:solidFill>
                  <a:srgbClr val="E67E22"/>
                </a:solidFill>
              </a:ln>
            </p:spPr>
          </p:sp>
          <p:sp>
            <p:nvSpPr>
              <p:cNvPr id="40" name="TextBox 40"/>
              <p:cNvSpPr txBox="1"/>
              <p:nvPr/>
            </p:nvSpPr>
            <p:spPr>
              <a:xfrm>
                <a:off x="10398089" y="2933700"/>
                <a:ext cx="920821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ru" sz="1800" b="1" dirty="0">
                    <a:solidFill>
                      <a:srgbClr val="E67E22"/>
                    </a:solidFill>
                    <a:latin typeface="+mn-lt"/>
                    <a:ea typeface="+mn-ea"/>
                    <a:cs typeface="+mn-cs"/>
                  </a:rPr>
                  <a:t>XXI век</a:t>
                </a:r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10056028" y="3225800"/>
                <a:ext cx="1604943" cy="32270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ru" sz="165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многомерность</a:t>
                </a:r>
              </a:p>
            </p:txBody>
          </p:sp>
        </p:grpSp>
      </p:grpSp>
      <p:grpSp>
        <p:nvGrpSpPr>
          <p:cNvPr id="48" name="p07-note"/>
          <p:cNvGrpSpPr/>
          <p:nvPr/>
        </p:nvGrpSpPr>
        <p:grpSpPr>
          <a:xfrm>
            <a:off x="762000" y="4286250"/>
            <a:ext cx="10668000" cy="857250"/>
            <a:chOff x="762000" y="4286250"/>
            <a:chExt cx="10668000" cy="857250"/>
          </a:xfrm>
        </p:grpSpPr>
        <p:sp>
          <p:nvSpPr>
            <p:cNvPr id="44" name="Rectangle 44"/>
            <p:cNvSpPr/>
            <p:nvPr/>
          </p:nvSpPr>
          <p:spPr>
            <a:xfrm>
              <a:off x="762000" y="4286250"/>
              <a:ext cx="10668000" cy="857250"/>
            </a:xfrm>
            <a:prstGeom prst="roundRect">
              <a:avLst>
                <a:gd name="adj" fmla="val 15556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45" name="Freeform 45"/>
            <p:cNvSpPr/>
            <p:nvPr/>
          </p:nvSpPr>
          <p:spPr>
            <a:xfrm>
              <a:off x="1038212" y="4646380"/>
              <a:ext cx="285778" cy="136992"/>
            </a:xfrm>
            <a:custGeom>
              <a:avLst/>
              <a:gdLst/>
              <a:ahLst/>
              <a:cxnLst/>
              <a:rect l="l" t="t" r="r" b="b"/>
              <a:pathLst>
                <a:path w="285778" h="136992">
                  <a:moveTo>
                    <a:pt x="108408" y="23601"/>
                  </a:moveTo>
                  <a:cubicBezTo>
                    <a:pt x="90249" y="5436"/>
                    <a:pt x="62935" y="0"/>
                    <a:pt x="39204" y="9827"/>
                  </a:cubicBezTo>
                  <a:cubicBezTo>
                    <a:pt x="15473" y="19655"/>
                    <a:pt x="0" y="42811"/>
                    <a:pt x="0" y="68496"/>
                  </a:cubicBezTo>
                  <a:cubicBezTo>
                    <a:pt x="0" y="94181"/>
                    <a:pt x="15473" y="117337"/>
                    <a:pt x="39204" y="127164"/>
                  </a:cubicBezTo>
                  <a:cubicBezTo>
                    <a:pt x="62935" y="136992"/>
                    <a:pt x="90249" y="131555"/>
                    <a:pt x="108408" y="113390"/>
                  </a:cubicBezTo>
                  <a:cubicBezTo>
                    <a:pt x="122499" y="100612"/>
                    <a:pt x="134178" y="85406"/>
                    <a:pt x="142889" y="68496"/>
                  </a:cubicBezTo>
                  <a:cubicBezTo>
                    <a:pt x="151600" y="51586"/>
                    <a:pt x="163279" y="36379"/>
                    <a:pt x="177369" y="23601"/>
                  </a:cubicBezTo>
                  <a:cubicBezTo>
                    <a:pt x="195529" y="5436"/>
                    <a:pt x="222843" y="0"/>
                    <a:pt x="246574" y="9827"/>
                  </a:cubicBezTo>
                  <a:cubicBezTo>
                    <a:pt x="270304" y="19655"/>
                    <a:pt x="285778" y="42811"/>
                    <a:pt x="285778" y="68496"/>
                  </a:cubicBezTo>
                  <a:cubicBezTo>
                    <a:pt x="285778" y="94181"/>
                    <a:pt x="270304" y="117337"/>
                    <a:pt x="246574" y="127164"/>
                  </a:cubicBezTo>
                  <a:cubicBezTo>
                    <a:pt x="222843" y="136992"/>
                    <a:pt x="195529" y="131555"/>
                    <a:pt x="177369" y="113390"/>
                  </a:cubicBezTo>
                  <a:cubicBezTo>
                    <a:pt x="163279" y="100612"/>
                    <a:pt x="151600" y="85406"/>
                    <a:pt x="142889" y="68496"/>
                  </a:cubicBezTo>
                  <a:cubicBezTo>
                    <a:pt x="134178" y="51586"/>
                    <a:pt x="122499" y="36379"/>
                    <a:pt x="108408" y="23601"/>
                  </a:cubicBezTo>
                </a:path>
              </a:pathLst>
            </a:custGeom>
            <a:noFill/>
            <a:ln w="31750">
              <a:solidFill>
                <a:srgbClr val="E67E22"/>
              </a:solidFill>
            </a:ln>
          </p:spPr>
        </p:sp>
        <p:sp>
          <p:nvSpPr>
            <p:cNvPr id="46" name="TextBox 46"/>
            <p:cNvSpPr txBox="1"/>
            <p:nvPr/>
          </p:nvSpPr>
          <p:spPr>
            <a:xfrm>
              <a:off x="1514856" y="4419600"/>
              <a:ext cx="840707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Общее: счастье — не удача, а результат усилий и добродетельной жизни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1514856" y="4743450"/>
              <a:ext cx="696060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Сегодня наука рассматривает его как многомерный феномен</a:t>
              </a:r>
            </a:p>
          </p:txBody>
        </p:sp>
      </p:grpSp>
      <p:sp>
        <p:nvSpPr>
          <p:cNvPr id="49" name="credit"/>
          <p:cNvSpPr txBox="1"/>
          <p:nvPr/>
        </p:nvSpPr>
        <p:spPr>
          <a:xfrm>
            <a:off x="753618" y="6521450"/>
            <a:ext cx="9307615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ru" sz="1650" dirty="0">
                <a:solidFill>
                  <a:srgbClr val="7F8C8D"/>
                </a:solidFill>
                <a:latin typeface="+mn-lt"/>
                <a:ea typeface="+mn-ea"/>
                <a:cs typeface="+mn-cs"/>
              </a:rPr>
              <a:t>Портреты: Wikimedia Commons — Public Domain / CC0; © Zde / Wikimedia / CC BY-SA 4.0</a:t>
            </a:r>
          </a:p>
        </p:txBody>
      </p:sp>
      <p:pic>
        <p:nvPicPr>
          <p:cNvPr id="50" name="PPT Master narration: narration8.mp3">
            <a:hlinkClick r:id="" action="ppaction://media"/>
          </p:cNvPr>
          <p:cNvPicPr>
            <a:picLocks noChangeAspect="1"/>
          </p:cNvPicPr>
          <p:nvPr>
            <a:audioFile r:link="rId10"/>
            <p:extLst>
              <p:ext uri="{DAA4B4D4-6D71-4841-9C94-3DE7FCFB9230}">
                <p14:media r:embed="rId9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4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6" fill="hold" display="0">
                  <p:stCondLst>
                    <p:cond delay="300"/>
                  </p:stCondLst>
                </p:cTn>
                <p:tgtEl>
                  <p:spTgt spid="50"/>
                </p:tgtEl>
              </p:cMediaNode>
            </p:audio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8-photo"/>
          <p:cNvPicPr>
            <a:picLocks noChangeAspect="1"/>
          </p:cNvPicPr>
          <p:nvPr/>
        </p:nvPicPr>
        <p:blipFill>
          <a:blip r:embed="rId2"/>
          <a:srcRect l="0" t="7728" r="0" b="772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8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88000"/>
                </a:srgbClr>
              </a:gs>
              <a:gs pos="100000">
                <a:srgbClr val="F5E6D3">
                  <a:alpha val="88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p08-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E67E22"/>
          </a:solidFill>
          <a:ln>
            <a:noFill/>
          </a:ln>
        </p:spPr>
      </p:sp>
      <p:sp>
        <p:nvSpPr>
          <p:cNvPr id="5" name="09_hedonia-foot"/>
          <p:cNvSpPr txBox="1"/>
          <p:nvPr/>
        </p:nvSpPr>
        <p:spPr>
          <a:xfrm>
            <a:off x="752856" y="6343650"/>
            <a:ext cx="3078699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ru" sz="180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Концепция счастья · ИС-24</a:t>
            </a:r>
          </a:p>
        </p:txBody>
      </p:sp>
      <p:sp>
        <p:nvSpPr>
          <p:cNvPr id="6" name="p08-num"/>
          <p:cNvSpPr txBox="1"/>
          <p:nvPr/>
        </p:nvSpPr>
        <p:spPr>
          <a:xfrm>
            <a:off x="11151304" y="6343650"/>
            <a:ext cx="287840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80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09</a:t>
            </a:r>
          </a:p>
        </p:txBody>
      </p:sp>
      <p:grpSp>
        <p:nvGrpSpPr>
          <p:cNvPr id="8" name="p08-title"/>
          <p:cNvGrpSpPr/>
          <p:nvPr/>
        </p:nvGrpSpPr>
        <p:grpSpPr>
          <a:xfrm>
            <a:off x="743712" y="565150"/>
            <a:ext cx="8428529" cy="704088"/>
            <a:chOff x="743712" y="565150"/>
            <a:chExt cx="8428529" cy="704088"/>
          </a:xfrm>
        </p:grpSpPr>
        <p:sp>
          <p:nvSpPr>
            <p:cNvPr id="7" name="TextBox 7"/>
            <p:cNvSpPr txBox="1"/>
            <p:nvPr/>
          </p:nvSpPr>
          <p:spPr>
            <a:xfrm>
              <a:off x="743712" y="565150"/>
              <a:ext cx="8428529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Удовольствие быстро, смысл долог</a:t>
              </a:r>
            </a:p>
          </p:txBody>
        </p:sp>
      </p:grpSp>
      <p:grpSp>
        <p:nvGrpSpPr>
          <p:cNvPr id="19" name="p08-hedonia"/>
          <p:cNvGrpSpPr/>
          <p:nvPr/>
        </p:nvGrpSpPr>
        <p:grpSpPr>
          <a:xfrm>
            <a:off x="762000" y="1714500"/>
            <a:ext cx="4953000" cy="3619500"/>
            <a:chOff x="762000" y="1714500"/>
            <a:chExt cx="4953000" cy="3619500"/>
          </a:xfrm>
        </p:grpSpPr>
        <p:sp>
          <p:nvSpPr>
            <p:cNvPr id="9" name="Rectangle 9"/>
            <p:cNvSpPr/>
            <p:nvPr/>
          </p:nvSpPr>
          <p:spPr>
            <a:xfrm>
              <a:off x="762000" y="1714500"/>
              <a:ext cx="4953000" cy="3619500"/>
            </a:xfrm>
            <a:prstGeom prst="roundRect">
              <a:avLst>
                <a:gd name="adj" fmla="val 4211"/>
              </a:avLst>
            </a:prstGeom>
            <a:solidFill>
              <a:srgbClr val="E67E22">
                <a:alpha val="14000"/>
              </a:srgbClr>
            </a:solidFill>
            <a:ln>
              <a:noFill/>
            </a:ln>
          </p:spPr>
        </p:sp>
        <p:pic>
          <p:nvPicPr>
            <p:cNvPr id="10" name="Image 10"/>
            <p:cNvPicPr>
              <a:picLocks noChangeAspect="1"/>
            </p:cNvPicPr>
            <p:nvPr/>
          </p:nvPicPr>
          <p:blipFill>
            <a:blip r:embed="rId3"/>
            <a:srcRect l="0" t="21912" r="0" b="21913"/>
            <a:stretch>
              <a:fillRect/>
            </a:stretch>
          </p:blipFill>
          <p:spPr>
            <a:xfrm>
              <a:off x="952500" y="1905000"/>
              <a:ext cx="4572000" cy="1714500"/>
            </a:xfrm>
            <a:prstGeom prst="rect">
              <a:avLst/>
            </a:prstGeom>
          </p:spPr>
        </p:pic>
        <p:grpSp>
          <p:nvGrpSpPr>
            <p:cNvPr id="15" name="Group 15"/>
            <p:cNvGrpSpPr/>
            <p:nvPr/>
          </p:nvGrpSpPr>
          <p:grpSpPr>
            <a:xfrm>
              <a:off x="1038225" y="3857625"/>
              <a:ext cx="285751" cy="285751"/>
              <a:chOff x="1038225" y="3857625"/>
              <a:chExt cx="285751" cy="285751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1038225" y="3857625"/>
                <a:ext cx="285751" cy="285751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285751">
                    <a:moveTo>
                      <a:pt x="0" y="142875"/>
                    </a:moveTo>
                    <a:cubicBezTo>
                      <a:pt x="0" y="221783"/>
                      <a:pt x="63967" y="285751"/>
                      <a:pt x="142875" y="285751"/>
                    </a:cubicBezTo>
                    <a:cubicBezTo>
                      <a:pt x="221783" y="285751"/>
                      <a:pt x="285751" y="221783"/>
                      <a:pt x="285751" y="142875"/>
                    </a:cubicBezTo>
                    <a:cubicBezTo>
                      <a:pt x="285751" y="63967"/>
                      <a:pt x="221783" y="0"/>
                      <a:pt x="142875" y="0"/>
                    </a:cubicBezTo>
                    <a:cubicBezTo>
                      <a:pt x="63967" y="0"/>
                      <a:pt x="0" y="63967"/>
                      <a:pt x="0" y="142875"/>
                    </a:cubicBezTo>
                  </a:path>
                </a:pathLst>
              </a:custGeom>
              <a:noFill/>
              <a:ln w="31750">
                <a:solidFill>
                  <a:srgbClr val="B9631B"/>
                </a:solidFill>
              </a:ln>
            </p:spPr>
          </p:sp>
          <p:sp>
            <p:nvSpPr>
              <p:cNvPr id="12" name="Freeform 12"/>
              <p:cNvSpPr/>
              <p:nvPr/>
            </p:nvSpPr>
            <p:spPr>
              <a:xfrm>
                <a:off x="1133475" y="396875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59" y="0"/>
                    </a:lnTo>
                  </a:path>
                </a:pathLst>
              </a:custGeom>
              <a:noFill/>
              <a:ln w="31750">
                <a:solidFill>
                  <a:srgbClr val="B9631B"/>
                </a:solidFill>
              </a:ln>
            </p:spPr>
          </p:sp>
          <p:sp>
            <p:nvSpPr>
              <p:cNvPr id="13" name="Freeform 13"/>
              <p:cNvSpPr/>
              <p:nvPr/>
            </p:nvSpPr>
            <p:spPr>
              <a:xfrm>
                <a:off x="1228725" y="3968750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59" y="0"/>
                    </a:lnTo>
                  </a:path>
                </a:pathLst>
              </a:custGeom>
              <a:noFill/>
              <a:ln w="31750">
                <a:solidFill>
                  <a:srgbClr val="B9631B"/>
                </a:solidFill>
              </a:ln>
            </p:spPr>
          </p:sp>
          <p:sp>
            <p:nvSpPr>
              <p:cNvPr id="14" name="Freeform 14"/>
              <p:cNvSpPr/>
              <p:nvPr/>
            </p:nvSpPr>
            <p:spPr>
              <a:xfrm>
                <a:off x="1141413" y="4048125"/>
                <a:ext cx="79375" cy="16677"/>
              </a:xfrm>
              <a:custGeom>
                <a:avLst/>
                <a:gdLst/>
                <a:ahLst/>
                <a:cxnLst/>
                <a:rect l="l" t="t" r="r" b="b"/>
                <a:pathLst>
                  <a:path w="79375" h="16677">
                    <a:moveTo>
                      <a:pt x="0" y="0"/>
                    </a:moveTo>
                    <a:cubicBezTo>
                      <a:pt x="10451" y="10666"/>
                      <a:pt x="24755" y="16677"/>
                      <a:pt x="39688" y="16677"/>
                    </a:cubicBezTo>
                    <a:cubicBezTo>
                      <a:pt x="54620" y="16677"/>
                      <a:pt x="68924" y="10666"/>
                      <a:pt x="79375" y="0"/>
                    </a:cubicBezTo>
                  </a:path>
                </a:pathLst>
              </a:custGeom>
              <a:noFill/>
              <a:ln w="31750">
                <a:solidFill>
                  <a:srgbClr val="B9631B"/>
                </a:solidFill>
              </a:ln>
            </p:spPr>
          </p:sp>
        </p:grpSp>
        <p:sp>
          <p:nvSpPr>
            <p:cNvPr id="16" name="TextBox 16"/>
            <p:cNvSpPr txBox="1"/>
            <p:nvPr/>
          </p:nvSpPr>
          <p:spPr>
            <a:xfrm>
              <a:off x="1476756" y="3886200"/>
              <a:ext cx="114570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Гедонизм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81456" y="4362450"/>
              <a:ext cx="275107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максимум удовольствия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981456" y="4686300"/>
              <a:ext cx="301898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риск: быстрое привыкание</a:t>
              </a:r>
            </a:p>
          </p:txBody>
        </p:sp>
      </p:grpSp>
      <p:grpSp>
        <p:nvGrpSpPr>
          <p:cNvPr id="28" name="p08-eudaimonia"/>
          <p:cNvGrpSpPr/>
          <p:nvPr/>
        </p:nvGrpSpPr>
        <p:grpSpPr>
          <a:xfrm>
            <a:off x="6477000" y="1714500"/>
            <a:ext cx="4953000" cy="3619500"/>
            <a:chOff x="6477000" y="1714500"/>
            <a:chExt cx="4953000" cy="3619500"/>
          </a:xfrm>
        </p:grpSpPr>
        <p:sp>
          <p:nvSpPr>
            <p:cNvPr id="20" name="Rectangle 20"/>
            <p:cNvSpPr/>
            <p:nvPr/>
          </p:nvSpPr>
          <p:spPr>
            <a:xfrm>
              <a:off x="6477000" y="1714500"/>
              <a:ext cx="4953000" cy="3619500"/>
            </a:xfrm>
            <a:prstGeom prst="roundRect">
              <a:avLst>
                <a:gd name="adj" fmla="val 4211"/>
              </a:avLst>
            </a:prstGeom>
            <a:solidFill>
              <a:srgbClr val="27AE60">
                <a:alpha val="14000"/>
              </a:srgbClr>
            </a:solidFill>
            <a:ln>
              <a:noFill/>
            </a:ln>
          </p:spPr>
        </p:sp>
        <p:pic>
          <p:nvPicPr>
            <p:cNvPr id="21" name="Image 21"/>
            <p:cNvPicPr>
              <a:picLocks noChangeAspect="1"/>
            </p:cNvPicPr>
            <p:nvPr/>
          </p:nvPicPr>
          <p:blipFill>
            <a:blip r:embed="rId4"/>
            <a:srcRect l="0" t="25000" r="0" b="25000"/>
            <a:stretch>
              <a:fillRect/>
            </a:stretch>
          </p:blipFill>
          <p:spPr>
            <a:xfrm>
              <a:off x="6667500" y="1905000"/>
              <a:ext cx="4572000" cy="1714500"/>
            </a:xfrm>
            <a:prstGeom prst="rect">
              <a:avLst/>
            </a:prstGeom>
          </p:spPr>
        </p:pic>
        <p:grpSp>
          <p:nvGrpSpPr>
            <p:cNvPr id="24" name="Group 24"/>
            <p:cNvGrpSpPr/>
            <p:nvPr/>
          </p:nvGrpSpPr>
          <p:grpSpPr>
            <a:xfrm>
              <a:off x="6746495" y="3841750"/>
              <a:ext cx="299200" cy="317501"/>
              <a:chOff x="6746495" y="3841750"/>
              <a:chExt cx="299200" cy="317501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6848475" y="3952875"/>
                <a:ext cx="95250" cy="95250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95250">
                    <a:moveTo>
                      <a:pt x="0" y="47625"/>
                    </a:moveTo>
                    <a:cubicBezTo>
                      <a:pt x="0" y="73928"/>
                      <a:pt x="21322" y="95250"/>
                      <a:pt x="47625" y="95250"/>
                    </a:cubicBezTo>
                    <a:cubicBezTo>
                      <a:pt x="73928" y="95250"/>
                      <a:pt x="95250" y="73928"/>
                      <a:pt x="95250" y="47625"/>
                    </a:cubicBezTo>
                    <a:cubicBezTo>
                      <a:pt x="95250" y="21322"/>
                      <a:pt x="73928" y="0"/>
                      <a:pt x="47625" y="0"/>
                    </a:cubicBezTo>
                    <a:cubicBezTo>
                      <a:pt x="21322" y="0"/>
                      <a:pt x="0" y="21322"/>
                      <a:pt x="0" y="47625"/>
                    </a:cubicBez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6746495" y="3841750"/>
                <a:ext cx="299200" cy="317501"/>
              </a:xfrm>
              <a:custGeom>
                <a:avLst/>
                <a:gdLst/>
                <a:ahLst/>
                <a:cxnLst/>
                <a:rect l="l" t="t" r="r" b="b"/>
                <a:pathLst>
                  <a:path w="299200" h="317501">
                    <a:moveTo>
                      <a:pt x="149605" y="0"/>
                    </a:moveTo>
                    <a:cubicBezTo>
                      <a:pt x="175908" y="0"/>
                      <a:pt x="197231" y="21322"/>
                      <a:pt x="197231" y="47625"/>
                    </a:cubicBezTo>
                    <a:cubicBezTo>
                      <a:pt x="197231" y="56547"/>
                      <a:pt x="193119" y="70517"/>
                      <a:pt x="184911" y="89535"/>
                    </a:cubicBezTo>
                    <a:lnTo>
                      <a:pt x="173418" y="111125"/>
                    </a:lnTo>
                    <a:lnTo>
                      <a:pt x="201358" y="81074"/>
                    </a:lnTo>
                    <a:cubicBezTo>
                      <a:pt x="209280" y="71549"/>
                      <a:pt x="215995" y="65199"/>
                      <a:pt x="221519" y="61944"/>
                    </a:cubicBezTo>
                    <a:cubicBezTo>
                      <a:pt x="232388" y="55634"/>
                      <a:pt x="245327" y="53927"/>
                      <a:pt x="257461" y="57203"/>
                    </a:cubicBezTo>
                    <a:cubicBezTo>
                      <a:pt x="269594" y="60479"/>
                      <a:pt x="279916" y="68467"/>
                      <a:pt x="286131" y="79391"/>
                    </a:cubicBezTo>
                    <a:cubicBezTo>
                      <a:pt x="299200" y="102150"/>
                      <a:pt x="291476" y="131189"/>
                      <a:pt x="268827" y="144447"/>
                    </a:cubicBezTo>
                    <a:cubicBezTo>
                      <a:pt x="262890" y="147892"/>
                      <a:pt x="253111" y="150733"/>
                      <a:pt x="239522" y="152940"/>
                    </a:cubicBezTo>
                    <a:lnTo>
                      <a:pt x="197231" y="158750"/>
                    </a:lnTo>
                    <a:lnTo>
                      <a:pt x="235331" y="163926"/>
                    </a:lnTo>
                    <a:cubicBezTo>
                      <a:pt x="251206" y="166227"/>
                      <a:pt x="262286" y="169275"/>
                      <a:pt x="268827" y="173070"/>
                    </a:cubicBezTo>
                    <a:cubicBezTo>
                      <a:pt x="291476" y="186328"/>
                      <a:pt x="299200" y="215367"/>
                      <a:pt x="286131" y="238125"/>
                    </a:cubicBezTo>
                    <a:cubicBezTo>
                      <a:pt x="279913" y="249046"/>
                      <a:pt x="269590" y="257031"/>
                      <a:pt x="257457" y="260304"/>
                    </a:cubicBezTo>
                    <a:cubicBezTo>
                      <a:pt x="245324" y="263578"/>
                      <a:pt x="232386" y="261868"/>
                      <a:pt x="221519" y="255556"/>
                    </a:cubicBezTo>
                    <a:cubicBezTo>
                      <a:pt x="215995" y="252350"/>
                      <a:pt x="209280" y="245968"/>
                      <a:pt x="201358" y="236427"/>
                    </a:cubicBezTo>
                    <a:lnTo>
                      <a:pt x="173418" y="206375"/>
                    </a:lnTo>
                    <a:lnTo>
                      <a:pt x="184911" y="227965"/>
                    </a:lnTo>
                    <a:cubicBezTo>
                      <a:pt x="193103" y="247000"/>
                      <a:pt x="197231" y="260970"/>
                      <a:pt x="197231" y="269876"/>
                    </a:cubicBezTo>
                    <a:cubicBezTo>
                      <a:pt x="197231" y="296178"/>
                      <a:pt x="175908" y="317501"/>
                      <a:pt x="149605" y="317501"/>
                    </a:cubicBezTo>
                    <a:cubicBezTo>
                      <a:pt x="123303" y="317501"/>
                      <a:pt x="101980" y="296178"/>
                      <a:pt x="101980" y="269876"/>
                    </a:cubicBezTo>
                    <a:cubicBezTo>
                      <a:pt x="101980" y="260954"/>
                      <a:pt x="106092" y="246984"/>
                      <a:pt x="114299" y="227965"/>
                    </a:cubicBezTo>
                    <a:lnTo>
                      <a:pt x="125793" y="206375"/>
                    </a:lnTo>
                    <a:lnTo>
                      <a:pt x="97853" y="236427"/>
                    </a:lnTo>
                    <a:cubicBezTo>
                      <a:pt x="89931" y="245968"/>
                      <a:pt x="83216" y="252302"/>
                      <a:pt x="77692" y="255556"/>
                    </a:cubicBezTo>
                    <a:cubicBezTo>
                      <a:pt x="66825" y="261868"/>
                      <a:pt x="53887" y="263578"/>
                      <a:pt x="41754" y="260304"/>
                    </a:cubicBezTo>
                    <a:cubicBezTo>
                      <a:pt x="29621" y="257031"/>
                      <a:pt x="19298" y="249046"/>
                      <a:pt x="13080" y="238125"/>
                    </a:cubicBezTo>
                    <a:cubicBezTo>
                      <a:pt x="11" y="215367"/>
                      <a:pt x="7735" y="186328"/>
                      <a:pt x="30384" y="173070"/>
                    </a:cubicBezTo>
                    <a:cubicBezTo>
                      <a:pt x="36321" y="169609"/>
                      <a:pt x="46100" y="166783"/>
                      <a:pt x="59689" y="164561"/>
                    </a:cubicBezTo>
                    <a:lnTo>
                      <a:pt x="101980" y="158750"/>
                    </a:lnTo>
                    <a:lnTo>
                      <a:pt x="63880" y="153591"/>
                    </a:lnTo>
                    <a:cubicBezTo>
                      <a:pt x="48005" y="151289"/>
                      <a:pt x="36924" y="148241"/>
                      <a:pt x="30384" y="144447"/>
                    </a:cubicBezTo>
                    <a:cubicBezTo>
                      <a:pt x="7725" y="131188"/>
                      <a:pt x="0" y="102137"/>
                      <a:pt x="13080" y="79375"/>
                    </a:cubicBezTo>
                    <a:cubicBezTo>
                      <a:pt x="19295" y="68452"/>
                      <a:pt x="29617" y="60464"/>
                      <a:pt x="41750" y="57187"/>
                    </a:cubicBezTo>
                    <a:cubicBezTo>
                      <a:pt x="53883" y="53911"/>
                      <a:pt x="66823" y="55618"/>
                      <a:pt x="77692" y="61928"/>
                    </a:cubicBezTo>
                    <a:cubicBezTo>
                      <a:pt x="83216" y="65151"/>
                      <a:pt x="89931" y="71517"/>
                      <a:pt x="97853" y="81058"/>
                    </a:cubicBezTo>
                    <a:lnTo>
                      <a:pt x="125793" y="111125"/>
                    </a:lnTo>
                    <a:cubicBezTo>
                      <a:pt x="109918" y="74740"/>
                      <a:pt x="101980" y="53578"/>
                      <a:pt x="101980" y="47625"/>
                    </a:cubicBezTo>
                    <a:cubicBezTo>
                      <a:pt x="101980" y="21322"/>
                      <a:pt x="123303" y="0"/>
                      <a:pt x="149605" y="0"/>
                    </a:cubicBez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</p:grpSp>
        <p:sp>
          <p:nvSpPr>
            <p:cNvPr id="25" name="TextBox 25"/>
            <p:cNvSpPr txBox="1"/>
            <p:nvPr/>
          </p:nvSpPr>
          <p:spPr>
            <a:xfrm>
              <a:off x="7191756" y="3886200"/>
              <a:ext cx="128564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1E8449"/>
                  </a:solidFill>
                  <a:latin typeface="+mn-lt"/>
                  <a:ea typeface="+mn-ea"/>
                  <a:cs typeface="+mn-cs"/>
                </a:rPr>
                <a:t>Эвдемония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696456" y="4362450"/>
              <a:ext cx="241857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смысл и добродетели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696456" y="4686300"/>
              <a:ext cx="361803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даёт глубокое удовлетворение</a:t>
              </a:r>
            </a:p>
          </p:txBody>
        </p:sp>
      </p:grpSp>
      <p:grpSp>
        <p:nvGrpSpPr>
          <p:cNvPr id="37" name="p08-scale"/>
          <p:cNvGrpSpPr/>
          <p:nvPr/>
        </p:nvGrpSpPr>
        <p:grpSpPr>
          <a:xfrm>
            <a:off x="762000" y="5524500"/>
            <a:ext cx="10668000" cy="762000"/>
            <a:chOff x="762000" y="5524500"/>
            <a:chExt cx="10668000" cy="762000"/>
          </a:xfrm>
        </p:grpSpPr>
        <p:sp>
          <p:nvSpPr>
            <p:cNvPr id="29" name="Rectangle 29"/>
            <p:cNvSpPr/>
            <p:nvPr/>
          </p:nvSpPr>
          <p:spPr>
            <a:xfrm>
              <a:off x="762000" y="5524500"/>
              <a:ext cx="10668000" cy="762000"/>
            </a:xfrm>
            <a:prstGeom prst="roundRect">
              <a:avLst>
                <a:gd name="adj" fmla="val 17500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grpSp>
          <p:nvGrpSpPr>
            <p:cNvPr id="35" name="Group 35"/>
            <p:cNvGrpSpPr/>
            <p:nvPr/>
          </p:nvGrpSpPr>
          <p:grpSpPr>
            <a:xfrm>
              <a:off x="1042987" y="5748337"/>
              <a:ext cx="314325" cy="306387"/>
              <a:chOff x="1042987" y="5748337"/>
              <a:chExt cx="314325" cy="306387"/>
            </a:xfrm>
          </p:grpSpPr>
          <p:sp>
            <p:nvSpPr>
              <p:cNvPr id="30" name="Freeform 30"/>
              <p:cNvSpPr/>
              <p:nvPr/>
            </p:nvSpPr>
            <p:spPr>
              <a:xfrm>
                <a:off x="1112837" y="6045199"/>
                <a:ext cx="1746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74625" h="9525">
                    <a:moveTo>
                      <a:pt x="0" y="0"/>
                    </a:moveTo>
                    <a:lnTo>
                      <a:pt x="174625" y="0"/>
                    </a:ln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1095375" y="5783262"/>
                <a:ext cx="209550" cy="17462"/>
              </a:xfrm>
              <a:custGeom>
                <a:avLst/>
                <a:gdLst/>
                <a:ahLst/>
                <a:cxnLst/>
                <a:rect l="l" t="t" r="r" b="b"/>
                <a:pathLst>
                  <a:path w="209550" h="17462">
                    <a:moveTo>
                      <a:pt x="0" y="17462"/>
                    </a:moveTo>
                    <a:lnTo>
                      <a:pt x="104775" y="0"/>
                    </a:lnTo>
                    <a:lnTo>
                      <a:pt x="209550" y="17462"/>
                    </a:ln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1200150" y="5748337"/>
                <a:ext cx="9525" cy="296862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96862">
                    <a:moveTo>
                      <a:pt x="0" y="0"/>
                    </a:moveTo>
                    <a:lnTo>
                      <a:pt x="0" y="296862"/>
                    </a:ln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  <p:sp>
            <p:nvSpPr>
              <p:cNvPr id="33" name="Freeform 33"/>
              <p:cNvSpPr/>
              <p:nvPr/>
            </p:nvSpPr>
            <p:spPr>
              <a:xfrm>
                <a:off x="1042987" y="5800725"/>
                <a:ext cx="104775" cy="157162"/>
              </a:xfrm>
              <a:custGeom>
                <a:avLst/>
                <a:gdLst/>
                <a:ahLst/>
                <a:cxnLst/>
                <a:rect l="l" t="t" r="r" b="b"/>
                <a:pathLst>
                  <a:path w="104775" h="157162">
                    <a:moveTo>
                      <a:pt x="104775" y="104775"/>
                    </a:moveTo>
                    <a:lnTo>
                      <a:pt x="52387" y="0"/>
                    </a:lnTo>
                    <a:lnTo>
                      <a:pt x="0" y="104775"/>
                    </a:lnTo>
                    <a:cubicBezTo>
                      <a:pt x="0" y="133708"/>
                      <a:pt x="23455" y="157162"/>
                      <a:pt x="52387" y="157162"/>
                    </a:cubicBezTo>
                    <a:cubicBezTo>
                      <a:pt x="81320" y="157162"/>
                      <a:pt x="104775" y="133708"/>
                      <a:pt x="104775" y="104775"/>
                    </a:cubicBez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  <p:sp>
            <p:nvSpPr>
              <p:cNvPr id="34" name="Freeform 34"/>
              <p:cNvSpPr/>
              <p:nvPr/>
            </p:nvSpPr>
            <p:spPr>
              <a:xfrm>
                <a:off x="1252537" y="5800725"/>
                <a:ext cx="104775" cy="157162"/>
              </a:xfrm>
              <a:custGeom>
                <a:avLst/>
                <a:gdLst/>
                <a:ahLst/>
                <a:cxnLst/>
                <a:rect l="l" t="t" r="r" b="b"/>
                <a:pathLst>
                  <a:path w="104775" h="157162">
                    <a:moveTo>
                      <a:pt x="104775" y="104775"/>
                    </a:moveTo>
                    <a:lnTo>
                      <a:pt x="52387" y="0"/>
                    </a:lnTo>
                    <a:lnTo>
                      <a:pt x="0" y="104775"/>
                    </a:lnTo>
                    <a:cubicBezTo>
                      <a:pt x="0" y="133708"/>
                      <a:pt x="23455" y="157162"/>
                      <a:pt x="52387" y="157162"/>
                    </a:cubicBezTo>
                    <a:cubicBezTo>
                      <a:pt x="81320" y="157162"/>
                      <a:pt x="104775" y="133708"/>
                      <a:pt x="104775" y="104775"/>
                    </a:cubicBezTo>
                  </a:path>
                </a:pathLst>
              </a:custGeom>
              <a:noFill/>
              <a:ln w="34925">
                <a:solidFill>
                  <a:schemeClr val="accent1"/>
                </a:solidFill>
              </a:ln>
            </p:spPr>
          </p:sp>
        </p:grpSp>
        <p:sp>
          <p:nvSpPr>
            <p:cNvPr id="36" name="TextBox 36"/>
            <p:cNvSpPr txBox="1"/>
            <p:nvPr/>
          </p:nvSpPr>
          <p:spPr>
            <a:xfrm>
              <a:off x="1552956" y="5772150"/>
              <a:ext cx="584074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Ньюфелд: «Счастье находится по ту сторону слёз»</a:t>
              </a:r>
            </a:p>
          </p:txBody>
        </p:sp>
      </p:grpSp>
      <p:sp>
        <p:nvSpPr>
          <p:cNvPr id="38" name="credit"/>
          <p:cNvSpPr txBox="1"/>
          <p:nvPr/>
        </p:nvSpPr>
        <p:spPr>
          <a:xfrm>
            <a:off x="753618" y="6521450"/>
            <a:ext cx="9282530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ru" sz="1650" dirty="0">
                <a:solidFill>
                  <a:srgbClr val="7F8C8D"/>
                </a:solidFill>
                <a:latin typeface="+mn-lt"/>
                <a:ea typeface="+mn-ea"/>
                <a:cs typeface="+mn-cs"/>
              </a:rPr>
              <a:t>© PattayaPatrol / CC BY-SA 4.0; © Shixart1985 / CC BY 2.0; фото помощи — Public Domain</a:t>
            </a:r>
          </a:p>
        </p:txBody>
      </p:sp>
      <p:pic>
        <p:nvPicPr>
          <p:cNvPr id="39" name="PPT Master narration: narration9.mp3">
            <a:hlinkClick r:id="" action="ppaction://media"/>
          </p:cNvPr>
          <p:cNvPicPr>
            <a:picLocks noChangeAspect="1"/>
          </p:cNvPicPr>
          <p:nvPr>
            <a:audioFile r:link="rId7"/>
            <p:extLst>
              <p:ext uri="{DAA4B4D4-6D71-4841-9C94-3DE7FCFB9230}">
                <p14:media r:embed="rId6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4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6" fill="hold" display="0">
                  <p:stCondLst>
                    <p:cond delay="300"/>
                  </p:stCondLst>
                </p:cTn>
                <p:tgtEl>
                  <p:spTgt spid="39"/>
                </p:tgtEl>
              </p:cMediaNode>
            </p:audio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09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09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88000"/>
                </a:srgbClr>
              </a:gs>
              <a:gs pos="100000">
                <a:srgbClr val="F5E6D3">
                  <a:alpha val="88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p09-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sp>
        <p:nvSpPr>
          <p:cNvPr id="5" name="p09-foot"/>
          <p:cNvSpPr txBox="1"/>
          <p:nvPr/>
        </p:nvSpPr>
        <p:spPr>
          <a:xfrm>
            <a:off x="752856" y="6343650"/>
            <a:ext cx="3078699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ru" sz="180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Концепция счастья · ИС-24</a:t>
            </a:r>
          </a:p>
        </p:txBody>
      </p:sp>
      <p:sp>
        <p:nvSpPr>
          <p:cNvPr id="6" name="p09-num"/>
          <p:cNvSpPr txBox="1"/>
          <p:nvPr/>
        </p:nvSpPr>
        <p:spPr>
          <a:xfrm>
            <a:off x="11151304" y="6343650"/>
            <a:ext cx="287840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80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10</a:t>
            </a:r>
          </a:p>
        </p:txBody>
      </p:sp>
      <p:grpSp>
        <p:nvGrpSpPr>
          <p:cNvPr id="8" name="p09-title"/>
          <p:cNvGrpSpPr/>
          <p:nvPr/>
        </p:nvGrpSpPr>
        <p:grpSpPr>
          <a:xfrm>
            <a:off x="743712" y="565150"/>
            <a:ext cx="6615451" cy="704088"/>
            <a:chOff x="743712" y="565150"/>
            <a:chExt cx="6615451" cy="704088"/>
          </a:xfrm>
        </p:grpSpPr>
        <p:sp>
          <p:nvSpPr>
            <p:cNvPr id="7" name="TextBox 7"/>
            <p:cNvSpPr txBox="1"/>
            <p:nvPr/>
          </p:nvSpPr>
          <p:spPr>
            <a:xfrm>
              <a:off x="743712" y="565150"/>
              <a:ext cx="6615451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Счастье = 50% + 40% + 10%</a:t>
              </a:r>
            </a:p>
          </p:txBody>
        </p:sp>
      </p:grpSp>
      <p:grpSp>
        <p:nvGrpSpPr>
          <p:cNvPr id="15" name="p09-pie"/>
          <p:cNvGrpSpPr/>
          <p:nvPr/>
        </p:nvGrpSpPr>
        <p:grpSpPr>
          <a:xfrm>
            <a:off x="1592120" y="2285804"/>
            <a:ext cx="2979880" cy="2858099"/>
            <a:chOff x="1592120" y="2285804"/>
            <a:chExt cx="2979880" cy="2858099"/>
          </a:xfrm>
        </p:grpSpPr>
        <p:sp>
          <p:nvSpPr>
            <p:cNvPr id="9" name="Freeform 9"/>
            <p:cNvSpPr/>
            <p:nvPr/>
          </p:nvSpPr>
          <p:spPr>
            <a:xfrm>
              <a:off x="3143250" y="2286000"/>
              <a:ext cx="1428750" cy="2857500"/>
            </a:xfrm>
            <a:custGeom>
              <a:avLst/>
              <a:gdLst/>
              <a:ahLst/>
              <a:cxnLst/>
              <a:rect l="l" t="t" r="r" b="b"/>
              <a:pathLst>
                <a:path w="1428750" h="2857500">
                  <a:moveTo>
                    <a:pt x="0" y="1428750"/>
                  </a:moveTo>
                  <a:lnTo>
                    <a:pt x="0" y="0"/>
                  </a:lnTo>
                  <a:cubicBezTo>
                    <a:pt x="789077" y="0"/>
                    <a:pt x="1428750" y="639673"/>
                    <a:pt x="1428750" y="1428750"/>
                  </a:cubicBezTo>
                  <a:cubicBezTo>
                    <a:pt x="1428750" y="2217827"/>
                    <a:pt x="789077" y="2857500"/>
                    <a:pt x="0" y="28575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10" name="Freeform 10"/>
            <p:cNvSpPr/>
            <p:nvPr/>
          </p:nvSpPr>
          <p:spPr>
            <a:xfrm>
              <a:off x="1592120" y="2558415"/>
              <a:ext cx="1551130" cy="2585488"/>
            </a:xfrm>
            <a:custGeom>
              <a:avLst/>
              <a:gdLst/>
              <a:ahLst/>
              <a:cxnLst/>
              <a:rect l="l" t="t" r="r" b="b"/>
              <a:pathLst>
                <a:path w="1551130" h="2585488">
                  <a:moveTo>
                    <a:pt x="1551130" y="1156335"/>
                  </a:moveTo>
                  <a:lnTo>
                    <a:pt x="1551130" y="2585085"/>
                  </a:lnTo>
                  <a:cubicBezTo>
                    <a:pt x="931845" y="2585488"/>
                    <a:pt x="382805" y="2186884"/>
                    <a:pt x="191403" y="1597919"/>
                  </a:cubicBezTo>
                  <a:cubicBezTo>
                    <a:pt x="0" y="1008955"/>
                    <a:pt x="209816" y="363737"/>
                    <a:pt x="711025" y="0"/>
                  </a:cubicBezTo>
                  <a:close/>
                </a:path>
              </a:pathLst>
            </a:custGeom>
            <a:solidFill>
              <a:srgbClr val="27AE60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2303145" y="2285804"/>
              <a:ext cx="840105" cy="1428946"/>
            </a:xfrm>
            <a:custGeom>
              <a:avLst/>
              <a:gdLst/>
              <a:ahLst/>
              <a:cxnLst/>
              <a:rect l="l" t="t" r="r" b="b"/>
              <a:pathLst>
                <a:path w="840105" h="1428946">
                  <a:moveTo>
                    <a:pt x="840105" y="1428946"/>
                  </a:moveTo>
                  <a:lnTo>
                    <a:pt x="0" y="272611"/>
                  </a:lnTo>
                  <a:cubicBezTo>
                    <a:pt x="244238" y="95362"/>
                    <a:pt x="538328" y="0"/>
                    <a:pt x="840105" y="196"/>
                  </a:cubicBezTo>
                  <a:close/>
                </a:path>
              </a:pathLst>
            </a:custGeom>
            <a:solidFill>
              <a:srgbClr val="95A5A6"/>
            </a:solidFill>
            <a:ln>
              <a:noFill/>
            </a:ln>
          </p:spPr>
        </p:sp>
        <p:sp>
          <p:nvSpPr>
            <p:cNvPr id="12" name="Ellipse 12"/>
            <p:cNvSpPr/>
            <p:nvPr/>
          </p:nvSpPr>
          <p:spPr>
            <a:xfrm>
              <a:off x="2457450" y="3028950"/>
              <a:ext cx="1371600" cy="13716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2400728" y="3409950"/>
              <a:ext cx="148504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 = Н + В + О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2167532" y="3733800"/>
              <a:ext cx="195143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формула счастья</a:t>
              </a:r>
            </a:p>
          </p:txBody>
        </p:sp>
      </p:grpSp>
      <p:grpSp>
        <p:nvGrpSpPr>
          <p:cNvPr id="28" name="p09-legend"/>
          <p:cNvGrpSpPr/>
          <p:nvPr/>
        </p:nvGrpSpPr>
        <p:grpSpPr>
          <a:xfrm>
            <a:off x="5715000" y="1905000"/>
            <a:ext cx="5715000" cy="3524250"/>
            <a:chOff x="5715000" y="1905000"/>
            <a:chExt cx="5715000" cy="3524250"/>
          </a:xfrm>
        </p:grpSpPr>
        <p:sp>
          <p:nvSpPr>
            <p:cNvPr id="16" name="Rectangle 16"/>
            <p:cNvSpPr/>
            <p:nvPr/>
          </p:nvSpPr>
          <p:spPr>
            <a:xfrm>
              <a:off x="5715000" y="1905000"/>
              <a:ext cx="5715000" cy="1047750"/>
            </a:xfrm>
            <a:prstGeom prst="roundRect">
              <a:avLst>
                <a:gd name="adj" fmla="val 12727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5981700" y="2209800"/>
              <a:ext cx="247650" cy="24765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391656" y="2190750"/>
              <a:ext cx="199975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50% — генетика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391656" y="2495550"/>
              <a:ext cx="448363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наследственная предрасположенность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5715000" y="3143250"/>
              <a:ext cx="5715000" cy="1047750"/>
            </a:xfrm>
            <a:prstGeom prst="roundRect">
              <a:avLst>
                <a:gd name="adj" fmla="val 12727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5981700" y="3448050"/>
              <a:ext cx="247650" cy="247650"/>
            </a:xfrm>
            <a:prstGeom prst="rect">
              <a:avLst/>
            </a:prstGeom>
            <a:solidFill>
              <a:srgbClr val="27AE60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391656" y="3429000"/>
              <a:ext cx="304663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1E8449"/>
                  </a:solidFill>
                  <a:latin typeface="+mn-lt"/>
                  <a:ea typeface="+mn-ea"/>
                  <a:cs typeface="+mn-cs"/>
                </a:rPr>
                <a:t>40% — волевой контроль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391656" y="3733800"/>
              <a:ext cx="248453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намеренные действия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5715000" y="4381500"/>
              <a:ext cx="5715000" cy="1047750"/>
            </a:xfrm>
            <a:prstGeom prst="roundRect">
              <a:avLst>
                <a:gd name="adj" fmla="val 12727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5981700" y="4686300"/>
              <a:ext cx="247650" cy="247650"/>
            </a:xfrm>
            <a:prstGeom prst="rect">
              <a:avLst/>
            </a:prstGeom>
            <a:solidFill>
              <a:srgbClr val="95A5A6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391656" y="4667250"/>
              <a:ext cx="283937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10% — обстоятельства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391656" y="4972050"/>
              <a:ext cx="268512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внешние условия жизни</a:t>
              </a:r>
            </a:p>
          </p:txBody>
        </p:sp>
      </p:grpSp>
      <p:grpSp>
        <p:nvGrpSpPr>
          <p:cNvPr id="30" name="p09-note"/>
          <p:cNvGrpSpPr/>
          <p:nvPr/>
        </p:nvGrpSpPr>
        <p:grpSpPr>
          <a:xfrm>
            <a:off x="1133856" y="6057900"/>
            <a:ext cx="9655090" cy="352044"/>
            <a:chOff x="1133856" y="6057900"/>
            <a:chExt cx="9655090" cy="352044"/>
          </a:xfrm>
        </p:grpSpPr>
        <p:sp>
          <p:nvSpPr>
            <p:cNvPr id="29" name="TextBox 29"/>
            <p:cNvSpPr txBox="1"/>
            <p:nvPr/>
          </p:nvSpPr>
          <p:spPr>
            <a:xfrm>
              <a:off x="1133856" y="6057900"/>
              <a:ext cx="965509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Критика: Эренрейх, Стивенсон и Вольферс напоминают о роли дохода и неравенства</a:t>
              </a:r>
            </a:p>
          </p:txBody>
        </p:sp>
      </p:grpSp>
      <p:pic>
        <p:nvPicPr>
          <p:cNvPr id="31" name="PPT Master narration: narration10.mp3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4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6" fill="hold" display="0">
                  <p:stCondLst>
                    <p:cond delay="300"/>
                  </p:stCondLst>
                </p:cTn>
                <p:tgtEl>
                  <p:spTgt spid="31"/>
                </p:tgtEl>
              </p:cMediaNode>
            </p:audio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0-photo"/>
          <p:cNvPicPr>
            <a:picLocks noChangeAspect="1"/>
          </p:cNvPicPr>
          <p:nvPr/>
        </p:nvPicPr>
        <p:blipFill>
          <a:blip r:embed="rId2"/>
          <a:srcRect l="0" t="21398" r="0" b="21398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0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88000"/>
                </a:srgbClr>
              </a:gs>
              <a:gs pos="100000">
                <a:srgbClr val="F5E6D3">
                  <a:alpha val="88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p10-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sp>
        <p:nvSpPr>
          <p:cNvPr id="5" name="p10-foot"/>
          <p:cNvSpPr txBox="1"/>
          <p:nvPr/>
        </p:nvSpPr>
        <p:spPr>
          <a:xfrm>
            <a:off x="752856" y="6343650"/>
            <a:ext cx="3078699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ru" sz="180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Концепция счастья · ИС-24</a:t>
            </a:r>
          </a:p>
        </p:txBody>
      </p:sp>
      <p:sp>
        <p:nvSpPr>
          <p:cNvPr id="6" name="p10-num"/>
          <p:cNvSpPr txBox="1"/>
          <p:nvPr/>
        </p:nvSpPr>
        <p:spPr>
          <a:xfrm>
            <a:off x="11151304" y="6343650"/>
            <a:ext cx="287840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80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11</a:t>
            </a:r>
          </a:p>
        </p:txBody>
      </p:sp>
      <p:grpSp>
        <p:nvGrpSpPr>
          <p:cNvPr id="8" name="p10-title"/>
          <p:cNvGrpSpPr/>
          <p:nvPr/>
        </p:nvGrpSpPr>
        <p:grpSpPr>
          <a:xfrm>
            <a:off x="743712" y="565150"/>
            <a:ext cx="8293626" cy="704088"/>
            <a:chOff x="743712" y="565150"/>
            <a:chExt cx="8293626" cy="704088"/>
          </a:xfrm>
        </p:grpSpPr>
        <p:sp>
          <p:nvSpPr>
            <p:cNvPr id="7" name="TextBox 7"/>
            <p:cNvSpPr txBox="1"/>
            <p:nvPr/>
          </p:nvSpPr>
          <p:spPr>
            <a:xfrm>
              <a:off x="743712" y="565150"/>
              <a:ext cx="8293626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Качество отношений важнее денег</a:t>
              </a:r>
            </a:p>
          </p:txBody>
        </p:sp>
      </p:grpSp>
      <p:grpSp>
        <p:nvGrpSpPr>
          <p:cNvPr id="63" name="p10-tree"/>
          <p:cNvGrpSpPr/>
          <p:nvPr/>
        </p:nvGrpSpPr>
        <p:grpSpPr>
          <a:xfrm>
            <a:off x="762000" y="1600200"/>
            <a:ext cx="6667500" cy="4591050"/>
            <a:chOff x="762000" y="1600200"/>
            <a:chExt cx="6667500" cy="4591050"/>
          </a:xfrm>
        </p:grpSpPr>
        <p:sp>
          <p:nvSpPr>
            <p:cNvPr id="9" name="Rectangle 9"/>
            <p:cNvSpPr/>
            <p:nvPr/>
          </p:nvSpPr>
          <p:spPr>
            <a:xfrm>
              <a:off x="762000" y="1714500"/>
              <a:ext cx="6667500" cy="4476750"/>
            </a:xfrm>
            <a:prstGeom prst="roundRect">
              <a:avLst>
                <a:gd name="adj" fmla="val 3404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10" name="Rectangle 10"/>
            <p:cNvSpPr/>
            <p:nvPr/>
          </p:nvSpPr>
          <p:spPr>
            <a:xfrm>
              <a:off x="3981450" y="2571750"/>
              <a:ext cx="228600" cy="2762250"/>
            </a:xfrm>
            <a:prstGeom prst="rect">
              <a:avLst/>
            </a:prstGeom>
            <a:solidFill>
              <a:srgbClr val="8D6E63"/>
            </a:solidFill>
            <a:ln>
              <a:noFill/>
            </a:ln>
          </p:spPr>
        </p:sp>
        <p:sp>
          <p:nvSpPr>
            <p:cNvPr id="11" name="Freeform 11"/>
            <p:cNvSpPr/>
            <p:nvPr/>
          </p:nvSpPr>
          <p:spPr>
            <a:xfrm>
              <a:off x="2762250" y="2286000"/>
              <a:ext cx="2667000" cy="1905000"/>
            </a:xfrm>
            <a:custGeom>
              <a:avLst/>
              <a:gdLst/>
              <a:ahLst/>
              <a:cxnLst/>
              <a:rect l="l" t="t" r="r" b="b"/>
              <a:pathLst>
                <a:path w="2667000" h="1905000">
                  <a:moveTo>
                    <a:pt x="1333500" y="762000"/>
                  </a:moveTo>
                  <a:lnTo>
                    <a:pt x="0" y="0"/>
                  </a:lnTo>
                  <a:moveTo>
                    <a:pt x="1333500" y="1143000"/>
                  </a:moveTo>
                  <a:lnTo>
                    <a:pt x="2667000" y="0"/>
                  </a:lnTo>
                  <a:moveTo>
                    <a:pt x="1333500" y="1524000"/>
                  </a:moveTo>
                  <a:lnTo>
                    <a:pt x="285750" y="857250"/>
                  </a:lnTo>
                  <a:moveTo>
                    <a:pt x="1333500" y="1905000"/>
                  </a:moveTo>
                  <a:lnTo>
                    <a:pt x="2667000" y="952500"/>
                  </a:lnTo>
                </a:path>
              </a:pathLst>
            </a:custGeom>
            <a:solidFill>
              <a:srgbClr val="000000"/>
            </a:solidFill>
            <a:ln w="76200">
              <a:solidFill>
                <a:srgbClr val="8D6E63"/>
              </a:solidFill>
            </a:ln>
          </p:spPr>
        </p:sp>
        <p:sp>
          <p:nvSpPr>
            <p:cNvPr id="12" name="Ellipse 12"/>
            <p:cNvSpPr/>
            <p:nvPr/>
          </p:nvSpPr>
          <p:spPr>
            <a:xfrm>
              <a:off x="2095500" y="1600200"/>
              <a:ext cx="4000500" cy="1181100"/>
            </a:xfrm>
            <a:prstGeom prst="ellipse">
              <a:avLst/>
            </a:prstGeom>
            <a:solidFill>
              <a:srgbClr val="27AE60">
                <a:alpha val="30000"/>
              </a:srgbClr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3069289" y="2057400"/>
              <a:ext cx="205292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800" b="1" dirty="0">
                  <a:solidFill>
                    <a:srgbClr val="1E8449"/>
                  </a:solidFill>
                  <a:latin typeface="+mn-lt"/>
                  <a:ea typeface="+mn-ea"/>
                  <a:cs typeface="+mn-cs"/>
                </a:rPr>
                <a:t>Внешние факторы</a:t>
              </a:r>
            </a:p>
          </p:txBody>
        </p:sp>
        <p:grpSp>
          <p:nvGrpSpPr>
            <p:cNvPr id="16" name="Group 16"/>
            <p:cNvGrpSpPr/>
            <p:nvPr/>
          </p:nvGrpSpPr>
          <p:grpSpPr>
            <a:xfrm>
              <a:off x="2911475" y="1768475"/>
              <a:ext cx="215901" cy="215901"/>
              <a:chOff x="2911475" y="1768475"/>
              <a:chExt cx="215901" cy="215901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2911475" y="1768475"/>
                <a:ext cx="202407" cy="215901"/>
              </a:xfrm>
              <a:custGeom>
                <a:avLst/>
                <a:gdLst/>
                <a:ahLst/>
                <a:cxnLst/>
                <a:rect l="l" t="t" r="r" b="b"/>
                <a:pathLst>
                  <a:path w="202407" h="215901">
                    <a:moveTo>
                      <a:pt x="175419" y="53975"/>
                    </a:moveTo>
                    <a:lnTo>
                      <a:pt x="175419" y="13494"/>
                    </a:lnTo>
                    <a:cubicBezTo>
                      <a:pt x="175419" y="6041"/>
                      <a:pt x="169378" y="0"/>
                      <a:pt x="161925" y="0"/>
                    </a:cubicBezTo>
                    <a:lnTo>
                      <a:pt x="26988" y="0"/>
                    </a:lnTo>
                    <a:cubicBezTo>
                      <a:pt x="12083" y="0"/>
                      <a:pt x="0" y="12083"/>
                      <a:pt x="0" y="26988"/>
                    </a:cubicBezTo>
                    <a:cubicBezTo>
                      <a:pt x="0" y="41892"/>
                      <a:pt x="12083" y="53975"/>
                      <a:pt x="26988" y="53975"/>
                    </a:cubicBezTo>
                    <a:lnTo>
                      <a:pt x="188913" y="53975"/>
                    </a:lnTo>
                    <a:cubicBezTo>
                      <a:pt x="196365" y="53975"/>
                      <a:pt x="202407" y="60016"/>
                      <a:pt x="202407" y="67469"/>
                    </a:cubicBezTo>
                    <a:lnTo>
                      <a:pt x="202407" y="107950"/>
                    </a:lnTo>
                    <a:moveTo>
                      <a:pt x="202407" y="161925"/>
                    </a:moveTo>
                    <a:lnTo>
                      <a:pt x="202407" y="202407"/>
                    </a:lnTo>
                    <a:cubicBezTo>
                      <a:pt x="202407" y="209859"/>
                      <a:pt x="196365" y="215901"/>
                      <a:pt x="188913" y="215901"/>
                    </a:cubicBezTo>
                    <a:lnTo>
                      <a:pt x="26988" y="215901"/>
                    </a:lnTo>
                    <a:cubicBezTo>
                      <a:pt x="12083" y="215901"/>
                      <a:pt x="0" y="203818"/>
                      <a:pt x="0" y="188913"/>
                    </a:cubicBezTo>
                    <a:lnTo>
                      <a:pt x="0" y="26988"/>
                    </a:lnTo>
                  </a:path>
                </a:pathLst>
              </a:custGeom>
              <a:noFill/>
              <a:ln w="26988">
                <a:solidFill>
                  <a:srgbClr val="1E8449"/>
                </a:solidFill>
              </a:ln>
            </p:spPr>
          </p:sp>
          <p:sp>
            <p:nvSpPr>
              <p:cNvPr id="15" name="Freeform 15"/>
              <p:cNvSpPr/>
              <p:nvPr/>
            </p:nvSpPr>
            <p:spPr>
              <a:xfrm>
                <a:off x="3046413" y="1876425"/>
                <a:ext cx="80963" cy="53975"/>
              </a:xfrm>
              <a:custGeom>
                <a:avLst/>
                <a:gdLst/>
                <a:ahLst/>
                <a:cxnLst/>
                <a:rect l="l" t="t" r="r" b="b"/>
                <a:pathLst>
                  <a:path w="80963" h="53975">
                    <a:moveTo>
                      <a:pt x="80963" y="0"/>
                    </a:moveTo>
                    <a:lnTo>
                      <a:pt x="80963" y="53975"/>
                    </a:lnTo>
                    <a:lnTo>
                      <a:pt x="26988" y="53975"/>
                    </a:lnTo>
                    <a:cubicBezTo>
                      <a:pt x="12083" y="53975"/>
                      <a:pt x="0" y="41892"/>
                      <a:pt x="0" y="26988"/>
                    </a:cubicBezTo>
                    <a:cubicBezTo>
                      <a:pt x="0" y="12083"/>
                      <a:pt x="12083" y="0"/>
                      <a:pt x="26988" y="0"/>
                    </a:cubicBezTo>
                    <a:lnTo>
                      <a:pt x="80963" y="0"/>
                    </a:lnTo>
                  </a:path>
                </a:pathLst>
              </a:custGeom>
              <a:noFill/>
              <a:ln w="26988">
                <a:solidFill>
                  <a:srgbClr val="1E8449"/>
                </a:solidFill>
              </a:ln>
            </p:spPr>
          </p:sp>
        </p:grpSp>
        <p:grpSp>
          <p:nvGrpSpPr>
            <p:cNvPr id="21" name="Group 21"/>
            <p:cNvGrpSpPr/>
            <p:nvPr/>
          </p:nvGrpSpPr>
          <p:grpSpPr>
            <a:xfrm>
              <a:off x="3469481" y="1754981"/>
              <a:ext cx="242888" cy="229394"/>
              <a:chOff x="3469481" y="1754981"/>
              <a:chExt cx="242888" cy="229394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3469481" y="1808956"/>
                <a:ext cx="242888" cy="175419"/>
              </a:xfrm>
              <a:custGeom>
                <a:avLst/>
                <a:gdLst/>
                <a:ahLst/>
                <a:cxnLst/>
                <a:rect l="l" t="t" r="r" b="b"/>
                <a:pathLst>
                  <a:path w="242888" h="175419">
                    <a:moveTo>
                      <a:pt x="0" y="26988"/>
                    </a:moveTo>
                    <a:cubicBezTo>
                      <a:pt x="0" y="12083"/>
                      <a:pt x="12083" y="0"/>
                      <a:pt x="26988" y="0"/>
                    </a:cubicBezTo>
                    <a:lnTo>
                      <a:pt x="215901" y="0"/>
                    </a:lnTo>
                    <a:cubicBezTo>
                      <a:pt x="230805" y="0"/>
                      <a:pt x="242888" y="12083"/>
                      <a:pt x="242888" y="26988"/>
                    </a:cubicBezTo>
                    <a:lnTo>
                      <a:pt x="242888" y="148432"/>
                    </a:lnTo>
                    <a:cubicBezTo>
                      <a:pt x="242888" y="163336"/>
                      <a:pt x="230805" y="175419"/>
                      <a:pt x="215901" y="175419"/>
                    </a:cubicBezTo>
                    <a:lnTo>
                      <a:pt x="26988" y="175419"/>
                    </a:lnTo>
                    <a:cubicBezTo>
                      <a:pt x="12083" y="175419"/>
                      <a:pt x="0" y="163336"/>
                      <a:pt x="0" y="148432"/>
                    </a:cubicBezTo>
                    <a:lnTo>
                      <a:pt x="0" y="26988"/>
                    </a:lnTo>
                  </a:path>
                </a:pathLst>
              </a:custGeom>
              <a:noFill/>
              <a:ln w="26988">
                <a:solidFill>
                  <a:srgbClr val="1E8449"/>
                </a:solidFill>
              </a:ln>
            </p:spPr>
          </p:sp>
          <p:sp>
            <p:nvSpPr>
              <p:cNvPr id="18" name="Freeform 18"/>
              <p:cNvSpPr/>
              <p:nvPr/>
            </p:nvSpPr>
            <p:spPr>
              <a:xfrm>
                <a:off x="3536950" y="1754981"/>
                <a:ext cx="107950" cy="53975"/>
              </a:xfrm>
              <a:custGeom>
                <a:avLst/>
                <a:gdLst/>
                <a:ahLst/>
                <a:cxnLst/>
                <a:rect l="l" t="t" r="r" b="b"/>
                <a:pathLst>
                  <a:path w="107950" h="53975">
                    <a:moveTo>
                      <a:pt x="0" y="53975"/>
                    </a:moveTo>
                    <a:lnTo>
                      <a:pt x="0" y="26988"/>
                    </a:lnTo>
                    <a:cubicBezTo>
                      <a:pt x="0" y="12083"/>
                      <a:pt x="12083" y="0"/>
                      <a:pt x="26988" y="0"/>
                    </a:cubicBezTo>
                    <a:lnTo>
                      <a:pt x="80963" y="0"/>
                    </a:lnTo>
                    <a:cubicBezTo>
                      <a:pt x="95868" y="0"/>
                      <a:pt x="107950" y="12083"/>
                      <a:pt x="107950" y="26988"/>
                    </a:cubicBezTo>
                    <a:lnTo>
                      <a:pt x="107950" y="53975"/>
                    </a:lnTo>
                  </a:path>
                </a:pathLst>
              </a:custGeom>
              <a:noFill/>
              <a:ln w="26988">
                <a:solidFill>
                  <a:srgbClr val="1E8449"/>
                </a:solidFill>
              </a:ln>
            </p:spPr>
          </p:sp>
          <p:sp>
            <p:nvSpPr>
              <p:cNvPr id="19" name="Freeform 19"/>
              <p:cNvSpPr/>
              <p:nvPr/>
            </p:nvSpPr>
            <p:spPr>
              <a:xfrm>
                <a:off x="3590925" y="187642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0" y="135"/>
                    </a:lnTo>
                  </a:path>
                </a:pathLst>
              </a:custGeom>
              <a:noFill/>
              <a:ln w="26988">
                <a:solidFill>
                  <a:srgbClr val="1E8449"/>
                </a:solidFill>
              </a:ln>
            </p:spPr>
          </p:sp>
          <p:sp>
            <p:nvSpPr>
              <p:cNvPr id="20" name="Freeform 20"/>
              <p:cNvSpPr/>
              <p:nvPr/>
            </p:nvSpPr>
            <p:spPr>
              <a:xfrm>
                <a:off x="3469481" y="1889919"/>
                <a:ext cx="242888" cy="38492"/>
              </a:xfrm>
              <a:custGeom>
                <a:avLst/>
                <a:gdLst/>
                <a:ahLst/>
                <a:cxnLst/>
                <a:rect l="l" t="t" r="r" b="b"/>
                <a:pathLst>
                  <a:path w="242888" h="38492">
                    <a:moveTo>
                      <a:pt x="0" y="0"/>
                    </a:moveTo>
                    <a:cubicBezTo>
                      <a:pt x="76388" y="38492"/>
                      <a:pt x="166500" y="38492"/>
                      <a:pt x="242888" y="0"/>
                    </a:cubicBezTo>
                  </a:path>
                </a:pathLst>
              </a:custGeom>
              <a:noFill/>
              <a:ln w="26988">
                <a:solidFill>
                  <a:srgbClr val="1E8449"/>
                </a:solidFill>
              </a:ln>
            </p:spPr>
          </p:sp>
        </p:grpSp>
        <p:grpSp>
          <p:nvGrpSpPr>
            <p:cNvPr id="27" name="Group 27"/>
            <p:cNvGrpSpPr/>
            <p:nvPr/>
          </p:nvGrpSpPr>
          <p:grpSpPr>
            <a:xfrm>
              <a:off x="4038507" y="1752507"/>
              <a:ext cx="248142" cy="254887"/>
              <a:chOff x="4038507" y="1752507"/>
              <a:chExt cx="248142" cy="254887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4135438" y="1849438"/>
                <a:ext cx="151211" cy="151180"/>
              </a:xfrm>
              <a:custGeom>
                <a:avLst/>
                <a:gdLst/>
                <a:ahLst/>
                <a:cxnLst/>
                <a:rect l="l" t="t" r="r" b="b"/>
                <a:pathLst>
                  <a:path w="151211" h="151180">
                    <a:moveTo>
                      <a:pt x="40481" y="0"/>
                    </a:moveTo>
                    <a:lnTo>
                      <a:pt x="140106" y="100097"/>
                    </a:lnTo>
                    <a:cubicBezTo>
                      <a:pt x="151211" y="111162"/>
                      <a:pt x="151211" y="129082"/>
                      <a:pt x="140106" y="140133"/>
                    </a:cubicBezTo>
                    <a:cubicBezTo>
                      <a:pt x="128999" y="151180"/>
                      <a:pt x="111055" y="151180"/>
                      <a:pt x="99948" y="140133"/>
                    </a:cubicBezTo>
                    <a:lnTo>
                      <a:pt x="0" y="40481"/>
                    </a:lnTo>
                  </a:path>
                </a:pathLst>
              </a:custGeom>
              <a:noFill/>
              <a:ln w="26988">
                <a:solidFill>
                  <a:srgbClr val="1E8449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4081463" y="1835944"/>
                <a:ext cx="53975" cy="53975"/>
              </a:xfrm>
              <a:custGeom>
                <a:avLst/>
                <a:gdLst/>
                <a:ahLst/>
                <a:cxnLst/>
                <a:rect l="l" t="t" r="r" b="b"/>
                <a:pathLst>
                  <a:path w="53975" h="53975">
                    <a:moveTo>
                      <a:pt x="0" y="0"/>
                    </a:moveTo>
                    <a:lnTo>
                      <a:pt x="53975" y="53975"/>
                    </a:lnTo>
                  </a:path>
                </a:pathLst>
              </a:custGeom>
              <a:noFill/>
              <a:ln w="26988">
                <a:solidFill>
                  <a:srgbClr val="1E8449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4121944" y="1795463"/>
                <a:ext cx="53975" cy="53975"/>
              </a:xfrm>
              <a:custGeom>
                <a:avLst/>
                <a:gdLst/>
                <a:ahLst/>
                <a:cxnLst/>
                <a:rect l="l" t="t" r="r" b="b"/>
                <a:pathLst>
                  <a:path w="53975" h="53975">
                    <a:moveTo>
                      <a:pt x="53975" y="53975"/>
                    </a:moveTo>
                    <a:lnTo>
                      <a:pt x="0" y="0"/>
                    </a:lnTo>
                  </a:path>
                </a:pathLst>
              </a:custGeom>
              <a:noFill/>
              <a:ln w="26988">
                <a:solidFill>
                  <a:srgbClr val="1E8449"/>
                </a:solidFill>
              </a:ln>
            </p:spPr>
          </p:sp>
          <p:sp>
            <p:nvSpPr>
              <p:cNvPr id="25" name="Freeform 25"/>
              <p:cNvSpPr/>
              <p:nvPr/>
            </p:nvSpPr>
            <p:spPr>
              <a:xfrm>
                <a:off x="4040981" y="1997869"/>
                <a:ext cx="94456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4456" h="9525">
                    <a:moveTo>
                      <a:pt x="0" y="0"/>
                    </a:moveTo>
                    <a:lnTo>
                      <a:pt x="94456" y="0"/>
                    </a:lnTo>
                  </a:path>
                </a:pathLst>
              </a:custGeom>
              <a:noFill/>
              <a:ln w="26988">
                <a:solidFill>
                  <a:srgbClr val="1E8449"/>
                </a:solidFill>
              </a:ln>
            </p:spPr>
          </p:sp>
          <p:sp>
            <p:nvSpPr>
              <p:cNvPr id="26" name="Freeform 26"/>
              <p:cNvSpPr/>
              <p:nvPr/>
            </p:nvSpPr>
            <p:spPr>
              <a:xfrm>
                <a:off x="4038507" y="1752507"/>
                <a:ext cx="180368" cy="180368"/>
              </a:xfrm>
              <a:custGeom>
                <a:avLst/>
                <a:gdLst/>
                <a:ahLst/>
                <a:cxnLst/>
                <a:rect l="l" t="t" r="r" b="b"/>
                <a:pathLst>
                  <a:path w="180368" h="180368">
                    <a:moveTo>
                      <a:pt x="53656" y="175100"/>
                    </a:moveTo>
                    <a:lnTo>
                      <a:pt x="5268" y="126712"/>
                    </a:lnTo>
                    <a:cubicBezTo>
                      <a:pt x="0" y="121442"/>
                      <a:pt x="0" y="112901"/>
                      <a:pt x="5268" y="107632"/>
                    </a:cubicBezTo>
                    <a:lnTo>
                      <a:pt x="36209" y="76690"/>
                    </a:lnTo>
                    <a:lnTo>
                      <a:pt x="42956" y="83437"/>
                    </a:lnTo>
                    <a:lnTo>
                      <a:pt x="83437" y="42956"/>
                    </a:lnTo>
                    <a:lnTo>
                      <a:pt x="76690" y="36209"/>
                    </a:lnTo>
                    <a:lnTo>
                      <a:pt x="107632" y="5268"/>
                    </a:lnTo>
                    <a:cubicBezTo>
                      <a:pt x="112901" y="0"/>
                      <a:pt x="121442" y="0"/>
                      <a:pt x="126712" y="5268"/>
                    </a:cubicBezTo>
                    <a:lnTo>
                      <a:pt x="175100" y="53656"/>
                    </a:lnTo>
                    <a:cubicBezTo>
                      <a:pt x="180368" y="58926"/>
                      <a:pt x="180368" y="67467"/>
                      <a:pt x="175100" y="72737"/>
                    </a:cubicBezTo>
                    <a:lnTo>
                      <a:pt x="144159" y="103678"/>
                    </a:lnTo>
                    <a:lnTo>
                      <a:pt x="137412" y="96931"/>
                    </a:lnTo>
                    <a:lnTo>
                      <a:pt x="96931" y="137412"/>
                    </a:lnTo>
                    <a:lnTo>
                      <a:pt x="103678" y="144159"/>
                    </a:lnTo>
                    <a:lnTo>
                      <a:pt x="72737" y="175100"/>
                    </a:lnTo>
                    <a:cubicBezTo>
                      <a:pt x="67467" y="180368"/>
                      <a:pt x="58926" y="180368"/>
                      <a:pt x="53656" y="175100"/>
                    </a:cubicBezTo>
                  </a:path>
                </a:pathLst>
              </a:custGeom>
              <a:noFill/>
              <a:ln w="26988">
                <a:solidFill>
                  <a:srgbClr val="1E8449"/>
                </a:solidFill>
              </a:ln>
            </p:spPr>
          </p:sp>
        </p:grpSp>
        <p:grpSp>
          <p:nvGrpSpPr>
            <p:cNvPr id="33" name="Group 33"/>
            <p:cNvGrpSpPr/>
            <p:nvPr/>
          </p:nvGrpSpPr>
          <p:grpSpPr>
            <a:xfrm>
              <a:off x="4612481" y="1754981"/>
              <a:ext cx="242888" cy="242888"/>
              <a:chOff x="4612481" y="1754981"/>
              <a:chExt cx="242888" cy="242888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4612481" y="1754981"/>
                <a:ext cx="242888" cy="242888"/>
              </a:xfrm>
              <a:custGeom>
                <a:avLst/>
                <a:gdLst/>
                <a:ahLst/>
                <a:cxnLst/>
                <a:rect l="l" t="t" r="r" b="b"/>
                <a:pathLst>
                  <a:path w="242888" h="242888">
                    <a:moveTo>
                      <a:pt x="0" y="121444"/>
                    </a:moveTo>
                    <a:cubicBezTo>
                      <a:pt x="0" y="188516"/>
                      <a:pt x="54372" y="242888"/>
                      <a:pt x="121444" y="242888"/>
                    </a:cubicBezTo>
                    <a:cubicBezTo>
                      <a:pt x="188516" y="242888"/>
                      <a:pt x="242888" y="188516"/>
                      <a:pt x="242888" y="121444"/>
                    </a:cubicBezTo>
                    <a:cubicBezTo>
                      <a:pt x="242888" y="54372"/>
                      <a:pt x="188516" y="0"/>
                      <a:pt x="121444" y="0"/>
                    </a:cubicBezTo>
                    <a:cubicBezTo>
                      <a:pt x="54372" y="0"/>
                      <a:pt x="0" y="54372"/>
                      <a:pt x="0" y="121444"/>
                    </a:cubicBezTo>
                  </a:path>
                </a:pathLst>
              </a:custGeom>
              <a:noFill/>
              <a:ln w="26988">
                <a:solidFill>
                  <a:srgbClr val="1E8449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4620578" y="1835944"/>
                <a:ext cx="226696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26696" h="9525">
                    <a:moveTo>
                      <a:pt x="0" y="0"/>
                    </a:moveTo>
                    <a:lnTo>
                      <a:pt x="226696" y="0"/>
                    </a:lnTo>
                  </a:path>
                </a:pathLst>
              </a:custGeom>
              <a:noFill/>
              <a:ln w="26988">
                <a:solidFill>
                  <a:srgbClr val="1E8449"/>
                </a:solidFill>
              </a:ln>
            </p:spPr>
          </p:sp>
          <p:sp>
            <p:nvSpPr>
              <p:cNvPr id="30" name="Freeform 30"/>
              <p:cNvSpPr/>
              <p:nvPr/>
            </p:nvSpPr>
            <p:spPr>
              <a:xfrm>
                <a:off x="4620578" y="1916907"/>
                <a:ext cx="226696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26696" h="9525">
                    <a:moveTo>
                      <a:pt x="0" y="0"/>
                    </a:moveTo>
                    <a:lnTo>
                      <a:pt x="226696" y="0"/>
                    </a:lnTo>
                  </a:path>
                </a:pathLst>
              </a:custGeom>
              <a:noFill/>
              <a:ln w="26988">
                <a:solidFill>
                  <a:srgbClr val="1E8449"/>
                </a:solidFill>
              </a:ln>
            </p:spPr>
          </p:sp>
          <p:sp>
            <p:nvSpPr>
              <p:cNvPr id="31" name="Freeform 31"/>
              <p:cNvSpPr/>
              <p:nvPr/>
            </p:nvSpPr>
            <p:spPr>
              <a:xfrm>
                <a:off x="4680800" y="1754981"/>
                <a:ext cx="46379" cy="242888"/>
              </a:xfrm>
              <a:custGeom>
                <a:avLst/>
                <a:gdLst/>
                <a:ahLst/>
                <a:cxnLst/>
                <a:rect l="l" t="t" r="r" b="b"/>
                <a:pathLst>
                  <a:path w="46379" h="242888">
                    <a:moveTo>
                      <a:pt x="46379" y="0"/>
                    </a:moveTo>
                    <a:cubicBezTo>
                      <a:pt x="0" y="74321"/>
                      <a:pt x="0" y="168567"/>
                      <a:pt x="46379" y="242888"/>
                    </a:cubicBezTo>
                  </a:path>
                </a:pathLst>
              </a:custGeom>
              <a:noFill/>
              <a:ln w="26988">
                <a:solidFill>
                  <a:srgbClr val="1E8449"/>
                </a:solidFill>
              </a:ln>
            </p:spPr>
          </p:sp>
          <p:sp>
            <p:nvSpPr>
              <p:cNvPr id="32" name="Freeform 32"/>
              <p:cNvSpPr/>
              <p:nvPr/>
            </p:nvSpPr>
            <p:spPr>
              <a:xfrm>
                <a:off x="4740672" y="1754981"/>
                <a:ext cx="46379" cy="242888"/>
              </a:xfrm>
              <a:custGeom>
                <a:avLst/>
                <a:gdLst/>
                <a:ahLst/>
                <a:cxnLst/>
                <a:rect l="l" t="t" r="r" b="b"/>
                <a:pathLst>
                  <a:path w="46379" h="242888">
                    <a:moveTo>
                      <a:pt x="0" y="0"/>
                    </a:moveTo>
                    <a:cubicBezTo>
                      <a:pt x="46379" y="74321"/>
                      <a:pt x="46379" y="168567"/>
                      <a:pt x="0" y="242888"/>
                    </a:cubicBezTo>
                  </a:path>
                </a:pathLst>
              </a:custGeom>
              <a:noFill/>
              <a:ln w="26988">
                <a:solidFill>
                  <a:srgbClr val="1E8449"/>
                </a:solidFill>
              </a:ln>
            </p:spPr>
          </p:sp>
        </p:grpSp>
        <p:grpSp>
          <p:nvGrpSpPr>
            <p:cNvPr id="40" name="Group 40"/>
            <p:cNvGrpSpPr/>
            <p:nvPr/>
          </p:nvGrpSpPr>
          <p:grpSpPr>
            <a:xfrm>
              <a:off x="5183981" y="1754981"/>
              <a:ext cx="242888" cy="242888"/>
              <a:chOff x="5183981" y="1754981"/>
              <a:chExt cx="242888" cy="242888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5278438" y="1862932"/>
                <a:ext cx="53975" cy="53975"/>
              </a:xfrm>
              <a:custGeom>
                <a:avLst/>
                <a:gdLst/>
                <a:ahLst/>
                <a:cxnLst/>
                <a:rect l="l" t="t" r="r" b="b"/>
                <a:pathLst>
                  <a:path w="53975" h="53975">
                    <a:moveTo>
                      <a:pt x="0" y="26988"/>
                    </a:moveTo>
                    <a:cubicBezTo>
                      <a:pt x="0" y="41892"/>
                      <a:pt x="12083" y="53975"/>
                      <a:pt x="26988" y="53975"/>
                    </a:cubicBezTo>
                    <a:cubicBezTo>
                      <a:pt x="41892" y="53975"/>
                      <a:pt x="53975" y="41892"/>
                      <a:pt x="53975" y="26988"/>
                    </a:cubicBezTo>
                    <a:cubicBezTo>
                      <a:pt x="53975" y="12083"/>
                      <a:pt x="41892" y="0"/>
                      <a:pt x="26988" y="0"/>
                    </a:cubicBezTo>
                    <a:cubicBezTo>
                      <a:pt x="12083" y="0"/>
                      <a:pt x="0" y="12083"/>
                      <a:pt x="0" y="26988"/>
                    </a:cubicBezTo>
                  </a:path>
                </a:pathLst>
              </a:custGeom>
              <a:noFill/>
              <a:ln w="26988">
                <a:solidFill>
                  <a:srgbClr val="1E8449"/>
                </a:solidFill>
              </a:ln>
            </p:spPr>
          </p:sp>
          <p:sp>
            <p:nvSpPr>
              <p:cNvPr id="35" name="Freeform 35"/>
              <p:cNvSpPr/>
              <p:nvPr/>
            </p:nvSpPr>
            <p:spPr>
              <a:xfrm>
                <a:off x="5251450" y="1957388"/>
                <a:ext cx="107950" cy="40481"/>
              </a:xfrm>
              <a:custGeom>
                <a:avLst/>
                <a:gdLst/>
                <a:ahLst/>
                <a:cxnLst/>
                <a:rect l="l" t="t" r="r" b="b"/>
                <a:pathLst>
                  <a:path w="107950" h="40481">
                    <a:moveTo>
                      <a:pt x="0" y="40481"/>
                    </a:moveTo>
                    <a:lnTo>
                      <a:pt x="0" y="26988"/>
                    </a:lnTo>
                    <a:cubicBezTo>
                      <a:pt x="0" y="12083"/>
                      <a:pt x="12083" y="0"/>
                      <a:pt x="26988" y="0"/>
                    </a:cubicBezTo>
                    <a:lnTo>
                      <a:pt x="80963" y="0"/>
                    </a:lnTo>
                    <a:cubicBezTo>
                      <a:pt x="95868" y="0"/>
                      <a:pt x="107950" y="12083"/>
                      <a:pt x="107950" y="26988"/>
                    </a:cubicBezTo>
                    <a:lnTo>
                      <a:pt x="107950" y="40481"/>
                    </a:lnTo>
                  </a:path>
                </a:pathLst>
              </a:custGeom>
              <a:noFill/>
              <a:ln w="26988">
                <a:solidFill>
                  <a:srgbClr val="1E8449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5345907" y="1754981"/>
                <a:ext cx="53975" cy="53975"/>
              </a:xfrm>
              <a:custGeom>
                <a:avLst/>
                <a:gdLst/>
                <a:ahLst/>
                <a:cxnLst/>
                <a:rect l="l" t="t" r="r" b="b"/>
                <a:pathLst>
                  <a:path w="53975" h="53975">
                    <a:moveTo>
                      <a:pt x="0" y="26988"/>
                    </a:moveTo>
                    <a:cubicBezTo>
                      <a:pt x="0" y="41892"/>
                      <a:pt x="12083" y="53975"/>
                      <a:pt x="26988" y="53975"/>
                    </a:cubicBezTo>
                    <a:cubicBezTo>
                      <a:pt x="41892" y="53975"/>
                      <a:pt x="53975" y="41892"/>
                      <a:pt x="53975" y="26988"/>
                    </a:cubicBezTo>
                    <a:cubicBezTo>
                      <a:pt x="53975" y="12083"/>
                      <a:pt x="41892" y="0"/>
                      <a:pt x="26988" y="0"/>
                    </a:cubicBezTo>
                    <a:cubicBezTo>
                      <a:pt x="12083" y="0"/>
                      <a:pt x="0" y="12083"/>
                      <a:pt x="0" y="26988"/>
                    </a:cubicBezTo>
                  </a:path>
                </a:pathLst>
              </a:custGeom>
              <a:noFill/>
              <a:ln w="26988">
                <a:solidFill>
                  <a:srgbClr val="1E8449"/>
                </a:solidFill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5372894" y="1849438"/>
                <a:ext cx="53975" cy="40481"/>
              </a:xfrm>
              <a:custGeom>
                <a:avLst/>
                <a:gdLst/>
                <a:ahLst/>
                <a:cxnLst/>
                <a:rect l="l" t="t" r="r" b="b"/>
                <a:pathLst>
                  <a:path w="53975" h="40481">
                    <a:moveTo>
                      <a:pt x="0" y="0"/>
                    </a:moveTo>
                    <a:lnTo>
                      <a:pt x="26988" y="0"/>
                    </a:lnTo>
                    <a:cubicBezTo>
                      <a:pt x="41892" y="0"/>
                      <a:pt x="53975" y="12083"/>
                      <a:pt x="53975" y="26988"/>
                    </a:cubicBezTo>
                    <a:lnTo>
                      <a:pt x="53975" y="40481"/>
                    </a:lnTo>
                  </a:path>
                </a:pathLst>
              </a:custGeom>
              <a:noFill/>
              <a:ln w="26988">
                <a:solidFill>
                  <a:srgbClr val="1E8449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5210969" y="1754981"/>
                <a:ext cx="53975" cy="53975"/>
              </a:xfrm>
              <a:custGeom>
                <a:avLst/>
                <a:gdLst/>
                <a:ahLst/>
                <a:cxnLst/>
                <a:rect l="l" t="t" r="r" b="b"/>
                <a:pathLst>
                  <a:path w="53975" h="53975">
                    <a:moveTo>
                      <a:pt x="0" y="26988"/>
                    </a:moveTo>
                    <a:cubicBezTo>
                      <a:pt x="0" y="41892"/>
                      <a:pt x="12083" y="53975"/>
                      <a:pt x="26988" y="53975"/>
                    </a:cubicBezTo>
                    <a:cubicBezTo>
                      <a:pt x="41892" y="53975"/>
                      <a:pt x="53975" y="41892"/>
                      <a:pt x="53975" y="26988"/>
                    </a:cubicBezTo>
                    <a:cubicBezTo>
                      <a:pt x="53975" y="12083"/>
                      <a:pt x="41892" y="0"/>
                      <a:pt x="26988" y="0"/>
                    </a:cubicBezTo>
                    <a:cubicBezTo>
                      <a:pt x="12083" y="0"/>
                      <a:pt x="0" y="12083"/>
                      <a:pt x="0" y="26988"/>
                    </a:cubicBezTo>
                  </a:path>
                </a:pathLst>
              </a:custGeom>
              <a:noFill/>
              <a:ln w="26988">
                <a:solidFill>
                  <a:srgbClr val="1E8449"/>
                </a:solidFill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5183981" y="1849438"/>
                <a:ext cx="53975" cy="40481"/>
              </a:xfrm>
              <a:custGeom>
                <a:avLst/>
                <a:gdLst/>
                <a:ahLst/>
                <a:cxnLst/>
                <a:rect l="l" t="t" r="r" b="b"/>
                <a:pathLst>
                  <a:path w="53975" h="40481">
                    <a:moveTo>
                      <a:pt x="0" y="40481"/>
                    </a:moveTo>
                    <a:lnTo>
                      <a:pt x="0" y="26988"/>
                    </a:lnTo>
                    <a:cubicBezTo>
                      <a:pt x="0" y="12083"/>
                      <a:pt x="12083" y="0"/>
                      <a:pt x="26988" y="0"/>
                    </a:cubicBezTo>
                    <a:lnTo>
                      <a:pt x="53975" y="0"/>
                    </a:lnTo>
                  </a:path>
                </a:pathLst>
              </a:custGeom>
              <a:noFill/>
              <a:ln w="26988">
                <a:solidFill>
                  <a:srgbClr val="1E8449"/>
                </a:solidFill>
              </a:ln>
            </p:spPr>
          </p:sp>
        </p:grpSp>
        <p:sp>
          <p:nvSpPr>
            <p:cNvPr id="41" name="TextBox 41"/>
            <p:cNvSpPr txBox="1"/>
            <p:nvPr/>
          </p:nvSpPr>
          <p:spPr>
            <a:xfrm>
              <a:off x="3452927" y="3390900"/>
              <a:ext cx="128564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80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Отношения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2859407" y="4724400"/>
              <a:ext cx="247268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Внутренние факторы</a:t>
              </a:r>
            </a:p>
          </p:txBody>
        </p:sp>
        <p:grpSp>
          <p:nvGrpSpPr>
            <p:cNvPr id="46" name="Group 46"/>
            <p:cNvGrpSpPr/>
            <p:nvPr/>
          </p:nvGrpSpPr>
          <p:grpSpPr>
            <a:xfrm>
              <a:off x="2231231" y="5183981"/>
              <a:ext cx="242888" cy="242888"/>
              <a:chOff x="2231231" y="5183981"/>
              <a:chExt cx="242888" cy="242888"/>
            </a:xfrm>
          </p:grpSpPr>
          <p:sp>
            <p:nvSpPr>
              <p:cNvPr id="43" name="Freeform 43"/>
              <p:cNvSpPr/>
              <p:nvPr/>
            </p:nvSpPr>
            <p:spPr>
              <a:xfrm>
                <a:off x="2231231" y="5183981"/>
                <a:ext cx="242888" cy="121444"/>
              </a:xfrm>
              <a:custGeom>
                <a:avLst/>
                <a:gdLst/>
                <a:ahLst/>
                <a:cxnLst/>
                <a:rect l="l" t="t" r="r" b="b"/>
                <a:pathLst>
                  <a:path w="242888" h="121444">
                    <a:moveTo>
                      <a:pt x="0" y="121444"/>
                    </a:moveTo>
                    <a:lnTo>
                      <a:pt x="13494" y="121444"/>
                    </a:lnTo>
                    <a:moveTo>
                      <a:pt x="121444" y="0"/>
                    </a:moveTo>
                    <a:lnTo>
                      <a:pt x="121444" y="13494"/>
                    </a:lnTo>
                    <a:moveTo>
                      <a:pt x="229394" y="121444"/>
                    </a:moveTo>
                    <a:lnTo>
                      <a:pt x="242888" y="121444"/>
                    </a:lnTo>
                    <a:moveTo>
                      <a:pt x="35084" y="35084"/>
                    </a:moveTo>
                    <a:lnTo>
                      <a:pt x="44529" y="44529"/>
                    </a:lnTo>
                    <a:moveTo>
                      <a:pt x="207804" y="35084"/>
                    </a:moveTo>
                    <a:lnTo>
                      <a:pt x="198359" y="44529"/>
                    </a:lnTo>
                  </a:path>
                </a:pathLst>
              </a:custGeom>
              <a:noFill/>
              <a:ln w="26988">
                <a:solidFill>
                  <a:schemeClr val="accent1"/>
                </a:solidFill>
              </a:ln>
            </p:spPr>
          </p:sp>
          <p:sp>
            <p:nvSpPr>
              <p:cNvPr id="44" name="Freeform 44"/>
              <p:cNvSpPr/>
              <p:nvPr/>
            </p:nvSpPr>
            <p:spPr>
              <a:xfrm>
                <a:off x="2279485" y="5237956"/>
                <a:ext cx="146380" cy="188913"/>
              </a:xfrm>
              <a:custGeom>
                <a:avLst/>
                <a:gdLst/>
                <a:ahLst/>
                <a:cxnLst/>
                <a:rect l="l" t="t" r="r" b="b"/>
                <a:pathLst>
                  <a:path w="146380" h="188913">
                    <a:moveTo>
                      <a:pt x="32709" y="121444"/>
                    </a:moveTo>
                    <a:cubicBezTo>
                      <a:pt x="9476" y="104020"/>
                      <a:pt x="0" y="73684"/>
                      <a:pt x="9183" y="46133"/>
                    </a:cubicBezTo>
                    <a:cubicBezTo>
                      <a:pt x="18367" y="18583"/>
                      <a:pt x="44149" y="0"/>
                      <a:pt x="73190" y="0"/>
                    </a:cubicBezTo>
                    <a:cubicBezTo>
                      <a:pt x="102231" y="0"/>
                      <a:pt x="128013" y="18583"/>
                      <a:pt x="137197" y="46133"/>
                    </a:cubicBezTo>
                    <a:cubicBezTo>
                      <a:pt x="146380" y="73684"/>
                      <a:pt x="136904" y="104020"/>
                      <a:pt x="113671" y="121444"/>
                    </a:cubicBezTo>
                    <a:cubicBezTo>
                      <a:pt x="102987" y="132021"/>
                      <a:pt x="97976" y="147053"/>
                      <a:pt x="100178" y="161925"/>
                    </a:cubicBezTo>
                    <a:cubicBezTo>
                      <a:pt x="100178" y="176830"/>
                      <a:pt x="88095" y="188913"/>
                      <a:pt x="73190" y="188913"/>
                    </a:cubicBezTo>
                    <a:cubicBezTo>
                      <a:pt x="58285" y="188913"/>
                      <a:pt x="46203" y="176830"/>
                      <a:pt x="46203" y="161925"/>
                    </a:cubicBezTo>
                    <a:cubicBezTo>
                      <a:pt x="48404" y="147053"/>
                      <a:pt x="43394" y="132021"/>
                      <a:pt x="32709" y="121444"/>
                    </a:cubicBezTo>
                  </a:path>
                </a:pathLst>
              </a:custGeom>
              <a:noFill/>
              <a:ln w="26988">
                <a:solidFill>
                  <a:schemeClr val="accent1"/>
                </a:solidFill>
              </a:ln>
            </p:spPr>
          </p:sp>
          <p:sp>
            <p:nvSpPr>
              <p:cNvPr id="45" name="Freeform 45"/>
              <p:cNvSpPr/>
              <p:nvPr/>
            </p:nvSpPr>
            <p:spPr>
              <a:xfrm>
                <a:off x="2321640" y="5372894"/>
                <a:ext cx="6207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62071" h="9525">
                    <a:moveTo>
                      <a:pt x="0" y="0"/>
                    </a:moveTo>
                    <a:lnTo>
                      <a:pt x="62071" y="0"/>
                    </a:lnTo>
                  </a:path>
                </a:pathLst>
              </a:custGeom>
              <a:noFill/>
              <a:ln w="26988">
                <a:solidFill>
                  <a:schemeClr val="accent1"/>
                </a:solidFill>
              </a:ln>
            </p:spPr>
          </p:sp>
        </p:grpSp>
        <p:sp>
          <p:nvSpPr>
            <p:cNvPr id="47" name="Freeform 47"/>
            <p:cNvSpPr/>
            <p:nvPr/>
          </p:nvSpPr>
          <p:spPr>
            <a:xfrm>
              <a:off x="2893309" y="5194013"/>
              <a:ext cx="251989" cy="219362"/>
            </a:xfrm>
            <a:custGeom>
              <a:avLst/>
              <a:gdLst/>
              <a:ahLst/>
              <a:cxnLst/>
              <a:rect l="l" t="t" r="r" b="b"/>
              <a:pathLst>
                <a:path w="251989" h="219362">
                  <a:moveTo>
                    <a:pt x="227320" y="119130"/>
                  </a:moveTo>
                  <a:lnTo>
                    <a:pt x="126117" y="219362"/>
                  </a:lnTo>
                  <a:lnTo>
                    <a:pt x="24913" y="119130"/>
                  </a:lnTo>
                  <a:cubicBezTo>
                    <a:pt x="6714" y="101421"/>
                    <a:pt x="0" y="74993"/>
                    <a:pt x="7540" y="50744"/>
                  </a:cubicBezTo>
                  <a:cubicBezTo>
                    <a:pt x="15079" y="26496"/>
                    <a:pt x="35596" y="8535"/>
                    <a:pt x="60628" y="4267"/>
                  </a:cubicBezTo>
                  <a:cubicBezTo>
                    <a:pt x="85660" y="0"/>
                    <a:pt x="110969" y="10149"/>
                    <a:pt x="126117" y="30530"/>
                  </a:cubicBezTo>
                  <a:cubicBezTo>
                    <a:pt x="141328" y="10300"/>
                    <a:pt x="166582" y="286"/>
                    <a:pt x="191524" y="4593"/>
                  </a:cubicBezTo>
                  <a:cubicBezTo>
                    <a:pt x="216465" y="8900"/>
                    <a:pt x="236898" y="26805"/>
                    <a:pt x="244443" y="50965"/>
                  </a:cubicBezTo>
                  <a:cubicBezTo>
                    <a:pt x="251989" y="75125"/>
                    <a:pt x="245377" y="101475"/>
                    <a:pt x="227320" y="119211"/>
                  </a:cubicBezTo>
                </a:path>
              </a:pathLst>
            </a:custGeom>
            <a:noFill/>
            <a:ln w="26988">
              <a:solidFill>
                <a:schemeClr val="accent1"/>
              </a:solidFill>
            </a:ln>
          </p:spPr>
        </p:sp>
        <p:grpSp>
          <p:nvGrpSpPr>
            <p:cNvPr id="53" name="Group 53"/>
            <p:cNvGrpSpPr/>
            <p:nvPr/>
          </p:nvGrpSpPr>
          <p:grpSpPr>
            <a:xfrm>
              <a:off x="3564731" y="5202769"/>
              <a:ext cx="252413" cy="197113"/>
              <a:chOff x="3564731" y="5202769"/>
              <a:chExt cx="252413" cy="197113"/>
            </a:xfrm>
          </p:grpSpPr>
          <p:sp>
            <p:nvSpPr>
              <p:cNvPr id="48" name="Freeform 48"/>
              <p:cNvSpPr/>
              <p:nvPr/>
            </p:nvSpPr>
            <p:spPr>
              <a:xfrm>
                <a:off x="3564731" y="5378188"/>
                <a:ext cx="242888" cy="21694"/>
              </a:xfrm>
              <a:custGeom>
                <a:avLst/>
                <a:gdLst/>
                <a:ahLst/>
                <a:cxnLst/>
                <a:rect l="l" t="t" r="r" b="b"/>
                <a:pathLst>
                  <a:path w="242888" h="21694">
                    <a:moveTo>
                      <a:pt x="0" y="21694"/>
                    </a:moveTo>
                    <a:cubicBezTo>
                      <a:pt x="37575" y="0"/>
                      <a:pt x="83869" y="0"/>
                      <a:pt x="121444" y="21694"/>
                    </a:cubicBezTo>
                    <a:cubicBezTo>
                      <a:pt x="159019" y="0"/>
                      <a:pt x="205313" y="0"/>
                      <a:pt x="242888" y="21694"/>
                    </a:cubicBezTo>
                  </a:path>
                </a:pathLst>
              </a:custGeom>
              <a:noFill/>
              <a:ln w="26988">
                <a:solidFill>
                  <a:schemeClr val="accent1"/>
                </a:solidFill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3564731" y="5202769"/>
                <a:ext cx="242888" cy="21694"/>
              </a:xfrm>
              <a:custGeom>
                <a:avLst/>
                <a:gdLst/>
                <a:ahLst/>
                <a:cxnLst/>
                <a:rect l="l" t="t" r="r" b="b"/>
                <a:pathLst>
                  <a:path w="242888" h="21694">
                    <a:moveTo>
                      <a:pt x="0" y="21694"/>
                    </a:moveTo>
                    <a:cubicBezTo>
                      <a:pt x="37575" y="0"/>
                      <a:pt x="83869" y="0"/>
                      <a:pt x="121444" y="21694"/>
                    </a:cubicBezTo>
                    <a:cubicBezTo>
                      <a:pt x="159019" y="0"/>
                      <a:pt x="205313" y="0"/>
                      <a:pt x="242888" y="21694"/>
                    </a:cubicBezTo>
                  </a:path>
                </a:pathLst>
              </a:custGeom>
              <a:noFill/>
              <a:ln w="26988">
                <a:solidFill>
                  <a:schemeClr val="accent1"/>
                </a:solidFill>
              </a:ln>
            </p:spPr>
          </p:sp>
          <p:sp>
            <p:nvSpPr>
              <p:cNvPr id="50" name="Freeform 50"/>
              <p:cNvSpPr/>
              <p:nvPr/>
            </p:nvSpPr>
            <p:spPr>
              <a:xfrm>
                <a:off x="3564731" y="5224463"/>
                <a:ext cx="9525" cy="175419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75419">
                    <a:moveTo>
                      <a:pt x="0" y="0"/>
                    </a:moveTo>
                    <a:lnTo>
                      <a:pt x="0" y="175419"/>
                    </a:lnTo>
                  </a:path>
                </a:pathLst>
              </a:custGeom>
              <a:noFill/>
              <a:ln w="26988">
                <a:solidFill>
                  <a:schemeClr val="accent1"/>
                </a:solidFill>
              </a:ln>
            </p:spPr>
          </p:sp>
          <p:sp>
            <p:nvSpPr>
              <p:cNvPr id="51" name="Freeform 51"/>
              <p:cNvSpPr/>
              <p:nvPr/>
            </p:nvSpPr>
            <p:spPr>
              <a:xfrm>
                <a:off x="3686175" y="5224463"/>
                <a:ext cx="9525" cy="175419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75419">
                    <a:moveTo>
                      <a:pt x="0" y="0"/>
                    </a:moveTo>
                    <a:lnTo>
                      <a:pt x="0" y="175419"/>
                    </a:lnTo>
                  </a:path>
                </a:pathLst>
              </a:custGeom>
              <a:noFill/>
              <a:ln w="26988">
                <a:solidFill>
                  <a:schemeClr val="accent1"/>
                </a:solidFill>
              </a:ln>
            </p:spPr>
          </p:sp>
          <p:sp>
            <p:nvSpPr>
              <p:cNvPr id="52" name="Freeform 52"/>
              <p:cNvSpPr/>
              <p:nvPr/>
            </p:nvSpPr>
            <p:spPr>
              <a:xfrm>
                <a:off x="3807619" y="5224463"/>
                <a:ext cx="9525" cy="175419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75419">
                    <a:moveTo>
                      <a:pt x="0" y="0"/>
                    </a:moveTo>
                    <a:lnTo>
                      <a:pt x="0" y="175419"/>
                    </a:lnTo>
                  </a:path>
                </a:pathLst>
              </a:custGeom>
              <a:noFill/>
              <a:ln w="26988">
                <a:solidFill>
                  <a:schemeClr val="accent1"/>
                </a:solidFill>
              </a:ln>
            </p:spPr>
          </p:sp>
        </p:grpSp>
        <p:grpSp>
          <p:nvGrpSpPr>
            <p:cNvPr id="58" name="Group 58"/>
            <p:cNvGrpSpPr/>
            <p:nvPr/>
          </p:nvGrpSpPr>
          <p:grpSpPr>
            <a:xfrm>
              <a:off x="4244975" y="5183981"/>
              <a:ext cx="188913" cy="242888"/>
              <a:chOff x="4244975" y="5183981"/>
              <a:chExt cx="188913" cy="242888"/>
            </a:xfrm>
          </p:grpSpPr>
          <p:sp>
            <p:nvSpPr>
              <p:cNvPr id="54" name="Freeform 54"/>
              <p:cNvSpPr/>
              <p:nvPr/>
            </p:nvSpPr>
            <p:spPr>
              <a:xfrm>
                <a:off x="4339526" y="5183981"/>
                <a:ext cx="53975" cy="53975"/>
              </a:xfrm>
              <a:custGeom>
                <a:avLst/>
                <a:gdLst/>
                <a:ahLst/>
                <a:cxnLst/>
                <a:rect l="l" t="t" r="r" b="b"/>
                <a:pathLst>
                  <a:path w="53975" h="53975">
                    <a:moveTo>
                      <a:pt x="0" y="26988"/>
                    </a:moveTo>
                    <a:cubicBezTo>
                      <a:pt x="0" y="41892"/>
                      <a:pt x="12083" y="53975"/>
                      <a:pt x="26988" y="53975"/>
                    </a:cubicBezTo>
                    <a:cubicBezTo>
                      <a:pt x="41892" y="53975"/>
                      <a:pt x="53975" y="41892"/>
                      <a:pt x="53975" y="26988"/>
                    </a:cubicBezTo>
                    <a:cubicBezTo>
                      <a:pt x="53975" y="12083"/>
                      <a:pt x="41892" y="0"/>
                      <a:pt x="26988" y="0"/>
                    </a:cubicBezTo>
                    <a:cubicBezTo>
                      <a:pt x="12083" y="0"/>
                      <a:pt x="0" y="12083"/>
                      <a:pt x="0" y="26988"/>
                    </a:cubicBezTo>
                  </a:path>
                </a:pathLst>
              </a:custGeom>
              <a:noFill/>
              <a:ln w="26988">
                <a:solidFill>
                  <a:schemeClr val="accent1"/>
                </a:solidFill>
              </a:ln>
            </p:spPr>
          </p:sp>
          <p:sp>
            <p:nvSpPr>
              <p:cNvPr id="55" name="Freeform 55"/>
              <p:cNvSpPr/>
              <p:nvPr/>
            </p:nvSpPr>
            <p:spPr>
              <a:xfrm>
                <a:off x="4244975" y="5366147"/>
                <a:ext cx="77589" cy="20241"/>
              </a:xfrm>
              <a:custGeom>
                <a:avLst/>
                <a:gdLst/>
                <a:ahLst/>
                <a:cxnLst/>
                <a:rect l="l" t="t" r="r" b="b"/>
                <a:pathLst>
                  <a:path w="77589" h="20241">
                    <a:moveTo>
                      <a:pt x="0" y="6747"/>
                    </a:moveTo>
                    <a:lnTo>
                      <a:pt x="67469" y="20241"/>
                    </a:lnTo>
                    <a:lnTo>
                      <a:pt x="77589" y="0"/>
                    </a:lnTo>
                  </a:path>
                </a:pathLst>
              </a:custGeom>
              <a:noFill/>
              <a:ln w="26988">
                <a:solidFill>
                  <a:schemeClr val="accent1"/>
                </a:solidFill>
              </a:ln>
            </p:spPr>
          </p:sp>
          <p:sp>
            <p:nvSpPr>
              <p:cNvPr id="56" name="Freeform 56"/>
              <p:cNvSpPr/>
              <p:nvPr/>
            </p:nvSpPr>
            <p:spPr>
              <a:xfrm>
                <a:off x="4339432" y="5251450"/>
                <a:ext cx="53975" cy="175419"/>
              </a:xfrm>
              <a:custGeom>
                <a:avLst/>
                <a:gdLst/>
                <a:ahLst/>
                <a:cxnLst/>
                <a:rect l="l" t="t" r="r" b="b"/>
                <a:pathLst>
                  <a:path w="53975" h="175419">
                    <a:moveTo>
                      <a:pt x="53975" y="175419"/>
                    </a:moveTo>
                    <a:lnTo>
                      <a:pt x="53975" y="121444"/>
                    </a:lnTo>
                    <a:lnTo>
                      <a:pt x="0" y="80963"/>
                    </a:lnTo>
                    <a:lnTo>
                      <a:pt x="13494" y="0"/>
                    </a:lnTo>
                  </a:path>
                </a:pathLst>
              </a:custGeom>
              <a:noFill/>
              <a:ln w="26988">
                <a:solidFill>
                  <a:schemeClr val="accent1"/>
                </a:solidFill>
              </a:ln>
            </p:spPr>
          </p:sp>
          <p:sp>
            <p:nvSpPr>
              <p:cNvPr id="57" name="Freeform 57"/>
              <p:cNvSpPr/>
              <p:nvPr/>
            </p:nvSpPr>
            <p:spPr>
              <a:xfrm>
                <a:off x="4285456" y="5251450"/>
                <a:ext cx="148432" cy="53975"/>
              </a:xfrm>
              <a:custGeom>
                <a:avLst/>
                <a:gdLst/>
                <a:ahLst/>
                <a:cxnLst/>
                <a:rect l="l" t="t" r="r" b="b"/>
                <a:pathLst>
                  <a:path w="148432" h="53975">
                    <a:moveTo>
                      <a:pt x="0" y="53975"/>
                    </a:moveTo>
                    <a:lnTo>
                      <a:pt x="0" y="13494"/>
                    </a:lnTo>
                    <a:lnTo>
                      <a:pt x="67469" y="0"/>
                    </a:lnTo>
                    <a:lnTo>
                      <a:pt x="107950" y="40481"/>
                    </a:lnTo>
                    <a:lnTo>
                      <a:pt x="148432" y="53975"/>
                    </a:lnTo>
                  </a:path>
                </a:pathLst>
              </a:custGeom>
              <a:noFill/>
              <a:ln w="26988">
                <a:solidFill>
                  <a:schemeClr val="accent1"/>
                </a:solidFill>
              </a:ln>
            </p:spPr>
          </p:sp>
        </p:grpSp>
        <p:grpSp>
          <p:nvGrpSpPr>
            <p:cNvPr id="61" name="Group 61"/>
            <p:cNvGrpSpPr/>
            <p:nvPr/>
          </p:nvGrpSpPr>
          <p:grpSpPr>
            <a:xfrm>
              <a:off x="4892511" y="5170488"/>
              <a:ext cx="254320" cy="269876"/>
              <a:chOff x="4892511" y="5170488"/>
              <a:chExt cx="254320" cy="269876"/>
            </a:xfrm>
          </p:grpSpPr>
          <p:sp>
            <p:nvSpPr>
              <p:cNvPr id="59" name="Freeform 59"/>
              <p:cNvSpPr/>
              <p:nvPr/>
            </p:nvSpPr>
            <p:spPr>
              <a:xfrm>
                <a:off x="4979194" y="5264944"/>
                <a:ext cx="80963" cy="80963"/>
              </a:xfrm>
              <a:custGeom>
                <a:avLst/>
                <a:gdLst/>
                <a:ahLst/>
                <a:cxnLst/>
                <a:rect l="l" t="t" r="r" b="b"/>
                <a:pathLst>
                  <a:path w="80963" h="80963">
                    <a:moveTo>
                      <a:pt x="0" y="40481"/>
                    </a:moveTo>
                    <a:cubicBezTo>
                      <a:pt x="0" y="62839"/>
                      <a:pt x="18124" y="80963"/>
                      <a:pt x="40481" y="80963"/>
                    </a:cubicBezTo>
                    <a:cubicBezTo>
                      <a:pt x="62839" y="80963"/>
                      <a:pt x="80963" y="62839"/>
                      <a:pt x="80963" y="40481"/>
                    </a:cubicBezTo>
                    <a:cubicBezTo>
                      <a:pt x="80963" y="18124"/>
                      <a:pt x="62839" y="0"/>
                      <a:pt x="40481" y="0"/>
                    </a:cubicBezTo>
                    <a:cubicBezTo>
                      <a:pt x="18124" y="0"/>
                      <a:pt x="0" y="18124"/>
                      <a:pt x="0" y="40481"/>
                    </a:cubicBezTo>
                  </a:path>
                </a:pathLst>
              </a:custGeom>
              <a:noFill/>
              <a:ln w="26988">
                <a:solidFill>
                  <a:schemeClr val="accent1"/>
                </a:solidFill>
              </a:ln>
            </p:spPr>
          </p:sp>
          <p:sp>
            <p:nvSpPr>
              <p:cNvPr id="60" name="Freeform 60"/>
              <p:cNvSpPr/>
              <p:nvPr/>
            </p:nvSpPr>
            <p:spPr>
              <a:xfrm>
                <a:off x="4892511" y="5170488"/>
                <a:ext cx="254320" cy="269876"/>
              </a:xfrm>
              <a:custGeom>
                <a:avLst/>
                <a:gdLst/>
                <a:ahLst/>
                <a:cxnLst/>
                <a:rect l="l" t="t" r="r" b="b"/>
                <a:pathLst>
                  <a:path w="254320" h="269876">
                    <a:moveTo>
                      <a:pt x="127165" y="0"/>
                    </a:moveTo>
                    <a:cubicBezTo>
                      <a:pt x="149522" y="0"/>
                      <a:pt x="167646" y="18124"/>
                      <a:pt x="167646" y="40481"/>
                    </a:cubicBezTo>
                    <a:cubicBezTo>
                      <a:pt x="167646" y="48065"/>
                      <a:pt x="164151" y="59939"/>
                      <a:pt x="157175" y="76105"/>
                    </a:cubicBezTo>
                    <a:lnTo>
                      <a:pt x="147405" y="94456"/>
                    </a:lnTo>
                    <a:lnTo>
                      <a:pt x="171154" y="68913"/>
                    </a:lnTo>
                    <a:cubicBezTo>
                      <a:pt x="177888" y="60816"/>
                      <a:pt x="183596" y="55419"/>
                      <a:pt x="188291" y="52653"/>
                    </a:cubicBezTo>
                    <a:cubicBezTo>
                      <a:pt x="197530" y="47289"/>
                      <a:pt x="208528" y="45838"/>
                      <a:pt x="218842" y="48623"/>
                    </a:cubicBezTo>
                    <a:cubicBezTo>
                      <a:pt x="229155" y="51408"/>
                      <a:pt x="237928" y="58197"/>
                      <a:pt x="243211" y="67482"/>
                    </a:cubicBezTo>
                    <a:cubicBezTo>
                      <a:pt x="254320" y="86827"/>
                      <a:pt x="247755" y="111511"/>
                      <a:pt x="228503" y="122780"/>
                    </a:cubicBezTo>
                    <a:cubicBezTo>
                      <a:pt x="223456" y="125708"/>
                      <a:pt x="215144" y="128123"/>
                      <a:pt x="203593" y="129999"/>
                    </a:cubicBezTo>
                    <a:lnTo>
                      <a:pt x="167646" y="134938"/>
                    </a:lnTo>
                    <a:lnTo>
                      <a:pt x="200031" y="139337"/>
                    </a:lnTo>
                    <a:cubicBezTo>
                      <a:pt x="213525" y="141293"/>
                      <a:pt x="222944" y="143884"/>
                      <a:pt x="228503" y="147109"/>
                    </a:cubicBezTo>
                    <a:cubicBezTo>
                      <a:pt x="247755" y="158378"/>
                      <a:pt x="254320" y="183062"/>
                      <a:pt x="243211" y="202407"/>
                    </a:cubicBezTo>
                    <a:cubicBezTo>
                      <a:pt x="237926" y="211690"/>
                      <a:pt x="229152" y="218476"/>
                      <a:pt x="218839" y="221259"/>
                    </a:cubicBezTo>
                    <a:cubicBezTo>
                      <a:pt x="208526" y="224041"/>
                      <a:pt x="197528" y="222588"/>
                      <a:pt x="188291" y="217223"/>
                    </a:cubicBezTo>
                    <a:cubicBezTo>
                      <a:pt x="183596" y="214497"/>
                      <a:pt x="177888" y="209073"/>
                      <a:pt x="171154" y="200963"/>
                    </a:cubicBezTo>
                    <a:lnTo>
                      <a:pt x="147405" y="175419"/>
                    </a:lnTo>
                    <a:lnTo>
                      <a:pt x="157175" y="193771"/>
                    </a:lnTo>
                    <a:cubicBezTo>
                      <a:pt x="164138" y="209950"/>
                      <a:pt x="167646" y="221824"/>
                      <a:pt x="167646" y="229394"/>
                    </a:cubicBezTo>
                    <a:cubicBezTo>
                      <a:pt x="167646" y="251752"/>
                      <a:pt x="149522" y="269876"/>
                      <a:pt x="127165" y="269876"/>
                    </a:cubicBezTo>
                    <a:cubicBezTo>
                      <a:pt x="104807" y="269876"/>
                      <a:pt x="86683" y="251752"/>
                      <a:pt x="86683" y="229394"/>
                    </a:cubicBezTo>
                    <a:cubicBezTo>
                      <a:pt x="86683" y="221811"/>
                      <a:pt x="90178" y="209936"/>
                      <a:pt x="97154" y="193771"/>
                    </a:cubicBezTo>
                    <a:lnTo>
                      <a:pt x="106924" y="175419"/>
                    </a:lnTo>
                    <a:lnTo>
                      <a:pt x="83175" y="200963"/>
                    </a:lnTo>
                    <a:cubicBezTo>
                      <a:pt x="76442" y="209073"/>
                      <a:pt x="70734" y="214457"/>
                      <a:pt x="66038" y="217223"/>
                    </a:cubicBezTo>
                    <a:cubicBezTo>
                      <a:pt x="56801" y="222588"/>
                      <a:pt x="45804" y="224041"/>
                      <a:pt x="35491" y="221259"/>
                    </a:cubicBezTo>
                    <a:cubicBezTo>
                      <a:pt x="25178" y="218476"/>
                      <a:pt x="16403" y="211690"/>
                      <a:pt x="11118" y="202407"/>
                    </a:cubicBezTo>
                    <a:cubicBezTo>
                      <a:pt x="9" y="183062"/>
                      <a:pt x="6575" y="158378"/>
                      <a:pt x="25826" y="147109"/>
                    </a:cubicBezTo>
                    <a:cubicBezTo>
                      <a:pt x="30873" y="144168"/>
                      <a:pt x="39185" y="141766"/>
                      <a:pt x="50736" y="139877"/>
                    </a:cubicBezTo>
                    <a:lnTo>
                      <a:pt x="86683" y="134938"/>
                    </a:lnTo>
                    <a:lnTo>
                      <a:pt x="54298" y="130552"/>
                    </a:lnTo>
                    <a:cubicBezTo>
                      <a:pt x="40804" y="128596"/>
                      <a:pt x="31386" y="126005"/>
                      <a:pt x="25826" y="122780"/>
                    </a:cubicBezTo>
                    <a:cubicBezTo>
                      <a:pt x="6566" y="111510"/>
                      <a:pt x="0" y="86817"/>
                      <a:pt x="11118" y="67469"/>
                    </a:cubicBezTo>
                    <a:cubicBezTo>
                      <a:pt x="16401" y="58184"/>
                      <a:pt x="25174" y="51394"/>
                      <a:pt x="35488" y="48609"/>
                    </a:cubicBezTo>
                    <a:cubicBezTo>
                      <a:pt x="45801" y="45824"/>
                      <a:pt x="56799" y="47275"/>
                      <a:pt x="66038" y="52639"/>
                    </a:cubicBezTo>
                    <a:cubicBezTo>
                      <a:pt x="70734" y="55378"/>
                      <a:pt x="76442" y="60789"/>
                      <a:pt x="83175" y="68899"/>
                    </a:cubicBezTo>
                    <a:lnTo>
                      <a:pt x="106924" y="94456"/>
                    </a:lnTo>
                    <a:cubicBezTo>
                      <a:pt x="93430" y="63529"/>
                      <a:pt x="86683" y="45542"/>
                      <a:pt x="86683" y="40481"/>
                    </a:cubicBezTo>
                    <a:cubicBezTo>
                      <a:pt x="86683" y="18124"/>
                      <a:pt x="104807" y="0"/>
                      <a:pt x="127165" y="0"/>
                    </a:cubicBezTo>
                  </a:path>
                </a:pathLst>
              </a:custGeom>
              <a:noFill/>
              <a:ln w="26988">
                <a:solidFill>
                  <a:schemeClr val="accent1"/>
                </a:solidFill>
              </a:ln>
            </p:spPr>
          </p:sp>
        </p:grpSp>
        <p:sp>
          <p:nvSpPr>
            <p:cNvPr id="62" name="Freeform 62"/>
            <p:cNvSpPr/>
            <p:nvPr/>
          </p:nvSpPr>
          <p:spPr>
            <a:xfrm>
              <a:off x="5558087" y="5183873"/>
              <a:ext cx="240512" cy="254537"/>
            </a:xfrm>
            <a:custGeom>
              <a:avLst/>
              <a:gdLst/>
              <a:ahLst/>
              <a:cxnLst/>
              <a:rect l="l" t="t" r="r" b="b"/>
              <a:pathLst>
                <a:path w="240512" h="254537">
                  <a:moveTo>
                    <a:pt x="128338" y="108"/>
                  </a:moveTo>
                  <a:cubicBezTo>
                    <a:pt x="130119" y="108"/>
                    <a:pt x="131887" y="108"/>
                    <a:pt x="133641" y="108"/>
                  </a:cubicBezTo>
                  <a:cubicBezTo>
                    <a:pt x="97871" y="33345"/>
                    <a:pt x="90934" y="87384"/>
                    <a:pt x="117148" y="128579"/>
                  </a:cubicBezTo>
                  <a:cubicBezTo>
                    <a:pt x="143363" y="169774"/>
                    <a:pt x="195253" y="186377"/>
                    <a:pt x="240512" y="168052"/>
                  </a:cubicBezTo>
                  <a:cubicBezTo>
                    <a:pt x="217131" y="224309"/>
                    <a:pt x="155688" y="254537"/>
                    <a:pt x="96852" y="238728"/>
                  </a:cubicBezTo>
                  <a:cubicBezTo>
                    <a:pt x="38017" y="222918"/>
                    <a:pt x="0" y="165964"/>
                    <a:pt x="7966" y="105564"/>
                  </a:cubicBezTo>
                  <a:cubicBezTo>
                    <a:pt x="15932" y="45165"/>
                    <a:pt x="67416" y="15"/>
                    <a:pt x="128338" y="0"/>
                  </a:cubicBezTo>
                  <a:lnTo>
                    <a:pt x="128338" y="108"/>
                  </a:lnTo>
                </a:path>
              </a:pathLst>
            </a:custGeom>
            <a:noFill/>
            <a:ln w="26988">
              <a:solidFill>
                <a:schemeClr val="accent1"/>
              </a:solidFill>
            </a:ln>
          </p:spPr>
        </p:sp>
      </p:grpSp>
      <p:grpSp>
        <p:nvGrpSpPr>
          <p:cNvPr id="75" name="p10-list"/>
          <p:cNvGrpSpPr/>
          <p:nvPr/>
        </p:nvGrpSpPr>
        <p:grpSpPr>
          <a:xfrm>
            <a:off x="7810500" y="1714500"/>
            <a:ext cx="3619500" cy="4476750"/>
            <a:chOff x="7810500" y="1714500"/>
            <a:chExt cx="3619500" cy="4476750"/>
          </a:xfrm>
        </p:grpSpPr>
        <p:sp>
          <p:nvSpPr>
            <p:cNvPr id="64" name="Rectangle 64"/>
            <p:cNvSpPr/>
            <p:nvPr/>
          </p:nvSpPr>
          <p:spPr>
            <a:xfrm>
              <a:off x="7810500" y="1714500"/>
              <a:ext cx="3619500" cy="2095500"/>
            </a:xfrm>
            <a:prstGeom prst="roundRect">
              <a:avLst>
                <a:gd name="adj" fmla="val 7273"/>
              </a:avLst>
            </a:prstGeom>
            <a:solidFill>
              <a:srgbClr val="27AE60">
                <a:alpha val="16000"/>
              </a:srgbClr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8068056" y="1924050"/>
              <a:ext cx="142558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1E8449"/>
                  </a:solidFill>
                  <a:latin typeface="+mn-lt"/>
                  <a:ea typeface="+mn-ea"/>
                  <a:cs typeface="+mn-cs"/>
                </a:rPr>
                <a:t>Внутренние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8068056" y="2324100"/>
              <a:ext cx="175084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осмысленность</a:t>
              </a:r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8068056" y="2628900"/>
              <a:ext cx="188412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самореализация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8068056" y="2933700"/>
              <a:ext cx="108447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здоровье</a:t>
              </a:r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8068056" y="3238500"/>
              <a:ext cx="175084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благодарность</a:t>
              </a:r>
            </a:p>
          </p:txBody>
        </p:sp>
        <p:sp>
          <p:nvSpPr>
            <p:cNvPr id="70" name="Rectangle 70"/>
            <p:cNvSpPr/>
            <p:nvPr/>
          </p:nvSpPr>
          <p:spPr>
            <a:xfrm>
              <a:off x="7810500" y="4095750"/>
              <a:ext cx="3619500" cy="2095500"/>
            </a:xfrm>
            <a:prstGeom prst="roundRect">
              <a:avLst>
                <a:gd name="adj" fmla="val 7273"/>
              </a:avLst>
            </a:prstGeom>
            <a:solidFill>
              <a:schemeClr val="accent1">
                <a:alpha val="12000"/>
              </a:schemeClr>
            </a:solidFill>
            <a:ln>
              <a:noFill/>
            </a:ln>
          </p:spPr>
        </p:sp>
        <p:sp>
          <p:nvSpPr>
            <p:cNvPr id="71" name="TextBox 71"/>
            <p:cNvSpPr txBox="1"/>
            <p:nvPr/>
          </p:nvSpPr>
          <p:spPr>
            <a:xfrm>
              <a:off x="8068056" y="4305300"/>
              <a:ext cx="100577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Внешние</a:t>
              </a:r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8068056" y="4705350"/>
              <a:ext cx="328417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материальная стабильность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8068056" y="5010150"/>
              <a:ext cx="188412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справедливость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8068056" y="5314950"/>
              <a:ext cx="301762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интересная деятельность</a:t>
              </a:r>
            </a:p>
          </p:txBody>
        </p:sp>
      </p:grpSp>
      <p:pic>
        <p:nvPicPr>
          <p:cNvPr id="76" name="PPT Master narration: narration11.mp3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4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6" fill="hold" display="0">
                  <p:stCondLst>
                    <p:cond delay="300"/>
                  </p:stCondLst>
                </p:cTn>
                <p:tgtEl>
                  <p:spTgt spid="76"/>
                </p:tgtEl>
              </p:cMediaNode>
            </p:audio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1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1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88000"/>
                </a:srgbClr>
              </a:gs>
              <a:gs pos="100000">
                <a:srgbClr val="F5E6D3">
                  <a:alpha val="88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p11-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E74C3C"/>
          </a:solidFill>
          <a:ln>
            <a:noFill/>
          </a:ln>
        </p:spPr>
      </p:sp>
      <p:grpSp>
        <p:nvGrpSpPr>
          <p:cNvPr id="7" name="p11-title"/>
          <p:cNvGrpSpPr/>
          <p:nvPr/>
        </p:nvGrpSpPr>
        <p:grpSpPr>
          <a:xfrm>
            <a:off x="743712" y="527050"/>
            <a:ext cx="7780623" cy="967994"/>
            <a:chOff x="743712" y="527050"/>
            <a:chExt cx="7780623" cy="967994"/>
          </a:xfrm>
        </p:grpSpPr>
        <p:sp>
          <p:nvSpPr>
            <p:cNvPr id="5" name="TextBox 5"/>
            <p:cNvSpPr txBox="1"/>
            <p:nvPr/>
          </p:nvSpPr>
          <p:spPr>
            <a:xfrm>
              <a:off x="743712" y="527050"/>
              <a:ext cx="7603594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После 75 000 долларов — плато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752856" y="1143000"/>
              <a:ext cx="777147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Парадокс Истерлина: рост дохода не всегда ведёт к росту счастья</a:t>
              </a:r>
            </a:p>
          </p:txBody>
        </p:sp>
      </p:grpSp>
      <p:grpSp>
        <p:nvGrpSpPr>
          <p:cNvPr id="19" name="p11-chart"/>
          <p:cNvGrpSpPr/>
          <p:nvPr/>
        </p:nvGrpSpPr>
        <p:grpSpPr>
          <a:xfrm>
            <a:off x="762000" y="1762125"/>
            <a:ext cx="7620000" cy="3905250"/>
            <a:chOff x="762000" y="1762125"/>
            <a:chExt cx="7620000" cy="3905250"/>
          </a:xfrm>
        </p:grpSpPr>
        <p:sp>
          <p:nvSpPr>
            <p:cNvPr id="8" name="Rectangle 8"/>
            <p:cNvSpPr/>
            <p:nvPr/>
          </p:nvSpPr>
          <p:spPr>
            <a:xfrm>
              <a:off x="762000" y="1762125"/>
              <a:ext cx="7620000" cy="3905250"/>
            </a:xfrm>
            <a:prstGeom prst="roundRect">
              <a:avLst>
                <a:gd name="adj" fmla="val 3902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19556" y="1943100"/>
              <a:ext cx="472028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Счастье и доход (Канеман–Дитон, 2010)</a:t>
              </a:r>
            </a:p>
          </p:txBody>
        </p:sp>
        <p:sp>
          <p:nvSpPr>
            <p:cNvPr id="10" name="Line 10"/>
            <p:cNvSpPr/>
            <p:nvPr/>
          </p:nvSpPr>
          <p:spPr>
            <a:xfrm>
              <a:off x="1428750" y="2457450"/>
              <a:ext cx="9525" cy="2419350"/>
            </a:xfrm>
            <a:custGeom>
              <a:avLst/>
              <a:gdLst/>
              <a:ahLst/>
              <a:cxnLst/>
              <a:rect l="l" t="t" r="r" b="b"/>
              <a:pathLst>
                <a:path w="9525" h="2419350">
                  <a:moveTo>
                    <a:pt x="0" y="0"/>
                  </a:moveTo>
                  <a:lnTo>
                    <a:pt x="0" y="241935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11" name="Line 11"/>
            <p:cNvSpPr/>
            <p:nvPr/>
          </p:nvSpPr>
          <p:spPr>
            <a:xfrm>
              <a:off x="1428750" y="4876800"/>
              <a:ext cx="6667500" cy="9525"/>
            </a:xfrm>
            <a:custGeom>
              <a:avLst/>
              <a:gdLst/>
              <a:ahLst/>
              <a:cxnLst/>
              <a:rect l="l" t="t" r="r" b="b"/>
              <a:pathLst>
                <a:path w="6667500" h="9525">
                  <a:moveTo>
                    <a:pt x="0" y="0"/>
                  </a:moveTo>
                  <a:lnTo>
                    <a:pt x="6667500" y="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12" name="Polyline 12"/>
            <p:cNvSpPr/>
            <p:nvPr/>
          </p:nvSpPr>
          <p:spPr>
            <a:xfrm>
              <a:off x="1428750" y="2638425"/>
              <a:ext cx="6619875" cy="1895475"/>
            </a:xfrm>
            <a:custGeom>
              <a:avLst/>
              <a:gdLst/>
              <a:ahLst/>
              <a:cxnLst/>
              <a:rect l="l" t="t" r="r" b="b"/>
              <a:pathLst>
                <a:path w="6619875" h="1895475">
                  <a:moveTo>
                    <a:pt x="0" y="1895475"/>
                  </a:moveTo>
                  <a:lnTo>
                    <a:pt x="1047750" y="1438275"/>
                  </a:lnTo>
                  <a:lnTo>
                    <a:pt x="2095500" y="904875"/>
                  </a:lnTo>
                  <a:lnTo>
                    <a:pt x="3143250" y="466725"/>
                  </a:lnTo>
                  <a:lnTo>
                    <a:pt x="4191000" y="180975"/>
                  </a:lnTo>
                  <a:lnTo>
                    <a:pt x="5238750" y="47625"/>
                  </a:lnTo>
                  <a:lnTo>
                    <a:pt x="6286500" y="9525"/>
                  </a:lnTo>
                  <a:lnTo>
                    <a:pt x="6619875" y="0"/>
                  </a:lnTo>
                </a:path>
              </a:pathLst>
            </a:custGeom>
            <a:noFill/>
            <a:ln w="57150">
              <a:solidFill>
                <a:schemeClr val="accent1"/>
              </a:solidFill>
            </a:ln>
          </p:spPr>
        </p:sp>
        <p:sp>
          <p:nvSpPr>
            <p:cNvPr id="13" name="Ellipse 13"/>
            <p:cNvSpPr/>
            <p:nvPr/>
          </p:nvSpPr>
          <p:spPr>
            <a:xfrm>
              <a:off x="5448300" y="2647950"/>
              <a:ext cx="342900" cy="342900"/>
            </a:xfrm>
            <a:prstGeom prst="ellipse">
              <a:avLst/>
            </a:prstGeom>
            <a:noFill/>
            <a:ln w="57150">
              <a:solidFill>
                <a:srgbClr val="E74C3C"/>
              </a:solidFill>
            </a:ln>
          </p:spPr>
        </p:sp>
        <p:sp>
          <p:nvSpPr>
            <p:cNvPr id="14" name="Line 14"/>
            <p:cNvSpPr/>
            <p:nvPr/>
          </p:nvSpPr>
          <p:spPr>
            <a:xfrm>
              <a:off x="5619750" y="2819400"/>
              <a:ext cx="9525" cy="2057400"/>
            </a:xfrm>
            <a:custGeom>
              <a:avLst/>
              <a:gdLst/>
              <a:ahLst/>
              <a:cxnLst/>
              <a:rect l="l" t="t" r="r" b="b"/>
              <a:pathLst>
                <a:path w="9525" h="2057400">
                  <a:moveTo>
                    <a:pt x="0" y="0"/>
                  </a:moveTo>
                  <a:lnTo>
                    <a:pt x="0" y="2057400"/>
                  </a:lnTo>
                </a:path>
              </a:pathLst>
            </a:custGeom>
            <a:noFill/>
            <a:ln w="19050">
              <a:solidFill>
                <a:srgbClr val="E74C3C"/>
              </a:solidFill>
              <a:custDash>
                <a:ds d="300000" sp="300000"/>
              </a:custDash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5138962" y="4972050"/>
              <a:ext cx="96157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800" b="1" dirty="0">
                  <a:solidFill>
                    <a:srgbClr val="E74C3C"/>
                  </a:solidFill>
                  <a:latin typeface="+mn-lt"/>
                  <a:ea typeface="+mn-ea"/>
                  <a:cs typeface="+mn-cs"/>
                </a:rPr>
                <a:t>75 000 $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381506" y="2438400"/>
              <a:ext cx="95120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высокое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506" y="4648200"/>
              <a:ext cx="81793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низкое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419856" y="5314950"/>
              <a:ext cx="325251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Годовой доход, доллары США</a:t>
              </a:r>
            </a:p>
          </p:txBody>
        </p:sp>
      </p:grpSp>
      <p:grpSp>
        <p:nvGrpSpPr>
          <p:cNvPr id="24" name="p11-photos"/>
          <p:cNvGrpSpPr/>
          <p:nvPr/>
        </p:nvGrpSpPr>
        <p:grpSpPr>
          <a:xfrm>
            <a:off x="8563356" y="1762125"/>
            <a:ext cx="3438144" cy="3885819"/>
            <a:chOff x="8563356" y="1762125"/>
            <a:chExt cx="3438144" cy="3885819"/>
          </a:xfrm>
        </p:grpSpPr>
        <p:pic>
          <p:nvPicPr>
            <p:cNvPr id="20" name="Image 20"/>
            <p:cNvPicPr>
              <a:picLocks noChangeAspect="1"/>
            </p:cNvPicPr>
            <p:nvPr/>
          </p:nvPicPr>
          <p:blipFill>
            <a:blip r:embed="rId3"/>
            <a:srcRect l="0" t="14528" r="0" b="14528"/>
            <a:stretch>
              <a:fillRect/>
            </a:stretch>
          </p:blipFill>
          <p:spPr>
            <a:xfrm>
              <a:off x="8572500" y="1762125"/>
              <a:ext cx="3429000" cy="1619250"/>
            </a:xfrm>
            <a:prstGeom prst="rect">
              <a:avLst/>
            </a:prstGeom>
          </p:spPr>
        </p:pic>
        <p:sp>
          <p:nvSpPr>
            <p:cNvPr id="21" name="TextBox 21"/>
            <p:cNvSpPr txBox="1"/>
            <p:nvPr/>
          </p:nvSpPr>
          <p:spPr>
            <a:xfrm>
              <a:off x="8563356" y="3409950"/>
              <a:ext cx="235261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1E8449"/>
                  </a:solidFill>
                  <a:latin typeface="+mn-lt"/>
                  <a:ea typeface="+mn-ea"/>
                  <a:cs typeface="+mn-cs"/>
                </a:rPr>
                <a:t>средний доход: рост</a:t>
              </a:r>
            </a:p>
          </p:txBody>
        </p:sp>
        <p:pic>
          <p:nvPicPr>
            <p:cNvPr id="22" name="Image 22"/>
            <p:cNvPicPr>
              <a:picLocks noChangeAspect="1"/>
            </p:cNvPicPr>
            <p:nvPr/>
          </p:nvPicPr>
          <p:blipFill>
            <a:blip r:embed="rId4"/>
            <a:srcRect l="0" t="26113" r="0" b="26113"/>
            <a:stretch>
              <a:fillRect/>
            </a:stretch>
          </p:blipFill>
          <p:spPr>
            <a:xfrm>
              <a:off x="8572500" y="3810000"/>
              <a:ext cx="3429000" cy="1428750"/>
            </a:xfrm>
            <a:prstGeom prst="rect">
              <a:avLst/>
            </a:prstGeom>
          </p:spPr>
        </p:pic>
        <p:sp>
          <p:nvSpPr>
            <p:cNvPr id="23" name="TextBox 23"/>
            <p:cNvSpPr txBox="1"/>
            <p:nvPr/>
          </p:nvSpPr>
          <p:spPr>
            <a:xfrm>
              <a:off x="8563356" y="5295900"/>
              <a:ext cx="248588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C0392B"/>
                  </a:solidFill>
                  <a:latin typeface="+mn-lt"/>
                  <a:ea typeface="+mn-ea"/>
                  <a:cs typeface="+mn-cs"/>
                </a:rPr>
                <a:t>высокий доход: плато</a:t>
              </a:r>
            </a:p>
          </p:txBody>
        </p:sp>
      </p:grpSp>
      <p:grpSp>
        <p:nvGrpSpPr>
          <p:cNvPr id="26" name="p11-note"/>
          <p:cNvGrpSpPr/>
          <p:nvPr/>
        </p:nvGrpSpPr>
        <p:grpSpPr>
          <a:xfrm>
            <a:off x="752856" y="5924550"/>
            <a:ext cx="7761705" cy="352044"/>
            <a:chOff x="752856" y="5924550"/>
            <a:chExt cx="7761705" cy="352044"/>
          </a:xfrm>
        </p:grpSpPr>
        <p:sp>
          <p:nvSpPr>
            <p:cNvPr id="25" name="TextBox 25"/>
            <p:cNvSpPr txBox="1"/>
            <p:nvPr/>
          </p:nvSpPr>
          <p:spPr>
            <a:xfrm>
              <a:off x="752856" y="5924550"/>
              <a:ext cx="776170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Гедонистическая адаптация: мы быстро привыкаем к новому уровню</a:t>
              </a:r>
            </a:p>
          </p:txBody>
        </p:sp>
      </p:grpSp>
      <p:grpSp>
        <p:nvGrpSpPr>
          <p:cNvPr id="28" name="p11-credits"/>
          <p:cNvGrpSpPr/>
          <p:nvPr/>
        </p:nvGrpSpPr>
        <p:grpSpPr>
          <a:xfrm>
            <a:off x="753618" y="6299200"/>
            <a:ext cx="8851308" cy="513207"/>
            <a:chOff x="753618" y="6299200"/>
            <a:chExt cx="8851308" cy="513207"/>
          </a:xfrm>
        </p:grpSpPr>
        <p:sp>
          <p:nvSpPr>
            <p:cNvPr id="27" name="TextBox 27"/>
            <p:cNvSpPr txBox="1"/>
            <p:nvPr/>
          </p:nvSpPr>
          <p:spPr>
            <a:xfrm>
              <a:off x="753618" y="6299200"/>
              <a:ext cx="8851308" cy="5132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00"/>
                </a:lnSpc>
              </a:pPr>
              <a:r>
                <a:rPr lang="en-US" sz="1650" dirty="0">
                  <a:solidFill>
                    <a:srgbClr val="7F8C8D"/>
                  </a:solidFill>
                  <a:latin typeface="+mn-lt"/>
                  <a:ea typeface="+mn-ea"/>
                  <a:cs typeface="+mn-cs"/>
                </a:rPr>
                <a:t>© Marek Ślusarczyk ( Tupungato ) Photo portfolio / CC BY 3.0</a:t>
              </a:r>
              <a:br>
                <a:rPr lang="en-US" sz="1650" dirty="0">
                  <a:solidFill>
                    <a:srgbClr val="7F8C8D"/>
                  </a:solidFill>
                  <a:latin typeface="+mn-lt"/>
                  <a:ea typeface="+mn-ea"/>
                  <a:cs typeface="+mn-cs"/>
                </a:rPr>
              </a:br>
              <a:r>
                <a:rPr lang="en-US" sz="1650" dirty="0">
                  <a:solidFill>
                    <a:srgbClr val="7F8C8D"/>
                  </a:solidFill>
                  <a:latin typeface="+mn-lt"/>
                  <a:ea typeface="+mn-ea"/>
                  <a:cs typeface="+mn-cs"/>
                </a:rPr>
                <a:t>© ProperAndPolite / CC BY-SA 4.0; © Pedro Ribeiro Simões from Lisboa, Portugal / CC BY 2.0</a:t>
              </a:r>
            </a:p>
          </p:txBody>
        </p:sp>
      </p:grpSp>
      <p:sp>
        <p:nvSpPr>
          <p:cNvPr id="29" name="p11-foot"/>
          <p:cNvSpPr txBox="1"/>
          <p:nvPr/>
        </p:nvSpPr>
        <p:spPr>
          <a:xfrm>
            <a:off x="6658356" y="6553200"/>
            <a:ext cx="3078699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ru" sz="180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Концепция счастья · ИС-24</a:t>
            </a:r>
          </a:p>
        </p:txBody>
      </p:sp>
      <p:sp>
        <p:nvSpPr>
          <p:cNvPr id="30" name="p11-num"/>
          <p:cNvSpPr txBox="1"/>
          <p:nvPr/>
        </p:nvSpPr>
        <p:spPr>
          <a:xfrm>
            <a:off x="11151304" y="6553200"/>
            <a:ext cx="287840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80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12</a:t>
            </a:r>
          </a:p>
        </p:txBody>
      </p:sp>
      <p:pic>
        <p:nvPicPr>
          <p:cNvPr id="31" name="PPT Master narration: narration12.mp3">
            <a:hlinkClick r:id="" action="ppaction://media"/>
          </p:cNvPr>
          <p:cNvPicPr>
            <a:picLocks noChangeAspect="1"/>
          </p:cNvPicPr>
          <p:nvPr>
            <a:audioFile r:link="rId7"/>
            <p:extLst>
              <p:ext uri="{DAA4B4D4-6D71-4841-9C94-3DE7FCFB9230}">
                <p14:media r:embed="rId6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4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6" fill="hold" display="0">
                  <p:stCondLst>
                    <p:cond delay="300"/>
                  </p:stCondLst>
                </p:cTn>
                <p:tgtEl>
                  <p:spTgt spid="31"/>
                </p:tgtEl>
              </p:cMediaNode>
            </p:audio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2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2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88000"/>
                </a:srgbClr>
              </a:gs>
              <a:gs pos="100000">
                <a:srgbClr val="F5E6D3">
                  <a:alpha val="88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p12-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E67E22"/>
          </a:solidFill>
          <a:ln>
            <a:noFill/>
          </a:ln>
        </p:spPr>
      </p:sp>
      <p:sp>
        <p:nvSpPr>
          <p:cNvPr id="5" name="p12-foot"/>
          <p:cNvSpPr txBox="1"/>
          <p:nvPr/>
        </p:nvSpPr>
        <p:spPr>
          <a:xfrm>
            <a:off x="752856" y="6343650"/>
            <a:ext cx="3078699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ru" sz="180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Концепция счастья · ИС-24</a:t>
            </a:r>
          </a:p>
        </p:txBody>
      </p:sp>
      <p:sp>
        <p:nvSpPr>
          <p:cNvPr id="6" name="p12-num"/>
          <p:cNvSpPr txBox="1"/>
          <p:nvPr/>
        </p:nvSpPr>
        <p:spPr>
          <a:xfrm>
            <a:off x="11151304" y="6343650"/>
            <a:ext cx="287840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80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13</a:t>
            </a:r>
          </a:p>
        </p:txBody>
      </p:sp>
      <p:grpSp>
        <p:nvGrpSpPr>
          <p:cNvPr id="9" name="p12-title"/>
          <p:cNvGrpSpPr/>
          <p:nvPr/>
        </p:nvGrpSpPr>
        <p:grpSpPr>
          <a:xfrm>
            <a:off x="743712" y="527050"/>
            <a:ext cx="6199780" cy="967994"/>
            <a:chOff x="743712" y="527050"/>
            <a:chExt cx="6199780" cy="967994"/>
          </a:xfrm>
        </p:grpSpPr>
        <p:sp>
          <p:nvSpPr>
            <p:cNvPr id="7" name="TextBox 7"/>
            <p:cNvSpPr txBox="1"/>
            <p:nvPr/>
          </p:nvSpPr>
          <p:spPr>
            <a:xfrm>
              <a:off x="743712" y="527050"/>
              <a:ext cx="6199780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Парадокс среднего звена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52856" y="1143000"/>
              <a:ext cx="469359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Связь счастья и образования нелинейна</a:t>
              </a:r>
            </a:p>
          </p:txBody>
        </p:sp>
      </p:grpSp>
      <p:grpSp>
        <p:nvGrpSpPr>
          <p:cNvPr id="21" name="p12-chart"/>
          <p:cNvGrpSpPr/>
          <p:nvPr/>
        </p:nvGrpSpPr>
        <p:grpSpPr>
          <a:xfrm>
            <a:off x="1143000" y="1905000"/>
            <a:ext cx="6286500" cy="4276344"/>
            <a:chOff x="1143000" y="1905000"/>
            <a:chExt cx="6286500" cy="4276344"/>
          </a:xfrm>
        </p:grpSpPr>
        <p:sp>
          <p:nvSpPr>
            <p:cNvPr id="10" name="Rectangle 10"/>
            <p:cNvSpPr/>
            <p:nvPr/>
          </p:nvSpPr>
          <p:spPr>
            <a:xfrm>
              <a:off x="1143000" y="1905000"/>
              <a:ext cx="6286500" cy="4000500"/>
            </a:xfrm>
            <a:prstGeom prst="roundRect">
              <a:avLst>
                <a:gd name="adj" fmla="val 3810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11" name="Line 11"/>
            <p:cNvSpPr/>
            <p:nvPr/>
          </p:nvSpPr>
          <p:spPr>
            <a:xfrm>
              <a:off x="1714500" y="2286000"/>
              <a:ext cx="9525" cy="3048000"/>
            </a:xfrm>
            <a:custGeom>
              <a:avLst/>
              <a:gdLst/>
              <a:ahLst/>
              <a:cxnLst/>
              <a:rect l="l" t="t" r="r" b="b"/>
              <a:pathLst>
                <a:path w="9525" h="3048000">
                  <a:moveTo>
                    <a:pt x="0" y="0"/>
                  </a:moveTo>
                  <a:lnTo>
                    <a:pt x="0" y="304800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12" name="Line 12"/>
            <p:cNvSpPr/>
            <p:nvPr/>
          </p:nvSpPr>
          <p:spPr>
            <a:xfrm>
              <a:off x="1714500" y="5334000"/>
              <a:ext cx="5334000" cy="9525"/>
            </a:xfrm>
            <a:custGeom>
              <a:avLst/>
              <a:gdLst/>
              <a:ahLst/>
              <a:cxnLst/>
              <a:rect l="l" t="t" r="r" b="b"/>
              <a:pathLst>
                <a:path w="5334000" h="9525">
                  <a:moveTo>
                    <a:pt x="0" y="0"/>
                  </a:moveTo>
                  <a:lnTo>
                    <a:pt x="5334000" y="0"/>
                  </a:lnTo>
                </a:path>
              </a:pathLst>
            </a:custGeom>
            <a:noFill/>
            <a:ln w="19050">
              <a:solidFill>
                <a:srgbClr val="95A5A6"/>
              </a:solidFill>
            </a:ln>
          </p:spPr>
        </p:sp>
        <p:sp>
          <p:nvSpPr>
            <p:cNvPr id="13" name="Polyline 13"/>
            <p:cNvSpPr/>
            <p:nvPr/>
          </p:nvSpPr>
          <p:spPr>
            <a:xfrm>
              <a:off x="1714500" y="2762250"/>
              <a:ext cx="5143500" cy="2095500"/>
            </a:xfrm>
            <a:custGeom>
              <a:avLst/>
              <a:gdLst/>
              <a:ahLst/>
              <a:cxnLst/>
              <a:rect l="l" t="t" r="r" b="b"/>
              <a:pathLst>
                <a:path w="5143500" h="2095500">
                  <a:moveTo>
                    <a:pt x="0" y="0"/>
                  </a:moveTo>
                  <a:lnTo>
                    <a:pt x="1047750" y="571500"/>
                  </a:lnTo>
                  <a:lnTo>
                    <a:pt x="2095500" y="1619250"/>
                  </a:lnTo>
                  <a:lnTo>
                    <a:pt x="3143250" y="2095500"/>
                  </a:lnTo>
                  <a:lnTo>
                    <a:pt x="4191000" y="1238250"/>
                  </a:lnTo>
                  <a:lnTo>
                    <a:pt x="5143500" y="571500"/>
                  </a:lnTo>
                </a:path>
              </a:pathLst>
            </a:custGeom>
            <a:noFill/>
            <a:ln w="57150">
              <a:solidFill>
                <a:schemeClr val="accent1"/>
              </a:solidFill>
            </a:ln>
          </p:spPr>
        </p:sp>
        <p:sp>
          <p:nvSpPr>
            <p:cNvPr id="14" name="Ellipse 14"/>
            <p:cNvSpPr/>
            <p:nvPr/>
          </p:nvSpPr>
          <p:spPr>
            <a:xfrm>
              <a:off x="4686300" y="4686300"/>
              <a:ext cx="342900" cy="342900"/>
            </a:xfrm>
            <a:prstGeom prst="ellipse">
              <a:avLst/>
            </a:prstGeom>
            <a:noFill/>
            <a:ln w="57150">
              <a:solidFill>
                <a:srgbClr val="E67E22"/>
              </a:solidFill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4428794" y="4248150"/>
              <a:ext cx="85791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ru" sz="1800" b="1" dirty="0">
                  <a:solidFill>
                    <a:srgbClr val="B9631B"/>
                  </a:solidFill>
                  <a:latin typeface="+mn-lt"/>
                  <a:ea typeface="+mn-ea"/>
                  <a:cs typeface="+mn-cs"/>
                </a:rPr>
                <a:t>провал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629156" y="2247900"/>
              <a:ext cx="55138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выше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629156" y="5105400"/>
              <a:ext cx="55138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ниже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800606" y="5448300"/>
              <a:ext cx="95120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среднее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705856" y="5448300"/>
              <a:ext cx="81793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высшее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2562606" y="5829300"/>
              <a:ext cx="480307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rgbClr val="5D6D7E"/>
                  </a:solidFill>
                  <a:latin typeface="+mn-lt"/>
                  <a:ea typeface="+mn-ea"/>
                  <a:cs typeface="+mn-cs"/>
                </a:rPr>
                <a:t>Уровень образования → уровень счастья</a:t>
              </a:r>
            </a:p>
          </p:txBody>
        </p:sp>
      </p:grpSp>
      <p:grpSp>
        <p:nvGrpSpPr>
          <p:cNvPr id="33" name="p12-list"/>
          <p:cNvGrpSpPr/>
          <p:nvPr/>
        </p:nvGrpSpPr>
        <p:grpSpPr>
          <a:xfrm>
            <a:off x="7810500" y="1905000"/>
            <a:ext cx="3619500" cy="4000500"/>
            <a:chOff x="7810500" y="1905000"/>
            <a:chExt cx="3619500" cy="4000500"/>
          </a:xfrm>
        </p:grpSpPr>
        <p:sp>
          <p:nvSpPr>
            <p:cNvPr id="22" name="Rectangle 22"/>
            <p:cNvSpPr/>
            <p:nvPr/>
          </p:nvSpPr>
          <p:spPr>
            <a:xfrm>
              <a:off x="7810500" y="1905000"/>
              <a:ext cx="3619500" cy="4000500"/>
            </a:xfrm>
            <a:prstGeom prst="roundRect">
              <a:avLst>
                <a:gd name="adj" fmla="val 4211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grpSp>
          <p:nvGrpSpPr>
            <p:cNvPr id="25" name="Group 25"/>
            <p:cNvGrpSpPr/>
            <p:nvPr/>
          </p:nvGrpSpPr>
          <p:grpSpPr>
            <a:xfrm>
              <a:off x="8108950" y="2251075"/>
              <a:ext cx="317501" cy="222250"/>
              <a:chOff x="8108950" y="2251075"/>
              <a:chExt cx="317501" cy="222250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8108950" y="2251075"/>
                <a:ext cx="317501" cy="158750"/>
              </a:xfrm>
              <a:custGeom>
                <a:avLst/>
                <a:gdLst/>
                <a:ahLst/>
                <a:cxnLst/>
                <a:rect l="l" t="t" r="r" b="b"/>
                <a:pathLst>
                  <a:path w="317501" h="158750">
                    <a:moveTo>
                      <a:pt x="317501" y="63500"/>
                    </a:moveTo>
                    <a:lnTo>
                      <a:pt x="158750" y="0"/>
                    </a:lnTo>
                    <a:lnTo>
                      <a:pt x="0" y="63500"/>
                    </a:lnTo>
                    <a:lnTo>
                      <a:pt x="158750" y="127000"/>
                    </a:lnTo>
                    <a:lnTo>
                      <a:pt x="317501" y="63500"/>
                    </a:lnTo>
                    <a:lnTo>
                      <a:pt x="317501" y="15875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8172450" y="2339975"/>
                <a:ext cx="190500" cy="133350"/>
              </a:xfrm>
              <a:custGeom>
                <a:avLst/>
                <a:gdLst/>
                <a:ahLst/>
                <a:cxnLst/>
                <a:rect l="l" t="t" r="r" b="b"/>
                <a:pathLst>
                  <a:path w="190500" h="133350">
                    <a:moveTo>
                      <a:pt x="0" y="0"/>
                    </a:moveTo>
                    <a:lnTo>
                      <a:pt x="0" y="85725"/>
                    </a:lnTo>
                    <a:cubicBezTo>
                      <a:pt x="0" y="112028"/>
                      <a:pt x="42645" y="133350"/>
                      <a:pt x="95250" y="133350"/>
                    </a:cubicBezTo>
                    <a:cubicBezTo>
                      <a:pt x="147855" y="133350"/>
                      <a:pt x="190500" y="112028"/>
                      <a:pt x="190500" y="85725"/>
                    </a:cubicBezTo>
                    <a:lnTo>
                      <a:pt x="190500" y="0"/>
                    </a:lnTo>
                  </a:path>
                </a:pathLst>
              </a:custGeom>
              <a:noFill/>
              <a:ln w="31750">
                <a:solidFill>
                  <a:schemeClr val="accent1"/>
                </a:solidFill>
              </a:ln>
            </p:spPr>
          </p:sp>
        </p:grpSp>
        <p:sp>
          <p:nvSpPr>
            <p:cNvPr id="26" name="TextBox 26"/>
            <p:cNvSpPr txBox="1"/>
            <p:nvPr/>
          </p:nvSpPr>
          <p:spPr>
            <a:xfrm>
              <a:off x="8563356" y="2247900"/>
              <a:ext cx="121350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Что важно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068056" y="2914650"/>
              <a:ext cx="241857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слабая прямая связь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068056" y="3409950"/>
              <a:ext cx="215202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провал у среднего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068056" y="3714750"/>
              <a:ext cx="161757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специального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068056" y="4210050"/>
              <a:ext cx="195279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косвенно: доход,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8068056" y="4514850"/>
              <a:ext cx="175220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статус, навыки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8068056" y="5010150"/>
              <a:ext cx="248453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завышенные ожидания</a:t>
              </a:r>
            </a:p>
          </p:txBody>
        </p:sp>
      </p:grpSp>
      <p:sp>
        <p:nvSpPr>
          <p:cNvPr id="34" name="credit"/>
          <p:cNvSpPr txBox="1"/>
          <p:nvPr/>
        </p:nvSpPr>
        <p:spPr>
          <a:xfrm>
            <a:off x="753618" y="6578600"/>
            <a:ext cx="446647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650" dirty="0">
                <a:solidFill>
                  <a:srgbClr val="7F8C8D"/>
                </a:solidFill>
                <a:latin typeface="+mn-lt"/>
                <a:ea typeface="+mn-ea"/>
                <a:cs typeface="+mn-cs"/>
              </a:rPr>
              <a:t>© Kambai Akau / Wikimedia / CC BY-SA 4.0</a:t>
            </a:r>
          </a:p>
        </p:txBody>
      </p:sp>
      <p:pic>
        <p:nvPicPr>
          <p:cNvPr id="35" name="PPT Master narration: narration13.mp3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4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6" fill="hold" display="0">
                  <p:stCondLst>
                    <p:cond delay="300"/>
                  </p:stCondLst>
                </p:cTn>
                <p:tgtEl>
                  <p:spTgt spid="35"/>
                </p:tgtEl>
              </p:cMediaNode>
            </p:audio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3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3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88000"/>
                </a:srgbClr>
              </a:gs>
              <a:gs pos="100000">
                <a:srgbClr val="F5E6D3">
                  <a:alpha val="88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p13-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5" name="p13-foot"/>
          <p:cNvSpPr txBox="1"/>
          <p:nvPr/>
        </p:nvSpPr>
        <p:spPr>
          <a:xfrm>
            <a:off x="752856" y="6343650"/>
            <a:ext cx="3078699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ru" sz="180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Концепция счастья · ИС-24</a:t>
            </a:r>
          </a:p>
        </p:txBody>
      </p:sp>
      <p:sp>
        <p:nvSpPr>
          <p:cNvPr id="6" name="p13-num"/>
          <p:cNvSpPr txBox="1"/>
          <p:nvPr/>
        </p:nvSpPr>
        <p:spPr>
          <a:xfrm>
            <a:off x="11151304" y="6343650"/>
            <a:ext cx="287840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80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14</a:t>
            </a:r>
          </a:p>
        </p:txBody>
      </p:sp>
      <p:grpSp>
        <p:nvGrpSpPr>
          <p:cNvPr id="8" name="p13-title"/>
          <p:cNvGrpSpPr/>
          <p:nvPr/>
        </p:nvGrpSpPr>
        <p:grpSpPr>
          <a:xfrm>
            <a:off x="743712" y="565150"/>
            <a:ext cx="5775138" cy="704088"/>
            <a:chOff x="743712" y="565150"/>
            <a:chExt cx="5775138" cy="704088"/>
          </a:xfrm>
        </p:grpSpPr>
        <p:sp>
          <p:nvSpPr>
            <p:cNvPr id="7" name="TextBox 7"/>
            <p:cNvSpPr txBox="1"/>
            <p:nvPr/>
          </p:nvSpPr>
          <p:spPr>
            <a:xfrm>
              <a:off x="743712" y="565150"/>
              <a:ext cx="5775138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Баланс онлайн и офлайн</a:t>
              </a:r>
            </a:p>
          </p:txBody>
        </p:sp>
      </p:grpSp>
      <p:grpSp>
        <p:nvGrpSpPr>
          <p:cNvPr id="32" name="p13-plus"/>
          <p:cNvGrpSpPr/>
          <p:nvPr/>
        </p:nvGrpSpPr>
        <p:grpSpPr>
          <a:xfrm>
            <a:off x="762000" y="1809750"/>
            <a:ext cx="4572000" cy="3810000"/>
            <a:chOff x="762000" y="1809750"/>
            <a:chExt cx="4572000" cy="3810000"/>
          </a:xfrm>
        </p:grpSpPr>
        <p:sp>
          <p:nvSpPr>
            <p:cNvPr id="9" name="Rectangle 9"/>
            <p:cNvSpPr/>
            <p:nvPr/>
          </p:nvSpPr>
          <p:spPr>
            <a:xfrm>
              <a:off x="762000" y="1809750"/>
              <a:ext cx="4572000" cy="3810000"/>
            </a:xfrm>
            <a:prstGeom prst="roundRect">
              <a:avLst>
                <a:gd name="adj" fmla="val 4000"/>
              </a:avLst>
            </a:prstGeom>
            <a:solidFill>
              <a:srgbClr val="27AE60">
                <a:alpha val="16000"/>
              </a:srgbClr>
            </a:solidFill>
            <a:ln>
              <a:noFill/>
            </a:ln>
          </p:spPr>
        </p:sp>
        <p:grpSp>
          <p:nvGrpSpPr>
            <p:cNvPr id="12" name="Group 12"/>
            <p:cNvGrpSpPr/>
            <p:nvPr/>
          </p:nvGrpSpPr>
          <p:grpSpPr>
            <a:xfrm>
              <a:off x="1038225" y="2105025"/>
              <a:ext cx="285751" cy="285751"/>
              <a:chOff x="1038225" y="2105025"/>
              <a:chExt cx="285751" cy="285751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1038225" y="2105025"/>
                <a:ext cx="285751" cy="285751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285751">
                    <a:moveTo>
                      <a:pt x="0" y="142875"/>
                    </a:moveTo>
                    <a:cubicBezTo>
                      <a:pt x="0" y="221783"/>
                      <a:pt x="63967" y="285751"/>
                      <a:pt x="142875" y="285751"/>
                    </a:cubicBezTo>
                    <a:cubicBezTo>
                      <a:pt x="221783" y="285751"/>
                      <a:pt x="285751" y="221783"/>
                      <a:pt x="285751" y="142875"/>
                    </a:cubicBezTo>
                    <a:cubicBezTo>
                      <a:pt x="285751" y="63967"/>
                      <a:pt x="221783" y="0"/>
                      <a:pt x="142875" y="0"/>
                    </a:cubicBezTo>
                    <a:cubicBezTo>
                      <a:pt x="63967" y="0"/>
                      <a:pt x="0" y="63967"/>
                      <a:pt x="0" y="142875"/>
                    </a:cubicBez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  <p:sp>
            <p:nvSpPr>
              <p:cNvPr id="11" name="Freeform 11"/>
              <p:cNvSpPr/>
              <p:nvPr/>
            </p:nvSpPr>
            <p:spPr>
              <a:xfrm>
                <a:off x="1133475" y="2216150"/>
                <a:ext cx="9525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95250" h="63500">
                    <a:moveTo>
                      <a:pt x="0" y="31750"/>
                    </a:moveTo>
                    <a:lnTo>
                      <a:pt x="31750" y="63500"/>
                    </a:lnTo>
                    <a:lnTo>
                      <a:pt x="95250" y="0"/>
                    </a:lnTo>
                  </a:path>
                </a:pathLst>
              </a:custGeom>
              <a:noFill/>
              <a:ln w="31750">
                <a:solidFill>
                  <a:srgbClr val="1E8449"/>
                </a:solidFill>
              </a:ln>
            </p:spPr>
          </p:sp>
        </p:grpSp>
        <p:sp>
          <p:nvSpPr>
            <p:cNvPr id="13" name="TextBox 13"/>
            <p:cNvSpPr txBox="1"/>
            <p:nvPr/>
          </p:nvSpPr>
          <p:spPr>
            <a:xfrm>
              <a:off x="1476756" y="2133600"/>
              <a:ext cx="72589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1E8449"/>
                  </a:solidFill>
                  <a:latin typeface="+mn-lt"/>
                  <a:ea typeface="+mn-ea"/>
                  <a:cs typeface="+mn-cs"/>
                </a:rPr>
                <a:t>Плюсы</a:t>
              </a:r>
            </a:p>
          </p:txBody>
        </p:sp>
        <p:grpSp>
          <p:nvGrpSpPr>
            <p:cNvPr id="18" name="Group 18"/>
            <p:cNvGrpSpPr/>
            <p:nvPr/>
          </p:nvGrpSpPr>
          <p:grpSpPr>
            <a:xfrm>
              <a:off x="1085850" y="2900362"/>
              <a:ext cx="242888" cy="271462"/>
              <a:chOff x="1085850" y="2900362"/>
              <a:chExt cx="242888" cy="271462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1100138" y="2900362"/>
                <a:ext cx="57150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57150">
                    <a:moveTo>
                      <a:pt x="0" y="28575"/>
                    </a:moveTo>
                    <a:cubicBezTo>
                      <a:pt x="0" y="44357"/>
                      <a:pt x="12793" y="57150"/>
                      <a:pt x="28575" y="57150"/>
                    </a:cubicBezTo>
                    <a:cubicBezTo>
                      <a:pt x="44357" y="57150"/>
                      <a:pt x="57150" y="44357"/>
                      <a:pt x="57150" y="28575"/>
                    </a:cubicBezTo>
                    <a:cubicBezTo>
                      <a:pt x="57150" y="12793"/>
                      <a:pt x="44357" y="0"/>
                      <a:pt x="28575" y="0"/>
                    </a:cubicBezTo>
                    <a:cubicBezTo>
                      <a:pt x="12793" y="0"/>
                      <a:pt x="0" y="12793"/>
                      <a:pt x="0" y="28575"/>
                    </a:cubicBezTo>
                  </a:path>
                </a:pathLst>
              </a:custGeom>
              <a:noFill/>
              <a:ln w="28575">
                <a:solidFill>
                  <a:srgbClr val="27AE60"/>
                </a:solidFill>
              </a:ln>
            </p:spPr>
          </p:sp>
          <p:sp>
            <p:nvSpPr>
              <p:cNvPr id="15" name="Freeform 15"/>
              <p:cNvSpPr/>
              <p:nvPr/>
            </p:nvSpPr>
            <p:spPr>
              <a:xfrm>
                <a:off x="1085850" y="3014662"/>
                <a:ext cx="85725" cy="157162"/>
              </a:xfrm>
              <a:custGeom>
                <a:avLst/>
                <a:gdLst/>
                <a:ahLst/>
                <a:cxnLst/>
                <a:rect l="l" t="t" r="r" b="b"/>
                <a:pathLst>
                  <a:path w="85725" h="157162">
                    <a:moveTo>
                      <a:pt x="14288" y="157162"/>
                    </a:moveTo>
                    <a:lnTo>
                      <a:pt x="14288" y="85725"/>
                    </a:lnTo>
                    <a:lnTo>
                      <a:pt x="0" y="71438"/>
                    </a:lnTo>
                    <a:lnTo>
                      <a:pt x="0" y="14288"/>
                    </a:lnTo>
                    <a:cubicBezTo>
                      <a:pt x="0" y="6397"/>
                      <a:pt x="6397" y="0"/>
                      <a:pt x="14288" y="0"/>
                    </a:cubicBezTo>
                    <a:lnTo>
                      <a:pt x="71438" y="0"/>
                    </a:lnTo>
                    <a:cubicBezTo>
                      <a:pt x="79328" y="0"/>
                      <a:pt x="85725" y="6397"/>
                      <a:pt x="85725" y="14288"/>
                    </a:cubicBezTo>
                    <a:lnTo>
                      <a:pt x="85725" y="71438"/>
                    </a:lnTo>
                    <a:lnTo>
                      <a:pt x="71438" y="85725"/>
                    </a:lnTo>
                    <a:lnTo>
                      <a:pt x="71438" y="157162"/>
                    </a:lnTo>
                  </a:path>
                </a:pathLst>
              </a:custGeom>
              <a:noFill/>
              <a:ln w="28575">
                <a:solidFill>
                  <a:srgbClr val="27AE60"/>
                </a:solidFill>
              </a:ln>
            </p:spPr>
          </p:sp>
          <p:sp>
            <p:nvSpPr>
              <p:cNvPr id="16" name="Freeform 16"/>
              <p:cNvSpPr/>
              <p:nvPr/>
            </p:nvSpPr>
            <p:spPr>
              <a:xfrm>
                <a:off x="1243012" y="2900362"/>
                <a:ext cx="57150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57150">
                    <a:moveTo>
                      <a:pt x="0" y="28575"/>
                    </a:moveTo>
                    <a:cubicBezTo>
                      <a:pt x="0" y="44357"/>
                      <a:pt x="12793" y="57150"/>
                      <a:pt x="28575" y="57150"/>
                    </a:cubicBezTo>
                    <a:cubicBezTo>
                      <a:pt x="44357" y="57150"/>
                      <a:pt x="57150" y="44357"/>
                      <a:pt x="57150" y="28575"/>
                    </a:cubicBezTo>
                    <a:cubicBezTo>
                      <a:pt x="57150" y="12793"/>
                      <a:pt x="44357" y="0"/>
                      <a:pt x="28575" y="0"/>
                    </a:cubicBezTo>
                    <a:cubicBezTo>
                      <a:pt x="12793" y="0"/>
                      <a:pt x="0" y="12793"/>
                      <a:pt x="0" y="28575"/>
                    </a:cubicBezTo>
                  </a:path>
                </a:pathLst>
              </a:custGeom>
              <a:noFill/>
              <a:ln w="28575">
                <a:solidFill>
                  <a:srgbClr val="27AE60"/>
                </a:solidFill>
              </a:ln>
            </p:spPr>
          </p:sp>
          <p:sp>
            <p:nvSpPr>
              <p:cNvPr id="17" name="Freeform 17"/>
              <p:cNvSpPr/>
              <p:nvPr/>
            </p:nvSpPr>
            <p:spPr>
              <a:xfrm>
                <a:off x="1214438" y="3014662"/>
                <a:ext cx="114300" cy="157162"/>
              </a:xfrm>
              <a:custGeom>
                <a:avLst/>
                <a:gdLst/>
                <a:ahLst/>
                <a:cxnLst/>
                <a:rect l="l" t="t" r="r" b="b"/>
                <a:pathLst>
                  <a:path w="114300" h="157162">
                    <a:moveTo>
                      <a:pt x="28575" y="157162"/>
                    </a:moveTo>
                    <a:lnTo>
                      <a:pt x="28575" y="100012"/>
                    </a:lnTo>
                    <a:lnTo>
                      <a:pt x="0" y="100012"/>
                    </a:lnTo>
                    <a:lnTo>
                      <a:pt x="28575" y="14288"/>
                    </a:lnTo>
                    <a:cubicBezTo>
                      <a:pt x="28575" y="6397"/>
                      <a:pt x="34972" y="0"/>
                      <a:pt x="42862" y="0"/>
                    </a:cubicBezTo>
                    <a:lnTo>
                      <a:pt x="71438" y="0"/>
                    </a:lnTo>
                    <a:cubicBezTo>
                      <a:pt x="79328" y="0"/>
                      <a:pt x="85725" y="6397"/>
                      <a:pt x="85725" y="14288"/>
                    </a:cubicBezTo>
                    <a:lnTo>
                      <a:pt x="114300" y="100012"/>
                    </a:lnTo>
                    <a:lnTo>
                      <a:pt x="85725" y="100012"/>
                    </a:lnTo>
                    <a:lnTo>
                      <a:pt x="85725" y="157162"/>
                    </a:lnTo>
                  </a:path>
                </a:pathLst>
              </a:custGeom>
              <a:noFill/>
              <a:ln w="28575">
                <a:solidFill>
                  <a:srgbClr val="27AE60"/>
                </a:solidFill>
              </a:ln>
            </p:spPr>
          </p:sp>
        </p:grpSp>
        <p:sp>
          <p:nvSpPr>
            <p:cNvPr id="19" name="TextBox 19"/>
            <p:cNvSpPr txBox="1"/>
            <p:nvPr/>
          </p:nvSpPr>
          <p:spPr>
            <a:xfrm>
              <a:off x="1514856" y="2914650"/>
              <a:ext cx="201875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связь с близкими</a:t>
              </a:r>
            </a:p>
          </p:txBody>
        </p:sp>
        <p:sp>
          <p:nvSpPr>
            <p:cNvPr id="20" name="Freeform 20"/>
            <p:cNvSpPr/>
            <p:nvPr/>
          </p:nvSpPr>
          <p:spPr>
            <a:xfrm>
              <a:off x="1066615" y="3539635"/>
              <a:ext cx="266811" cy="232265"/>
            </a:xfrm>
            <a:custGeom>
              <a:avLst/>
              <a:gdLst/>
              <a:ahLst/>
              <a:cxnLst/>
              <a:rect l="l" t="t" r="r" b="b"/>
              <a:pathLst>
                <a:path w="266811" h="232265">
                  <a:moveTo>
                    <a:pt x="240691" y="126138"/>
                  </a:moveTo>
                  <a:lnTo>
                    <a:pt x="133535" y="232265"/>
                  </a:lnTo>
                  <a:lnTo>
                    <a:pt x="26379" y="126138"/>
                  </a:lnTo>
                  <a:cubicBezTo>
                    <a:pt x="7109" y="107387"/>
                    <a:pt x="0" y="79404"/>
                    <a:pt x="7983" y="53729"/>
                  </a:cubicBezTo>
                  <a:cubicBezTo>
                    <a:pt x="15966" y="28055"/>
                    <a:pt x="37689" y="9037"/>
                    <a:pt x="64194" y="4518"/>
                  </a:cubicBezTo>
                  <a:cubicBezTo>
                    <a:pt x="90699" y="0"/>
                    <a:pt x="117496" y="10746"/>
                    <a:pt x="133535" y="32326"/>
                  </a:cubicBezTo>
                  <a:cubicBezTo>
                    <a:pt x="149641" y="10906"/>
                    <a:pt x="176381" y="302"/>
                    <a:pt x="202789" y="4863"/>
                  </a:cubicBezTo>
                  <a:cubicBezTo>
                    <a:pt x="229198" y="9424"/>
                    <a:pt x="250833" y="28381"/>
                    <a:pt x="258822" y="53962"/>
                  </a:cubicBezTo>
                  <a:cubicBezTo>
                    <a:pt x="266811" y="79543"/>
                    <a:pt x="259811" y="107444"/>
                    <a:pt x="240691" y="126224"/>
                  </a:cubicBezTo>
                </a:path>
              </a:pathLst>
            </a:custGeom>
            <a:noFill/>
            <a:ln w="28575">
              <a:solidFill>
                <a:srgbClr val="27AE60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514856" y="3543300"/>
              <a:ext cx="228530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поддержка и помощь</a:t>
              </a:r>
            </a:p>
          </p:txBody>
        </p:sp>
        <p:grpSp>
          <p:nvGrpSpPr>
            <p:cNvPr id="25" name="Group 25"/>
            <p:cNvGrpSpPr/>
            <p:nvPr/>
          </p:nvGrpSpPr>
          <p:grpSpPr>
            <a:xfrm>
              <a:off x="1100138" y="4171950"/>
              <a:ext cx="200025" cy="228600"/>
              <a:chOff x="1100138" y="4171950"/>
              <a:chExt cx="200025" cy="228600"/>
            </a:xfrm>
          </p:grpSpPr>
          <p:sp>
            <p:nvSpPr>
              <p:cNvPr id="22" name="Freeform 22"/>
              <p:cNvSpPr/>
              <p:nvPr/>
            </p:nvSpPr>
            <p:spPr>
              <a:xfrm>
                <a:off x="1100138" y="4171950"/>
                <a:ext cx="200025" cy="228600"/>
              </a:xfrm>
              <a:custGeom>
                <a:avLst/>
                <a:gdLst/>
                <a:ahLst/>
                <a:cxnLst/>
                <a:rect l="l" t="t" r="r" b="b"/>
                <a:pathLst>
                  <a:path w="200025" h="228600">
                    <a:moveTo>
                      <a:pt x="200025" y="0"/>
                    </a:moveTo>
                    <a:lnTo>
                      <a:pt x="200025" y="228600"/>
                    </a:lnTo>
                    <a:lnTo>
                      <a:pt x="28575" y="228600"/>
                    </a:lnTo>
                    <a:cubicBezTo>
                      <a:pt x="12793" y="228600"/>
                      <a:pt x="0" y="215807"/>
                      <a:pt x="0" y="200025"/>
                    </a:cubicBezTo>
                    <a:lnTo>
                      <a:pt x="0" y="28575"/>
                    </a:lnTo>
                    <a:cubicBezTo>
                      <a:pt x="0" y="12793"/>
                      <a:pt x="12793" y="0"/>
                      <a:pt x="28575" y="0"/>
                    </a:cubicBezTo>
                    <a:lnTo>
                      <a:pt x="200025" y="0"/>
                    </a:lnTo>
                  </a:path>
                </a:pathLst>
              </a:custGeom>
              <a:noFill/>
              <a:ln w="28575">
                <a:solidFill>
                  <a:srgbClr val="27AE60"/>
                </a:solidFill>
              </a:ln>
            </p:spPr>
          </p:sp>
          <p:sp>
            <p:nvSpPr>
              <p:cNvPr id="23" name="Freeform 23"/>
              <p:cNvSpPr/>
              <p:nvPr/>
            </p:nvSpPr>
            <p:spPr>
              <a:xfrm>
                <a:off x="1100138" y="4343400"/>
                <a:ext cx="20002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200025" h="28575">
                    <a:moveTo>
                      <a:pt x="200025" y="0"/>
                    </a:moveTo>
                    <a:lnTo>
                      <a:pt x="28575" y="0"/>
                    </a:lnTo>
                    <a:cubicBezTo>
                      <a:pt x="12793" y="0"/>
                      <a:pt x="0" y="12793"/>
                      <a:pt x="0" y="28575"/>
                    </a:cubicBezTo>
                  </a:path>
                </a:pathLst>
              </a:custGeom>
              <a:noFill/>
              <a:ln w="28575">
                <a:solidFill>
                  <a:srgbClr val="27AE60"/>
                </a:solidFill>
              </a:ln>
            </p:spPr>
          </p:sp>
          <p:sp>
            <p:nvSpPr>
              <p:cNvPr id="24" name="Freeform 24"/>
              <p:cNvSpPr/>
              <p:nvPr/>
            </p:nvSpPr>
            <p:spPr>
              <a:xfrm>
                <a:off x="1157288" y="4229100"/>
                <a:ext cx="857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85725" h="9525">
                    <a:moveTo>
                      <a:pt x="0" y="0"/>
                    </a:moveTo>
                    <a:lnTo>
                      <a:pt x="85725" y="0"/>
                    </a:lnTo>
                  </a:path>
                </a:pathLst>
              </a:custGeom>
              <a:noFill/>
              <a:ln w="28575">
                <a:solidFill>
                  <a:srgbClr val="27AE60"/>
                </a:solidFill>
              </a:ln>
            </p:spPr>
          </p:sp>
        </p:grpSp>
        <p:sp>
          <p:nvSpPr>
            <p:cNvPr id="26" name="TextBox 26"/>
            <p:cNvSpPr txBox="1"/>
            <p:nvPr/>
          </p:nvSpPr>
          <p:spPr>
            <a:xfrm>
              <a:off x="1514856" y="4171950"/>
              <a:ext cx="201875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доступ к знаниям</a:t>
              </a:r>
            </a:p>
          </p:txBody>
        </p:sp>
        <p:grpSp>
          <p:nvGrpSpPr>
            <p:cNvPr id="30" name="Group 30"/>
            <p:cNvGrpSpPr/>
            <p:nvPr/>
          </p:nvGrpSpPr>
          <p:grpSpPr>
            <a:xfrm>
              <a:off x="1071562" y="4786312"/>
              <a:ext cx="257175" cy="257176"/>
              <a:chOff x="1071562" y="4786312"/>
              <a:chExt cx="257175" cy="257176"/>
            </a:xfrm>
          </p:grpSpPr>
          <p:sp>
            <p:nvSpPr>
              <p:cNvPr id="27" name="Freeform 27"/>
              <p:cNvSpPr/>
              <p:nvPr/>
            </p:nvSpPr>
            <p:spPr>
              <a:xfrm>
                <a:off x="1071562" y="4800600"/>
                <a:ext cx="242888" cy="242888"/>
              </a:xfrm>
              <a:custGeom>
                <a:avLst/>
                <a:gdLst/>
                <a:ahLst/>
                <a:cxnLst/>
                <a:rect l="l" t="t" r="r" b="b"/>
                <a:pathLst>
                  <a:path w="242888" h="242888">
                    <a:moveTo>
                      <a:pt x="28575" y="0"/>
                    </a:moveTo>
                    <a:lnTo>
                      <a:pt x="85725" y="0"/>
                    </a:lnTo>
                    <a:lnTo>
                      <a:pt x="114300" y="71438"/>
                    </a:lnTo>
                    <a:lnTo>
                      <a:pt x="78581" y="92869"/>
                    </a:lnTo>
                    <a:cubicBezTo>
                      <a:pt x="93883" y="123894"/>
                      <a:pt x="118993" y="149005"/>
                      <a:pt x="150019" y="164306"/>
                    </a:cubicBezTo>
                    <a:lnTo>
                      <a:pt x="171450" y="128588"/>
                    </a:lnTo>
                    <a:lnTo>
                      <a:pt x="242888" y="157162"/>
                    </a:lnTo>
                    <a:lnTo>
                      <a:pt x="242888" y="214312"/>
                    </a:lnTo>
                    <a:cubicBezTo>
                      <a:pt x="242888" y="230094"/>
                      <a:pt x="230094" y="242888"/>
                      <a:pt x="214312" y="242888"/>
                    </a:cubicBezTo>
                    <a:cubicBezTo>
                      <a:pt x="98979" y="235879"/>
                      <a:pt x="7009" y="143909"/>
                      <a:pt x="0" y="28575"/>
                    </a:cubicBezTo>
                    <a:cubicBezTo>
                      <a:pt x="0" y="12793"/>
                      <a:pt x="12793" y="0"/>
                      <a:pt x="28575" y="0"/>
                    </a:cubicBezTo>
                  </a:path>
                </a:pathLst>
              </a:custGeom>
              <a:noFill/>
              <a:ln w="28575">
                <a:solidFill>
                  <a:srgbClr val="27AE60"/>
                </a:solidFill>
              </a:ln>
            </p:spPr>
          </p:sp>
          <p:sp>
            <p:nvSpPr>
              <p:cNvPr id="28" name="Freeform 28"/>
              <p:cNvSpPr/>
              <p:nvPr/>
            </p:nvSpPr>
            <p:spPr>
              <a:xfrm>
                <a:off x="1243012" y="4843462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28575" h="28575">
                    <a:moveTo>
                      <a:pt x="0" y="0"/>
                    </a:moveTo>
                    <a:cubicBezTo>
                      <a:pt x="15782" y="0"/>
                      <a:pt x="28575" y="12793"/>
                      <a:pt x="28575" y="28575"/>
                    </a:cubicBezTo>
                  </a:path>
                </a:pathLst>
              </a:custGeom>
              <a:noFill/>
              <a:ln w="28575">
                <a:solidFill>
                  <a:srgbClr val="27AE60"/>
                </a:solidFill>
              </a:ln>
            </p:spPr>
          </p:sp>
          <p:sp>
            <p:nvSpPr>
              <p:cNvPr id="29" name="Freeform 29"/>
              <p:cNvSpPr/>
              <p:nvPr/>
            </p:nvSpPr>
            <p:spPr>
              <a:xfrm>
                <a:off x="1243012" y="4786312"/>
                <a:ext cx="8572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85725" h="85725">
                    <a:moveTo>
                      <a:pt x="0" y="0"/>
                    </a:moveTo>
                    <a:cubicBezTo>
                      <a:pt x="47345" y="0"/>
                      <a:pt x="85725" y="38380"/>
                      <a:pt x="85725" y="85725"/>
                    </a:cubicBezTo>
                  </a:path>
                </a:pathLst>
              </a:custGeom>
              <a:noFill/>
              <a:ln w="28575">
                <a:solidFill>
                  <a:srgbClr val="27AE60"/>
                </a:solidFill>
              </a:ln>
            </p:spPr>
          </p:sp>
        </p:grpSp>
        <p:sp>
          <p:nvSpPr>
            <p:cNvPr id="31" name="TextBox 31"/>
            <p:cNvSpPr txBox="1"/>
            <p:nvPr/>
          </p:nvSpPr>
          <p:spPr>
            <a:xfrm>
              <a:off x="1514856" y="4800600"/>
              <a:ext cx="183153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онлайн-терапия</a:t>
              </a:r>
            </a:p>
          </p:txBody>
        </p:sp>
      </p:grpSp>
      <p:grpSp>
        <p:nvGrpSpPr>
          <p:cNvPr id="46" name="p13-phone"/>
          <p:cNvGrpSpPr/>
          <p:nvPr/>
        </p:nvGrpSpPr>
        <p:grpSpPr>
          <a:xfrm>
            <a:off x="5619750" y="2381250"/>
            <a:ext cx="952500" cy="2857500"/>
            <a:chOff x="5619750" y="2381250"/>
            <a:chExt cx="952500" cy="2857500"/>
          </a:xfrm>
        </p:grpSpPr>
        <p:sp>
          <p:nvSpPr>
            <p:cNvPr id="33" name="Rectangle 33"/>
            <p:cNvSpPr/>
            <p:nvPr/>
          </p:nvSpPr>
          <p:spPr>
            <a:xfrm>
              <a:off x="5619750" y="2381250"/>
              <a:ext cx="952500" cy="2857500"/>
            </a:xfrm>
            <a:prstGeom prst="roundRect">
              <a:avLst>
                <a:gd name="adj" fmla="val 18000"/>
              </a:avLst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5753100" y="2590800"/>
              <a:ext cx="685800" cy="2438400"/>
            </a:xfrm>
            <a:prstGeom prst="roundRect">
              <a:avLst>
                <a:gd name="adj" fmla="val 11111"/>
              </a:avLst>
            </a:prstGeom>
            <a:solidFill>
              <a:srgbClr val="FFFFFF">
                <a:alpha val="90000"/>
              </a:srgbClr>
            </a:solidFill>
            <a:ln>
              <a:noFill/>
            </a:ln>
          </p:spPr>
        </p:sp>
        <p:grpSp>
          <p:nvGrpSpPr>
            <p:cNvPr id="44" name="Group 44"/>
            <p:cNvGrpSpPr/>
            <p:nvPr/>
          </p:nvGrpSpPr>
          <p:grpSpPr>
            <a:xfrm>
              <a:off x="5943600" y="3409950"/>
              <a:ext cx="304800" cy="304800"/>
              <a:chOff x="5943600" y="3409950"/>
              <a:chExt cx="304800" cy="304800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5943600" y="3486150"/>
                <a:ext cx="762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76200" h="76200">
                    <a:moveTo>
                      <a:pt x="0" y="38100"/>
                    </a:moveTo>
                    <a:cubicBezTo>
                      <a:pt x="0" y="59142"/>
                      <a:pt x="17058" y="76200"/>
                      <a:pt x="38100" y="76200"/>
                    </a:cubicBezTo>
                    <a:cubicBezTo>
                      <a:pt x="59142" y="76200"/>
                      <a:pt x="76200" y="59142"/>
                      <a:pt x="76200" y="38100"/>
                    </a:cubicBezTo>
                    <a:cubicBezTo>
                      <a:pt x="76200" y="17058"/>
                      <a:pt x="59142" y="0"/>
                      <a:pt x="38100" y="0"/>
                    </a:cubicBezTo>
                    <a:cubicBezTo>
                      <a:pt x="17058" y="0"/>
                      <a:pt x="0" y="17058"/>
                      <a:pt x="0" y="38100"/>
                    </a:cubicBez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  <p:sp>
            <p:nvSpPr>
              <p:cNvPr id="36" name="Freeform 36"/>
              <p:cNvSpPr/>
              <p:nvPr/>
            </p:nvSpPr>
            <p:spPr>
              <a:xfrm>
                <a:off x="5981700" y="3409950"/>
                <a:ext cx="9525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76200">
                    <a:moveTo>
                      <a:pt x="0" y="0"/>
                    </a:moveTo>
                    <a:lnTo>
                      <a:pt x="0" y="76200"/>
                    </a:ln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  <p:sp>
            <p:nvSpPr>
              <p:cNvPr id="37" name="Freeform 37"/>
              <p:cNvSpPr/>
              <p:nvPr/>
            </p:nvSpPr>
            <p:spPr>
              <a:xfrm>
                <a:off x="5981700" y="3562350"/>
                <a:ext cx="9525" cy="1524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52400">
                    <a:moveTo>
                      <a:pt x="0" y="0"/>
                    </a:moveTo>
                    <a:lnTo>
                      <a:pt x="0" y="152400"/>
                    </a:ln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  <p:sp>
            <p:nvSpPr>
              <p:cNvPr id="38" name="Freeform 38"/>
              <p:cNvSpPr/>
              <p:nvPr/>
            </p:nvSpPr>
            <p:spPr>
              <a:xfrm>
                <a:off x="6057900" y="3600450"/>
                <a:ext cx="762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76200" h="76200">
                    <a:moveTo>
                      <a:pt x="0" y="38100"/>
                    </a:moveTo>
                    <a:cubicBezTo>
                      <a:pt x="0" y="59142"/>
                      <a:pt x="17058" y="76200"/>
                      <a:pt x="38100" y="76200"/>
                    </a:cubicBezTo>
                    <a:cubicBezTo>
                      <a:pt x="59142" y="76200"/>
                      <a:pt x="76200" y="59142"/>
                      <a:pt x="76200" y="38100"/>
                    </a:cubicBezTo>
                    <a:cubicBezTo>
                      <a:pt x="76200" y="17058"/>
                      <a:pt x="59142" y="0"/>
                      <a:pt x="38100" y="0"/>
                    </a:cubicBezTo>
                    <a:cubicBezTo>
                      <a:pt x="17058" y="0"/>
                      <a:pt x="0" y="17058"/>
                      <a:pt x="0" y="38100"/>
                    </a:cubicBez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  <p:sp>
            <p:nvSpPr>
              <p:cNvPr id="39" name="Freeform 39"/>
              <p:cNvSpPr/>
              <p:nvPr/>
            </p:nvSpPr>
            <p:spPr>
              <a:xfrm>
                <a:off x="6096000" y="3409950"/>
                <a:ext cx="9525" cy="1905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90500">
                    <a:moveTo>
                      <a:pt x="0" y="0"/>
                    </a:moveTo>
                    <a:lnTo>
                      <a:pt x="0" y="190500"/>
                    </a:ln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  <p:sp>
            <p:nvSpPr>
              <p:cNvPr id="40" name="Freeform 40"/>
              <p:cNvSpPr/>
              <p:nvPr/>
            </p:nvSpPr>
            <p:spPr>
              <a:xfrm>
                <a:off x="6096000" y="3676650"/>
                <a:ext cx="9525" cy="3810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38100">
                    <a:moveTo>
                      <a:pt x="0" y="0"/>
                    </a:moveTo>
                    <a:lnTo>
                      <a:pt x="0" y="38100"/>
                    </a:ln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  <p:sp>
            <p:nvSpPr>
              <p:cNvPr id="41" name="Freeform 41"/>
              <p:cNvSpPr/>
              <p:nvPr/>
            </p:nvSpPr>
            <p:spPr>
              <a:xfrm>
                <a:off x="6172200" y="3429000"/>
                <a:ext cx="76200" cy="76200"/>
              </a:xfrm>
              <a:custGeom>
                <a:avLst/>
                <a:gdLst/>
                <a:ahLst/>
                <a:cxnLst/>
                <a:rect l="l" t="t" r="r" b="b"/>
                <a:pathLst>
                  <a:path w="76200" h="76200">
                    <a:moveTo>
                      <a:pt x="0" y="38100"/>
                    </a:moveTo>
                    <a:cubicBezTo>
                      <a:pt x="0" y="59142"/>
                      <a:pt x="17058" y="76200"/>
                      <a:pt x="38100" y="76200"/>
                    </a:cubicBezTo>
                    <a:cubicBezTo>
                      <a:pt x="59142" y="76200"/>
                      <a:pt x="76200" y="59142"/>
                      <a:pt x="76200" y="38100"/>
                    </a:cubicBezTo>
                    <a:cubicBezTo>
                      <a:pt x="76200" y="17058"/>
                      <a:pt x="59142" y="0"/>
                      <a:pt x="38100" y="0"/>
                    </a:cubicBezTo>
                    <a:cubicBezTo>
                      <a:pt x="17058" y="0"/>
                      <a:pt x="0" y="17058"/>
                      <a:pt x="0" y="38100"/>
                    </a:cubicBez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  <p:sp>
            <p:nvSpPr>
              <p:cNvPr id="42" name="Freeform 42"/>
              <p:cNvSpPr/>
              <p:nvPr/>
            </p:nvSpPr>
            <p:spPr>
              <a:xfrm>
                <a:off x="6210300" y="3409950"/>
                <a:ext cx="9525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9050">
                    <a:moveTo>
                      <a:pt x="0" y="0"/>
                    </a:moveTo>
                    <a:lnTo>
                      <a:pt x="0" y="19050"/>
                    </a:ln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  <p:sp>
            <p:nvSpPr>
              <p:cNvPr id="43" name="Freeform 43"/>
              <p:cNvSpPr/>
              <p:nvPr/>
            </p:nvSpPr>
            <p:spPr>
              <a:xfrm>
                <a:off x="6210300" y="3505200"/>
                <a:ext cx="9525" cy="20955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209550">
                    <a:moveTo>
                      <a:pt x="0" y="0"/>
                    </a:moveTo>
                    <a:lnTo>
                      <a:pt x="0" y="209550"/>
                    </a:lnTo>
                  </a:path>
                </a:pathLst>
              </a:custGeom>
              <a:noFill/>
              <a:ln w="38100">
                <a:solidFill>
                  <a:schemeClr val="accent1"/>
                </a:solidFill>
              </a:ln>
            </p:spPr>
          </p:sp>
        </p:grpSp>
        <p:sp>
          <p:nvSpPr>
            <p:cNvPr id="45" name="Ellipse 45"/>
            <p:cNvSpPr/>
            <p:nvPr/>
          </p:nvSpPr>
          <p:spPr>
            <a:xfrm>
              <a:off x="6029325" y="5038725"/>
              <a:ext cx="133350" cy="13335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</p:sp>
      </p:grpSp>
      <p:grpSp>
        <p:nvGrpSpPr>
          <p:cNvPr id="66" name="p13-minus"/>
          <p:cNvGrpSpPr/>
          <p:nvPr/>
        </p:nvGrpSpPr>
        <p:grpSpPr>
          <a:xfrm>
            <a:off x="6858000" y="1809750"/>
            <a:ext cx="4572000" cy="3810000"/>
            <a:chOff x="6858000" y="1809750"/>
            <a:chExt cx="4572000" cy="3810000"/>
          </a:xfrm>
        </p:grpSpPr>
        <p:sp>
          <p:nvSpPr>
            <p:cNvPr id="47" name="Rectangle 47"/>
            <p:cNvSpPr/>
            <p:nvPr/>
          </p:nvSpPr>
          <p:spPr>
            <a:xfrm>
              <a:off x="6858000" y="1809750"/>
              <a:ext cx="4572000" cy="3810000"/>
            </a:xfrm>
            <a:prstGeom prst="roundRect">
              <a:avLst>
                <a:gd name="adj" fmla="val 4000"/>
              </a:avLst>
            </a:prstGeom>
            <a:solidFill>
              <a:srgbClr val="E74C3C">
                <a:alpha val="16000"/>
              </a:srgbClr>
            </a:solidFill>
            <a:ln>
              <a:noFill/>
            </a:ln>
          </p:spPr>
        </p:sp>
        <p:grpSp>
          <p:nvGrpSpPr>
            <p:cNvPr id="50" name="Group 50"/>
            <p:cNvGrpSpPr/>
            <p:nvPr/>
          </p:nvGrpSpPr>
          <p:grpSpPr>
            <a:xfrm>
              <a:off x="7134225" y="2105025"/>
              <a:ext cx="285751" cy="285751"/>
              <a:chOff x="7134225" y="2105025"/>
              <a:chExt cx="285751" cy="285751"/>
            </a:xfrm>
          </p:grpSpPr>
          <p:sp>
            <p:nvSpPr>
              <p:cNvPr id="48" name="Freeform 48"/>
              <p:cNvSpPr/>
              <p:nvPr/>
            </p:nvSpPr>
            <p:spPr>
              <a:xfrm>
                <a:off x="7134225" y="2105025"/>
                <a:ext cx="285751" cy="285751"/>
              </a:xfrm>
              <a:custGeom>
                <a:avLst/>
                <a:gdLst/>
                <a:ahLst/>
                <a:cxnLst/>
                <a:rect l="l" t="t" r="r" b="b"/>
                <a:pathLst>
                  <a:path w="285751" h="285751">
                    <a:moveTo>
                      <a:pt x="0" y="142875"/>
                    </a:moveTo>
                    <a:cubicBezTo>
                      <a:pt x="0" y="221783"/>
                      <a:pt x="63967" y="285751"/>
                      <a:pt x="142875" y="285751"/>
                    </a:cubicBezTo>
                    <a:cubicBezTo>
                      <a:pt x="221783" y="285751"/>
                      <a:pt x="285751" y="221783"/>
                      <a:pt x="285751" y="142875"/>
                    </a:cubicBezTo>
                    <a:cubicBezTo>
                      <a:pt x="285751" y="63967"/>
                      <a:pt x="221783" y="0"/>
                      <a:pt x="142875" y="0"/>
                    </a:cubicBezTo>
                    <a:cubicBezTo>
                      <a:pt x="63967" y="0"/>
                      <a:pt x="0" y="63967"/>
                      <a:pt x="0" y="142875"/>
                    </a:cubicBezTo>
                  </a:path>
                </a:pathLst>
              </a:custGeom>
              <a:noFill/>
              <a:ln w="31750">
                <a:solidFill>
                  <a:srgbClr val="C0392B"/>
                </a:solidFill>
              </a:ln>
            </p:spPr>
          </p:sp>
          <p:sp>
            <p:nvSpPr>
              <p:cNvPr id="49" name="Freeform 49"/>
              <p:cNvSpPr/>
              <p:nvPr/>
            </p:nvSpPr>
            <p:spPr>
              <a:xfrm>
                <a:off x="7245350" y="2216150"/>
                <a:ext cx="63500" cy="63500"/>
              </a:xfrm>
              <a:custGeom>
                <a:avLst/>
                <a:gdLst/>
                <a:ahLst/>
                <a:cxnLst/>
                <a:rect l="l" t="t" r="r" b="b"/>
                <a:pathLst>
                  <a:path w="63500" h="63500">
                    <a:moveTo>
                      <a:pt x="0" y="0"/>
                    </a:moveTo>
                    <a:lnTo>
                      <a:pt x="63500" y="63500"/>
                    </a:lnTo>
                    <a:moveTo>
                      <a:pt x="63500" y="0"/>
                    </a:moveTo>
                    <a:lnTo>
                      <a:pt x="0" y="63500"/>
                    </a:lnTo>
                  </a:path>
                </a:pathLst>
              </a:custGeom>
              <a:noFill/>
              <a:ln w="31750">
                <a:solidFill>
                  <a:srgbClr val="C0392B"/>
                </a:solidFill>
              </a:ln>
            </p:spPr>
          </p:sp>
        </p:grpSp>
        <p:sp>
          <p:nvSpPr>
            <p:cNvPr id="51" name="TextBox 51"/>
            <p:cNvSpPr txBox="1"/>
            <p:nvPr/>
          </p:nvSpPr>
          <p:spPr>
            <a:xfrm>
              <a:off x="7572756" y="2133600"/>
              <a:ext cx="86583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C0392B"/>
                  </a:solidFill>
                  <a:latin typeface="+mn-lt"/>
                  <a:ea typeface="+mn-ea"/>
                  <a:cs typeface="+mn-cs"/>
                </a:rPr>
                <a:t>Минусы</a:t>
              </a:r>
            </a:p>
          </p:txBody>
        </p:sp>
        <p:grpSp>
          <p:nvGrpSpPr>
            <p:cNvPr id="54" name="Group 54"/>
            <p:cNvGrpSpPr/>
            <p:nvPr/>
          </p:nvGrpSpPr>
          <p:grpSpPr>
            <a:xfrm>
              <a:off x="7167562" y="2943225"/>
              <a:ext cx="257175" cy="171450"/>
              <a:chOff x="7167562" y="2943225"/>
              <a:chExt cx="257175" cy="171450"/>
            </a:xfrm>
          </p:grpSpPr>
          <p:sp>
            <p:nvSpPr>
              <p:cNvPr id="52" name="Freeform 52"/>
              <p:cNvSpPr/>
              <p:nvPr/>
            </p:nvSpPr>
            <p:spPr>
              <a:xfrm>
                <a:off x="7267575" y="3000375"/>
                <a:ext cx="57150" cy="57150"/>
              </a:xfrm>
              <a:custGeom>
                <a:avLst/>
                <a:gdLst/>
                <a:ahLst/>
                <a:cxnLst/>
                <a:rect l="l" t="t" r="r" b="b"/>
                <a:pathLst>
                  <a:path w="57150" h="57150">
                    <a:moveTo>
                      <a:pt x="0" y="28575"/>
                    </a:moveTo>
                    <a:cubicBezTo>
                      <a:pt x="0" y="44357"/>
                      <a:pt x="12793" y="57150"/>
                      <a:pt x="28575" y="57150"/>
                    </a:cubicBezTo>
                    <a:cubicBezTo>
                      <a:pt x="44357" y="57150"/>
                      <a:pt x="57150" y="44357"/>
                      <a:pt x="57150" y="28575"/>
                    </a:cubicBezTo>
                    <a:cubicBezTo>
                      <a:pt x="57150" y="12793"/>
                      <a:pt x="44357" y="0"/>
                      <a:pt x="28575" y="0"/>
                    </a:cubicBezTo>
                    <a:cubicBezTo>
                      <a:pt x="12793" y="0"/>
                      <a:pt x="0" y="12793"/>
                      <a:pt x="0" y="28575"/>
                    </a:cubicBezTo>
                  </a:path>
                </a:pathLst>
              </a:custGeom>
              <a:noFill/>
              <a:ln w="28575">
                <a:solidFill>
                  <a:srgbClr val="E74C3C"/>
                </a:solidFill>
              </a:ln>
            </p:spPr>
          </p:sp>
          <p:sp>
            <p:nvSpPr>
              <p:cNvPr id="53" name="Freeform 53"/>
              <p:cNvSpPr/>
              <p:nvPr/>
            </p:nvSpPr>
            <p:spPr>
              <a:xfrm>
                <a:off x="7167562" y="2943225"/>
                <a:ext cx="257175" cy="171450"/>
              </a:xfrm>
              <a:custGeom>
                <a:avLst/>
                <a:gdLst/>
                <a:ahLst/>
                <a:cxnLst/>
                <a:rect l="l" t="t" r="r" b="b"/>
                <a:pathLst>
                  <a:path w="257175" h="171450">
                    <a:moveTo>
                      <a:pt x="257175" y="85725"/>
                    </a:moveTo>
                    <a:cubicBezTo>
                      <a:pt x="222885" y="142875"/>
                      <a:pt x="180022" y="171450"/>
                      <a:pt x="128588" y="171450"/>
                    </a:cubicBezTo>
                    <a:cubicBezTo>
                      <a:pt x="77153" y="171450"/>
                      <a:pt x="34290" y="142875"/>
                      <a:pt x="0" y="85725"/>
                    </a:cubicBezTo>
                    <a:cubicBezTo>
                      <a:pt x="34290" y="28575"/>
                      <a:pt x="77153" y="0"/>
                      <a:pt x="128588" y="0"/>
                    </a:cubicBezTo>
                    <a:cubicBezTo>
                      <a:pt x="180022" y="0"/>
                      <a:pt x="222885" y="28575"/>
                      <a:pt x="257175" y="85725"/>
                    </a:cubicBezTo>
                  </a:path>
                </a:pathLst>
              </a:custGeom>
              <a:noFill/>
              <a:ln w="28575">
                <a:solidFill>
                  <a:srgbClr val="E74C3C"/>
                </a:solidFill>
              </a:ln>
            </p:spPr>
          </p:sp>
        </p:grpSp>
        <p:sp>
          <p:nvSpPr>
            <p:cNvPr id="55" name="TextBox 55"/>
            <p:cNvSpPr txBox="1"/>
            <p:nvPr/>
          </p:nvSpPr>
          <p:spPr>
            <a:xfrm>
              <a:off x="7610856" y="2914650"/>
              <a:ext cx="241857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сравнение с другими</a:t>
              </a:r>
            </a:p>
          </p:txBody>
        </p:sp>
        <p:grpSp>
          <p:nvGrpSpPr>
            <p:cNvPr id="60" name="Group 60"/>
            <p:cNvGrpSpPr/>
            <p:nvPr/>
          </p:nvGrpSpPr>
          <p:grpSpPr>
            <a:xfrm>
              <a:off x="7167562" y="3529012"/>
              <a:ext cx="257175" cy="257175"/>
              <a:chOff x="7167562" y="3529012"/>
              <a:chExt cx="257175" cy="257175"/>
            </a:xfrm>
          </p:grpSpPr>
          <p:sp>
            <p:nvSpPr>
              <p:cNvPr id="56" name="Freeform 56"/>
              <p:cNvSpPr/>
              <p:nvPr/>
            </p:nvSpPr>
            <p:spPr>
              <a:xfrm>
                <a:off x="7167562" y="3529012"/>
                <a:ext cx="257175" cy="257175"/>
              </a:xfrm>
              <a:custGeom>
                <a:avLst/>
                <a:gdLst/>
                <a:ahLst/>
                <a:cxnLst/>
                <a:rect l="l" t="t" r="r" b="b"/>
                <a:pathLst>
                  <a:path w="257175" h="257175">
                    <a:moveTo>
                      <a:pt x="0" y="128588"/>
                    </a:moveTo>
                    <a:cubicBezTo>
                      <a:pt x="0" y="199604"/>
                      <a:pt x="57571" y="257175"/>
                      <a:pt x="128588" y="257175"/>
                    </a:cubicBezTo>
                    <a:cubicBezTo>
                      <a:pt x="199604" y="257175"/>
                      <a:pt x="257175" y="199604"/>
                      <a:pt x="257175" y="128588"/>
                    </a:cubicBezTo>
                    <a:cubicBezTo>
                      <a:pt x="257175" y="57571"/>
                      <a:pt x="199604" y="0"/>
                      <a:pt x="128588" y="0"/>
                    </a:cubicBezTo>
                    <a:cubicBezTo>
                      <a:pt x="57571" y="0"/>
                      <a:pt x="0" y="57571"/>
                      <a:pt x="0" y="128588"/>
                    </a:cubicBezTo>
                  </a:path>
                </a:pathLst>
              </a:custGeom>
              <a:noFill/>
              <a:ln w="28575">
                <a:solidFill>
                  <a:srgbClr val="E74C3C"/>
                </a:solidFill>
              </a:ln>
            </p:spPr>
          </p:sp>
          <p:sp>
            <p:nvSpPr>
              <p:cNvPr id="57" name="Freeform 57"/>
              <p:cNvSpPr/>
              <p:nvPr/>
            </p:nvSpPr>
            <p:spPr>
              <a:xfrm>
                <a:off x="7253288" y="362902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43" y="0"/>
                    </a:lnTo>
                  </a:path>
                </a:pathLst>
              </a:custGeom>
              <a:noFill/>
              <a:ln w="28575">
                <a:solidFill>
                  <a:srgbClr val="E74C3C"/>
                </a:solidFill>
              </a:ln>
            </p:spPr>
          </p:sp>
          <p:sp>
            <p:nvSpPr>
              <p:cNvPr id="58" name="Freeform 58"/>
              <p:cNvSpPr/>
              <p:nvPr/>
            </p:nvSpPr>
            <p:spPr>
              <a:xfrm>
                <a:off x="7339012" y="3629025"/>
                <a:ext cx="9525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9525">
                    <a:moveTo>
                      <a:pt x="0" y="0"/>
                    </a:moveTo>
                    <a:lnTo>
                      <a:pt x="143" y="0"/>
                    </a:lnTo>
                  </a:path>
                </a:pathLst>
              </a:custGeom>
              <a:noFill/>
              <a:ln w="28575">
                <a:solidFill>
                  <a:srgbClr val="E74C3C"/>
                </a:solidFill>
              </a:ln>
            </p:spPr>
          </p:sp>
          <p:sp>
            <p:nvSpPr>
              <p:cNvPr id="59" name="Freeform 59"/>
              <p:cNvSpPr/>
              <p:nvPr/>
            </p:nvSpPr>
            <p:spPr>
              <a:xfrm>
                <a:off x="7260431" y="3689025"/>
                <a:ext cx="71438" cy="15009"/>
              </a:xfrm>
              <a:custGeom>
                <a:avLst/>
                <a:gdLst/>
                <a:ahLst/>
                <a:cxnLst/>
                <a:rect l="l" t="t" r="r" b="b"/>
                <a:pathLst>
                  <a:path w="71438" h="15009">
                    <a:moveTo>
                      <a:pt x="0" y="15009"/>
                    </a:moveTo>
                    <a:cubicBezTo>
                      <a:pt x="9406" y="5410"/>
                      <a:pt x="22279" y="0"/>
                      <a:pt x="35719" y="0"/>
                    </a:cubicBezTo>
                    <a:cubicBezTo>
                      <a:pt x="49158" y="0"/>
                      <a:pt x="62032" y="5410"/>
                      <a:pt x="71438" y="15009"/>
                    </a:cubicBezTo>
                  </a:path>
                </a:pathLst>
              </a:custGeom>
              <a:noFill/>
              <a:ln w="28575">
                <a:solidFill>
                  <a:srgbClr val="E74C3C"/>
                </a:solidFill>
              </a:ln>
            </p:spPr>
          </p:sp>
        </p:grpSp>
        <p:sp>
          <p:nvSpPr>
            <p:cNvPr id="61" name="TextBox 61"/>
            <p:cNvSpPr txBox="1"/>
            <p:nvPr/>
          </p:nvSpPr>
          <p:spPr>
            <a:xfrm>
              <a:off x="7610856" y="3543300"/>
              <a:ext cx="281036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страх упустить (FOMO)</a:t>
              </a:r>
            </a:p>
          </p:txBody>
        </p:sp>
        <p:sp>
          <p:nvSpPr>
            <p:cNvPr id="62" name="Freeform 62"/>
            <p:cNvSpPr/>
            <p:nvPr/>
          </p:nvSpPr>
          <p:spPr>
            <a:xfrm>
              <a:off x="7162615" y="4168285"/>
              <a:ext cx="266811" cy="232265"/>
            </a:xfrm>
            <a:custGeom>
              <a:avLst/>
              <a:gdLst/>
              <a:ahLst/>
              <a:cxnLst/>
              <a:rect l="l" t="t" r="r" b="b"/>
              <a:pathLst>
                <a:path w="266811" h="232265">
                  <a:moveTo>
                    <a:pt x="240691" y="126138"/>
                  </a:moveTo>
                  <a:lnTo>
                    <a:pt x="133535" y="232265"/>
                  </a:lnTo>
                  <a:lnTo>
                    <a:pt x="26379" y="126138"/>
                  </a:lnTo>
                  <a:cubicBezTo>
                    <a:pt x="7109" y="107387"/>
                    <a:pt x="0" y="79404"/>
                    <a:pt x="7983" y="53729"/>
                  </a:cubicBezTo>
                  <a:cubicBezTo>
                    <a:pt x="15966" y="28055"/>
                    <a:pt x="37689" y="9037"/>
                    <a:pt x="64194" y="4518"/>
                  </a:cubicBezTo>
                  <a:cubicBezTo>
                    <a:pt x="90699" y="0"/>
                    <a:pt x="117496" y="10746"/>
                    <a:pt x="133535" y="32326"/>
                  </a:cubicBezTo>
                  <a:cubicBezTo>
                    <a:pt x="149641" y="10906"/>
                    <a:pt x="176381" y="302"/>
                    <a:pt x="202789" y="4863"/>
                  </a:cubicBezTo>
                  <a:cubicBezTo>
                    <a:pt x="229198" y="9424"/>
                    <a:pt x="250833" y="28381"/>
                    <a:pt x="258822" y="53962"/>
                  </a:cubicBezTo>
                  <a:cubicBezTo>
                    <a:pt x="266811" y="79543"/>
                    <a:pt x="259811" y="107444"/>
                    <a:pt x="240691" y="126224"/>
                  </a:cubicBezTo>
                </a:path>
              </a:pathLst>
            </a:custGeom>
            <a:noFill/>
            <a:ln w="28575">
              <a:solidFill>
                <a:srgbClr val="E74C3C"/>
              </a:solidFill>
            </a:ln>
          </p:spPr>
        </p:sp>
        <p:sp>
          <p:nvSpPr>
            <p:cNvPr id="63" name="TextBox 63"/>
            <p:cNvSpPr txBox="1"/>
            <p:nvPr/>
          </p:nvSpPr>
          <p:spPr>
            <a:xfrm>
              <a:off x="7610856" y="4171950"/>
              <a:ext cx="248453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снижение самооценки</a:t>
              </a:r>
            </a:p>
          </p:txBody>
        </p:sp>
        <p:sp>
          <p:nvSpPr>
            <p:cNvPr id="64" name="Freeform 64"/>
            <p:cNvSpPr/>
            <p:nvPr/>
          </p:nvSpPr>
          <p:spPr>
            <a:xfrm>
              <a:off x="7160263" y="4786198"/>
              <a:ext cx="254659" cy="269509"/>
            </a:xfrm>
            <a:custGeom>
              <a:avLst/>
              <a:gdLst/>
              <a:ahLst/>
              <a:cxnLst/>
              <a:rect l="l" t="t" r="r" b="b"/>
              <a:pathLst>
                <a:path w="254659" h="269509">
                  <a:moveTo>
                    <a:pt x="135887" y="114"/>
                  </a:moveTo>
                  <a:cubicBezTo>
                    <a:pt x="137773" y="114"/>
                    <a:pt x="139645" y="114"/>
                    <a:pt x="141502" y="114"/>
                  </a:cubicBezTo>
                  <a:cubicBezTo>
                    <a:pt x="103628" y="35307"/>
                    <a:pt x="96283" y="92524"/>
                    <a:pt x="124039" y="136142"/>
                  </a:cubicBezTo>
                  <a:cubicBezTo>
                    <a:pt x="151795" y="179760"/>
                    <a:pt x="206738" y="197340"/>
                    <a:pt x="254659" y="177937"/>
                  </a:cubicBezTo>
                  <a:cubicBezTo>
                    <a:pt x="229903" y="237503"/>
                    <a:pt x="164845" y="269509"/>
                    <a:pt x="102549" y="252770"/>
                  </a:cubicBezTo>
                  <a:cubicBezTo>
                    <a:pt x="40253" y="236030"/>
                    <a:pt x="0" y="175726"/>
                    <a:pt x="8435" y="111774"/>
                  </a:cubicBezTo>
                  <a:cubicBezTo>
                    <a:pt x="16869" y="47821"/>
                    <a:pt x="71381" y="16"/>
                    <a:pt x="135887" y="0"/>
                  </a:cubicBezTo>
                  <a:lnTo>
                    <a:pt x="135887" y="114"/>
                  </a:lnTo>
                </a:path>
              </a:pathLst>
            </a:custGeom>
            <a:noFill/>
            <a:ln w="28575">
              <a:solidFill>
                <a:srgbClr val="E74C3C"/>
              </a:solidFill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7610856" y="4800600"/>
              <a:ext cx="248588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плохой сон и тревога</a:t>
              </a:r>
            </a:p>
          </p:txBody>
        </p:sp>
      </p:grpSp>
      <p:grpSp>
        <p:nvGrpSpPr>
          <p:cNvPr id="70" name="p13-note"/>
          <p:cNvGrpSpPr/>
          <p:nvPr/>
        </p:nvGrpSpPr>
        <p:grpSpPr>
          <a:xfrm>
            <a:off x="762000" y="5810250"/>
            <a:ext cx="10668000" cy="666750"/>
            <a:chOff x="762000" y="5810250"/>
            <a:chExt cx="10668000" cy="666750"/>
          </a:xfrm>
        </p:grpSpPr>
        <p:sp>
          <p:nvSpPr>
            <p:cNvPr id="67" name="Rectangle 67"/>
            <p:cNvSpPr/>
            <p:nvPr/>
          </p:nvSpPr>
          <p:spPr>
            <a:xfrm>
              <a:off x="762000" y="5810250"/>
              <a:ext cx="10668000" cy="666750"/>
            </a:xfrm>
            <a:prstGeom prst="roundRect">
              <a:avLst>
                <a:gd name="adj" fmla="val 20000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68" name="Freeform 68"/>
            <p:cNvSpPr/>
            <p:nvPr/>
          </p:nvSpPr>
          <p:spPr>
            <a:xfrm>
              <a:off x="1038225" y="6016625"/>
              <a:ext cx="269876" cy="254001"/>
            </a:xfrm>
            <a:custGeom>
              <a:avLst/>
              <a:gdLst/>
              <a:ahLst/>
              <a:cxnLst/>
              <a:rect l="l" t="t" r="r" b="b"/>
              <a:pathLst>
                <a:path w="269876" h="254001">
                  <a:moveTo>
                    <a:pt x="206375" y="222250"/>
                  </a:moveTo>
                  <a:cubicBezTo>
                    <a:pt x="223910" y="222250"/>
                    <a:pt x="238125" y="236465"/>
                    <a:pt x="238125" y="254001"/>
                  </a:cubicBezTo>
                  <a:cubicBezTo>
                    <a:pt x="238125" y="236465"/>
                    <a:pt x="252340" y="222250"/>
                    <a:pt x="269876" y="222250"/>
                  </a:cubicBezTo>
                  <a:cubicBezTo>
                    <a:pt x="252340" y="222250"/>
                    <a:pt x="238125" y="208035"/>
                    <a:pt x="238125" y="190500"/>
                  </a:cubicBezTo>
                  <a:cubicBezTo>
                    <a:pt x="238125" y="208035"/>
                    <a:pt x="223910" y="222250"/>
                    <a:pt x="206375" y="222250"/>
                  </a:cubicBezTo>
                  <a:moveTo>
                    <a:pt x="206375" y="31750"/>
                  </a:moveTo>
                  <a:cubicBezTo>
                    <a:pt x="223910" y="31750"/>
                    <a:pt x="238125" y="45965"/>
                    <a:pt x="238125" y="63500"/>
                  </a:cubicBezTo>
                  <a:cubicBezTo>
                    <a:pt x="238125" y="45965"/>
                    <a:pt x="252340" y="31750"/>
                    <a:pt x="269876" y="31750"/>
                  </a:cubicBezTo>
                  <a:cubicBezTo>
                    <a:pt x="252340" y="31750"/>
                    <a:pt x="238125" y="17535"/>
                    <a:pt x="238125" y="0"/>
                  </a:cubicBezTo>
                  <a:cubicBezTo>
                    <a:pt x="238125" y="17535"/>
                    <a:pt x="223910" y="31750"/>
                    <a:pt x="206375" y="31750"/>
                  </a:cubicBezTo>
                  <a:moveTo>
                    <a:pt x="95250" y="222250"/>
                  </a:moveTo>
                  <a:cubicBezTo>
                    <a:pt x="95250" y="169645"/>
                    <a:pt x="137895" y="127000"/>
                    <a:pt x="190500" y="127000"/>
                  </a:cubicBezTo>
                  <a:cubicBezTo>
                    <a:pt x="137895" y="127000"/>
                    <a:pt x="95250" y="84355"/>
                    <a:pt x="95250" y="31750"/>
                  </a:cubicBezTo>
                  <a:cubicBezTo>
                    <a:pt x="95250" y="84355"/>
                    <a:pt x="52605" y="127000"/>
                    <a:pt x="0" y="127000"/>
                  </a:cubicBezTo>
                  <a:cubicBezTo>
                    <a:pt x="52605" y="127000"/>
                    <a:pt x="95250" y="169645"/>
                    <a:pt x="95250" y="222250"/>
                  </a:cubicBezTo>
                </a:path>
              </a:pathLst>
            </a:custGeom>
            <a:noFill/>
            <a:ln w="31750">
              <a:solidFill>
                <a:srgbClr val="27AE60"/>
              </a:solidFill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1514856" y="6000750"/>
              <a:ext cx="902697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Осознанное потребление контента и цифровой детокс повышают благополучие</a:t>
              </a:r>
            </a:p>
          </p:txBody>
        </p:sp>
      </p:grpSp>
      <p:pic>
        <p:nvPicPr>
          <p:cNvPr id="71" name="PPT Master narration: narration14.mp3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4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6" fill="hold" display="0">
                  <p:stCondLst>
                    <p:cond delay="300"/>
                  </p:stCondLst>
                </p:cTn>
                <p:tgtEl>
                  <p:spTgt spid="71"/>
                </p:tgtEl>
              </p:cMediaNode>
            </p:audio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4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4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88000"/>
                </a:srgbClr>
              </a:gs>
              <a:gs pos="100000">
                <a:srgbClr val="F5E6D3">
                  <a:alpha val="88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p14-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27AE60"/>
          </a:solidFill>
          <a:ln>
            <a:noFill/>
          </a:ln>
        </p:spPr>
      </p:sp>
      <p:sp>
        <p:nvSpPr>
          <p:cNvPr id="5" name="p14-foot"/>
          <p:cNvSpPr txBox="1"/>
          <p:nvPr/>
        </p:nvSpPr>
        <p:spPr>
          <a:xfrm>
            <a:off x="752856" y="6343650"/>
            <a:ext cx="3078699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ru" sz="180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Концепция счастья · ИС-24</a:t>
            </a:r>
          </a:p>
        </p:txBody>
      </p:sp>
      <p:sp>
        <p:nvSpPr>
          <p:cNvPr id="6" name="p14-num"/>
          <p:cNvSpPr txBox="1"/>
          <p:nvPr/>
        </p:nvSpPr>
        <p:spPr>
          <a:xfrm>
            <a:off x="11151304" y="6343650"/>
            <a:ext cx="287840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80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15</a:t>
            </a:r>
          </a:p>
        </p:txBody>
      </p:sp>
      <p:grpSp>
        <p:nvGrpSpPr>
          <p:cNvPr id="8" name="p14-title"/>
          <p:cNvGrpSpPr/>
          <p:nvPr/>
        </p:nvGrpSpPr>
        <p:grpSpPr>
          <a:xfrm>
            <a:off x="743712" y="565150"/>
            <a:ext cx="5775138" cy="704088"/>
            <a:chOff x="743712" y="565150"/>
            <a:chExt cx="5775138" cy="704088"/>
          </a:xfrm>
        </p:grpSpPr>
        <p:sp>
          <p:nvSpPr>
            <p:cNvPr id="7" name="TextBox 7"/>
            <p:cNvSpPr txBox="1"/>
            <p:nvPr/>
          </p:nvSpPr>
          <p:spPr>
            <a:xfrm>
              <a:off x="743712" y="565150"/>
              <a:ext cx="5775138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Восемь шагов к счастью</a:t>
              </a:r>
            </a:p>
          </p:txBody>
        </p:sp>
      </p:grpSp>
      <p:grpSp>
        <p:nvGrpSpPr>
          <p:cNvPr id="80" name="p14-checklist"/>
          <p:cNvGrpSpPr/>
          <p:nvPr/>
        </p:nvGrpSpPr>
        <p:grpSpPr>
          <a:xfrm>
            <a:off x="762000" y="1714500"/>
            <a:ext cx="10858500" cy="4429125"/>
            <a:chOff x="762000" y="1714500"/>
            <a:chExt cx="10858500" cy="4429125"/>
          </a:xfrm>
        </p:grpSpPr>
        <p:grpSp>
          <p:nvGrpSpPr>
            <p:cNvPr id="13" name="p14-s1"/>
            <p:cNvGrpSpPr/>
            <p:nvPr/>
          </p:nvGrpSpPr>
          <p:grpSpPr>
            <a:xfrm>
              <a:off x="762000" y="1714500"/>
              <a:ext cx="3429000" cy="1381125"/>
              <a:chOff x="762000" y="1714500"/>
              <a:chExt cx="3429000" cy="1381125"/>
            </a:xfrm>
          </p:grpSpPr>
          <p:sp>
            <p:nvSpPr>
              <p:cNvPr id="9" name="Rectangle 9"/>
              <p:cNvSpPr/>
              <p:nvPr/>
            </p:nvSpPr>
            <p:spPr>
              <a:xfrm>
                <a:off x="762000" y="1714500"/>
                <a:ext cx="3429000" cy="1381125"/>
              </a:xfrm>
              <a:prstGeom prst="roundRect">
                <a:avLst>
                  <a:gd name="adj" fmla="val 11034"/>
                </a:avLst>
              </a:prstGeom>
              <a:solidFill>
                <a:srgbClr val="FFFFFF">
                  <a:alpha val="85000"/>
                </a:srgbClr>
              </a:solidFill>
              <a:ln>
                <a:noFill/>
              </a:ln>
            </p:spPr>
          </p:sp>
          <p:sp>
            <p:nvSpPr>
              <p:cNvPr id="10" name="Freeform 10"/>
              <p:cNvSpPr/>
              <p:nvPr/>
            </p:nvSpPr>
            <p:spPr>
              <a:xfrm>
                <a:off x="952315" y="2006110"/>
                <a:ext cx="266811" cy="232265"/>
              </a:xfrm>
              <a:custGeom>
                <a:avLst/>
                <a:gdLst/>
                <a:ahLst/>
                <a:cxnLst/>
                <a:rect l="l" t="t" r="r" b="b"/>
                <a:pathLst>
                  <a:path w="266811" h="232265">
                    <a:moveTo>
                      <a:pt x="240691" y="126138"/>
                    </a:moveTo>
                    <a:lnTo>
                      <a:pt x="133535" y="232265"/>
                    </a:lnTo>
                    <a:lnTo>
                      <a:pt x="26379" y="126138"/>
                    </a:lnTo>
                    <a:cubicBezTo>
                      <a:pt x="7109" y="107387"/>
                      <a:pt x="0" y="79404"/>
                      <a:pt x="7983" y="53729"/>
                    </a:cubicBezTo>
                    <a:cubicBezTo>
                      <a:pt x="15966" y="28055"/>
                      <a:pt x="37689" y="9037"/>
                      <a:pt x="64194" y="4518"/>
                    </a:cubicBezTo>
                    <a:cubicBezTo>
                      <a:pt x="90699" y="0"/>
                      <a:pt x="117496" y="10746"/>
                      <a:pt x="133535" y="32326"/>
                    </a:cubicBezTo>
                    <a:cubicBezTo>
                      <a:pt x="149641" y="10906"/>
                      <a:pt x="176381" y="302"/>
                      <a:pt x="202789" y="4863"/>
                    </a:cubicBezTo>
                    <a:cubicBezTo>
                      <a:pt x="229198" y="9424"/>
                      <a:pt x="250833" y="28381"/>
                      <a:pt x="258822" y="53962"/>
                    </a:cubicBezTo>
                    <a:cubicBezTo>
                      <a:pt x="266811" y="79543"/>
                      <a:pt x="259811" y="107444"/>
                      <a:pt x="240691" y="126224"/>
                    </a:cubicBezTo>
                  </a:path>
                </a:pathLst>
              </a:custGeom>
              <a:noFill/>
              <a:ln w="28575">
                <a:solidFill>
                  <a:srgbClr val="27AE60"/>
                </a:solidFill>
              </a:ln>
            </p:spPr>
          </p:sp>
          <p:sp>
            <p:nvSpPr>
              <p:cNvPr id="11" name="TextBox 11"/>
              <p:cNvSpPr txBox="1"/>
              <p:nvPr/>
            </p:nvSpPr>
            <p:spPr>
              <a:xfrm>
                <a:off x="1381506" y="2085975"/>
                <a:ext cx="1705459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Инвестируйте</a:t>
                </a:r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1381506" y="2524125"/>
                <a:ext cx="1418341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в отношения</a:t>
                </a:r>
              </a:p>
            </p:txBody>
          </p:sp>
        </p:grpSp>
        <p:grpSp>
          <p:nvGrpSpPr>
            <p:cNvPr id="21" name="p14-s2"/>
            <p:cNvGrpSpPr/>
            <p:nvPr/>
          </p:nvGrpSpPr>
          <p:grpSpPr>
            <a:xfrm>
              <a:off x="4476750" y="1714500"/>
              <a:ext cx="3429000" cy="1381125"/>
              <a:chOff x="4476750" y="1714500"/>
              <a:chExt cx="3429000" cy="1381125"/>
            </a:xfrm>
          </p:grpSpPr>
          <p:sp>
            <p:nvSpPr>
              <p:cNvPr id="14" name="Rectangle 14"/>
              <p:cNvSpPr/>
              <p:nvPr/>
            </p:nvSpPr>
            <p:spPr>
              <a:xfrm>
                <a:off x="4476750" y="1714500"/>
                <a:ext cx="3429000" cy="1381125"/>
              </a:xfrm>
              <a:prstGeom prst="roundRect">
                <a:avLst>
                  <a:gd name="adj" fmla="val 11034"/>
                </a:avLst>
              </a:prstGeom>
              <a:solidFill>
                <a:srgbClr val="FFFFFF">
                  <a:alpha val="85000"/>
                </a:srgbClr>
              </a:solidFill>
              <a:ln>
                <a:noFill/>
              </a:ln>
            </p:spPr>
          </p:sp>
          <p:grpSp>
            <p:nvGrpSpPr>
              <p:cNvPr id="18" name="Group 18"/>
              <p:cNvGrpSpPr/>
              <p:nvPr/>
            </p:nvGrpSpPr>
            <p:grpSpPr>
              <a:xfrm>
                <a:off x="4700588" y="2009775"/>
                <a:ext cx="200025" cy="257175"/>
                <a:chOff x="4700588" y="2009775"/>
                <a:chExt cx="200025" cy="257175"/>
              </a:xfrm>
            </p:grpSpPr>
            <p:sp>
              <p:nvSpPr>
                <p:cNvPr id="15" name="Freeform 15"/>
                <p:cNvSpPr/>
                <p:nvPr/>
              </p:nvSpPr>
              <p:spPr>
                <a:xfrm>
                  <a:off x="4700588" y="2009775"/>
                  <a:ext cx="200025" cy="2571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0025" h="257175">
                      <a:moveTo>
                        <a:pt x="14288" y="0"/>
                      </a:moveTo>
                      <a:lnTo>
                        <a:pt x="171450" y="0"/>
                      </a:lnTo>
                      <a:cubicBezTo>
                        <a:pt x="187232" y="0"/>
                        <a:pt x="200025" y="12793"/>
                        <a:pt x="200025" y="28575"/>
                      </a:cubicBezTo>
                      <a:lnTo>
                        <a:pt x="200025" y="200025"/>
                      </a:lnTo>
                      <a:cubicBezTo>
                        <a:pt x="200025" y="215807"/>
                        <a:pt x="187232" y="228600"/>
                        <a:pt x="171450" y="228600"/>
                      </a:cubicBezTo>
                      <a:lnTo>
                        <a:pt x="14288" y="228600"/>
                      </a:lnTo>
                      <a:cubicBezTo>
                        <a:pt x="6397" y="228600"/>
                        <a:pt x="0" y="222203"/>
                        <a:pt x="0" y="214312"/>
                      </a:cubicBezTo>
                      <a:lnTo>
                        <a:pt x="0" y="14288"/>
                      </a:lnTo>
                      <a:cubicBezTo>
                        <a:pt x="0" y="6397"/>
                        <a:pt x="6397" y="0"/>
                        <a:pt x="14288" y="0"/>
                      </a:cubicBezTo>
                      <a:moveTo>
                        <a:pt x="57150" y="0"/>
                      </a:moveTo>
                      <a:lnTo>
                        <a:pt x="57150" y="257175"/>
                      </a:lnTo>
                    </a:path>
                  </a:pathLst>
                </a:custGeom>
                <a:noFill/>
                <a:ln w="28575">
                  <a:solidFill>
                    <a:srgbClr val="27AE60"/>
                  </a:solidFill>
                </a:ln>
              </p:spPr>
            </p:sp>
            <p:sp>
              <p:nvSpPr>
                <p:cNvPr id="16" name="Freeform 16"/>
                <p:cNvSpPr/>
                <p:nvPr/>
              </p:nvSpPr>
              <p:spPr>
                <a:xfrm>
                  <a:off x="4814888" y="2066925"/>
                  <a:ext cx="2857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575" h="9525">
                      <a:moveTo>
                        <a:pt x="0" y="0"/>
                      </a:moveTo>
                      <a:lnTo>
                        <a:pt x="28575" y="0"/>
                      </a:lnTo>
                    </a:path>
                  </a:pathLst>
                </a:custGeom>
                <a:noFill/>
                <a:ln w="28575">
                  <a:solidFill>
                    <a:srgbClr val="27AE60"/>
                  </a:solidFill>
                </a:ln>
              </p:spPr>
            </p:sp>
            <p:sp>
              <p:nvSpPr>
                <p:cNvPr id="17" name="Freeform 17"/>
                <p:cNvSpPr/>
                <p:nvPr/>
              </p:nvSpPr>
              <p:spPr>
                <a:xfrm>
                  <a:off x="4814888" y="2124075"/>
                  <a:ext cx="2857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575" h="9525">
                      <a:moveTo>
                        <a:pt x="0" y="0"/>
                      </a:moveTo>
                      <a:lnTo>
                        <a:pt x="28575" y="0"/>
                      </a:lnTo>
                    </a:path>
                  </a:pathLst>
                </a:custGeom>
                <a:noFill/>
                <a:ln w="28575">
                  <a:solidFill>
                    <a:srgbClr val="27AE60"/>
                  </a:solidFill>
                </a:ln>
              </p:spPr>
            </p:sp>
          </p:grpSp>
          <p:sp>
            <p:nvSpPr>
              <p:cNvPr id="19" name="TextBox 19"/>
              <p:cNvSpPr txBox="1"/>
              <p:nvPr/>
            </p:nvSpPr>
            <p:spPr>
              <a:xfrm>
                <a:off x="5096256" y="2085975"/>
                <a:ext cx="1565521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Практикуйте</a:t>
                </a:r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5096256" y="2524125"/>
                <a:ext cx="1750847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благодарность</a:t>
                </a:r>
              </a:p>
            </p:txBody>
          </p:sp>
        </p:grpSp>
        <p:grpSp>
          <p:nvGrpSpPr>
            <p:cNvPr id="30" name="p14-s3"/>
            <p:cNvGrpSpPr/>
            <p:nvPr/>
          </p:nvGrpSpPr>
          <p:grpSpPr>
            <a:xfrm>
              <a:off x="8191500" y="1714500"/>
              <a:ext cx="3429000" cy="1381125"/>
              <a:chOff x="8191500" y="1714500"/>
              <a:chExt cx="3429000" cy="1381125"/>
            </a:xfrm>
          </p:grpSpPr>
          <p:sp>
            <p:nvSpPr>
              <p:cNvPr id="22" name="Rectangle 22"/>
              <p:cNvSpPr/>
              <p:nvPr/>
            </p:nvSpPr>
            <p:spPr>
              <a:xfrm>
                <a:off x="8191500" y="1714500"/>
                <a:ext cx="3429000" cy="1381125"/>
              </a:xfrm>
              <a:prstGeom prst="roundRect">
                <a:avLst>
                  <a:gd name="adj" fmla="val 11034"/>
                </a:avLst>
              </a:prstGeom>
              <a:solidFill>
                <a:srgbClr val="FFFFFF">
                  <a:alpha val="85000"/>
                </a:srgbClr>
              </a:solidFill>
              <a:ln>
                <a:noFill/>
              </a:ln>
            </p:spPr>
          </p:sp>
          <p:grpSp>
            <p:nvGrpSpPr>
              <p:cNvPr id="27" name="Group 27"/>
              <p:cNvGrpSpPr/>
              <p:nvPr/>
            </p:nvGrpSpPr>
            <p:grpSpPr>
              <a:xfrm>
                <a:off x="8401050" y="1995488"/>
                <a:ext cx="200024" cy="257175"/>
                <a:chOff x="8401050" y="1995488"/>
                <a:chExt cx="200024" cy="257175"/>
              </a:xfrm>
            </p:grpSpPr>
            <p:sp>
              <p:nvSpPr>
                <p:cNvPr id="23" name="Freeform 23"/>
                <p:cNvSpPr/>
                <p:nvPr/>
              </p:nvSpPr>
              <p:spPr>
                <a:xfrm>
                  <a:off x="8501163" y="1995488"/>
                  <a:ext cx="57150" cy="57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57150">
                      <a:moveTo>
                        <a:pt x="0" y="28575"/>
                      </a:moveTo>
                      <a:cubicBezTo>
                        <a:pt x="0" y="44357"/>
                        <a:pt x="12793" y="57150"/>
                        <a:pt x="28575" y="57150"/>
                      </a:cubicBezTo>
                      <a:cubicBezTo>
                        <a:pt x="44357" y="57150"/>
                        <a:pt x="57150" y="44357"/>
                        <a:pt x="57150" y="28575"/>
                      </a:cubicBezTo>
                      <a:cubicBezTo>
                        <a:pt x="57150" y="12793"/>
                        <a:pt x="44357" y="0"/>
                        <a:pt x="28575" y="0"/>
                      </a:cubicBezTo>
                      <a:cubicBezTo>
                        <a:pt x="12793" y="0"/>
                        <a:pt x="0" y="12793"/>
                        <a:pt x="0" y="28575"/>
                      </a:cubicBezTo>
                    </a:path>
                  </a:pathLst>
                </a:custGeom>
                <a:noFill/>
                <a:ln w="28575">
                  <a:solidFill>
                    <a:srgbClr val="27AE60"/>
                  </a:solidFill>
                </a:ln>
              </p:spPr>
            </p:sp>
            <p:sp>
              <p:nvSpPr>
                <p:cNvPr id="24" name="Freeform 24"/>
                <p:cNvSpPr/>
                <p:nvPr/>
              </p:nvSpPr>
              <p:spPr>
                <a:xfrm>
                  <a:off x="8401050" y="2188369"/>
                  <a:ext cx="82153" cy="214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2153" h="21431">
                      <a:moveTo>
                        <a:pt x="0" y="7144"/>
                      </a:moveTo>
                      <a:lnTo>
                        <a:pt x="71438" y="21431"/>
                      </a:lnTo>
                      <a:lnTo>
                        <a:pt x="82153" y="0"/>
                      </a:lnTo>
                    </a:path>
                  </a:pathLst>
                </a:custGeom>
                <a:noFill/>
                <a:ln w="28575">
                  <a:solidFill>
                    <a:srgbClr val="27AE60"/>
                  </a:solidFill>
                </a:ln>
              </p:spPr>
            </p:sp>
            <p:sp>
              <p:nvSpPr>
                <p:cNvPr id="25" name="Freeform 25"/>
                <p:cNvSpPr/>
                <p:nvPr/>
              </p:nvSpPr>
              <p:spPr>
                <a:xfrm>
                  <a:off x="8501062" y="2066925"/>
                  <a:ext cx="57150" cy="1857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185738">
                      <a:moveTo>
                        <a:pt x="57150" y="185738"/>
                      </a:moveTo>
                      <a:lnTo>
                        <a:pt x="57150" y="128588"/>
                      </a:lnTo>
                      <a:lnTo>
                        <a:pt x="0" y="85725"/>
                      </a:lnTo>
                      <a:lnTo>
                        <a:pt x="14288" y="0"/>
                      </a:lnTo>
                    </a:path>
                  </a:pathLst>
                </a:custGeom>
                <a:noFill/>
                <a:ln w="28575">
                  <a:solidFill>
                    <a:srgbClr val="27AE60"/>
                  </a:solidFill>
                </a:ln>
              </p:spPr>
            </p:sp>
            <p:sp>
              <p:nvSpPr>
                <p:cNvPr id="26" name="Freeform 26"/>
                <p:cNvSpPr/>
                <p:nvPr/>
              </p:nvSpPr>
              <p:spPr>
                <a:xfrm>
                  <a:off x="8443912" y="2066925"/>
                  <a:ext cx="157162" cy="57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7162" h="57150">
                      <a:moveTo>
                        <a:pt x="0" y="57150"/>
                      </a:moveTo>
                      <a:lnTo>
                        <a:pt x="0" y="14288"/>
                      </a:lnTo>
                      <a:lnTo>
                        <a:pt x="71438" y="0"/>
                      </a:lnTo>
                      <a:lnTo>
                        <a:pt x="114300" y="42862"/>
                      </a:lnTo>
                      <a:lnTo>
                        <a:pt x="157162" y="57150"/>
                      </a:lnTo>
                    </a:path>
                  </a:pathLst>
                </a:custGeom>
                <a:noFill/>
                <a:ln w="28575">
                  <a:solidFill>
                    <a:srgbClr val="27AE60"/>
                  </a:solidFill>
                </a:ln>
              </p:spPr>
            </p:sp>
          </p:grpSp>
          <p:sp>
            <p:nvSpPr>
              <p:cNvPr id="28" name="TextBox 28"/>
              <p:cNvSpPr txBox="1"/>
              <p:nvPr/>
            </p:nvSpPr>
            <p:spPr>
              <a:xfrm>
                <a:off x="8811006" y="2085975"/>
                <a:ext cx="1565521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Занимайтесь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811006" y="2524125"/>
                <a:ext cx="951205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спортом</a:t>
                </a:r>
              </a:p>
            </p:txBody>
          </p:sp>
        </p:grpSp>
        <p:grpSp>
          <p:nvGrpSpPr>
            <p:cNvPr id="37" name="p14-s4"/>
            <p:cNvGrpSpPr/>
            <p:nvPr/>
          </p:nvGrpSpPr>
          <p:grpSpPr>
            <a:xfrm>
              <a:off x="762000" y="3238500"/>
              <a:ext cx="3429000" cy="1381125"/>
              <a:chOff x="762000" y="3238500"/>
              <a:chExt cx="3429000" cy="1381125"/>
            </a:xfrm>
          </p:grpSpPr>
          <p:sp>
            <p:nvSpPr>
              <p:cNvPr id="31" name="Rectangle 31"/>
              <p:cNvSpPr/>
              <p:nvPr/>
            </p:nvSpPr>
            <p:spPr>
              <a:xfrm>
                <a:off x="762000" y="3238500"/>
                <a:ext cx="3429000" cy="1381125"/>
              </a:xfrm>
              <a:prstGeom prst="roundRect">
                <a:avLst>
                  <a:gd name="adj" fmla="val 11034"/>
                </a:avLst>
              </a:prstGeom>
              <a:solidFill>
                <a:srgbClr val="FFFFFF">
                  <a:alpha val="85000"/>
                </a:srgbClr>
              </a:solidFill>
              <a:ln>
                <a:noFill/>
              </a:ln>
            </p:spPr>
          </p:sp>
          <p:grpSp>
            <p:nvGrpSpPr>
              <p:cNvPr id="34" name="Group 34"/>
              <p:cNvGrpSpPr/>
              <p:nvPr/>
            </p:nvGrpSpPr>
            <p:grpSpPr>
              <a:xfrm>
                <a:off x="951205" y="3505200"/>
                <a:ext cx="269280" cy="285750"/>
                <a:chOff x="951205" y="3505200"/>
                <a:chExt cx="269280" cy="285750"/>
              </a:xfrm>
            </p:grpSpPr>
            <p:sp>
              <p:nvSpPr>
                <p:cNvPr id="32" name="Freeform 32"/>
                <p:cNvSpPr/>
                <p:nvPr/>
              </p:nvSpPr>
              <p:spPr>
                <a:xfrm>
                  <a:off x="1042988" y="3605212"/>
                  <a:ext cx="85725" cy="857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5725" h="85725">
                      <a:moveTo>
                        <a:pt x="0" y="42862"/>
                      </a:moveTo>
                      <a:cubicBezTo>
                        <a:pt x="0" y="66535"/>
                        <a:pt x="19190" y="85725"/>
                        <a:pt x="42862" y="85725"/>
                      </a:cubicBezTo>
                      <a:cubicBezTo>
                        <a:pt x="66535" y="85725"/>
                        <a:pt x="85725" y="66535"/>
                        <a:pt x="85725" y="42862"/>
                      </a:cubicBezTo>
                      <a:cubicBezTo>
                        <a:pt x="85725" y="19190"/>
                        <a:pt x="66535" y="0"/>
                        <a:pt x="42862" y="0"/>
                      </a:cubicBezTo>
                      <a:cubicBezTo>
                        <a:pt x="19190" y="0"/>
                        <a:pt x="0" y="19190"/>
                        <a:pt x="0" y="42862"/>
                      </a:cubicBezTo>
                    </a:path>
                  </a:pathLst>
                </a:custGeom>
                <a:noFill/>
                <a:ln w="28575">
                  <a:solidFill>
                    <a:srgbClr val="E67E22"/>
                  </a:solidFill>
                </a:ln>
              </p:spPr>
            </p:sp>
            <p:sp>
              <p:nvSpPr>
                <p:cNvPr id="33" name="Freeform 33"/>
                <p:cNvSpPr/>
                <p:nvPr/>
              </p:nvSpPr>
              <p:spPr>
                <a:xfrm>
                  <a:off x="951205" y="3505200"/>
                  <a:ext cx="269280" cy="2857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69280" h="285750">
                      <a:moveTo>
                        <a:pt x="134645" y="0"/>
                      </a:moveTo>
                      <a:cubicBezTo>
                        <a:pt x="158317" y="0"/>
                        <a:pt x="177507" y="19190"/>
                        <a:pt x="177507" y="42862"/>
                      </a:cubicBezTo>
                      <a:cubicBezTo>
                        <a:pt x="177507" y="50892"/>
                        <a:pt x="173807" y="63465"/>
                        <a:pt x="166420" y="80581"/>
                      </a:cubicBezTo>
                      <a:lnTo>
                        <a:pt x="156076" y="100012"/>
                      </a:lnTo>
                      <a:lnTo>
                        <a:pt x="181222" y="72966"/>
                      </a:lnTo>
                      <a:cubicBezTo>
                        <a:pt x="188351" y="64394"/>
                        <a:pt x="194395" y="58679"/>
                        <a:pt x="199367" y="55750"/>
                      </a:cubicBezTo>
                      <a:cubicBezTo>
                        <a:pt x="209149" y="50070"/>
                        <a:pt x="220794" y="48534"/>
                        <a:pt x="231714" y="51483"/>
                      </a:cubicBezTo>
                      <a:cubicBezTo>
                        <a:pt x="242634" y="54431"/>
                        <a:pt x="251924" y="61621"/>
                        <a:pt x="257517" y="71452"/>
                      </a:cubicBezTo>
                      <a:cubicBezTo>
                        <a:pt x="269280" y="91934"/>
                        <a:pt x="262328" y="118070"/>
                        <a:pt x="241944" y="130002"/>
                      </a:cubicBezTo>
                      <a:cubicBezTo>
                        <a:pt x="236600" y="133102"/>
                        <a:pt x="227799" y="135660"/>
                        <a:pt x="215569" y="137646"/>
                      </a:cubicBezTo>
                      <a:lnTo>
                        <a:pt x="177507" y="142875"/>
                      </a:lnTo>
                      <a:lnTo>
                        <a:pt x="211797" y="147533"/>
                      </a:lnTo>
                      <a:cubicBezTo>
                        <a:pt x="226085" y="149604"/>
                        <a:pt x="236057" y="152348"/>
                        <a:pt x="241944" y="155762"/>
                      </a:cubicBezTo>
                      <a:cubicBezTo>
                        <a:pt x="262328" y="167694"/>
                        <a:pt x="269280" y="193830"/>
                        <a:pt x="257517" y="214312"/>
                      </a:cubicBezTo>
                      <a:cubicBezTo>
                        <a:pt x="251921" y="224141"/>
                        <a:pt x="242631" y="231327"/>
                        <a:pt x="231711" y="234273"/>
                      </a:cubicBezTo>
                      <a:cubicBezTo>
                        <a:pt x="220791" y="237219"/>
                        <a:pt x="209147" y="235681"/>
                        <a:pt x="199367" y="230000"/>
                      </a:cubicBezTo>
                      <a:cubicBezTo>
                        <a:pt x="194395" y="227114"/>
                        <a:pt x="188351" y="221371"/>
                        <a:pt x="181222" y="212784"/>
                      </a:cubicBezTo>
                      <a:lnTo>
                        <a:pt x="156076" y="185738"/>
                      </a:lnTo>
                      <a:lnTo>
                        <a:pt x="166420" y="205169"/>
                      </a:lnTo>
                      <a:cubicBezTo>
                        <a:pt x="173792" y="222299"/>
                        <a:pt x="177507" y="234872"/>
                        <a:pt x="177507" y="242888"/>
                      </a:cubicBezTo>
                      <a:cubicBezTo>
                        <a:pt x="177507" y="266560"/>
                        <a:pt x="158317" y="285750"/>
                        <a:pt x="134645" y="285750"/>
                      </a:cubicBezTo>
                      <a:cubicBezTo>
                        <a:pt x="110972" y="285750"/>
                        <a:pt x="91782" y="266560"/>
                        <a:pt x="91782" y="242888"/>
                      </a:cubicBezTo>
                      <a:cubicBezTo>
                        <a:pt x="91782" y="234858"/>
                        <a:pt x="95483" y="222285"/>
                        <a:pt x="102869" y="205169"/>
                      </a:cubicBezTo>
                      <a:lnTo>
                        <a:pt x="113213" y="185738"/>
                      </a:lnTo>
                      <a:lnTo>
                        <a:pt x="88067" y="212784"/>
                      </a:lnTo>
                      <a:cubicBezTo>
                        <a:pt x="80938" y="221371"/>
                        <a:pt x="74894" y="227071"/>
                        <a:pt x="69922" y="230000"/>
                      </a:cubicBezTo>
                      <a:cubicBezTo>
                        <a:pt x="60142" y="235681"/>
                        <a:pt x="48498" y="237219"/>
                        <a:pt x="37578" y="234273"/>
                      </a:cubicBezTo>
                      <a:cubicBezTo>
                        <a:pt x="26658" y="231327"/>
                        <a:pt x="17368" y="224141"/>
                        <a:pt x="11772" y="214312"/>
                      </a:cubicBezTo>
                      <a:cubicBezTo>
                        <a:pt x="10" y="193830"/>
                        <a:pt x="6961" y="167694"/>
                        <a:pt x="27345" y="155762"/>
                      </a:cubicBezTo>
                      <a:cubicBezTo>
                        <a:pt x="32689" y="152648"/>
                        <a:pt x="41490" y="150104"/>
                        <a:pt x="53720" y="148104"/>
                      </a:cubicBezTo>
                      <a:lnTo>
                        <a:pt x="91782" y="142875"/>
                      </a:lnTo>
                      <a:lnTo>
                        <a:pt x="57492" y="138232"/>
                      </a:lnTo>
                      <a:cubicBezTo>
                        <a:pt x="43205" y="136160"/>
                        <a:pt x="33232" y="133417"/>
                        <a:pt x="27345" y="130002"/>
                      </a:cubicBezTo>
                      <a:cubicBezTo>
                        <a:pt x="6953" y="118069"/>
                        <a:pt x="0" y="91923"/>
                        <a:pt x="11772" y="71438"/>
                      </a:cubicBezTo>
                      <a:cubicBezTo>
                        <a:pt x="17366" y="61606"/>
                        <a:pt x="26655" y="54417"/>
                        <a:pt x="37575" y="51468"/>
                      </a:cubicBezTo>
                      <a:cubicBezTo>
                        <a:pt x="48495" y="48520"/>
                        <a:pt x="60140" y="50056"/>
                        <a:pt x="69922" y="55736"/>
                      </a:cubicBezTo>
                      <a:cubicBezTo>
                        <a:pt x="74894" y="58636"/>
                        <a:pt x="80938" y="64365"/>
                        <a:pt x="88067" y="72952"/>
                      </a:cubicBezTo>
                      <a:lnTo>
                        <a:pt x="113213" y="100012"/>
                      </a:lnTo>
                      <a:cubicBezTo>
                        <a:pt x="98926" y="67266"/>
                        <a:pt x="91782" y="48220"/>
                        <a:pt x="91782" y="42862"/>
                      </a:cubicBezTo>
                      <a:cubicBezTo>
                        <a:pt x="91782" y="19190"/>
                        <a:pt x="110972" y="0"/>
                        <a:pt x="134645" y="0"/>
                      </a:cubicBezTo>
                    </a:path>
                  </a:pathLst>
                </a:custGeom>
                <a:noFill/>
                <a:ln w="28575">
                  <a:solidFill>
                    <a:srgbClr val="E67E22"/>
                  </a:solidFill>
                </a:ln>
              </p:spPr>
            </p:sp>
          </p:grpSp>
          <p:sp>
            <p:nvSpPr>
              <p:cNvPr id="35" name="TextBox 35"/>
              <p:cNvSpPr txBox="1"/>
              <p:nvPr/>
            </p:nvSpPr>
            <p:spPr>
              <a:xfrm>
                <a:off x="1381506" y="3609975"/>
                <a:ext cx="1565521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Медитируйте</a:t>
                </a:r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1381506" y="4048125"/>
                <a:ext cx="1617574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осознанность</a:t>
                </a:r>
              </a:p>
            </p:txBody>
          </p:sp>
        </p:grpSp>
        <p:grpSp>
          <p:nvGrpSpPr>
            <p:cNvPr id="45" name="p14-s5"/>
            <p:cNvGrpSpPr/>
            <p:nvPr/>
          </p:nvGrpSpPr>
          <p:grpSpPr>
            <a:xfrm>
              <a:off x="4476750" y="3238500"/>
              <a:ext cx="3429000" cy="1381125"/>
              <a:chOff x="4476750" y="3238500"/>
              <a:chExt cx="3429000" cy="1381125"/>
            </a:xfrm>
          </p:grpSpPr>
          <p:sp>
            <p:nvSpPr>
              <p:cNvPr id="38" name="Rectangle 38"/>
              <p:cNvSpPr/>
              <p:nvPr/>
            </p:nvSpPr>
            <p:spPr>
              <a:xfrm>
                <a:off x="4476750" y="3238500"/>
                <a:ext cx="3429000" cy="1381125"/>
              </a:xfrm>
              <a:prstGeom prst="roundRect">
                <a:avLst>
                  <a:gd name="adj" fmla="val 11034"/>
                </a:avLst>
              </a:prstGeom>
              <a:solidFill>
                <a:srgbClr val="FFFFFF">
                  <a:alpha val="85000"/>
                </a:srgbClr>
              </a:solidFill>
              <a:ln>
                <a:noFill/>
              </a:ln>
            </p:spPr>
          </p:sp>
          <p:grpSp>
            <p:nvGrpSpPr>
              <p:cNvPr id="42" name="Group 42"/>
              <p:cNvGrpSpPr/>
              <p:nvPr/>
            </p:nvGrpSpPr>
            <p:grpSpPr>
              <a:xfrm>
                <a:off x="4672012" y="3519488"/>
                <a:ext cx="257175" cy="257175"/>
                <a:chOff x="4672012" y="3519488"/>
                <a:chExt cx="257175" cy="257175"/>
              </a:xfrm>
            </p:grpSpPr>
            <p:sp>
              <p:nvSpPr>
                <p:cNvPr id="39" name="Freeform 39"/>
                <p:cNvSpPr/>
                <p:nvPr/>
              </p:nvSpPr>
              <p:spPr>
                <a:xfrm>
                  <a:off x="4786312" y="3633788"/>
                  <a:ext cx="28575" cy="28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575" h="28575">
                      <a:moveTo>
                        <a:pt x="0" y="14288"/>
                      </a:moveTo>
                      <a:cubicBezTo>
                        <a:pt x="0" y="22178"/>
                        <a:pt x="6397" y="28575"/>
                        <a:pt x="14288" y="28575"/>
                      </a:cubicBezTo>
                      <a:cubicBezTo>
                        <a:pt x="22178" y="28575"/>
                        <a:pt x="28575" y="22178"/>
                        <a:pt x="28575" y="14288"/>
                      </a:cubicBezTo>
                      <a:cubicBezTo>
                        <a:pt x="28575" y="6397"/>
                        <a:pt x="22178" y="0"/>
                        <a:pt x="14288" y="0"/>
                      </a:cubicBezTo>
                      <a:cubicBezTo>
                        <a:pt x="6397" y="0"/>
                        <a:pt x="0" y="6397"/>
                        <a:pt x="0" y="14288"/>
                      </a:cubicBezTo>
                    </a:path>
                  </a:pathLst>
                </a:custGeom>
                <a:noFill/>
                <a:ln w="28575">
                  <a:solidFill>
                    <a:srgbClr val="E67E22"/>
                  </a:solidFill>
                </a:ln>
              </p:spPr>
            </p:sp>
            <p:sp>
              <p:nvSpPr>
                <p:cNvPr id="40" name="Freeform 40"/>
                <p:cNvSpPr/>
                <p:nvPr/>
              </p:nvSpPr>
              <p:spPr>
                <a:xfrm>
                  <a:off x="4729162" y="3576638"/>
                  <a:ext cx="142875" cy="1428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875" h="142875">
                      <a:moveTo>
                        <a:pt x="0" y="71438"/>
                      </a:moveTo>
                      <a:cubicBezTo>
                        <a:pt x="0" y="110891"/>
                        <a:pt x="31984" y="142875"/>
                        <a:pt x="71438" y="142875"/>
                      </a:cubicBezTo>
                      <a:cubicBezTo>
                        <a:pt x="110891" y="142875"/>
                        <a:pt x="142875" y="110891"/>
                        <a:pt x="142875" y="71438"/>
                      </a:cubicBezTo>
                      <a:cubicBezTo>
                        <a:pt x="142875" y="31984"/>
                        <a:pt x="110891" y="0"/>
                        <a:pt x="71438" y="0"/>
                      </a:cubicBezTo>
                      <a:cubicBezTo>
                        <a:pt x="31984" y="0"/>
                        <a:pt x="0" y="31984"/>
                        <a:pt x="0" y="71438"/>
                      </a:cubicBezTo>
                    </a:path>
                  </a:pathLst>
                </a:custGeom>
                <a:noFill/>
                <a:ln w="28575">
                  <a:solidFill>
                    <a:srgbClr val="E67E22"/>
                  </a:solidFill>
                </a:ln>
              </p:spPr>
            </p:sp>
            <p:sp>
              <p:nvSpPr>
                <p:cNvPr id="41" name="Freeform 41"/>
                <p:cNvSpPr/>
                <p:nvPr/>
              </p:nvSpPr>
              <p:spPr>
                <a:xfrm>
                  <a:off x="4672012" y="3519488"/>
                  <a:ext cx="257175" cy="2571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7175" h="257175">
                      <a:moveTo>
                        <a:pt x="0" y="128588"/>
                      </a:moveTo>
                      <a:cubicBezTo>
                        <a:pt x="0" y="199604"/>
                        <a:pt x="57571" y="257175"/>
                        <a:pt x="128588" y="257175"/>
                      </a:cubicBezTo>
                      <a:cubicBezTo>
                        <a:pt x="199604" y="257175"/>
                        <a:pt x="257175" y="199604"/>
                        <a:pt x="257175" y="128588"/>
                      </a:cubicBezTo>
                      <a:cubicBezTo>
                        <a:pt x="257175" y="57571"/>
                        <a:pt x="199604" y="0"/>
                        <a:pt x="128588" y="0"/>
                      </a:cubicBezTo>
                      <a:cubicBezTo>
                        <a:pt x="57571" y="0"/>
                        <a:pt x="0" y="57571"/>
                        <a:pt x="0" y="128588"/>
                      </a:cubicBezTo>
                    </a:path>
                  </a:pathLst>
                </a:custGeom>
                <a:noFill/>
                <a:ln w="28575">
                  <a:solidFill>
                    <a:srgbClr val="E67E22"/>
                  </a:solidFill>
                </a:ln>
              </p:spPr>
            </p:sp>
          </p:grpSp>
          <p:sp>
            <p:nvSpPr>
              <p:cNvPr id="43" name="TextBox 43"/>
              <p:cNvSpPr txBox="1"/>
              <p:nvPr/>
            </p:nvSpPr>
            <p:spPr>
              <a:xfrm>
                <a:off x="5096256" y="3609975"/>
                <a:ext cx="1633183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Ставьте цели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5096256" y="4048125"/>
                <a:ext cx="1618931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смысл и планы</a:t>
                </a:r>
              </a:p>
            </p:txBody>
          </p:sp>
        </p:grpSp>
        <p:grpSp>
          <p:nvGrpSpPr>
            <p:cNvPr id="54" name="p14-s6"/>
            <p:cNvGrpSpPr/>
            <p:nvPr/>
          </p:nvGrpSpPr>
          <p:grpSpPr>
            <a:xfrm>
              <a:off x="8191500" y="3238500"/>
              <a:ext cx="3429000" cy="1381125"/>
              <a:chOff x="8191500" y="3238500"/>
              <a:chExt cx="3429000" cy="1381125"/>
            </a:xfrm>
          </p:grpSpPr>
          <p:sp>
            <p:nvSpPr>
              <p:cNvPr id="46" name="Rectangle 46"/>
              <p:cNvSpPr/>
              <p:nvPr/>
            </p:nvSpPr>
            <p:spPr>
              <a:xfrm>
                <a:off x="8191500" y="3238500"/>
                <a:ext cx="3429000" cy="1381125"/>
              </a:xfrm>
              <a:prstGeom prst="roundRect">
                <a:avLst>
                  <a:gd name="adj" fmla="val 11034"/>
                </a:avLst>
              </a:prstGeom>
              <a:solidFill>
                <a:srgbClr val="FFFFFF">
                  <a:alpha val="85000"/>
                </a:srgbClr>
              </a:solidFill>
              <a:ln>
                <a:noFill/>
              </a:ln>
            </p:spPr>
          </p:sp>
          <p:grpSp>
            <p:nvGrpSpPr>
              <p:cNvPr id="51" name="Group 51"/>
              <p:cNvGrpSpPr/>
              <p:nvPr/>
            </p:nvGrpSpPr>
            <p:grpSpPr>
              <a:xfrm>
                <a:off x="8386762" y="3519488"/>
                <a:ext cx="257175" cy="257175"/>
                <a:chOff x="8386762" y="3519488"/>
                <a:chExt cx="257175" cy="257175"/>
              </a:xfrm>
            </p:grpSpPr>
            <p:sp>
              <p:nvSpPr>
                <p:cNvPr id="47" name="Freeform 47"/>
                <p:cNvSpPr/>
                <p:nvPr/>
              </p:nvSpPr>
              <p:spPr>
                <a:xfrm>
                  <a:off x="8415338" y="3519488"/>
                  <a:ext cx="114300" cy="1143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4300" h="114300">
                      <a:moveTo>
                        <a:pt x="0" y="57150"/>
                      </a:moveTo>
                      <a:cubicBezTo>
                        <a:pt x="0" y="88713"/>
                        <a:pt x="25587" y="114300"/>
                        <a:pt x="57150" y="114300"/>
                      </a:cubicBezTo>
                      <a:cubicBezTo>
                        <a:pt x="88713" y="114300"/>
                        <a:pt x="114300" y="88713"/>
                        <a:pt x="114300" y="57150"/>
                      </a:cubicBezTo>
                      <a:cubicBezTo>
                        <a:pt x="114300" y="25587"/>
                        <a:pt x="88713" y="0"/>
                        <a:pt x="57150" y="0"/>
                      </a:cubicBezTo>
                      <a:cubicBezTo>
                        <a:pt x="25587" y="0"/>
                        <a:pt x="0" y="25587"/>
                        <a:pt x="0" y="57150"/>
                      </a:cubicBezTo>
                    </a:path>
                  </a:pathLst>
                </a:custGeom>
                <a:noFill/>
                <a:ln w="28575">
                  <a:solidFill>
                    <a:srgbClr val="E67E22"/>
                  </a:solidFill>
                </a:ln>
              </p:spPr>
            </p:sp>
            <p:sp>
              <p:nvSpPr>
                <p:cNvPr id="48" name="Freeform 48"/>
                <p:cNvSpPr/>
                <p:nvPr/>
              </p:nvSpPr>
              <p:spPr>
                <a:xfrm>
                  <a:off x="8386762" y="3690938"/>
                  <a:ext cx="171450" cy="857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85725">
                      <a:moveTo>
                        <a:pt x="0" y="85725"/>
                      </a:moveTo>
                      <a:lnTo>
                        <a:pt x="0" y="57150"/>
                      </a:lnTo>
                      <a:cubicBezTo>
                        <a:pt x="0" y="25587"/>
                        <a:pt x="25587" y="0"/>
                        <a:pt x="57150" y="0"/>
                      </a:cubicBezTo>
                      <a:lnTo>
                        <a:pt x="114300" y="0"/>
                      </a:lnTo>
                      <a:cubicBezTo>
                        <a:pt x="145863" y="0"/>
                        <a:pt x="171450" y="25587"/>
                        <a:pt x="171450" y="57150"/>
                      </a:cubicBezTo>
                      <a:lnTo>
                        <a:pt x="171450" y="85725"/>
                      </a:lnTo>
                    </a:path>
                  </a:pathLst>
                </a:custGeom>
                <a:noFill/>
                <a:ln w="28575">
                  <a:solidFill>
                    <a:srgbClr val="E67E22"/>
                  </a:solidFill>
                </a:ln>
              </p:spPr>
            </p:sp>
            <p:sp>
              <p:nvSpPr>
                <p:cNvPr id="49" name="Freeform 49"/>
                <p:cNvSpPr/>
                <p:nvPr/>
              </p:nvSpPr>
              <p:spPr>
                <a:xfrm>
                  <a:off x="8572500" y="3521345"/>
                  <a:ext cx="42975" cy="1107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2975" h="110728">
                      <a:moveTo>
                        <a:pt x="0" y="0"/>
                      </a:moveTo>
                      <a:cubicBezTo>
                        <a:pt x="25288" y="6475"/>
                        <a:pt x="42975" y="29261"/>
                        <a:pt x="42975" y="55364"/>
                      </a:cubicBezTo>
                      <a:cubicBezTo>
                        <a:pt x="42975" y="81467"/>
                        <a:pt x="25288" y="104253"/>
                        <a:pt x="0" y="110728"/>
                      </a:cubicBezTo>
                    </a:path>
                  </a:pathLst>
                </a:custGeom>
                <a:noFill/>
                <a:ln w="28575">
                  <a:solidFill>
                    <a:srgbClr val="E67E22"/>
                  </a:solidFill>
                </a:ln>
              </p:spPr>
            </p:sp>
            <p:sp>
              <p:nvSpPr>
                <p:cNvPr id="50" name="Freeform 50"/>
                <p:cNvSpPr/>
                <p:nvPr/>
              </p:nvSpPr>
              <p:spPr>
                <a:xfrm>
                  <a:off x="8601075" y="3693081"/>
                  <a:ext cx="42862" cy="8358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2862" h="83582">
                      <a:moveTo>
                        <a:pt x="42862" y="83582"/>
                      </a:moveTo>
                      <a:lnTo>
                        <a:pt x="42862" y="55007"/>
                      </a:lnTo>
                      <a:cubicBezTo>
                        <a:pt x="42713" y="29069"/>
                        <a:pt x="25115" y="6484"/>
                        <a:pt x="0" y="0"/>
                      </a:cubicBezTo>
                    </a:path>
                  </a:pathLst>
                </a:custGeom>
                <a:noFill/>
                <a:ln w="28575">
                  <a:solidFill>
                    <a:srgbClr val="E67E22"/>
                  </a:solidFill>
                </a:ln>
              </p:spPr>
            </p:sp>
          </p:grpSp>
          <p:sp>
            <p:nvSpPr>
              <p:cNvPr id="52" name="TextBox 52"/>
              <p:cNvSpPr txBox="1"/>
              <p:nvPr/>
            </p:nvSpPr>
            <p:spPr>
              <a:xfrm>
                <a:off x="8811006" y="3609975"/>
                <a:ext cx="1285646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Помогайте</a:t>
                </a:r>
              </a:p>
            </p:txBody>
          </p:sp>
          <p:sp>
            <p:nvSpPr>
              <p:cNvPr id="53" name="TextBox 53"/>
              <p:cNvSpPr txBox="1"/>
              <p:nvPr/>
            </p:nvSpPr>
            <p:spPr>
              <a:xfrm>
                <a:off x="8811006" y="4048125"/>
                <a:ext cx="1551615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другим людям</a:t>
                </a:r>
              </a:p>
            </p:txBody>
          </p:sp>
        </p:grpSp>
        <p:grpSp>
          <p:nvGrpSpPr>
            <p:cNvPr id="62" name="p14-s7"/>
            <p:cNvGrpSpPr/>
            <p:nvPr/>
          </p:nvGrpSpPr>
          <p:grpSpPr>
            <a:xfrm>
              <a:off x="762000" y="4762500"/>
              <a:ext cx="3429000" cy="1381125"/>
              <a:chOff x="762000" y="4762500"/>
              <a:chExt cx="3429000" cy="1381125"/>
            </a:xfrm>
          </p:grpSpPr>
          <p:sp>
            <p:nvSpPr>
              <p:cNvPr id="55" name="Rectangle 55"/>
              <p:cNvSpPr/>
              <p:nvPr/>
            </p:nvSpPr>
            <p:spPr>
              <a:xfrm>
                <a:off x="762000" y="4762500"/>
                <a:ext cx="3429000" cy="1381125"/>
              </a:xfrm>
              <a:prstGeom prst="roundRect">
                <a:avLst>
                  <a:gd name="adj" fmla="val 11034"/>
                </a:avLst>
              </a:prstGeom>
              <a:solidFill>
                <a:srgbClr val="FFFFFF">
                  <a:alpha val="85000"/>
                </a:srgbClr>
              </a:solidFill>
              <a:ln>
                <a:noFill/>
              </a:ln>
            </p:spPr>
          </p:sp>
          <p:grpSp>
            <p:nvGrpSpPr>
              <p:cNvPr id="59" name="Group 59"/>
              <p:cNvGrpSpPr/>
              <p:nvPr/>
            </p:nvGrpSpPr>
            <p:grpSpPr>
              <a:xfrm>
                <a:off x="1000125" y="5043488"/>
                <a:ext cx="171450" cy="257175"/>
                <a:chOff x="1000125" y="5043488"/>
                <a:chExt cx="171450" cy="257175"/>
              </a:xfrm>
            </p:grpSpPr>
            <p:sp>
              <p:nvSpPr>
                <p:cNvPr id="56" name="Freeform 56"/>
                <p:cNvSpPr/>
                <p:nvPr/>
              </p:nvSpPr>
              <p:spPr>
                <a:xfrm>
                  <a:off x="1000125" y="5043488"/>
                  <a:ext cx="171450" cy="2571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1450" h="257175">
                      <a:moveTo>
                        <a:pt x="0" y="28575"/>
                      </a:moveTo>
                      <a:cubicBezTo>
                        <a:pt x="0" y="12793"/>
                        <a:pt x="12793" y="0"/>
                        <a:pt x="28575" y="0"/>
                      </a:cubicBezTo>
                      <a:lnTo>
                        <a:pt x="142875" y="0"/>
                      </a:lnTo>
                      <a:cubicBezTo>
                        <a:pt x="158657" y="0"/>
                        <a:pt x="171450" y="12793"/>
                        <a:pt x="171450" y="28575"/>
                      </a:cubicBezTo>
                      <a:lnTo>
                        <a:pt x="171450" y="228600"/>
                      </a:lnTo>
                      <a:cubicBezTo>
                        <a:pt x="171450" y="244382"/>
                        <a:pt x="158657" y="257175"/>
                        <a:pt x="142875" y="257175"/>
                      </a:cubicBezTo>
                      <a:lnTo>
                        <a:pt x="28575" y="257175"/>
                      </a:lnTo>
                      <a:cubicBezTo>
                        <a:pt x="12793" y="257175"/>
                        <a:pt x="0" y="244382"/>
                        <a:pt x="0" y="228600"/>
                      </a:cubicBezTo>
                      <a:lnTo>
                        <a:pt x="0" y="28575"/>
                      </a:lnTo>
                    </a:path>
                  </a:pathLst>
                </a:custGeom>
                <a:noFill/>
                <a:ln w="28575">
                  <a:solidFill>
                    <a:schemeClr val="accent1"/>
                  </a:solidFill>
                </a:ln>
              </p:spPr>
            </p:sp>
            <p:sp>
              <p:nvSpPr>
                <p:cNvPr id="57" name="Freeform 57"/>
                <p:cNvSpPr/>
                <p:nvPr/>
              </p:nvSpPr>
              <p:spPr>
                <a:xfrm>
                  <a:off x="1071562" y="5057775"/>
                  <a:ext cx="2857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575" h="9525">
                      <a:moveTo>
                        <a:pt x="0" y="0"/>
                      </a:moveTo>
                      <a:lnTo>
                        <a:pt x="28575" y="0"/>
                      </a:lnTo>
                    </a:path>
                  </a:pathLst>
                </a:custGeom>
                <a:noFill/>
                <a:ln w="28575">
                  <a:solidFill>
                    <a:schemeClr val="accent1"/>
                  </a:solidFill>
                </a:ln>
              </p:spPr>
            </p:sp>
            <p:sp>
              <p:nvSpPr>
                <p:cNvPr id="58" name="Freeform 58"/>
                <p:cNvSpPr/>
                <p:nvPr/>
              </p:nvSpPr>
              <p:spPr>
                <a:xfrm>
                  <a:off x="1085850" y="5243512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143"/>
                      </a:lnTo>
                    </a:path>
                  </a:pathLst>
                </a:custGeom>
                <a:noFill/>
                <a:ln w="28575">
                  <a:solidFill>
                    <a:schemeClr val="accent1"/>
                  </a:solidFill>
                </a:ln>
              </p:spPr>
            </p:sp>
          </p:grpSp>
          <p:sp>
            <p:nvSpPr>
              <p:cNvPr id="60" name="TextBox 60"/>
              <p:cNvSpPr txBox="1"/>
              <p:nvPr/>
            </p:nvSpPr>
            <p:spPr>
              <a:xfrm>
                <a:off x="1381506" y="5133975"/>
                <a:ext cx="1425584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Ограничьте</a:t>
                </a:r>
              </a:p>
            </p:txBody>
          </p:sp>
          <p:sp>
            <p:nvSpPr>
              <p:cNvPr id="61" name="TextBox 61"/>
              <p:cNvSpPr txBox="1"/>
              <p:nvPr/>
            </p:nvSpPr>
            <p:spPr>
              <a:xfrm>
                <a:off x="1381506" y="5572125"/>
                <a:ext cx="951205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соцсети</a:t>
                </a:r>
              </a:p>
            </p:txBody>
          </p:sp>
        </p:grpSp>
        <p:grpSp>
          <p:nvGrpSpPr>
            <p:cNvPr id="71" name="p14-s8"/>
            <p:cNvGrpSpPr/>
            <p:nvPr/>
          </p:nvGrpSpPr>
          <p:grpSpPr>
            <a:xfrm>
              <a:off x="4476750" y="4762500"/>
              <a:ext cx="3429000" cy="1381125"/>
              <a:chOff x="4476750" y="4762500"/>
              <a:chExt cx="3429000" cy="1381125"/>
            </a:xfrm>
          </p:grpSpPr>
          <p:sp>
            <p:nvSpPr>
              <p:cNvPr id="63" name="Rectangle 63"/>
              <p:cNvSpPr/>
              <p:nvPr/>
            </p:nvSpPr>
            <p:spPr>
              <a:xfrm>
                <a:off x="4476750" y="4762500"/>
                <a:ext cx="3429000" cy="1381125"/>
              </a:xfrm>
              <a:prstGeom prst="roundRect">
                <a:avLst>
                  <a:gd name="adj" fmla="val 11034"/>
                </a:avLst>
              </a:prstGeom>
              <a:solidFill>
                <a:srgbClr val="FFFFFF">
                  <a:alpha val="85000"/>
                </a:srgbClr>
              </a:solidFill>
              <a:ln>
                <a:noFill/>
              </a:ln>
            </p:spPr>
          </p:sp>
          <p:grpSp>
            <p:nvGrpSpPr>
              <p:cNvPr id="68" name="Group 68"/>
              <p:cNvGrpSpPr/>
              <p:nvPr/>
            </p:nvGrpSpPr>
            <p:grpSpPr>
              <a:xfrm>
                <a:off x="4657725" y="5100638"/>
                <a:ext cx="285750" cy="142875"/>
                <a:chOff x="4657725" y="5100638"/>
                <a:chExt cx="285750" cy="142875"/>
              </a:xfrm>
            </p:grpSpPr>
            <p:sp>
              <p:nvSpPr>
                <p:cNvPr id="64" name="Freeform 64"/>
                <p:cNvSpPr/>
                <p:nvPr/>
              </p:nvSpPr>
              <p:spPr>
                <a:xfrm>
                  <a:off x="4700588" y="5100638"/>
                  <a:ext cx="57150" cy="571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7150" h="57150">
                      <a:moveTo>
                        <a:pt x="0" y="28575"/>
                      </a:moveTo>
                      <a:cubicBezTo>
                        <a:pt x="0" y="44357"/>
                        <a:pt x="12793" y="57150"/>
                        <a:pt x="28575" y="57150"/>
                      </a:cubicBezTo>
                      <a:cubicBezTo>
                        <a:pt x="44357" y="57150"/>
                        <a:pt x="57150" y="44357"/>
                        <a:pt x="57150" y="28575"/>
                      </a:cubicBezTo>
                      <a:cubicBezTo>
                        <a:pt x="57150" y="12793"/>
                        <a:pt x="44357" y="0"/>
                        <a:pt x="28575" y="0"/>
                      </a:cubicBezTo>
                      <a:cubicBezTo>
                        <a:pt x="12793" y="0"/>
                        <a:pt x="0" y="12793"/>
                        <a:pt x="0" y="28575"/>
                      </a:cubicBezTo>
                    </a:path>
                  </a:pathLst>
                </a:custGeom>
                <a:noFill/>
                <a:ln w="28575">
                  <a:solidFill>
                    <a:schemeClr val="accent1"/>
                  </a:solidFill>
                </a:ln>
              </p:spPr>
            </p:sp>
            <p:sp>
              <p:nvSpPr>
                <p:cNvPr id="65" name="Freeform 65"/>
                <p:cNvSpPr/>
                <p:nvPr/>
              </p:nvSpPr>
              <p:spPr>
                <a:xfrm>
                  <a:off x="4657725" y="5200650"/>
                  <a:ext cx="285750" cy="4286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5750" h="42862">
                      <a:moveTo>
                        <a:pt x="285750" y="42862"/>
                      </a:moveTo>
                      <a:lnTo>
                        <a:pt x="285750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28575">
                  <a:solidFill>
                    <a:schemeClr val="accent1"/>
                  </a:solidFill>
                </a:ln>
              </p:spPr>
            </p:sp>
            <p:sp>
              <p:nvSpPr>
                <p:cNvPr id="66" name="Freeform 66"/>
                <p:cNvSpPr/>
                <p:nvPr/>
              </p:nvSpPr>
              <p:spPr>
                <a:xfrm>
                  <a:off x="4657725" y="5114925"/>
                  <a:ext cx="9525" cy="1285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128588">
                      <a:moveTo>
                        <a:pt x="0" y="0"/>
                      </a:moveTo>
                      <a:lnTo>
                        <a:pt x="0" y="128588"/>
                      </a:lnTo>
                    </a:path>
                  </a:pathLst>
                </a:custGeom>
                <a:noFill/>
                <a:ln w="28575">
                  <a:solidFill>
                    <a:schemeClr val="accent1"/>
                  </a:solidFill>
                </a:ln>
              </p:spPr>
            </p:sp>
            <p:sp>
              <p:nvSpPr>
                <p:cNvPr id="67" name="Freeform 67"/>
                <p:cNvSpPr/>
                <p:nvPr/>
              </p:nvSpPr>
              <p:spPr>
                <a:xfrm>
                  <a:off x="4800600" y="5129212"/>
                  <a:ext cx="142875" cy="7143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875" h="71438">
                      <a:moveTo>
                        <a:pt x="0" y="71438"/>
                      </a:moveTo>
                      <a:lnTo>
                        <a:pt x="142875" y="71438"/>
                      </a:lnTo>
                      <a:lnTo>
                        <a:pt x="142875" y="42862"/>
                      </a:lnTo>
                      <a:cubicBezTo>
                        <a:pt x="142875" y="19190"/>
                        <a:pt x="123685" y="0"/>
                        <a:pt x="100012" y="0"/>
                      </a:cubicBezTo>
                      <a:lnTo>
                        <a:pt x="0" y="0"/>
                      </a:lnTo>
                      <a:lnTo>
                        <a:pt x="0" y="71438"/>
                      </a:lnTo>
                    </a:path>
                  </a:pathLst>
                </a:custGeom>
                <a:noFill/>
                <a:ln w="28575">
                  <a:solidFill>
                    <a:schemeClr val="accent1"/>
                  </a:solidFill>
                </a:ln>
              </p:spPr>
            </p:sp>
          </p:grpSp>
          <p:sp>
            <p:nvSpPr>
              <p:cNvPr id="69" name="TextBox 69"/>
              <p:cNvSpPr txBox="1"/>
              <p:nvPr/>
            </p:nvSpPr>
            <p:spPr>
              <a:xfrm>
                <a:off x="5096256" y="5133975"/>
                <a:ext cx="725896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Спите</a:t>
                </a:r>
              </a:p>
            </p:txBody>
          </p:sp>
          <p:sp>
            <p:nvSpPr>
              <p:cNvPr id="70" name="TextBox 70"/>
              <p:cNvSpPr txBox="1"/>
              <p:nvPr/>
            </p:nvSpPr>
            <p:spPr>
              <a:xfrm>
                <a:off x="5096256" y="5572125"/>
                <a:ext cx="1156301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7–8 часов</a:t>
                </a:r>
              </a:p>
            </p:txBody>
          </p:sp>
        </p:grpSp>
        <p:grpSp>
          <p:nvGrpSpPr>
            <p:cNvPr id="79" name="p14-apteka"/>
            <p:cNvGrpSpPr/>
            <p:nvPr/>
          </p:nvGrpSpPr>
          <p:grpSpPr>
            <a:xfrm>
              <a:off x="8191500" y="4762500"/>
              <a:ext cx="3429000" cy="1381125"/>
              <a:chOff x="8191500" y="4762500"/>
              <a:chExt cx="3429000" cy="1381125"/>
            </a:xfrm>
          </p:grpSpPr>
          <p:sp>
            <p:nvSpPr>
              <p:cNvPr id="72" name="Rectangle 72"/>
              <p:cNvSpPr/>
              <p:nvPr/>
            </p:nvSpPr>
            <p:spPr>
              <a:xfrm>
                <a:off x="8191500" y="4762500"/>
                <a:ext cx="3429000" cy="1381125"/>
              </a:xfrm>
              <a:prstGeom prst="roundRect">
                <a:avLst>
                  <a:gd name="adj" fmla="val 11034"/>
                </a:avLst>
              </a:prstGeom>
              <a:solidFill>
                <a:schemeClr val="accent1">
                  <a:alpha val="12000"/>
                </a:schemeClr>
              </a:solidFill>
              <a:ln>
                <a:noFill/>
              </a:ln>
            </p:spPr>
          </p:sp>
          <p:grpSp>
            <p:nvGrpSpPr>
              <p:cNvPr id="76" name="Group 76"/>
              <p:cNvGrpSpPr/>
              <p:nvPr/>
            </p:nvGrpSpPr>
            <p:grpSpPr>
              <a:xfrm>
                <a:off x="8386762" y="5043488"/>
                <a:ext cx="257175" cy="257175"/>
                <a:chOff x="8386762" y="5043488"/>
                <a:chExt cx="257175" cy="257175"/>
              </a:xfrm>
            </p:grpSpPr>
            <p:sp>
              <p:nvSpPr>
                <p:cNvPr id="73" name="Freeform 73"/>
                <p:cNvSpPr/>
                <p:nvPr/>
              </p:nvSpPr>
              <p:spPr>
                <a:xfrm>
                  <a:off x="8386762" y="5043488"/>
                  <a:ext cx="257175" cy="12858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57175" h="128588">
                      <a:moveTo>
                        <a:pt x="0" y="128588"/>
                      </a:moveTo>
                      <a:lnTo>
                        <a:pt x="14288" y="128588"/>
                      </a:lnTo>
                      <a:moveTo>
                        <a:pt x="128588" y="0"/>
                      </a:moveTo>
                      <a:lnTo>
                        <a:pt x="128588" y="14288"/>
                      </a:lnTo>
                      <a:moveTo>
                        <a:pt x="242888" y="128588"/>
                      </a:moveTo>
                      <a:lnTo>
                        <a:pt x="257175" y="128588"/>
                      </a:lnTo>
                      <a:moveTo>
                        <a:pt x="37147" y="37147"/>
                      </a:moveTo>
                      <a:lnTo>
                        <a:pt x="47149" y="47149"/>
                      </a:lnTo>
                      <a:moveTo>
                        <a:pt x="220028" y="37147"/>
                      </a:moveTo>
                      <a:lnTo>
                        <a:pt x="210026" y="47149"/>
                      </a:lnTo>
                    </a:path>
                  </a:pathLst>
                </a:custGeom>
                <a:noFill/>
                <a:ln w="28575">
                  <a:solidFill>
                    <a:schemeClr val="accent1"/>
                  </a:solidFill>
                </a:ln>
              </p:spPr>
            </p:sp>
            <p:sp>
              <p:nvSpPr>
                <p:cNvPr id="74" name="Freeform 74"/>
                <p:cNvSpPr/>
                <p:nvPr/>
              </p:nvSpPr>
              <p:spPr>
                <a:xfrm>
                  <a:off x="8437855" y="5100638"/>
                  <a:ext cx="154990" cy="2000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4990" h="200025">
                      <a:moveTo>
                        <a:pt x="34633" y="128588"/>
                      </a:moveTo>
                      <a:cubicBezTo>
                        <a:pt x="10034" y="110138"/>
                        <a:pt x="0" y="78018"/>
                        <a:pt x="9724" y="48847"/>
                      </a:cubicBezTo>
                      <a:cubicBezTo>
                        <a:pt x="19447" y="19676"/>
                        <a:pt x="46746" y="0"/>
                        <a:pt x="77495" y="0"/>
                      </a:cubicBezTo>
                      <a:cubicBezTo>
                        <a:pt x="108244" y="0"/>
                        <a:pt x="135543" y="19676"/>
                        <a:pt x="145267" y="48847"/>
                      </a:cubicBezTo>
                      <a:cubicBezTo>
                        <a:pt x="154990" y="78018"/>
                        <a:pt x="144957" y="110138"/>
                        <a:pt x="120358" y="128588"/>
                      </a:cubicBezTo>
                      <a:cubicBezTo>
                        <a:pt x="109044" y="139786"/>
                        <a:pt x="103739" y="155703"/>
                        <a:pt x="106070" y="171450"/>
                      </a:cubicBezTo>
                      <a:cubicBezTo>
                        <a:pt x="106070" y="187232"/>
                        <a:pt x="93277" y="200025"/>
                        <a:pt x="77495" y="200025"/>
                      </a:cubicBezTo>
                      <a:cubicBezTo>
                        <a:pt x="61714" y="200025"/>
                        <a:pt x="48920" y="187232"/>
                        <a:pt x="48920" y="171450"/>
                      </a:cubicBezTo>
                      <a:cubicBezTo>
                        <a:pt x="51252" y="155703"/>
                        <a:pt x="45946" y="139786"/>
                        <a:pt x="34633" y="128588"/>
                      </a:cubicBezTo>
                    </a:path>
                  </a:pathLst>
                </a:custGeom>
                <a:noFill/>
                <a:ln w="28575">
                  <a:solidFill>
                    <a:schemeClr val="accent1"/>
                  </a:solidFill>
                </a:ln>
              </p:spPr>
            </p:sp>
            <p:sp>
              <p:nvSpPr>
                <p:cNvPr id="75" name="Freeform 75"/>
                <p:cNvSpPr/>
                <p:nvPr/>
              </p:nvSpPr>
              <p:spPr>
                <a:xfrm>
                  <a:off x="8482489" y="5243512"/>
                  <a:ext cx="65723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5723" h="9525">
                      <a:moveTo>
                        <a:pt x="0" y="0"/>
                      </a:moveTo>
                      <a:lnTo>
                        <a:pt x="65723" y="0"/>
                      </a:lnTo>
                    </a:path>
                  </a:pathLst>
                </a:custGeom>
                <a:noFill/>
                <a:ln w="28575">
                  <a:solidFill>
                    <a:schemeClr val="accent1"/>
                  </a:solidFill>
                </a:ln>
              </p:spPr>
            </p:sp>
          </p:grpSp>
          <p:sp>
            <p:nvSpPr>
              <p:cNvPr id="77" name="TextBox 77"/>
              <p:cNvSpPr txBox="1"/>
              <p:nvPr/>
            </p:nvSpPr>
            <p:spPr>
              <a:xfrm>
                <a:off x="8811006" y="5133975"/>
                <a:ext cx="1143854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en-US" sz="1800" b="1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Apteka.ru</a:t>
                </a:r>
              </a:p>
            </p:txBody>
          </p:sp>
          <p:sp>
            <p:nvSpPr>
              <p:cNvPr id="78" name="TextBox 78"/>
              <p:cNvSpPr txBox="1"/>
              <p:nvPr/>
            </p:nvSpPr>
            <p:spPr>
              <a:xfrm>
                <a:off x="8811006" y="5572125"/>
                <a:ext cx="2418573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dirty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rPr>
                  <a:t>материалы о счастье</a:t>
                </a:r>
              </a:p>
            </p:txBody>
          </p:sp>
        </p:grpSp>
      </p:grpSp>
      <p:sp>
        <p:nvSpPr>
          <p:cNvPr id="81" name="credit"/>
          <p:cNvSpPr txBox="1"/>
          <p:nvPr/>
        </p:nvSpPr>
        <p:spPr>
          <a:xfrm>
            <a:off x="753618" y="6578600"/>
            <a:ext cx="3717360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650" dirty="0">
                <a:solidFill>
                  <a:srgbClr val="7F8C8D"/>
                </a:solidFill>
                <a:latin typeface="+mn-lt"/>
                <a:ea typeface="+mn-ea"/>
                <a:cs typeface="+mn-cs"/>
              </a:rPr>
              <a:t>© Rick Obst / Wikimedia / CC BY 2.0</a:t>
            </a:r>
          </a:p>
        </p:txBody>
      </p:sp>
      <p:pic>
        <p:nvPicPr>
          <p:cNvPr id="82" name="PPT Master narration: narration15.mp3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2" fill="hold" display="0">
                  <p:stCondLst>
                    <p:cond delay="300"/>
                  </p:stCondLst>
                </p:cTn>
                <p:tgtEl>
                  <p:spTgt spid="82"/>
                </p:tgtEl>
              </p:cMediaNode>
            </p:audio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6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6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88000"/>
                </a:srgbClr>
              </a:gs>
              <a:gs pos="100000">
                <a:srgbClr val="F5E6D3">
                  <a:alpha val="88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p16-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5" name="p16-foot"/>
          <p:cNvSpPr txBox="1"/>
          <p:nvPr/>
        </p:nvSpPr>
        <p:spPr>
          <a:xfrm>
            <a:off x="752856" y="6438900"/>
            <a:ext cx="3078699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ru" sz="180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Концепция счастья · ИС-24</a:t>
            </a:r>
          </a:p>
        </p:txBody>
      </p:sp>
      <p:sp>
        <p:nvSpPr>
          <p:cNvPr id="6" name="p16-num"/>
          <p:cNvSpPr txBox="1"/>
          <p:nvPr/>
        </p:nvSpPr>
        <p:spPr>
          <a:xfrm>
            <a:off x="11151304" y="6438900"/>
            <a:ext cx="287840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80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16</a:t>
            </a:r>
          </a:p>
        </p:txBody>
      </p:sp>
      <p:grpSp>
        <p:nvGrpSpPr>
          <p:cNvPr id="8" name="p16-title"/>
          <p:cNvGrpSpPr/>
          <p:nvPr/>
        </p:nvGrpSpPr>
        <p:grpSpPr>
          <a:xfrm>
            <a:off x="743712" y="508000"/>
            <a:ext cx="7178150" cy="704088"/>
            <a:chOff x="743712" y="508000"/>
            <a:chExt cx="7178150" cy="704088"/>
          </a:xfrm>
        </p:grpSpPr>
        <p:sp>
          <p:nvSpPr>
            <p:cNvPr id="7" name="TextBox 7"/>
            <p:cNvSpPr txBox="1"/>
            <p:nvPr/>
          </p:nvSpPr>
          <p:spPr>
            <a:xfrm>
              <a:off x="743712" y="508000"/>
              <a:ext cx="7178150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Счастье = осознанные усилия</a:t>
              </a:r>
            </a:p>
          </p:txBody>
        </p:sp>
      </p:grpSp>
      <p:grpSp>
        <p:nvGrpSpPr>
          <p:cNvPr id="57" name="p16-puzzle"/>
          <p:cNvGrpSpPr/>
          <p:nvPr/>
        </p:nvGrpSpPr>
        <p:grpSpPr>
          <a:xfrm>
            <a:off x="1333500" y="1428750"/>
            <a:ext cx="9525000" cy="4572000"/>
            <a:chOff x="1333500" y="1428750"/>
            <a:chExt cx="9525000" cy="4572000"/>
          </a:xfrm>
        </p:grpSpPr>
        <p:sp>
          <p:nvSpPr>
            <p:cNvPr id="9" name="Rectangle 9"/>
            <p:cNvSpPr/>
            <p:nvPr/>
          </p:nvSpPr>
          <p:spPr>
            <a:xfrm>
              <a:off x="1333500" y="1428750"/>
              <a:ext cx="9525000" cy="4572000"/>
            </a:xfrm>
            <a:prstGeom prst="roundRect">
              <a:avLst>
                <a:gd name="adj" fmla="val 3333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1705356" y="1733550"/>
              <a:ext cx="282005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Шесть главных выводов</a:t>
              </a:r>
            </a:p>
          </p:txBody>
        </p:sp>
        <p:grpSp>
          <p:nvGrpSpPr>
            <p:cNvPr id="21" name="p16-c1"/>
            <p:cNvGrpSpPr/>
            <p:nvPr/>
          </p:nvGrpSpPr>
          <p:grpSpPr>
            <a:xfrm>
              <a:off x="1714500" y="2286000"/>
              <a:ext cx="4191000" cy="1047750"/>
              <a:chOff x="1714500" y="2286000"/>
              <a:chExt cx="4191000" cy="1047750"/>
            </a:xfrm>
          </p:grpSpPr>
          <p:sp>
            <p:nvSpPr>
              <p:cNvPr id="11" name="Rectangle 11"/>
              <p:cNvSpPr/>
              <p:nvPr/>
            </p:nvSpPr>
            <p:spPr>
              <a:xfrm>
                <a:off x="1714500" y="2286000"/>
                <a:ext cx="4191000" cy="1047750"/>
              </a:xfrm>
              <a:prstGeom prst="roundRect">
                <a:avLst>
                  <a:gd name="adj" fmla="val 12727"/>
                </a:avLst>
              </a:prstGeom>
              <a:solidFill>
                <a:srgbClr val="FFFFFF">
                  <a:alpha val="92000"/>
                </a:srgbClr>
              </a:solidFill>
              <a:ln w="19050">
                <a:solidFill>
                  <a:srgbClr val="27AE60"/>
                </a:solidFill>
              </a:ln>
            </p:spPr>
          </p:sp>
          <p:grpSp>
            <p:nvGrpSpPr>
              <p:cNvPr id="18" name="Group 18"/>
              <p:cNvGrpSpPr/>
              <p:nvPr/>
            </p:nvGrpSpPr>
            <p:grpSpPr>
              <a:xfrm>
                <a:off x="1952625" y="2619375"/>
                <a:ext cx="285751" cy="285751"/>
                <a:chOff x="1952625" y="2619375"/>
                <a:chExt cx="285751" cy="285751"/>
              </a:xfrm>
            </p:grpSpPr>
            <p:sp>
              <p:nvSpPr>
                <p:cNvPr id="12" name="Freeform 12"/>
                <p:cNvSpPr/>
                <p:nvPr/>
              </p:nvSpPr>
              <p:spPr>
                <a:xfrm>
                  <a:off x="2063750" y="2746375"/>
                  <a:ext cx="63500" cy="635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3500" h="63500">
                      <a:moveTo>
                        <a:pt x="0" y="31750"/>
                      </a:moveTo>
                      <a:cubicBezTo>
                        <a:pt x="0" y="49285"/>
                        <a:pt x="14215" y="63500"/>
                        <a:pt x="31750" y="63500"/>
                      </a:cubicBezTo>
                      <a:cubicBezTo>
                        <a:pt x="49285" y="63500"/>
                        <a:pt x="63500" y="49285"/>
                        <a:pt x="63500" y="31750"/>
                      </a:cubicBezTo>
                      <a:cubicBezTo>
                        <a:pt x="63500" y="14215"/>
                        <a:pt x="49285" y="0"/>
                        <a:pt x="31750" y="0"/>
                      </a:cubicBezTo>
                      <a:cubicBezTo>
                        <a:pt x="14215" y="0"/>
                        <a:pt x="0" y="14215"/>
                        <a:pt x="0" y="31750"/>
                      </a:cubicBezTo>
                    </a:path>
                  </a:pathLst>
                </a:custGeom>
                <a:noFill/>
                <a:ln w="31750">
                  <a:solidFill>
                    <a:srgbClr val="27AE60"/>
                  </a:solidFill>
                </a:ln>
              </p:spPr>
            </p:sp>
            <p:sp>
              <p:nvSpPr>
                <p:cNvPr id="13" name="Freeform 13"/>
                <p:cNvSpPr/>
                <p:nvPr/>
              </p:nvSpPr>
              <p:spPr>
                <a:xfrm>
                  <a:off x="2032000" y="2857501"/>
                  <a:ext cx="127000" cy="476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7000" h="47625">
                      <a:moveTo>
                        <a:pt x="0" y="47625"/>
                      </a:moveTo>
                      <a:lnTo>
                        <a:pt x="0" y="31750"/>
                      </a:lnTo>
                      <a:cubicBezTo>
                        <a:pt x="0" y="14215"/>
                        <a:pt x="14215" y="0"/>
                        <a:pt x="31750" y="0"/>
                      </a:cubicBezTo>
                      <a:lnTo>
                        <a:pt x="95250" y="0"/>
                      </a:lnTo>
                      <a:cubicBezTo>
                        <a:pt x="112785" y="0"/>
                        <a:pt x="127000" y="14215"/>
                        <a:pt x="127000" y="31750"/>
                      </a:cubicBezTo>
                      <a:lnTo>
                        <a:pt x="127000" y="47625"/>
                      </a:lnTo>
                    </a:path>
                  </a:pathLst>
                </a:custGeom>
                <a:noFill/>
                <a:ln w="31750">
                  <a:solidFill>
                    <a:srgbClr val="27AE60"/>
                  </a:solidFill>
                </a:ln>
              </p:spPr>
            </p:sp>
            <p:sp>
              <p:nvSpPr>
                <p:cNvPr id="14" name="Freeform 14"/>
                <p:cNvSpPr/>
                <p:nvPr/>
              </p:nvSpPr>
              <p:spPr>
                <a:xfrm>
                  <a:off x="2143125" y="2619375"/>
                  <a:ext cx="63500" cy="635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3500" h="63500">
                      <a:moveTo>
                        <a:pt x="0" y="31750"/>
                      </a:moveTo>
                      <a:cubicBezTo>
                        <a:pt x="0" y="49285"/>
                        <a:pt x="14215" y="63500"/>
                        <a:pt x="31750" y="63500"/>
                      </a:cubicBezTo>
                      <a:cubicBezTo>
                        <a:pt x="49285" y="63500"/>
                        <a:pt x="63500" y="49285"/>
                        <a:pt x="63500" y="31750"/>
                      </a:cubicBezTo>
                      <a:cubicBezTo>
                        <a:pt x="63500" y="14215"/>
                        <a:pt x="49285" y="0"/>
                        <a:pt x="31750" y="0"/>
                      </a:cubicBezTo>
                      <a:cubicBezTo>
                        <a:pt x="14215" y="0"/>
                        <a:pt x="0" y="14215"/>
                        <a:pt x="0" y="31750"/>
                      </a:cubicBezTo>
                    </a:path>
                  </a:pathLst>
                </a:custGeom>
                <a:noFill/>
                <a:ln w="31750">
                  <a:solidFill>
                    <a:srgbClr val="27AE60"/>
                  </a:solidFill>
                </a:ln>
              </p:spPr>
            </p:sp>
            <p:sp>
              <p:nvSpPr>
                <p:cNvPr id="15" name="Freeform 15"/>
                <p:cNvSpPr/>
                <p:nvPr/>
              </p:nvSpPr>
              <p:spPr>
                <a:xfrm>
                  <a:off x="2174876" y="2730500"/>
                  <a:ext cx="63500" cy="476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3500" h="47625">
                      <a:moveTo>
                        <a:pt x="0" y="0"/>
                      </a:moveTo>
                      <a:lnTo>
                        <a:pt x="31750" y="0"/>
                      </a:lnTo>
                      <a:cubicBezTo>
                        <a:pt x="49285" y="0"/>
                        <a:pt x="63500" y="14215"/>
                        <a:pt x="63500" y="31750"/>
                      </a:cubicBezTo>
                      <a:lnTo>
                        <a:pt x="63500" y="47625"/>
                      </a:lnTo>
                    </a:path>
                  </a:pathLst>
                </a:custGeom>
                <a:noFill/>
                <a:ln w="31750">
                  <a:solidFill>
                    <a:srgbClr val="27AE60"/>
                  </a:solidFill>
                </a:ln>
              </p:spPr>
            </p:sp>
            <p:sp>
              <p:nvSpPr>
                <p:cNvPr id="16" name="Freeform 16"/>
                <p:cNvSpPr/>
                <p:nvPr/>
              </p:nvSpPr>
              <p:spPr>
                <a:xfrm>
                  <a:off x="1984375" y="2619375"/>
                  <a:ext cx="63500" cy="635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3500" h="63500">
                      <a:moveTo>
                        <a:pt x="0" y="31750"/>
                      </a:moveTo>
                      <a:cubicBezTo>
                        <a:pt x="0" y="49285"/>
                        <a:pt x="14215" y="63500"/>
                        <a:pt x="31750" y="63500"/>
                      </a:cubicBezTo>
                      <a:cubicBezTo>
                        <a:pt x="49285" y="63500"/>
                        <a:pt x="63500" y="49285"/>
                        <a:pt x="63500" y="31750"/>
                      </a:cubicBezTo>
                      <a:cubicBezTo>
                        <a:pt x="63500" y="14215"/>
                        <a:pt x="49285" y="0"/>
                        <a:pt x="31750" y="0"/>
                      </a:cubicBezTo>
                      <a:cubicBezTo>
                        <a:pt x="14215" y="0"/>
                        <a:pt x="0" y="14215"/>
                        <a:pt x="0" y="31750"/>
                      </a:cubicBezTo>
                    </a:path>
                  </a:pathLst>
                </a:custGeom>
                <a:noFill/>
                <a:ln w="31750">
                  <a:solidFill>
                    <a:srgbClr val="27AE60"/>
                  </a:solidFill>
                </a:ln>
              </p:spPr>
            </p:sp>
            <p:sp>
              <p:nvSpPr>
                <p:cNvPr id="17" name="Freeform 17"/>
                <p:cNvSpPr/>
                <p:nvPr/>
              </p:nvSpPr>
              <p:spPr>
                <a:xfrm>
                  <a:off x="1952625" y="2730500"/>
                  <a:ext cx="63500" cy="476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3500" h="47625">
                      <a:moveTo>
                        <a:pt x="0" y="47625"/>
                      </a:moveTo>
                      <a:lnTo>
                        <a:pt x="0" y="31750"/>
                      </a:lnTo>
                      <a:cubicBezTo>
                        <a:pt x="0" y="14215"/>
                        <a:pt x="14215" y="0"/>
                        <a:pt x="31750" y="0"/>
                      </a:cubicBezTo>
                      <a:lnTo>
                        <a:pt x="63500" y="0"/>
                      </a:lnTo>
                    </a:path>
                  </a:pathLst>
                </a:custGeom>
                <a:noFill/>
                <a:ln w="31750">
                  <a:solidFill>
                    <a:srgbClr val="27AE60"/>
                  </a:solidFill>
                </a:ln>
              </p:spPr>
            </p:sp>
          </p:grpSp>
          <p:sp>
            <p:nvSpPr>
              <p:cNvPr id="19" name="TextBox 19"/>
              <p:cNvSpPr txBox="1"/>
              <p:nvPr/>
            </p:nvSpPr>
            <p:spPr>
              <a:xfrm>
                <a:off x="2734056" y="2552700"/>
                <a:ext cx="1941405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b="1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Отношения — №1</a:t>
                </a:r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2734056" y="2876550"/>
                <a:ext cx="2685121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dirty="0">
                    <a:solidFill>
                      <a:srgbClr val="5D6D7E"/>
                    </a:solidFill>
                    <a:latin typeface="+mn-lt"/>
                    <a:ea typeface="+mn-ea"/>
                    <a:cs typeface="+mn-cs"/>
                  </a:rPr>
                  <a:t>близость важнее денег</a:t>
                </a:r>
              </a:p>
            </p:txBody>
          </p:sp>
        </p:grpSp>
        <p:grpSp>
          <p:nvGrpSpPr>
            <p:cNvPr id="29" name="p16-c2"/>
            <p:cNvGrpSpPr/>
            <p:nvPr/>
          </p:nvGrpSpPr>
          <p:grpSpPr>
            <a:xfrm>
              <a:off x="6286500" y="2286000"/>
              <a:ext cx="4191000" cy="1047750"/>
              <a:chOff x="6286500" y="2286000"/>
              <a:chExt cx="4191000" cy="1047750"/>
            </a:xfrm>
          </p:grpSpPr>
          <p:sp>
            <p:nvSpPr>
              <p:cNvPr id="22" name="Rectangle 22"/>
              <p:cNvSpPr/>
              <p:nvPr/>
            </p:nvSpPr>
            <p:spPr>
              <a:xfrm>
                <a:off x="6286500" y="2286000"/>
                <a:ext cx="4191000" cy="1047750"/>
              </a:xfrm>
              <a:prstGeom prst="roundRect">
                <a:avLst>
                  <a:gd name="adj" fmla="val 12727"/>
                </a:avLst>
              </a:prstGeom>
              <a:solidFill>
                <a:srgbClr val="FFFFFF">
                  <a:alpha val="92000"/>
                </a:srgbClr>
              </a:solidFill>
              <a:ln w="19050">
                <a:solidFill>
                  <a:srgbClr val="27AE60"/>
                </a:solidFill>
              </a:ln>
            </p:spPr>
          </p:sp>
          <p:grpSp>
            <p:nvGrpSpPr>
              <p:cNvPr id="26" name="Group 26"/>
              <p:cNvGrpSpPr/>
              <p:nvPr/>
            </p:nvGrpSpPr>
            <p:grpSpPr>
              <a:xfrm>
                <a:off x="6532801" y="2627551"/>
                <a:ext cx="269399" cy="269399"/>
                <a:chOff x="6532801" y="2627551"/>
                <a:chExt cx="269399" cy="269399"/>
              </a:xfrm>
            </p:grpSpPr>
            <p:sp>
              <p:nvSpPr>
                <p:cNvPr id="23" name="Freeform 23"/>
                <p:cNvSpPr/>
                <p:nvPr/>
              </p:nvSpPr>
              <p:spPr>
                <a:xfrm>
                  <a:off x="6598541" y="2694228"/>
                  <a:ext cx="136982" cy="13698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6982" h="136982">
                      <a:moveTo>
                        <a:pt x="113854" y="112917"/>
                      </a:moveTo>
                      <a:cubicBezTo>
                        <a:pt x="130361" y="96973"/>
                        <a:pt x="136982" y="73364"/>
                        <a:pt x="131170" y="51162"/>
                      </a:cubicBezTo>
                      <a:cubicBezTo>
                        <a:pt x="125359" y="28961"/>
                        <a:pt x="108021" y="11622"/>
                        <a:pt x="85819" y="5811"/>
                      </a:cubicBezTo>
                      <a:cubicBezTo>
                        <a:pt x="63618" y="0"/>
                        <a:pt x="40008" y="6620"/>
                        <a:pt x="24065" y="23128"/>
                      </a:cubicBezTo>
                      <a:cubicBezTo>
                        <a:pt x="0" y="48044"/>
                        <a:pt x="344" y="87649"/>
                        <a:pt x="24838" y="112143"/>
                      </a:cubicBezTo>
                      <a:cubicBezTo>
                        <a:pt x="49332" y="136637"/>
                        <a:pt x="88938" y="136982"/>
                        <a:pt x="113854" y="112917"/>
                      </a:cubicBezTo>
                    </a:path>
                  </a:pathLst>
                </a:custGeom>
                <a:noFill/>
                <a:ln w="31750">
                  <a:solidFill>
                    <a:srgbClr val="27AE60"/>
                  </a:solidFill>
                </a:ln>
              </p:spPr>
            </p:sp>
            <p:sp>
              <p:nvSpPr>
                <p:cNvPr id="24" name="Freeform 24"/>
                <p:cNvSpPr/>
                <p:nvPr/>
              </p:nvSpPr>
              <p:spPr>
                <a:xfrm>
                  <a:off x="6532801" y="2782346"/>
                  <a:ext cx="114604" cy="11460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4604" h="114604">
                      <a:moveTo>
                        <a:pt x="89805" y="114604"/>
                      </a:moveTo>
                      <a:cubicBezTo>
                        <a:pt x="114604" y="89805"/>
                        <a:pt x="114604" y="49598"/>
                        <a:pt x="89805" y="24799"/>
                      </a:cubicBezTo>
                      <a:cubicBezTo>
                        <a:pt x="65006" y="0"/>
                        <a:pt x="24799" y="0"/>
                        <a:pt x="0" y="24799"/>
                      </a:cubicBezTo>
                    </a:path>
                  </a:pathLst>
                </a:custGeom>
                <a:noFill/>
                <a:ln w="31750">
                  <a:solidFill>
                    <a:srgbClr val="27AE60"/>
                  </a:solidFill>
                </a:ln>
              </p:spPr>
            </p:sp>
            <p:sp>
              <p:nvSpPr>
                <p:cNvPr id="25" name="Freeform 25"/>
                <p:cNvSpPr/>
                <p:nvPr/>
              </p:nvSpPr>
              <p:spPr>
                <a:xfrm>
                  <a:off x="6687596" y="2627551"/>
                  <a:ext cx="114604" cy="11460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4604" h="114604">
                      <a:moveTo>
                        <a:pt x="24799" y="0"/>
                      </a:moveTo>
                      <a:cubicBezTo>
                        <a:pt x="0" y="24799"/>
                        <a:pt x="0" y="65006"/>
                        <a:pt x="24799" y="89805"/>
                      </a:cubicBezTo>
                      <a:cubicBezTo>
                        <a:pt x="49598" y="114604"/>
                        <a:pt x="89805" y="114604"/>
                        <a:pt x="114604" y="89805"/>
                      </a:cubicBezTo>
                    </a:path>
                  </a:pathLst>
                </a:custGeom>
                <a:noFill/>
                <a:ln w="31750">
                  <a:solidFill>
                    <a:srgbClr val="27AE60"/>
                  </a:solidFill>
                </a:ln>
              </p:spPr>
            </p:sp>
          </p:grpSp>
          <p:sp>
            <p:nvSpPr>
              <p:cNvPr id="27" name="TextBox 27"/>
              <p:cNvSpPr txBox="1"/>
              <p:nvPr/>
            </p:nvSpPr>
            <p:spPr>
              <a:xfrm>
                <a:off x="7306056" y="2552700"/>
                <a:ext cx="1980613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b="1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Гены и действия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7306056" y="2876550"/>
                <a:ext cx="2025634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dirty="0">
                    <a:solidFill>
                      <a:srgbClr val="5D6D7E"/>
                    </a:solidFill>
                    <a:latin typeface="+mn-lt"/>
                    <a:ea typeface="+mn-ea"/>
                    <a:cs typeface="+mn-cs"/>
                  </a:rPr>
                  <a:t>50% + 40% = 90%</a:t>
                </a:r>
              </a:p>
            </p:txBody>
          </p:sp>
        </p:grpSp>
        <p:grpSp>
          <p:nvGrpSpPr>
            <p:cNvPr id="36" name="p16-c3"/>
            <p:cNvGrpSpPr/>
            <p:nvPr/>
          </p:nvGrpSpPr>
          <p:grpSpPr>
            <a:xfrm>
              <a:off x="1714500" y="3524250"/>
              <a:ext cx="4191000" cy="1047750"/>
              <a:chOff x="1714500" y="3524250"/>
              <a:chExt cx="4191000" cy="1047750"/>
            </a:xfrm>
          </p:grpSpPr>
          <p:sp>
            <p:nvSpPr>
              <p:cNvPr id="30" name="Rectangle 30"/>
              <p:cNvSpPr/>
              <p:nvPr/>
            </p:nvSpPr>
            <p:spPr>
              <a:xfrm>
                <a:off x="1714500" y="3524250"/>
                <a:ext cx="4191000" cy="1047750"/>
              </a:xfrm>
              <a:prstGeom prst="roundRect">
                <a:avLst>
                  <a:gd name="adj" fmla="val 12727"/>
                </a:avLst>
              </a:prstGeom>
              <a:solidFill>
                <a:srgbClr val="FFFFFF">
                  <a:alpha val="92000"/>
                </a:srgbClr>
              </a:solidFill>
              <a:ln w="19050">
                <a:solidFill>
                  <a:srgbClr val="27AE60"/>
                </a:solidFill>
              </a:ln>
            </p:spPr>
          </p:sp>
          <p:grpSp>
            <p:nvGrpSpPr>
              <p:cNvPr id="33" name="Group 33"/>
              <p:cNvGrpSpPr/>
              <p:nvPr/>
            </p:nvGrpSpPr>
            <p:grpSpPr>
              <a:xfrm>
                <a:off x="1968500" y="3873500"/>
                <a:ext cx="254000" cy="254001"/>
                <a:chOff x="1968500" y="3873500"/>
                <a:chExt cx="254000" cy="254001"/>
              </a:xfrm>
            </p:grpSpPr>
            <p:sp>
              <p:nvSpPr>
                <p:cNvPr id="31" name="Freeform 31"/>
                <p:cNvSpPr/>
                <p:nvPr/>
              </p:nvSpPr>
              <p:spPr>
                <a:xfrm>
                  <a:off x="1968500" y="3873500"/>
                  <a:ext cx="238125" cy="25400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8125" h="254001">
                      <a:moveTo>
                        <a:pt x="206375" y="63500"/>
                      </a:moveTo>
                      <a:lnTo>
                        <a:pt x="206375" y="15875"/>
                      </a:lnTo>
                      <a:cubicBezTo>
                        <a:pt x="206375" y="7107"/>
                        <a:pt x="199268" y="0"/>
                        <a:pt x="190500" y="0"/>
                      </a:cubicBezTo>
                      <a:lnTo>
                        <a:pt x="31750" y="0"/>
                      </a:lnTo>
                      <a:cubicBezTo>
                        <a:pt x="14215" y="0"/>
                        <a:pt x="0" y="14215"/>
                        <a:pt x="0" y="31750"/>
                      </a:cubicBezTo>
                      <a:cubicBezTo>
                        <a:pt x="0" y="49285"/>
                        <a:pt x="14215" y="63500"/>
                        <a:pt x="31750" y="63500"/>
                      </a:cubicBezTo>
                      <a:lnTo>
                        <a:pt x="222250" y="63500"/>
                      </a:lnTo>
                      <a:cubicBezTo>
                        <a:pt x="231018" y="63500"/>
                        <a:pt x="238125" y="70608"/>
                        <a:pt x="238125" y="79375"/>
                      </a:cubicBezTo>
                      <a:lnTo>
                        <a:pt x="238125" y="127000"/>
                      </a:lnTo>
                      <a:moveTo>
                        <a:pt x="238125" y="190500"/>
                      </a:moveTo>
                      <a:lnTo>
                        <a:pt x="238125" y="238125"/>
                      </a:lnTo>
                      <a:cubicBezTo>
                        <a:pt x="238125" y="246893"/>
                        <a:pt x="231018" y="254001"/>
                        <a:pt x="222250" y="254001"/>
                      </a:cubicBezTo>
                      <a:lnTo>
                        <a:pt x="31750" y="254001"/>
                      </a:lnTo>
                      <a:cubicBezTo>
                        <a:pt x="14215" y="254001"/>
                        <a:pt x="0" y="239786"/>
                        <a:pt x="0" y="222250"/>
                      </a:cubicBezTo>
                      <a:lnTo>
                        <a:pt x="0" y="31750"/>
                      </a:lnTo>
                    </a:path>
                  </a:pathLst>
                </a:custGeom>
                <a:noFill/>
                <a:ln w="31750">
                  <a:solidFill>
                    <a:srgbClr val="27AE60"/>
                  </a:solidFill>
                </a:ln>
              </p:spPr>
            </p:sp>
            <p:sp>
              <p:nvSpPr>
                <p:cNvPr id="32" name="Freeform 32"/>
                <p:cNvSpPr/>
                <p:nvPr/>
              </p:nvSpPr>
              <p:spPr>
                <a:xfrm>
                  <a:off x="2127250" y="4000500"/>
                  <a:ext cx="95250" cy="635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0" h="63500">
                      <a:moveTo>
                        <a:pt x="95250" y="0"/>
                      </a:moveTo>
                      <a:lnTo>
                        <a:pt x="95250" y="63500"/>
                      </a:lnTo>
                      <a:lnTo>
                        <a:pt x="31750" y="63500"/>
                      </a:lnTo>
                      <a:cubicBezTo>
                        <a:pt x="14215" y="63500"/>
                        <a:pt x="0" y="49285"/>
                        <a:pt x="0" y="31750"/>
                      </a:cubicBezTo>
                      <a:cubicBezTo>
                        <a:pt x="0" y="14215"/>
                        <a:pt x="14215" y="0"/>
                        <a:pt x="31750" y="0"/>
                      </a:cubicBezTo>
                      <a:lnTo>
                        <a:pt x="95250" y="0"/>
                      </a:lnTo>
                    </a:path>
                  </a:pathLst>
                </a:custGeom>
                <a:noFill/>
                <a:ln w="31750">
                  <a:solidFill>
                    <a:srgbClr val="27AE60"/>
                  </a:solidFill>
                </a:ln>
              </p:spPr>
            </p:sp>
          </p:grpSp>
          <p:sp>
            <p:nvSpPr>
              <p:cNvPr id="34" name="TextBox 34"/>
              <p:cNvSpPr txBox="1"/>
              <p:nvPr/>
            </p:nvSpPr>
            <p:spPr>
              <a:xfrm>
                <a:off x="2734056" y="3790950"/>
                <a:ext cx="1980613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b="1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Доход до порога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2734056" y="4114800"/>
                <a:ext cx="1861247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dirty="0">
                    <a:solidFill>
                      <a:srgbClr val="5D6D7E"/>
                    </a:solidFill>
                    <a:latin typeface="+mn-lt"/>
                    <a:ea typeface="+mn-ea"/>
                    <a:cs typeface="+mn-cs"/>
                  </a:rPr>
                  <a:t>дальше — плато</a:t>
                </a:r>
              </a:p>
            </p:txBody>
          </p:sp>
        </p:grpSp>
        <p:grpSp>
          <p:nvGrpSpPr>
            <p:cNvPr id="44" name="p16-c4"/>
            <p:cNvGrpSpPr/>
            <p:nvPr/>
          </p:nvGrpSpPr>
          <p:grpSpPr>
            <a:xfrm>
              <a:off x="6286500" y="3524250"/>
              <a:ext cx="4191000" cy="1047750"/>
              <a:chOff x="6286500" y="3524250"/>
              <a:chExt cx="4191000" cy="1047750"/>
            </a:xfrm>
          </p:grpSpPr>
          <p:sp>
            <p:nvSpPr>
              <p:cNvPr id="37" name="Rectangle 37"/>
              <p:cNvSpPr/>
              <p:nvPr/>
            </p:nvSpPr>
            <p:spPr>
              <a:xfrm>
                <a:off x="6286500" y="3524250"/>
                <a:ext cx="4191000" cy="1047750"/>
              </a:xfrm>
              <a:prstGeom prst="roundRect">
                <a:avLst>
                  <a:gd name="adj" fmla="val 12727"/>
                </a:avLst>
              </a:prstGeom>
              <a:solidFill>
                <a:srgbClr val="FFFFFF">
                  <a:alpha val="92000"/>
                </a:srgbClr>
              </a:solidFill>
              <a:ln w="19050">
                <a:solidFill>
                  <a:srgbClr val="27AE60"/>
                </a:solidFill>
              </a:ln>
            </p:spPr>
          </p:sp>
          <p:grpSp>
            <p:nvGrpSpPr>
              <p:cNvPr id="41" name="Group 41"/>
              <p:cNvGrpSpPr/>
              <p:nvPr/>
            </p:nvGrpSpPr>
            <p:grpSpPr>
              <a:xfrm>
                <a:off x="6572250" y="3857625"/>
                <a:ext cx="190500" cy="285751"/>
                <a:chOff x="6572250" y="3857625"/>
                <a:chExt cx="190500" cy="285751"/>
              </a:xfrm>
            </p:grpSpPr>
            <p:sp>
              <p:nvSpPr>
                <p:cNvPr id="38" name="Freeform 38"/>
                <p:cNvSpPr/>
                <p:nvPr/>
              </p:nvSpPr>
              <p:spPr>
                <a:xfrm>
                  <a:off x="6572250" y="3857625"/>
                  <a:ext cx="190500" cy="28575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0500" h="285751">
                      <a:moveTo>
                        <a:pt x="0" y="31750"/>
                      </a:moveTo>
                      <a:cubicBezTo>
                        <a:pt x="0" y="14215"/>
                        <a:pt x="14215" y="0"/>
                        <a:pt x="31750" y="0"/>
                      </a:cubicBezTo>
                      <a:lnTo>
                        <a:pt x="158750" y="0"/>
                      </a:lnTo>
                      <a:cubicBezTo>
                        <a:pt x="176285" y="0"/>
                        <a:pt x="190500" y="14215"/>
                        <a:pt x="190500" y="31750"/>
                      </a:cubicBezTo>
                      <a:lnTo>
                        <a:pt x="190500" y="254001"/>
                      </a:lnTo>
                      <a:cubicBezTo>
                        <a:pt x="190500" y="271536"/>
                        <a:pt x="176285" y="285751"/>
                        <a:pt x="158750" y="285751"/>
                      </a:cubicBezTo>
                      <a:lnTo>
                        <a:pt x="31750" y="285751"/>
                      </a:lnTo>
                      <a:cubicBezTo>
                        <a:pt x="14215" y="285751"/>
                        <a:pt x="0" y="271536"/>
                        <a:pt x="0" y="254001"/>
                      </a:cubicBezTo>
                      <a:lnTo>
                        <a:pt x="0" y="31750"/>
                      </a:lnTo>
                    </a:path>
                  </a:pathLst>
                </a:custGeom>
                <a:noFill/>
                <a:ln w="31750">
                  <a:solidFill>
                    <a:srgbClr val="27AE60"/>
                  </a:solidFill>
                </a:ln>
              </p:spPr>
            </p:sp>
            <p:sp>
              <p:nvSpPr>
                <p:cNvPr id="39" name="Freeform 39"/>
                <p:cNvSpPr/>
                <p:nvPr/>
              </p:nvSpPr>
              <p:spPr>
                <a:xfrm>
                  <a:off x="6651625" y="3873500"/>
                  <a:ext cx="31750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750" h="9525">
                      <a:moveTo>
                        <a:pt x="0" y="0"/>
                      </a:moveTo>
                      <a:lnTo>
                        <a:pt x="31750" y="0"/>
                      </a:lnTo>
                    </a:path>
                  </a:pathLst>
                </a:custGeom>
                <a:noFill/>
                <a:ln w="31750">
                  <a:solidFill>
                    <a:srgbClr val="27AE60"/>
                  </a:solidFill>
                </a:ln>
              </p:spPr>
            </p:sp>
            <p:sp>
              <p:nvSpPr>
                <p:cNvPr id="40" name="Freeform 40"/>
                <p:cNvSpPr/>
                <p:nvPr/>
              </p:nvSpPr>
              <p:spPr>
                <a:xfrm>
                  <a:off x="6667500" y="4079876"/>
                  <a:ext cx="9525" cy="9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" h="9525">
                      <a:moveTo>
                        <a:pt x="0" y="0"/>
                      </a:moveTo>
                      <a:lnTo>
                        <a:pt x="0" y="159"/>
                      </a:lnTo>
                    </a:path>
                  </a:pathLst>
                </a:custGeom>
                <a:noFill/>
                <a:ln w="31750">
                  <a:solidFill>
                    <a:srgbClr val="27AE60"/>
                  </a:solidFill>
                </a:ln>
              </p:spPr>
            </p:sp>
          </p:grpSp>
          <p:sp>
            <p:nvSpPr>
              <p:cNvPr id="42" name="TextBox 42"/>
              <p:cNvSpPr txBox="1"/>
              <p:nvPr/>
            </p:nvSpPr>
            <p:spPr>
              <a:xfrm>
                <a:off x="7306056" y="3790950"/>
                <a:ext cx="2052921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b="1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Цифровой баланс</a:t>
                </a:r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7306056" y="4114800"/>
                <a:ext cx="1951437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dirty="0">
                    <a:solidFill>
                      <a:srgbClr val="5D6D7E"/>
                    </a:solidFill>
                    <a:latin typeface="+mn-lt"/>
                    <a:ea typeface="+mn-ea"/>
                    <a:cs typeface="+mn-cs"/>
                  </a:rPr>
                  <a:t>меньше соцсетей</a:t>
                </a:r>
              </a:p>
            </p:txBody>
          </p:sp>
        </p:grpSp>
        <p:grpSp>
          <p:nvGrpSpPr>
            <p:cNvPr id="51" name="p16-c5"/>
            <p:cNvGrpSpPr/>
            <p:nvPr/>
          </p:nvGrpSpPr>
          <p:grpSpPr>
            <a:xfrm>
              <a:off x="1714500" y="4762500"/>
              <a:ext cx="4191000" cy="1047750"/>
              <a:chOff x="1714500" y="4762500"/>
              <a:chExt cx="4191000" cy="1047750"/>
            </a:xfrm>
          </p:grpSpPr>
          <p:sp>
            <p:nvSpPr>
              <p:cNvPr id="45" name="Rectangle 45"/>
              <p:cNvSpPr/>
              <p:nvPr/>
            </p:nvSpPr>
            <p:spPr>
              <a:xfrm>
                <a:off x="1714500" y="4762500"/>
                <a:ext cx="4191000" cy="1047750"/>
              </a:xfrm>
              <a:prstGeom prst="roundRect">
                <a:avLst>
                  <a:gd name="adj" fmla="val 12727"/>
                </a:avLst>
              </a:prstGeom>
              <a:solidFill>
                <a:srgbClr val="FFFFFF">
                  <a:alpha val="92000"/>
                </a:srgbClr>
              </a:solidFill>
              <a:ln w="19050">
                <a:solidFill>
                  <a:srgbClr val="27AE60"/>
                </a:solidFill>
              </a:ln>
            </p:spPr>
          </p:sp>
          <p:grpSp>
            <p:nvGrpSpPr>
              <p:cNvPr id="48" name="Group 48"/>
              <p:cNvGrpSpPr/>
              <p:nvPr/>
            </p:nvGrpSpPr>
            <p:grpSpPr>
              <a:xfrm>
                <a:off x="1931201" y="5095875"/>
                <a:ext cx="310011" cy="285751"/>
                <a:chOff x="1931201" y="5095875"/>
                <a:chExt cx="310011" cy="285751"/>
              </a:xfrm>
            </p:grpSpPr>
            <p:sp>
              <p:nvSpPr>
                <p:cNvPr id="46" name="Freeform 46"/>
                <p:cNvSpPr/>
                <p:nvPr/>
              </p:nvSpPr>
              <p:spPr>
                <a:xfrm>
                  <a:off x="1931201" y="5095875"/>
                  <a:ext cx="310011" cy="28330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0011" h="283306">
                      <a:moveTo>
                        <a:pt x="155727" y="283306"/>
                      </a:moveTo>
                      <a:cubicBezTo>
                        <a:pt x="56277" y="252479"/>
                        <a:pt x="0" y="147517"/>
                        <a:pt x="29362" y="47625"/>
                      </a:cubicBezTo>
                      <a:cubicBezTo>
                        <a:pt x="78821" y="49888"/>
                        <a:pt x="127218" y="32807"/>
                        <a:pt x="164299" y="0"/>
                      </a:cubicBezTo>
                      <a:cubicBezTo>
                        <a:pt x="201381" y="32807"/>
                        <a:pt x="249778" y="49888"/>
                        <a:pt x="299237" y="47625"/>
                      </a:cubicBezTo>
                      <a:cubicBezTo>
                        <a:pt x="310011" y="84282"/>
                        <a:pt x="309513" y="123332"/>
                        <a:pt x="297808" y="159703"/>
                      </a:cubicBezTo>
                    </a:path>
                  </a:pathLst>
                </a:custGeom>
                <a:noFill/>
                <a:ln w="31750">
                  <a:solidFill>
                    <a:srgbClr val="27AE60"/>
                  </a:solidFill>
                </a:ln>
              </p:spPr>
            </p:sp>
            <p:sp>
              <p:nvSpPr>
                <p:cNvPr id="47" name="Freeform 47"/>
                <p:cNvSpPr/>
                <p:nvPr/>
              </p:nvSpPr>
              <p:spPr>
                <a:xfrm>
                  <a:off x="2143125" y="5318126"/>
                  <a:ext cx="95250" cy="635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5250" h="63500">
                      <a:moveTo>
                        <a:pt x="0" y="31750"/>
                      </a:moveTo>
                      <a:lnTo>
                        <a:pt x="31750" y="63500"/>
                      </a:lnTo>
                      <a:lnTo>
                        <a:pt x="95250" y="0"/>
                      </a:lnTo>
                    </a:path>
                  </a:pathLst>
                </a:custGeom>
                <a:noFill/>
                <a:ln w="31750">
                  <a:solidFill>
                    <a:srgbClr val="27AE60"/>
                  </a:solidFill>
                </a:ln>
              </p:spPr>
            </p:sp>
          </p:grpSp>
          <p:sp>
            <p:nvSpPr>
              <p:cNvPr id="49" name="TextBox 49"/>
              <p:cNvSpPr txBox="1"/>
              <p:nvPr/>
            </p:nvSpPr>
            <p:spPr>
              <a:xfrm>
                <a:off x="2734056" y="5029200"/>
                <a:ext cx="2685021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b="1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Стрессоустойчивость</a:t>
                </a:r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2734056" y="5353050"/>
                <a:ext cx="1285068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dirty="0">
                    <a:solidFill>
                      <a:srgbClr val="5D6D7E"/>
                    </a:solidFill>
                    <a:latin typeface="+mn-lt"/>
                    <a:ea typeface="+mn-ea"/>
                    <a:cs typeface="+mn-cs"/>
                  </a:rPr>
                  <a:t>и здоровье</a:t>
                </a:r>
              </a:p>
            </p:txBody>
          </p:sp>
        </p:grpSp>
        <p:grpSp>
          <p:nvGrpSpPr>
            <p:cNvPr id="56" name="p16-c6"/>
            <p:cNvGrpSpPr/>
            <p:nvPr/>
          </p:nvGrpSpPr>
          <p:grpSpPr>
            <a:xfrm>
              <a:off x="6286500" y="4762500"/>
              <a:ext cx="4191000" cy="1047750"/>
              <a:chOff x="6286500" y="4762500"/>
              <a:chExt cx="4191000" cy="1047750"/>
            </a:xfrm>
          </p:grpSpPr>
          <p:sp>
            <p:nvSpPr>
              <p:cNvPr id="52" name="Rectangle 52"/>
              <p:cNvSpPr/>
              <p:nvPr/>
            </p:nvSpPr>
            <p:spPr>
              <a:xfrm>
                <a:off x="6286500" y="4762500"/>
                <a:ext cx="4191000" cy="1047750"/>
              </a:xfrm>
              <a:prstGeom prst="roundRect">
                <a:avLst>
                  <a:gd name="adj" fmla="val 12727"/>
                </a:avLst>
              </a:prstGeom>
              <a:solidFill>
                <a:srgbClr val="FFFFFF">
                  <a:alpha val="92000"/>
                </a:srgbClr>
              </a:solidFill>
              <a:ln w="19050">
                <a:solidFill>
                  <a:srgbClr val="27AE60"/>
                </a:solidFill>
              </a:ln>
            </p:spPr>
          </p:sp>
          <p:sp>
            <p:nvSpPr>
              <p:cNvPr id="53" name="Freeform 53"/>
              <p:cNvSpPr/>
              <p:nvPr/>
            </p:nvSpPr>
            <p:spPr>
              <a:xfrm>
                <a:off x="6524625" y="5111750"/>
                <a:ext cx="269876" cy="254001"/>
              </a:xfrm>
              <a:custGeom>
                <a:avLst/>
                <a:gdLst/>
                <a:ahLst/>
                <a:cxnLst/>
                <a:rect l="l" t="t" r="r" b="b"/>
                <a:pathLst>
                  <a:path w="269876" h="254001">
                    <a:moveTo>
                      <a:pt x="206375" y="222250"/>
                    </a:moveTo>
                    <a:cubicBezTo>
                      <a:pt x="223910" y="222250"/>
                      <a:pt x="238125" y="236465"/>
                      <a:pt x="238125" y="254001"/>
                    </a:cubicBezTo>
                    <a:cubicBezTo>
                      <a:pt x="238125" y="236465"/>
                      <a:pt x="252340" y="222250"/>
                      <a:pt x="269876" y="222250"/>
                    </a:cubicBezTo>
                    <a:cubicBezTo>
                      <a:pt x="252340" y="222250"/>
                      <a:pt x="238125" y="208035"/>
                      <a:pt x="238125" y="190500"/>
                    </a:cubicBezTo>
                    <a:cubicBezTo>
                      <a:pt x="238125" y="208035"/>
                      <a:pt x="223910" y="222250"/>
                      <a:pt x="206375" y="222250"/>
                    </a:cubicBezTo>
                    <a:moveTo>
                      <a:pt x="206375" y="31750"/>
                    </a:moveTo>
                    <a:cubicBezTo>
                      <a:pt x="223910" y="31750"/>
                      <a:pt x="238125" y="45965"/>
                      <a:pt x="238125" y="63500"/>
                    </a:cubicBezTo>
                    <a:cubicBezTo>
                      <a:pt x="238125" y="45965"/>
                      <a:pt x="252340" y="31750"/>
                      <a:pt x="269876" y="31750"/>
                    </a:cubicBezTo>
                    <a:cubicBezTo>
                      <a:pt x="252340" y="31750"/>
                      <a:pt x="238125" y="17535"/>
                      <a:pt x="238125" y="0"/>
                    </a:cubicBezTo>
                    <a:cubicBezTo>
                      <a:pt x="238125" y="17535"/>
                      <a:pt x="223910" y="31750"/>
                      <a:pt x="206375" y="31750"/>
                    </a:cubicBezTo>
                    <a:moveTo>
                      <a:pt x="95250" y="222250"/>
                    </a:moveTo>
                    <a:cubicBezTo>
                      <a:pt x="95250" y="169645"/>
                      <a:pt x="137895" y="127000"/>
                      <a:pt x="190500" y="127000"/>
                    </a:cubicBezTo>
                    <a:cubicBezTo>
                      <a:pt x="137895" y="127000"/>
                      <a:pt x="95250" y="84355"/>
                      <a:pt x="95250" y="31750"/>
                    </a:cubicBezTo>
                    <a:cubicBezTo>
                      <a:pt x="95250" y="84355"/>
                      <a:pt x="52605" y="127000"/>
                      <a:pt x="0" y="127000"/>
                    </a:cubicBezTo>
                    <a:cubicBezTo>
                      <a:pt x="52605" y="127000"/>
                      <a:pt x="95250" y="169645"/>
                      <a:pt x="95250" y="222250"/>
                    </a:cubicBezTo>
                  </a:path>
                </a:pathLst>
              </a:custGeom>
              <a:noFill/>
              <a:ln w="31750">
                <a:solidFill>
                  <a:srgbClr val="27AE60"/>
                </a:solidFill>
              </a:ln>
            </p:spPr>
          </p:sp>
          <p:sp>
            <p:nvSpPr>
              <p:cNvPr id="54" name="TextBox 54"/>
              <p:cNvSpPr txBox="1"/>
              <p:nvPr/>
            </p:nvSpPr>
            <p:spPr>
              <a:xfrm>
                <a:off x="7306056" y="5029200"/>
                <a:ext cx="2612611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b="1" dirty="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rPr>
                  <a:t>Счастье развивается</a:t>
                </a:r>
              </a:p>
            </p:txBody>
          </p:sp>
          <p:sp>
            <p:nvSpPr>
              <p:cNvPr id="55" name="TextBox 55"/>
              <p:cNvSpPr txBox="1"/>
              <p:nvPr/>
            </p:nvSpPr>
            <p:spPr>
              <a:xfrm>
                <a:off x="7306056" y="5353050"/>
                <a:ext cx="2617806" cy="3520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ru" sz="1800" dirty="0">
                    <a:solidFill>
                      <a:srgbClr val="5D6D7E"/>
                    </a:solidFill>
                    <a:latin typeface="+mn-lt"/>
                    <a:ea typeface="+mn-ea"/>
                    <a:cs typeface="+mn-cs"/>
                  </a:rPr>
                  <a:t>осознанными усилиями</a:t>
                </a:r>
              </a:p>
            </p:txBody>
          </p:sp>
        </p:grpSp>
      </p:grpSp>
      <p:pic>
        <p:nvPicPr>
          <p:cNvPr id="58" name="PPT Master narration: narration16.mp3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2" fill="hold" display="0">
                  <p:stCondLst>
                    <p:cond delay="300"/>
                  </p:stCondLst>
                </p:cTn>
                <p:tgtEl>
                  <p:spTgt spid="58"/>
                </p:tgtEl>
              </p:cMediaNode>
            </p:audio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p14="http://schemas.microsoft.com/office/powerpoint/2010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17-photo"/>
          <p:cNvPicPr>
            <a:picLocks noChangeAspect="1"/>
          </p:cNvPicPr>
          <p:nvPr/>
        </p:nvPicPr>
        <p:blipFill>
          <a:blip r:embed="rId2"/>
          <a:srcRect l="0" t="7812" r="0" b="78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p17-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D6EAF8">
                  <a:alpha val="90000"/>
                </a:srgbClr>
              </a:gs>
              <a:gs pos="100000">
                <a:srgbClr val="F5E6D3">
                  <a:alpha val="9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4" name="p17-accent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5" name="p17-foot"/>
          <p:cNvSpPr txBox="1"/>
          <p:nvPr/>
        </p:nvSpPr>
        <p:spPr>
          <a:xfrm>
            <a:off x="752856" y="6343650"/>
            <a:ext cx="3078699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ru" sz="180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Концепция счастья · ИС-24</a:t>
            </a:r>
          </a:p>
        </p:txBody>
      </p:sp>
      <p:sp>
        <p:nvSpPr>
          <p:cNvPr id="6" name="p17-num"/>
          <p:cNvSpPr txBox="1"/>
          <p:nvPr/>
        </p:nvSpPr>
        <p:spPr>
          <a:xfrm>
            <a:off x="11151304" y="6343650"/>
            <a:ext cx="287840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ru" sz="1800" dirty="0">
                <a:solidFill>
                  <a:srgbClr val="5D6D7E"/>
                </a:solidFill>
                <a:latin typeface="+mn-lt"/>
                <a:ea typeface="+mn-ea"/>
                <a:cs typeface="+mn-cs"/>
              </a:rPr>
              <a:t>17</a:t>
            </a:r>
          </a:p>
        </p:txBody>
      </p:sp>
      <p:grpSp>
        <p:nvGrpSpPr>
          <p:cNvPr id="8" name="p17-title"/>
          <p:cNvGrpSpPr/>
          <p:nvPr/>
        </p:nvGrpSpPr>
        <p:grpSpPr>
          <a:xfrm>
            <a:off x="743712" y="565150"/>
            <a:ext cx="5505074" cy="704088"/>
            <a:chOff x="743712" y="565150"/>
            <a:chExt cx="5505074" cy="704088"/>
          </a:xfrm>
        </p:grpSpPr>
        <p:sp>
          <p:nvSpPr>
            <p:cNvPr id="7" name="TextBox 7"/>
            <p:cNvSpPr txBox="1"/>
            <p:nvPr/>
          </p:nvSpPr>
          <p:spPr>
            <a:xfrm>
              <a:off x="743712" y="565150"/>
              <a:ext cx="5505074" cy="70408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36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Источники информации</a:t>
              </a:r>
            </a:p>
          </p:txBody>
        </p:sp>
      </p:grpSp>
      <p:grpSp>
        <p:nvGrpSpPr>
          <p:cNvPr id="27" name="p17-sources"/>
          <p:cNvGrpSpPr/>
          <p:nvPr/>
        </p:nvGrpSpPr>
        <p:grpSpPr>
          <a:xfrm>
            <a:off x="762000" y="1714500"/>
            <a:ext cx="10668000" cy="4191000"/>
            <a:chOff x="762000" y="1714500"/>
            <a:chExt cx="10668000" cy="4191000"/>
          </a:xfrm>
        </p:grpSpPr>
        <p:sp>
          <p:nvSpPr>
            <p:cNvPr id="9" name="Rectangle 9"/>
            <p:cNvSpPr/>
            <p:nvPr/>
          </p:nvSpPr>
          <p:spPr>
            <a:xfrm>
              <a:off x="762000" y="1714500"/>
              <a:ext cx="5143500" cy="4191000"/>
            </a:xfrm>
            <a:prstGeom prst="roundRect">
              <a:avLst>
                <a:gd name="adj" fmla="val 3636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10" name="Rectangle 10"/>
            <p:cNvSpPr/>
            <p:nvPr/>
          </p:nvSpPr>
          <p:spPr>
            <a:xfrm>
              <a:off x="6286500" y="1714500"/>
              <a:ext cx="5143500" cy="4191000"/>
            </a:xfrm>
            <a:prstGeom prst="roundRect">
              <a:avLst>
                <a:gd name="adj" fmla="val 3636"/>
              </a:avLst>
            </a:prstGeom>
            <a:solidFill>
              <a:srgbClr val="FFFFFF">
                <a:alpha val="85000"/>
              </a:srgbClr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057656" y="1943100"/>
              <a:ext cx="291091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1. Apteka.ru — материалы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57656" y="2247900"/>
              <a:ext cx="331089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2. Рувики, статья «Счастье»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57656" y="2552700"/>
              <a:ext cx="3110130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3. Журнал «Большой город»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057656" y="2857500"/>
              <a:ext cx="407185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4. Образовательный портал Skillbox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1057656" y="3162300"/>
              <a:ext cx="2942726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5. НИУ ВШЭ, исследования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057656" y="3467100"/>
              <a:ext cx="331483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6. УрФУ, научные публикации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57656" y="3771900"/>
              <a:ext cx="391736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7. Психологический портал b17.ru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057656" y="4076700"/>
              <a:ext cx="4135029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8. Экономический портал 1economic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1057656" y="4381500"/>
              <a:ext cx="3644743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9. Cyberleninka, научные статьи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057656" y="4686300"/>
              <a:ext cx="2748178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10. РИА Новости (Ria.ru)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705600" y="1905000"/>
              <a:ext cx="4686300" cy="1143000"/>
            </a:xfrm>
            <a:prstGeom prst="roundRect">
              <a:avLst>
                <a:gd name="adj" fmla="val 11667"/>
              </a:avLst>
            </a:prstGeom>
            <a:solidFill>
              <a:srgbClr val="27AE60">
                <a:alpha val="14000"/>
              </a:srgbClr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963156" y="2133600"/>
              <a:ext cx="1913005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rgbClr val="1E8449"/>
                  </a:solidFill>
                  <a:latin typeface="+mn-lt"/>
                  <a:ea typeface="+mn-ea"/>
                  <a:cs typeface="+mn-cs"/>
                </a:rPr>
                <a:t>Научная основа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963156" y="2476500"/>
              <a:ext cx="3192452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Селигман · Канеман и Дитон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705600" y="3238500"/>
              <a:ext cx="4686300" cy="1143000"/>
            </a:xfrm>
            <a:prstGeom prst="roundRect">
              <a:avLst>
                <a:gd name="adj" fmla="val 11667"/>
              </a:avLst>
            </a:prstGeom>
            <a:solidFill>
              <a:schemeClr val="accent1">
                <a:alpha val="12000"/>
              </a:schemeClr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963156" y="3467100"/>
              <a:ext cx="1005771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Критика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963156" y="3810000"/>
              <a:ext cx="3858277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ru" sz="18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Эренрейх · Стивенсон и Вольферс</a:t>
              </a:r>
            </a:p>
          </p:txBody>
        </p:sp>
      </p:grpSp>
      <p:grpSp>
        <p:nvGrpSpPr>
          <p:cNvPr id="29" name="p17-credit"/>
          <p:cNvGrpSpPr/>
          <p:nvPr/>
        </p:nvGrpSpPr>
        <p:grpSpPr>
          <a:xfrm>
            <a:off x="753618" y="6578600"/>
            <a:ext cx="5017870" cy="322707"/>
            <a:chOff x="753618" y="6578600"/>
            <a:chExt cx="5017870" cy="322707"/>
          </a:xfrm>
        </p:grpSpPr>
        <p:sp>
          <p:nvSpPr>
            <p:cNvPr id="28" name="credit"/>
            <p:cNvSpPr txBox="1"/>
            <p:nvPr/>
          </p:nvSpPr>
          <p:spPr>
            <a:xfrm>
              <a:off x="753618" y="6578600"/>
              <a:ext cx="5017870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650" dirty="0">
                  <a:solidFill>
                    <a:srgbClr val="7F8C8D"/>
                  </a:solidFill>
                  <a:latin typeface="+mn-lt"/>
                  <a:ea typeface="+mn-ea"/>
                  <a:cs typeface="+mn-cs"/>
                </a:rPr>
                <a:t>© Shixart1985 / Wikimedia Commons / CC BY 2.0</a:t>
              </a:r>
            </a:p>
          </p:txBody>
        </p:sp>
      </p:grpSp>
      <p:pic>
        <p:nvPicPr>
          <p:cNvPr id="30" name="PPT Master narration: narration17.mp3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-457200" y="-457200"/>
            <a:ext cx="457200" cy="457200"/>
          </a:xfrm>
          <a:prstGeom prst="rect">
            <a:avLst/>
          </a:prstGeom>
        </p:spPr>
      </p:pic>
    </p:spTree>
  </p:cSld>
  <p:clrMapOvr>
    <a:masterClrMapping/>
  </p:clrMapOvr>
  <p:transition p14:dur="5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2" fill="hold" display="0">
                  <p:stCondLst>
                    <p:cond delay="300"/>
                  </p:stCondLst>
                </p:cTn>
                <p:tgtEl>
                  <p:spTgt spid="30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happiness_concept">
  <a:themeElements>
    <a:clrScheme name="happiness_concept">
      <a:dk1>
        <a:srgbClr val="2C3E50"/>
      </a:dk1>
      <a:lt1>
        <a:srgbClr val="FFFFFF"/>
      </a:lt1>
      <a:dk2>
        <a:srgbClr val="2C3E50"/>
      </a:dk2>
      <a:lt2>
        <a:srgbClr val="EEECE1"/>
      </a:lt2>
      <a:accent1>
        <a:srgbClr val="1B4F72"/>
      </a:accent1>
      <a:accent2>
        <a:srgbClr val="1B4F72"/>
      </a:accent2>
      <a:accent3>
        <a:srgbClr val="9BBB59"/>
      </a:accent3>
      <a:accent4>
        <a:srgbClr val="1B4F72"/>
      </a:accent4>
      <a:accent5>
        <a:srgbClr val="4BACC6"/>
      </a:accent5>
      <a:accent6>
        <a:srgbClr val="F79646"/>
      </a:accent6>
      <a:hlink>
        <a:srgbClr val="1B4F72"/>
      </a:hlink>
      <a:folHlink>
        <a:srgbClr val="800080"/>
      </a:folHlink>
    </a:clrScheme>
    <a:fontScheme name="happiness_concept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happiness_concep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happiness_concept">
  <a:themeElements>
    <a:clrScheme name="happiness_concept">
      <a:dk1>
        <a:srgbClr val="2C3E50"/>
      </a:dk1>
      <a:lt1>
        <a:srgbClr val="FFFFFF"/>
      </a:lt1>
      <a:dk2>
        <a:srgbClr val="2C3E50"/>
      </a:dk2>
      <a:lt2>
        <a:srgbClr val="EEECE1"/>
      </a:lt2>
      <a:accent1>
        <a:srgbClr val="1B4F72"/>
      </a:accent1>
      <a:accent2>
        <a:srgbClr val="1B4F72"/>
      </a:accent2>
      <a:accent3>
        <a:srgbClr val="9BBB59"/>
      </a:accent3>
      <a:accent4>
        <a:srgbClr val="1B4F72"/>
      </a:accent4>
      <a:accent5>
        <a:srgbClr val="4BACC6"/>
      </a:accent5>
      <a:accent6>
        <a:srgbClr val="F79646"/>
      </a:accent6>
      <a:hlink>
        <a:srgbClr val="1B4F72"/>
      </a:hlink>
      <a:folHlink>
        <a:srgbClr val="800080"/>
      </a:folHlink>
    </a:clrScheme>
    <a:fontScheme name="happiness_concept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happiness_concep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17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ru</dc:language>
  <cp:lastModifiedBy/>
  <cp:revision>1</cp:revision>
  <dcterms:created xsi:type="dcterms:W3CDTF">2026-10-08T09:38:37Z</dcterms:created>
  <dcterms:modified xsi:type="dcterms:W3CDTF">2026-10-08T09:38:37Z</dcterms:modified>
  <cp:category/>
  <cp:contentStatus/>
</cp:coreProperties>
</file>