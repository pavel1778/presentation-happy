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Разберёмся по порядку.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— выяснить, что делает людей счастливыми. Три задачи: рассмотреть научные подходы, выявить ключевые факторы и дать практические рекомендации. Дальше разберём, почему эта тема важна.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пройдём от философии к нейробиологии, от теорий к факторам, от данных к практическим выводам. Начнём с главного вопроса: почему счастье вообще стоит изучать?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Всемирная организация здравоохранения фиксирует рост депрессии. При этом средний уровень счастья не растёт. Парадокс: литературы о счастье всё больше, а счастливых людей меньше. Аристотель называл счастье «хорошим уделом». Что же такое счастье с научной точки зрения?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психологии счастье — это субъективное благополучие. Оно включает оценку жизни и эмоции. Существует четыре подхода: психоанализ Юнга, когнитивный, позитивный и био-психо-социальный. Барбара Фредриксон доказала: позитивные эмоции расширяют мышление и накапливают ресурсы. Какие системы мозга за это отвечают?</a:t>
            </a:r>
          </a:p>
          <a:p>
            <a:pPr/>
            <a:endParaRPr lang="ru" dirty="0"/>
          </a:p>
          <a:p>
            <a:pPr/>
            <a:r>
              <a:rPr lang="ru" dirty="0"/>
              <a:t>В русской традиции проблему счастья разрабатывали С. Л. Рубинштейн (счастье как связь с философией и психологией, «Бытие и сознание», 1957) и Д. А. Леонтьев (смысл жизни и жизненные ориентации, «Психология смысла», 2003).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Четыре ключевых нейромедиатора. Дофамин отвечает за предвкушение и мотивацию, серотонин — за настроение и сон, эндорфины — за лёгкость, окситоцин — за доверие и близость. Кент Берридж разделил liking и wanting — это открытие 1998 года. Как понимали счастье раньше?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определил счастье как эвдемонию. Стоики — как внутреннее спокойствие. Фома Аквинский — как дар Божий. Просвещение провозгласило его естественным правом. Утилитаризм — максимизацией удовольствия. Двадцать первый век — многомерным феноменом.</a:t>
            </a:r>
          </a:p>
          <a:p>
            <a:pPr/>
            <a:endParaRPr lang="ru" dirty="0"/>
          </a:p>
          <a:p>
            <a:pPr/>
            <a:r>
              <a:rPr lang="ru" dirty="0"/>
              <a:t>Русская традиция добавляет свои голоса. Никон Оптинский писал: «Счастью моему нет предела, я наконец узнал, что такое Царствие Божие внутри вас есть». Мученик Евстратий говорил: «Мучение это суть радость». Братья Стругацкие в «Понедельнике начинается в субботу» иронично заметили: «Счастье есть отсутствие несчастья». В Томске даже стоит памятник счастью — символ того, что счастье есть культурный феномен, а представление о нём менялось от эпохи к эпохе.</a:t>
            </a:r>
          </a:p>
          <a:p>
            <a:pPr/>
            <a:endParaRPr lang="ru" dirty="0"/>
          </a:p>
          <a:p>
            <a:pPr/>
            <a:r>
              <a:rPr lang="ru" dirty="0"/>
              <a:t>Какие два подхода конкурируют сегодня?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как максимум удовольствия, но есть риск быстрого привыкания. Эвдемония: счастье как смысл и добродетели, результат устойчивее. Канадский психолог Гордон Ньюфелд говорил: счастье находится по ту сторону слёз. Как измерить счастье в процентах?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Спор о гедонии и эвдемонии — один из древнейших в этике. Аристотель определял эвдемонию не как пассивное состояние, а как «деятельность души в полноте добродетели» — жизнь по разуму в стремлении к совершенству (Eudaimonia). Гедония же — это удовольствие и отсутствие страданий (Hedone). Иными словами, вопрос «что такое счастье» был поставлен философией задолго до психологии, и уже тогда стало ясно: быстрое удовольствие и устойчивый смысл — это разные вещи. Как измерить счастье в процентах? Но их относительная важность зависит от человека и ситуации.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пятьдесят процентов генетика, сорок процентов действия, десять процентов обстоятельства. Соня Любомирски назвала это теорией сорока процентов. Но мета-анализ Рорера и Шмукле 2018 года уточняет: гены и среда взаимодействуют, а не суммируются. Что реально влияет на счастье? Формула впервые предложена Lyubomirsky, Sheldon &amp; Schkade (2005). Это иллюстративная модель, а не универсальный закон: наследуемость и вклад действий оцениваются по-разному.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Гарвардское исследование длиной восемьдесят пять лет показало: качество отношений — сильнейший предиктор счастья. Другие факторы: здоровье, осмысленность, благодарность и состояние потока по Чиксентмихайи.</a:t>
            </a:r>
          </a:p>
          <a:p>
            <a:pPr/>
            <a:endParaRPr lang="ru" dirty="0"/>
          </a:p>
          <a:p>
            <a:pPr/>
            <a:r>
              <a:rPr lang="ru" dirty="0"/>
              <a:t>Три книги помогают это понять. Джонатан Хайдт, «Гипотеза счастья: поиск современной истины в древней мудрости» (2006), сравнивает душу с наездником на слоне: разум направляет, но эмоции сильнее. Лоретта Бройнинг, «Гормоны счастья. Приучите свой мозг вырабатывать серотонин, дофамин, эндорфин и окситоцин», объясняет химию этих нейромедиаторов. Михай Чиксентмихайи, «Психология оптимального переживания», описывает поток — полную вовлечённость, в которой время исчезает.</a:t>
            </a:r>
          </a:p>
          <a:p>
            <a:pPr/>
            <a:endParaRPr lang="ru" dirty="0"/>
          </a:p>
          <a:p>
            <a:pPr/>
            <a:r>
              <a:rPr lang="ru" dirty="0"/>
              <a:t>Промежуточный вывод: для большинства людей, по данным Harvard Study, качество отношений — важнейший фактор, но деньги тоже важны до определённого уровня.</a:t>
            </a:r>
          </a:p>
          <a:p>
            <a:pPr/>
            <a:endParaRPr lang="ru" dirty="0"/>
          </a:p>
          <a:p>
            <a:pPr/>
            <a:r>
              <a:rPr lang="ru" dirty="0"/>
              <a:t>В русской психологии проблему счастья и настроения развивали И. А. Джидарьян («Психология счастья и оптимизма», 2013), Л. В. Куликов («Психология настроения», 1997) и В. А. Петровский (идея «состояния потока» в отечественной традиции).</a:t>
            </a:r>
          </a:p>
          <a:p>
            <a:pPr/>
            <a:endParaRPr lang="ru" dirty="0"/>
          </a:p>
          <a:p>
            <a:pPr/>
            <a:r>
              <a:rPr lang="ru" dirty="0"/>
              <a:t>А что насчёт денег?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2010 году показали порог в семьдесят пять тысяч долларов. Но Киллингсворт в 2021 году выяснил: счастье растёт и дальше. В 2023 году Канеман и Киллингсворт выпустили совместную работу: плато — только у двадцати процентов самых несчастных. А как насчёт образования?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Ещё в античности спорили, делает ли богатство счастливым. Аристотель считал, что умеренное благосостояние — условие достойной жизни, но не её цель: добродетель и разум важнее накопления. Эпикур, которого часто понимают неверно, учил довольствоваться малым и искать не роскошь, а спокойствие души (атараксию). Стоики, прежде всего Сенека, прямо писали: счастье зависит от нашего отношения к вещам, а не от их количества. Поэтому «плато» на графике дохода — это эмпирическое подтверждение старой философской мысли: деньги нужны до определённого предела, а дальше решает то, как мы распоряжаемся жизнью. А как насчёт образования?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нелинейна. Самая низкая удовлетворённость — у людей со средним специальным образованием. Причины: завышенные ожидания и ограниченные возможности. А что с цифровой средой?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Соцсети дают связь, поддержку, доступ к знаниям и онлайн-терапию. Но провоцируют сравнение, страх упустить, падение самооценки и плохой сон. Осознанное потребление и цифровой детокс повышают благополучие. Что делать конкретно?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конкретных шагов: инвестировать в отношения, практиковать благодарность, заниматься спортом, медитировать, ставить цели и ограничить соцсети. Каждый шаг подтверждён научными исследованиями.</a:t>
            </a:r>
          </a:p>
          <a:p>
            <a:pPr/>
            <a:endParaRPr lang="ru" dirty="0"/>
          </a:p>
          <a:p>
            <a:pPr/>
            <a:r>
              <a:rPr lang="ru" dirty="0"/>
              <a:t>Дополняет их список из статьи портала Apteka — пять шагов к счастью. Первый: признать истину — жизнь не обязана быть фейерверком радости. Второй: избавиться от обид, простить и отпустить. Третий: проживать все эмоции, включая негативные. Четвёртый: благодарность, фокус на хорошем. Пятый: искренность в общении, тёплые связи.</a:t>
            </a:r>
          </a:p>
          <a:p>
            <a:pPr/>
            <a:endParaRPr lang="ru" dirty="0"/>
          </a:p>
          <a:p>
            <a:pPr/>
            <a:r>
              <a:rPr lang="ru" dirty="0"/>
              <a:t>И важная мысль: призвание не обязательно связано с работой. Даже нелюбимая работа может приносить пользу, если видеть в ней смысл. Академик Сергей Смирнов говорил о ценности семьи как опоры человека.</a:t>
            </a:r>
          </a:p>
          <a:p>
            <a:pPr/>
            <a:endParaRPr lang="ru" dirty="0"/>
          </a:p>
          <a:p>
            <a:pPr/>
            <a:r>
              <a:rPr lang="ru" dirty="0"/>
              <a:t>В основе этих шагов — идея активности как основы личности (С. Л. Рубинштейн) и развития через деятельность (Л. С. Выготский): счастье растёт из того, что мы делаем, а не только из того, что с нами происходит.</a:t>
            </a:r>
          </a:p>
          <a:p>
            <a:pPr/>
            <a:endParaRPr lang="ru" dirty="0"/>
          </a:p>
          <a:p>
            <a:pPr/>
            <a:r>
              <a:rPr lang="ru" dirty="0"/>
              <a:t>Итог — в следующем слайде.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Оно зависит от генов, обстоятельств и наших действий. Главный фактор — качество отношений. Деньги важны только до определённого уровня. Смысл устойчивее удовольствия. Счастье — это навык, который можно развивать. Полный список источников — по QR-коду. Счастье можно развивать через практики, но генетика и обстоятельства тоже влияют.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a4bd17c0a4ce7cc8.gif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4499b2209e30ac.jpg"/>
  <Relationship Id="rId3" Type="http://schemas.openxmlformats.org/officeDocument/2006/relationships/image" Target="../media/image_a6c36e00f88891c6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image" Target="../media/image_2222c98a7936cd44.jp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e0a04665911cb4d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image" Target="../media/image_f09c644b6901cd77.png"/>
  <Relationship Id="rId4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6000"/>
                </a:srgbClr>
              </a:gs>
              <a:gs pos="100000">
                <a:srgbClr val="F5E6D3">
                  <a:alpha val="86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cover-decor"/>
          <p:cNvGrpSpPr/>
          <p:nvPr/>
        </p:nvGrpSpPr>
        <p:grpSpPr>
          <a:xfrm>
            <a:off x="0" y="0"/>
            <a:ext cx="12477750" cy="7143750"/>
            <a:chOff x="0" y="0"/>
            <a:chExt cx="12477750" cy="7143750"/>
          </a:xfrm>
        </p:grpSpPr>
        <p:sp>
          <p:nvSpPr>
            <p:cNvPr id="4" name="cover-orb"/>
            <p:cNvSpPr/>
            <p:nvPr/>
          </p:nvSpPr>
          <p:spPr>
            <a:xfrm>
              <a:off x="8096250" y="2762250"/>
              <a:ext cx="4381500" cy="438150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5" name="cover-accent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</p:grpSp>
      <p:grpSp>
        <p:nvGrpSpPr>
          <p:cNvPr id="9" name="cover-header"/>
          <p:cNvGrpSpPr/>
          <p:nvPr/>
        </p:nvGrpSpPr>
        <p:grpSpPr>
          <a:xfrm>
            <a:off x="746760" y="1130300"/>
            <a:ext cx="7980969" cy="2250440"/>
            <a:chOff x="746760" y="1130300"/>
            <a:chExt cx="7980969" cy="2250440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1130300"/>
              <a:ext cx="7974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612900"/>
              <a:ext cx="6145682" cy="1767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7" name="cover-logo"/>
          <p:cNvGrpSpPr/>
          <p:nvPr/>
        </p:nvGrpSpPr>
        <p:grpSpPr>
          <a:xfrm>
            <a:off x="9852666" y="800100"/>
            <a:ext cx="1535419" cy="2081657"/>
            <a:chOff x="9852666" y="800100"/>
            <a:chExt cx="1535419" cy="2081657"/>
          </a:xfrm>
        </p:grpSpPr>
        <p:sp>
          <p:nvSpPr>
            <p:cNvPr id="10" name="Ellipse 10"/>
            <p:cNvSpPr/>
            <p:nvPr/>
          </p:nvSpPr>
          <p:spPr>
            <a:xfrm>
              <a:off x="9991725" y="800100"/>
              <a:ext cx="1257300" cy="12573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86975" y="895350"/>
              <a:ext cx="1066800" cy="10668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14000" y="1284288"/>
              <a:ext cx="412751" cy="288925"/>
              <a:chOff x="10414000" y="1284288"/>
              <a:chExt cx="412751" cy="288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14000" y="1284288"/>
                <a:ext cx="412751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06375">
                    <a:moveTo>
                      <a:pt x="412751" y="82550"/>
                    </a:moveTo>
                    <a:lnTo>
                      <a:pt x="206375" y="0"/>
                    </a:lnTo>
                    <a:lnTo>
                      <a:pt x="0" y="82550"/>
                    </a:lnTo>
                    <a:lnTo>
                      <a:pt x="206375" y="165100"/>
                    </a:lnTo>
                    <a:lnTo>
                      <a:pt x="412751" y="82550"/>
                    </a:lnTo>
                    <a:lnTo>
                      <a:pt x="412751" y="206375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96550" y="1399858"/>
                <a:ext cx="24765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73355">
                    <a:moveTo>
                      <a:pt x="0" y="0"/>
                    </a:moveTo>
                    <a:lnTo>
                      <a:pt x="0" y="111443"/>
                    </a:lnTo>
                    <a:cubicBezTo>
                      <a:pt x="0" y="145636"/>
                      <a:pt x="55438" y="173355"/>
                      <a:pt x="123825" y="173355"/>
                    </a:cubicBezTo>
                    <a:cubicBezTo>
                      <a:pt x="192212" y="173355"/>
                      <a:pt x="247650" y="145636"/>
                      <a:pt x="247650" y="111443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44185" y="2146300"/>
              <a:ext cx="9523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6" y="2559050"/>
              <a:ext cx="1535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21" name="cover-author"/>
          <p:cNvGrpSpPr/>
          <p:nvPr/>
        </p:nvGrpSpPr>
        <p:grpSpPr>
          <a:xfrm>
            <a:off x="762000" y="3905250"/>
            <a:ext cx="4749125" cy="1428750"/>
            <a:chOff x="762000" y="3905250"/>
            <a:chExt cx="4749125" cy="1428750"/>
          </a:xfrm>
        </p:grpSpPr>
        <p:sp>
          <p:nvSpPr>
            <p:cNvPr id="18" name="Rectangle 18"/>
            <p:cNvSpPr/>
            <p:nvPr/>
          </p:nvSpPr>
          <p:spPr>
            <a:xfrm>
              <a:off x="762000" y="39052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3956050"/>
              <a:ext cx="4456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375150"/>
              <a:ext cx="350235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  <a:b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23" name="cover-question"/>
          <p:cNvGrpSpPr/>
          <p:nvPr/>
        </p:nvGrpSpPr>
        <p:grpSpPr>
          <a:xfrm>
            <a:off x="749808" y="5975350"/>
            <a:ext cx="6581046" cy="469392"/>
            <a:chOff x="749808" y="5975350"/>
            <a:chExt cx="6581046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749808" y="5975350"/>
              <a:ext cx="6581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540060" cy="586740"/>
            <a:chOff x="746760" y="641350"/>
            <a:chExt cx="554006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540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Зачем мы об этом говорим</a:t>
              </a:r>
            </a:p>
          </p:txBody>
        </p:sp>
      </p:grpSp>
      <p:grpSp>
        <p:nvGrpSpPr>
          <p:cNvPr id="14" name="goal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4095750"/>
            </a:xfrm>
            <a:prstGeom prst="roundRect">
              <a:avLst>
                <a:gd name="adj" fmla="val 4186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23962" y="2100262"/>
              <a:ext cx="485774" cy="485774"/>
              <a:chOff x="1223962" y="2100262"/>
              <a:chExt cx="485774" cy="4857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9862" y="231616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31912" y="2208212"/>
                <a:ext cx="26987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269875">
                    <a:moveTo>
                      <a:pt x="0" y="134937"/>
                    </a:moveTo>
                    <a:cubicBezTo>
                      <a:pt x="0" y="209461"/>
                      <a:pt x="60414" y="269875"/>
                      <a:pt x="134937" y="269875"/>
                    </a:cubicBezTo>
                    <a:cubicBezTo>
                      <a:pt x="209461" y="269875"/>
                      <a:pt x="269875" y="209461"/>
                      <a:pt x="269875" y="134937"/>
                    </a:cubicBezTo>
                    <a:cubicBezTo>
                      <a:pt x="269875" y="60414"/>
                      <a:pt x="209461" y="0"/>
                      <a:pt x="134937" y="0"/>
                    </a:cubicBezTo>
                    <a:cubicBezTo>
                      <a:pt x="60414" y="0"/>
                      <a:pt x="0" y="60414"/>
                      <a:pt x="0" y="13493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10026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242887"/>
                    </a:moveTo>
                    <a:cubicBezTo>
                      <a:pt x="0" y="377030"/>
                      <a:pt x="108744" y="485774"/>
                      <a:pt x="242887" y="485774"/>
                    </a:cubicBezTo>
                    <a:cubicBezTo>
                      <a:pt x="377030" y="485774"/>
                      <a:pt x="485774" y="377030"/>
                      <a:pt x="485774" y="242887"/>
                    </a:cubicBezTo>
                    <a:cubicBezTo>
                      <a:pt x="485774" y="108744"/>
                      <a:pt x="377030" y="0"/>
                      <a:pt x="242887" y="0"/>
                    </a:cubicBezTo>
                    <a:cubicBezTo>
                      <a:pt x="108744" y="0"/>
                      <a:pt x="0" y="108744"/>
                      <a:pt x="0" y="2428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4060" y="2127250"/>
              <a:ext cx="12329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111500"/>
              <a:ext cx="4038356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 людей</a:t>
              </a:r>
              <a:b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счастливыми в современном мире</a:t>
              </a:r>
            </a:p>
          </p:txBody>
        </p:sp>
      </p:grpSp>
      <p:grpSp>
        <p:nvGrpSpPr>
          <p:cNvPr id="24" name="tasks"/>
          <p:cNvGrpSpPr/>
          <p:nvPr/>
        </p:nvGrpSpPr>
        <p:grpSpPr>
          <a:xfrm>
            <a:off x="6096000" y="1619250"/>
            <a:ext cx="5334000" cy="3867150"/>
            <a:chOff x="6096000" y="1619250"/>
            <a:chExt cx="5334000" cy="38671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192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868" y="19113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2106" y="2305050"/>
              <a:ext cx="3860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Рассмотреть научные подходы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97180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2868" y="326390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2106" y="3657600"/>
              <a:ext cx="3589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Выявить ключевые факторы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43243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868" y="46164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106" y="5010150"/>
              <a:ext cx="4117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Дать практические рекомендации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grpSp>
        <p:nvGrpSpPr>
          <p:cNvPr id="28" name="credits"/>
          <p:cNvGrpSpPr/>
          <p:nvPr/>
        </p:nvGrpSpPr>
        <p:grpSpPr>
          <a:xfrm>
            <a:off x="756285" y="6604000"/>
            <a:ext cx="1973338" cy="220028"/>
            <a:chOff x="756285" y="6604000"/>
            <a:chExt cx="1973338" cy="220028"/>
          </a:xfrm>
        </p:grpSpPr>
        <p:sp>
          <p:nvSpPr>
            <p:cNvPr id="27" name="TextBox 27"/>
            <p:cNvSpPr txBox="1"/>
            <p:nvPr/>
          </p:nvSpPr>
          <p:spPr>
            <a:xfrm>
              <a:off x="756285" y="6604000"/>
              <a:ext cx="1973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Wacky1976 (CC BY-SA 4.0)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3558306" cy="586740"/>
            <a:chOff x="746760" y="641350"/>
            <a:chExt cx="355830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5583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66" name="toc"/>
          <p:cNvGrpSpPr/>
          <p:nvPr/>
        </p:nvGrpSpPr>
        <p:grpSpPr>
          <a:xfrm>
            <a:off x="762000" y="1809750"/>
            <a:ext cx="10791825" cy="3409950"/>
            <a:chOff x="762000" y="1809750"/>
            <a:chExt cx="10791825" cy="3409950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26319" y="2092325"/>
              <a:ext cx="328613" cy="292101"/>
            </a:xfrm>
            <a:custGeom>
              <a:avLst/>
              <a:gdLst/>
              <a:ahLst/>
              <a:cxnLst/>
              <a:rect l="l" t="t" r="r" b="b"/>
              <a:pathLst>
                <a:path w="328613" h="292101">
                  <a:moveTo>
                    <a:pt x="0" y="146050"/>
                  </a:moveTo>
                  <a:lnTo>
                    <a:pt x="73025" y="146050"/>
                  </a:lnTo>
                  <a:lnTo>
                    <a:pt x="127794" y="292101"/>
                  </a:lnTo>
                  <a:lnTo>
                    <a:pt x="200819" y="0"/>
                  </a:lnTo>
                  <a:lnTo>
                    <a:pt x="255588" y="146050"/>
                  </a:lnTo>
                  <a:lnTo>
                    <a:pt x="328613" y="146050"/>
                  </a:lnTo>
                </a:path>
              </a:pathLst>
            </a:custGeom>
            <a:noFill/>
            <a:ln w="36513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882" y="2584450"/>
              <a:ext cx="2079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Зачем изучать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168" y="2978150"/>
              <a:ext cx="21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данные о депрессии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9567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759994" y="2074069"/>
              <a:ext cx="328613" cy="319882"/>
              <a:chOff x="3759994" y="2074069"/>
              <a:chExt cx="328613" cy="3198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33019" y="2384426"/>
                <a:ext cx="182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563" h="9525">
                    <a:moveTo>
                      <a:pt x="0" y="0"/>
                    </a:moveTo>
                    <a:lnTo>
                      <a:pt x="182563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814763" y="2110581"/>
                <a:ext cx="219075" cy="18256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8256">
                    <a:moveTo>
                      <a:pt x="0" y="18256"/>
                    </a:moveTo>
                    <a:lnTo>
                      <a:pt x="109538" y="0"/>
                    </a:lnTo>
                    <a:lnTo>
                      <a:pt x="219075" y="18256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24300" y="2074069"/>
                <a:ext cx="9525" cy="31035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357">
                    <a:moveTo>
                      <a:pt x="0" y="0"/>
                    </a:moveTo>
                    <a:lnTo>
                      <a:pt x="0" y="310357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59994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79069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94557" y="2584450"/>
              <a:ext cx="2411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Научный подход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6843" y="2978150"/>
              <a:ext cx="1580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что такое SWB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93669" y="2074069"/>
              <a:ext cx="328613" cy="328613"/>
              <a:chOff x="6493669" y="2074069"/>
              <a:chExt cx="328613" cy="3286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57975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0181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9257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7975" y="2074069"/>
                <a:ext cx="127794" cy="115015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93669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0181" y="2074069"/>
                <a:ext cx="127794" cy="24646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232" y="2584450"/>
              <a:ext cx="1741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Физиология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0518" y="2978150"/>
              <a:ext cx="1796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нейромедиаторы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6302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27344" y="2147094"/>
              <a:ext cx="328613" cy="182563"/>
              <a:chOff x="9227344" y="2147094"/>
              <a:chExt cx="328613" cy="1825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45600" y="2165350"/>
                <a:ext cx="292101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46050">
                    <a:moveTo>
                      <a:pt x="0" y="146050"/>
                    </a:moveTo>
                    <a:lnTo>
                      <a:pt x="109538" y="18256"/>
                    </a:lnTo>
                    <a:lnTo>
                      <a:pt x="200819" y="109538"/>
                    </a:ln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28163" y="2256632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36882" y="2165350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27344" y="229314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19444" y="214709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161907" y="2584450"/>
              <a:ext cx="1213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История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4193" y="2978150"/>
              <a:ext cx="1518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от Аристотеля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26319" y="3883819"/>
              <a:ext cx="328613" cy="328613"/>
              <a:chOff x="1026319" y="3883819"/>
              <a:chExt cx="328613" cy="3286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26319" y="3883819"/>
                <a:ext cx="328613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28613">
                    <a:moveTo>
                      <a:pt x="0" y="164307"/>
                    </a:moveTo>
                    <a:cubicBezTo>
                      <a:pt x="0" y="255051"/>
                      <a:pt x="73563" y="328613"/>
                      <a:pt x="164307" y="328613"/>
                    </a:cubicBezTo>
                    <a:cubicBezTo>
                      <a:pt x="255051" y="328613"/>
                      <a:pt x="328613" y="255051"/>
                      <a:pt x="328613" y="164307"/>
                    </a:cubicBezTo>
                    <a:cubicBezTo>
                      <a:pt x="328613" y="73563"/>
                      <a:pt x="255051" y="0"/>
                      <a:pt x="164307" y="0"/>
                    </a:cubicBezTo>
                    <a:cubicBezTo>
                      <a:pt x="73563" y="0"/>
                      <a:pt x="0" y="73563"/>
                      <a:pt x="0" y="164307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5857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45394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44985" y="4102894"/>
                <a:ext cx="91281" cy="19178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0882" y="43942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168" y="4787900"/>
              <a:ext cx="1330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эвдемония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9567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754905" y="3886958"/>
              <a:ext cx="330051" cy="330563"/>
              <a:chOff x="3754905" y="3886958"/>
              <a:chExt cx="330051" cy="33056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754905" y="3886958"/>
                <a:ext cx="330051" cy="330563"/>
              </a:xfrm>
              <a:custGeom>
                <a:avLst/>
                <a:gdLst/>
                <a:ahLst/>
                <a:cxnLst/>
                <a:rect l="l" t="t" r="r" b="b"/>
                <a:pathLst>
                  <a:path w="330051" h="330563">
                    <a:moveTo>
                      <a:pt x="132883" y="512"/>
                    </a:moveTo>
                    <a:cubicBezTo>
                      <a:pt x="53833" y="18838"/>
                      <a:pt x="0" y="92126"/>
                      <a:pt x="6156" y="173038"/>
                    </a:cubicBezTo>
                    <a:cubicBezTo>
                      <a:pt x="12311" y="253950"/>
                      <a:pt x="76613" y="318251"/>
                      <a:pt x="157524" y="324407"/>
                    </a:cubicBezTo>
                    <a:cubicBezTo>
                      <a:pt x="238436" y="330563"/>
                      <a:pt x="311725" y="276729"/>
                      <a:pt x="330051" y="197680"/>
                    </a:cubicBezTo>
                    <a:cubicBezTo>
                      <a:pt x="330051" y="187597"/>
                      <a:pt x="321877" y="179424"/>
                      <a:pt x="311794" y="179424"/>
                    </a:cubicBezTo>
                    <a:lnTo>
                      <a:pt x="187652" y="179424"/>
                    </a:lnTo>
                    <a:cubicBezTo>
                      <a:pt x="167486" y="179424"/>
                      <a:pt x="151139" y="163076"/>
                      <a:pt x="151139" y="142911"/>
                    </a:cubicBezTo>
                    <a:lnTo>
                      <a:pt x="151139" y="15117"/>
                    </a:lnTo>
                    <a:cubicBezTo>
                      <a:pt x="150681" y="10748"/>
                      <a:pt x="148492" y="6745"/>
                      <a:pt x="145062" y="4001"/>
                    </a:cubicBezTo>
                    <a:cubicBezTo>
                      <a:pt x="141632" y="1256"/>
                      <a:pt x="137246" y="0"/>
                      <a:pt x="132883" y="512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9069" y="3892947"/>
                <a:ext cx="100410" cy="100410"/>
              </a:xfrm>
              <a:custGeom>
                <a:avLst/>
                <a:gdLst/>
                <a:ahLst/>
                <a:cxnLst/>
                <a:rect l="l" t="t" r="r" b="b"/>
                <a:pathLst>
                  <a:path w="100410" h="100410">
                    <a:moveTo>
                      <a:pt x="0" y="0"/>
                    </a:moveTo>
                    <a:cubicBezTo>
                      <a:pt x="46952" y="16532"/>
                      <a:pt x="83877" y="53458"/>
                      <a:pt x="100410" y="100410"/>
                    </a:cubicBezTo>
                    <a:lnTo>
                      <a:pt x="18256" y="100410"/>
                    </a:lnTo>
                    <a:cubicBezTo>
                      <a:pt x="8174" y="100410"/>
                      <a:pt x="0" y="92236"/>
                      <a:pt x="0" y="82153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3694557" y="4394200"/>
              <a:ext cx="1321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6843" y="47879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50/40/10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2935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11925" y="3938588"/>
              <a:ext cx="292101" cy="246856"/>
              <a:chOff x="6511925" y="3938588"/>
              <a:chExt cx="292101" cy="24685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11925" y="4175919"/>
                <a:ext cx="2921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9525">
                    <a:moveTo>
                      <a:pt x="0" y="0"/>
                    </a:move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1925" y="39385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164307"/>
                    </a:moveTo>
                    <a:lnTo>
                      <a:pt x="73025" y="54769"/>
                    </a:lnTo>
                    <a:lnTo>
                      <a:pt x="146050" y="91281"/>
                    </a:lnTo>
                    <a:lnTo>
                      <a:pt x="219075" y="0"/>
                    </a:lnTo>
                    <a:lnTo>
                      <a:pt x="292101" y="73025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28232" y="4394200"/>
              <a:ext cx="11305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Данные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0518" y="4787900"/>
              <a:ext cx="1533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доход и школа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302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4683" y="3883819"/>
              <a:ext cx="313898" cy="326604"/>
              <a:chOff x="9234683" y="3883819"/>
              <a:chExt cx="313898" cy="32660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2113" y="3883819"/>
                <a:ext cx="21907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19075">
                    <a:moveTo>
                      <a:pt x="0" y="109538"/>
                    </a:moveTo>
                    <a:cubicBezTo>
                      <a:pt x="0" y="170034"/>
                      <a:pt x="49042" y="219075"/>
                      <a:pt x="109538" y="219075"/>
                    </a:cubicBezTo>
                    <a:cubicBezTo>
                      <a:pt x="170034" y="219075"/>
                      <a:pt x="219075" y="170034"/>
                      <a:pt x="219075" y="109538"/>
                    </a:cubicBezTo>
                    <a:cubicBezTo>
                      <a:pt x="219075" y="49042"/>
                      <a:pt x="170034" y="0"/>
                      <a:pt x="109538" y="0"/>
                    </a:cubicBezTo>
                    <a:cubicBezTo>
                      <a:pt x="49042" y="0"/>
                      <a:pt x="0" y="49042"/>
                      <a:pt x="0" y="109538"/>
                    </a:cubicBez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91650" y="4048125"/>
                <a:ext cx="156931" cy="162298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98">
                    <a:moveTo>
                      <a:pt x="0" y="54769"/>
                    </a:moveTo>
                    <a:lnTo>
                      <a:pt x="62071" y="162298"/>
                    </a:lnTo>
                    <a:lnTo>
                      <a:pt x="91245" y="103276"/>
                    </a:lnTo>
                    <a:lnTo>
                      <a:pt x="156931" y="107511"/>
                    </a:lnTo>
                    <a:lnTo>
                      <a:pt x="94860" y="0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4683" y="4048125"/>
                <a:ext cx="156931" cy="162280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80">
                    <a:moveTo>
                      <a:pt x="62071" y="0"/>
                    </a:moveTo>
                    <a:lnTo>
                      <a:pt x="0" y="107529"/>
                    </a:lnTo>
                    <a:lnTo>
                      <a:pt x="65686" y="103276"/>
                    </a:lnTo>
                    <a:lnTo>
                      <a:pt x="94860" y="162280"/>
                    </a:lnTo>
                    <a:lnTo>
                      <a:pt x="156931" y="54769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161907" y="4394200"/>
              <a:ext cx="124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64193" y="4787900"/>
              <a:ext cx="940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советы</a:t>
              </a:r>
            </a:p>
          </p:txBody>
        </p:sp>
      </p:grpSp>
      <p:sp>
        <p:nvSpPr>
          <p:cNvPr id="67" name="Line 6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grpSp>
        <p:nvGrpSpPr>
          <p:cNvPr id="70" name="credits"/>
          <p:cNvGrpSpPr/>
          <p:nvPr/>
        </p:nvGrpSpPr>
        <p:grpSpPr>
          <a:xfrm>
            <a:off x="756285" y="6604000"/>
            <a:ext cx="1713425" cy="220028"/>
            <a:chOff x="756285" y="6604000"/>
            <a:chExt cx="1713425" cy="220028"/>
          </a:xfrm>
        </p:grpSpPr>
        <p:sp>
          <p:nvSpPr>
            <p:cNvPr id="69" name="TextBox 69"/>
            <p:cNvSpPr txBox="1"/>
            <p:nvPr/>
          </p:nvSpPr>
          <p:spPr>
            <a:xfrm>
              <a:off x="756285" y="6604000"/>
              <a:ext cx="17134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Shixart1985 (CC BY 2.0)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8548024" cy="586740"/>
            <a:chOff x="746760" y="641350"/>
            <a:chExt cx="854802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854802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Литературы много — счастливых меньше</a:t>
              </a:r>
            </a:p>
          </p:txBody>
        </p:sp>
      </p:grpSp>
      <p:grpSp>
        <p:nvGrpSpPr>
          <p:cNvPr id="28" name="chart-dep"/>
          <p:cNvGrpSpPr/>
          <p:nvPr/>
        </p:nvGrpSpPr>
        <p:grpSpPr>
          <a:xfrm>
            <a:off x="762000" y="1762125"/>
            <a:ext cx="5238750" cy="3823653"/>
            <a:chOff x="762000" y="1762125"/>
            <a:chExt cx="5238750" cy="3823653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523875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43100"/>
              <a:ext cx="20810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США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3035" y="2355850"/>
              <a:ext cx="1276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доля взрослых, %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428750" y="2724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34004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428750" y="4086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567" y="2587625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67" y="3263900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111" y="3949700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111" y="4568825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43050" y="2981325"/>
              <a:ext cx="3962400" cy="666750"/>
            </a:xfrm>
            <a:custGeom>
              <a:avLst/>
              <a:gdLst/>
              <a:ahLst/>
              <a:cxnLst/>
              <a:rect l="l" t="t" r="r" b="b"/>
              <a:pathLst>
                <a:path w="3962400" h="666750">
                  <a:moveTo>
                    <a:pt x="0" y="666750"/>
                  </a:moveTo>
                  <a:cubicBezTo>
                    <a:pt x="1314450" y="447675"/>
                    <a:pt x="2552700" y="161925"/>
                    <a:pt x="3962400" y="0"/>
                  </a:cubicBezTo>
                </a:path>
              </a:pathLst>
            </a:custGeom>
            <a:noFill/>
            <a:ln w="57150" cap="rnd">
              <a:solidFill>
                <a:srgbClr val="E74C3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76375" y="3581400"/>
              <a:ext cx="133350" cy="1333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29250" y="2905125"/>
              <a:ext cx="152400" cy="1524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82142" y="2644775"/>
              <a:ext cx="646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13,1%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87068" y="3597275"/>
              <a:ext cx="523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8,2%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5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99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68" y="5092700"/>
              <a:ext cx="2510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8,2% → 13,1% за 10 лет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2035" y="5365750"/>
              <a:ext cx="1461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Источник: CDC/ВОЗ</a:t>
              </a:r>
            </a:p>
          </p:txBody>
        </p:sp>
      </p:grpSp>
      <p:grpSp>
        <p:nvGrpSpPr>
          <p:cNvPr id="45" name="chart-hap"/>
          <p:cNvGrpSpPr/>
          <p:nvPr/>
        </p:nvGrpSpPr>
        <p:grpSpPr>
          <a:xfrm>
            <a:off x="6286500" y="1762125"/>
            <a:ext cx="5143500" cy="3823653"/>
            <a:chOff x="6286500" y="1762125"/>
            <a:chExt cx="5143500" cy="3823653"/>
          </a:xfrm>
        </p:grpSpPr>
        <p:sp>
          <p:nvSpPr>
            <p:cNvPr id="29" name="Rectangle 29"/>
            <p:cNvSpPr/>
            <p:nvPr/>
          </p:nvSpPr>
          <p:spPr>
            <a:xfrm>
              <a:off x="62865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943100"/>
              <a:ext cx="1913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7535" y="2355850"/>
              <a:ext cx="943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баллы (0–10)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9532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953250" y="47625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953250" y="27432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953250" y="37528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5123" y="260667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5123" y="36163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5123" y="45688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53250" y="424815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0" y="19050"/>
                  </a:moveTo>
                  <a:cubicBezTo>
                    <a:pt x="1238250" y="57150"/>
                    <a:pt x="2667000" y="0"/>
                    <a:pt x="4286250" y="3810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63300" y="42100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7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8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3868" y="5092700"/>
              <a:ext cx="29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Индекс на плато с 2005 года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535" y="5365750"/>
              <a:ext cx="2405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Источник: World Happiness Report</a:t>
              </a:r>
            </a:p>
          </p:txBody>
        </p:sp>
      </p:grpSp>
      <p:grpSp>
        <p:nvGrpSpPr>
          <p:cNvPr id="50" name="quote"/>
          <p:cNvGrpSpPr/>
          <p:nvPr/>
        </p:nvGrpSpPr>
        <p:grpSpPr>
          <a:xfrm>
            <a:off x="993775" y="5886450"/>
            <a:ext cx="7316317" cy="352044"/>
            <a:chOff x="993775" y="5886450"/>
            <a:chExt cx="7316317" cy="352044"/>
          </a:xfrm>
        </p:grpSpPr>
        <p:grpSp>
          <p:nvGrpSpPr>
            <p:cNvPr id="48" name="Group 48"/>
            <p:cNvGrpSpPr/>
            <p:nvPr/>
          </p:nvGrpSpPr>
          <p:grpSpPr>
            <a:xfrm>
              <a:off x="993775" y="5905500"/>
              <a:ext cx="222250" cy="190500"/>
              <a:chOff x="993775" y="5905500"/>
              <a:chExt cx="222250" cy="190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93775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36650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38656" y="5886450"/>
              <a:ext cx="6871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Парадокс: литературы больше, счастливых людей — нет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56631" cy="586740"/>
            <a:chOff x="746760" y="641350"/>
            <a:chExt cx="6856631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5663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swb-left"/>
          <p:cNvGrpSpPr/>
          <p:nvPr/>
        </p:nvGrpSpPr>
        <p:grpSpPr>
          <a:xfrm>
            <a:off x="762000" y="1600200"/>
            <a:ext cx="10668000" cy="2000250"/>
            <a:chOff x="762000" y="1600200"/>
            <a:chExt cx="10668000" cy="2000250"/>
          </a:xfrm>
        </p:grpSpPr>
        <p:sp>
          <p:nvSpPr>
            <p:cNvPr id="7" name="Rectangle 7"/>
            <p:cNvSpPr/>
            <p:nvPr/>
          </p:nvSpPr>
          <p:spPr>
            <a:xfrm>
              <a:off x="4286250" y="1600200"/>
              <a:ext cx="3619500" cy="2000250"/>
            </a:xfrm>
            <a:prstGeom prst="roundRect">
              <a:avLst>
                <a:gd name="adj" fmla="val 7619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40270" y="1949450"/>
              <a:ext cx="1911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8074" y="2273300"/>
              <a:ext cx="18558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064" y="2692400"/>
              <a:ext cx="2539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 = оценка + эмоции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00793" y="3073400"/>
              <a:ext cx="2590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сумма двух компонентов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32704" y="1938213"/>
              <a:ext cx="355748" cy="309687"/>
            </a:xfrm>
            <a:custGeom>
              <a:avLst/>
              <a:gdLst/>
              <a:ahLst/>
              <a:cxnLst/>
              <a:rect l="l" t="t" r="r" b="b"/>
              <a:pathLst>
                <a:path w="355748" h="309687">
                  <a:moveTo>
                    <a:pt x="320921" y="168184"/>
                  </a:moveTo>
                  <a:lnTo>
                    <a:pt x="178046" y="309687"/>
                  </a:lnTo>
                  <a:lnTo>
                    <a:pt x="35171" y="168184"/>
                  </a:lnTo>
                  <a:cubicBezTo>
                    <a:pt x="9479" y="143182"/>
                    <a:pt x="0" y="105872"/>
                    <a:pt x="10644" y="71639"/>
                  </a:cubicBezTo>
                  <a:cubicBezTo>
                    <a:pt x="21288" y="37406"/>
                    <a:pt x="50252" y="12049"/>
                    <a:pt x="85592" y="6024"/>
                  </a:cubicBezTo>
                  <a:cubicBezTo>
                    <a:pt x="120932" y="0"/>
                    <a:pt x="156661" y="14329"/>
                    <a:pt x="178046" y="43101"/>
                  </a:cubicBezTo>
                  <a:cubicBezTo>
                    <a:pt x="199521" y="14541"/>
                    <a:pt x="235174" y="403"/>
                    <a:pt x="270386" y="6484"/>
                  </a:cubicBezTo>
                  <a:cubicBezTo>
                    <a:pt x="305597" y="12565"/>
                    <a:pt x="334444" y="37842"/>
                    <a:pt x="345096" y="71950"/>
                  </a:cubicBezTo>
                  <a:cubicBezTo>
                    <a:pt x="355748" y="106058"/>
                    <a:pt x="346414" y="143259"/>
                    <a:pt x="320921" y="168298"/>
                  </a:cubicBez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3274" y="2540000"/>
              <a:ext cx="10549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6374" y="2940050"/>
              <a:ext cx="2828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эмоциональный компонент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209800" y="1924050"/>
              <a:ext cx="342900" cy="333375"/>
              <a:chOff x="2209800" y="1924050"/>
              <a:chExt cx="342900" cy="3333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286000" y="22479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266950" y="1962150"/>
                <a:ext cx="228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">
                    <a:moveTo>
                      <a:pt x="0" y="19050"/>
                    </a:moveTo>
                    <a:lnTo>
                      <a:pt x="114300" y="0"/>
                    </a:lnTo>
                    <a:lnTo>
                      <a:pt x="22860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381250" y="19240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098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4384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57466" y="2540000"/>
              <a:ext cx="184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704" y="2940050"/>
              <a:ext cx="2465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когнитивный компонент</a:t>
              </a:r>
            </a:p>
          </p:txBody>
        </p:sp>
      </p:grpSp>
      <p:grpSp>
        <p:nvGrpSpPr>
          <p:cNvPr id="38" name="appr-1"/>
          <p:cNvGrpSpPr/>
          <p:nvPr/>
        </p:nvGrpSpPr>
        <p:grpSpPr>
          <a:xfrm>
            <a:off x="762000" y="3810000"/>
            <a:ext cx="10668000" cy="1123950"/>
            <a:chOff x="762000" y="3810000"/>
            <a:chExt cx="106680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349567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40479" y="4102100"/>
              <a:ext cx="1501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61271" y="4425950"/>
              <a:ext cx="1659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мысли и оценки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2935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0125" y="4102100"/>
              <a:ext cx="140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9451" y="4425950"/>
              <a:ext cx="1830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сильные стороны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63025" y="3810000"/>
              <a:ext cx="2466975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3618" y="4102100"/>
              <a:ext cx="1716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Био-психо-соц.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4756" y="4425950"/>
              <a:ext cx="135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среда и тело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1137" y="4102100"/>
              <a:ext cx="147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0919" y="4425950"/>
              <a:ext cx="452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62550"/>
            <a:ext cx="10668000" cy="914400"/>
            <a:chOff x="762000" y="5162550"/>
            <a:chExt cx="10668000" cy="9144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6255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76325" y="5438775"/>
              <a:ext cx="285751" cy="285750"/>
              <a:chOff x="1076325" y="5438775"/>
              <a:chExt cx="285751" cy="285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76325" y="54387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3094" y="55022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82688" y="56610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53718" y="5384800"/>
              <a:ext cx="8312346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Теория broaden-and-build: позитивные эмоции расширяют мышление и накапливают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ресурсы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grpSp>
        <p:nvGrpSpPr>
          <p:cNvPr id="49" name="credits"/>
          <p:cNvGrpSpPr/>
          <p:nvPr/>
        </p:nvGrpSpPr>
        <p:grpSpPr>
          <a:xfrm>
            <a:off x="756285" y="6604000"/>
            <a:ext cx="2595835" cy="220028"/>
            <a:chOff x="756285" y="6604000"/>
            <a:chExt cx="2595835" cy="220028"/>
          </a:xfrm>
        </p:grpSpPr>
        <p:sp>
          <p:nvSpPr>
            <p:cNvPr id="48" name="TextBox 48"/>
            <p:cNvSpPr txBox="1"/>
            <p:nvPr/>
          </p:nvSpPr>
          <p:spPr>
            <a:xfrm>
              <a:off x="756285" y="6604000"/>
              <a:ext cx="259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YVC Biology Department (CC BY 2.0)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341139" cy="586740"/>
            <a:chOff x="746760" y="641350"/>
            <a:chExt cx="7341139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3411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мозг создаёт ощущение счастья</a:t>
              </a:r>
            </a:p>
          </p:txBody>
        </p:sp>
      </p:grpSp>
      <p:grpSp>
        <p:nvGrpSpPr>
          <p:cNvPr id="35" name="diagram"/>
          <p:cNvGrpSpPr/>
          <p:nvPr/>
        </p:nvGrpSpPr>
        <p:grpSpPr>
          <a:xfrm>
            <a:off x="762000" y="1714500"/>
            <a:ext cx="10668000" cy="3398520"/>
            <a:chOff x="762000" y="1714500"/>
            <a:chExt cx="10668000" cy="3398520"/>
          </a:xfrm>
        </p:grpSpPr>
        <p:sp>
          <p:nvSpPr>
            <p:cNvPr id="7" name="Rectangle 7"/>
            <p:cNvSpPr/>
            <p:nvPr/>
          </p:nvSpPr>
          <p:spPr>
            <a:xfrm>
              <a:off x="4191000" y="1952625"/>
              <a:ext cx="3810000" cy="2667000"/>
            </a:xfrm>
            <a:prstGeom prst="roundRect">
              <a:avLst>
                <a:gd name="adj" fmla="val 571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2636" r="0" b="2637"/>
            <a:stretch>
              <a:fillRect/>
            </a:stretch>
          </p:blipFill>
          <p:spPr>
            <a:xfrm>
              <a:off x="4305300" y="2066925"/>
              <a:ext cx="3581400" cy="2438400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>
              <a:off x="4136231" y="487362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31030" y="4819650"/>
              <a:ext cx="37072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Анимация: работа нейросетей мозга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453437" y="2109787"/>
              <a:ext cx="314324" cy="314324"/>
              <a:chOff x="8453437" y="2109787"/>
              <a:chExt cx="314324" cy="31432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453437" y="21097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558212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62987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66943" y="2319337"/>
                <a:ext cx="87312" cy="18345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18345">
                    <a:moveTo>
                      <a:pt x="0" y="0"/>
                    </a:moveTo>
                    <a:cubicBezTo>
                      <a:pt x="11496" y="11733"/>
                      <a:pt x="27230" y="18345"/>
                      <a:pt x="43656" y="18345"/>
                    </a:cubicBezTo>
                    <a:cubicBezTo>
                      <a:pt x="60082" y="18345"/>
                      <a:pt x="75817" y="11733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962644" y="2120900"/>
              <a:ext cx="14524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92668" y="2501900"/>
              <a:ext cx="1821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41400" y="4205287"/>
              <a:ext cx="244474" cy="314325"/>
              <a:chOff x="1041400" y="4205287"/>
              <a:chExt cx="244474" cy="314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63759" y="420528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1400" y="4441031"/>
                <a:ext cx="100409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00409" h="26194">
                    <a:moveTo>
                      <a:pt x="0" y="8731"/>
                    </a:moveTo>
                    <a:lnTo>
                      <a:pt x="87312" y="26194"/>
                    </a:lnTo>
                    <a:lnTo>
                      <a:pt x="100409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63637" y="4292600"/>
                <a:ext cx="69850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27012">
                    <a:moveTo>
                      <a:pt x="69850" y="227012"/>
                    </a:moveTo>
                    <a:lnTo>
                      <a:pt x="69850" y="157162"/>
                    </a:lnTo>
                    <a:lnTo>
                      <a:pt x="0" y="104775"/>
                    </a:ln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93787" y="4292600"/>
                <a:ext cx="19208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69850">
                    <a:moveTo>
                      <a:pt x="0" y="69850"/>
                    </a:moveTo>
                    <a:lnTo>
                      <a:pt x="0" y="17462"/>
                    </a:lnTo>
                    <a:lnTo>
                      <a:pt x="87312" y="0"/>
                    </a:lnTo>
                    <a:lnTo>
                      <a:pt x="139700" y="52387"/>
                    </a:lnTo>
                    <a:lnTo>
                      <a:pt x="192087" y="6985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33144" y="4216400"/>
              <a:ext cx="16363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3168" y="4597400"/>
              <a:ext cx="205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447391" y="421827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C0392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62644" y="4216400"/>
              <a:ext cx="1441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2668" y="4597400"/>
              <a:ext cx="2064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3937" y="212725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3144" y="2120900"/>
              <a:ext cx="12670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3168" y="2501900"/>
              <a:ext cx="2874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 предвкушение</a:t>
              </a:r>
            </a:p>
          </p:txBody>
        </p:sp>
      </p:grpSp>
      <p:grpSp>
        <p:nvGrpSpPr>
          <p:cNvPr id="42" name="note"/>
          <p:cNvGrpSpPr/>
          <p:nvPr/>
        </p:nvGrpSpPr>
        <p:grpSpPr>
          <a:xfrm>
            <a:off x="762000" y="5257800"/>
            <a:ext cx="10668000" cy="914400"/>
            <a:chOff x="762000" y="5257800"/>
            <a:chExt cx="10668000" cy="9144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578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E74C3C">
                <a:alpha val="10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22397" y="5534025"/>
              <a:ext cx="193606" cy="285751"/>
              <a:chOff x="1122397" y="5534025"/>
              <a:chExt cx="193606" cy="2857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71575" y="55340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87450" y="56292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2397" y="55340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553718" y="5499100"/>
              <a:ext cx="7780592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Упрощённая модель. Дофамин — нейромедиатор предвкушения, а не «гормон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удовольствия» (Berridge, 1998: liking vs wanting)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  <p:grpSp>
        <p:nvGrpSpPr>
          <p:cNvPr id="46" name="credits"/>
          <p:cNvGrpSpPr/>
          <p:nvPr/>
        </p:nvGrpSpPr>
        <p:grpSpPr>
          <a:xfrm>
            <a:off x="756285" y="6604000"/>
            <a:ext cx="2159067" cy="220028"/>
            <a:chOff x="756285" y="6604000"/>
            <a:chExt cx="2159067" cy="220028"/>
          </a:xfrm>
        </p:grpSpPr>
        <p:sp>
          <p:nvSpPr>
            <p:cNvPr id="45" name="TextBox 45"/>
            <p:cNvSpPr txBox="1"/>
            <p:nvPr/>
          </p:nvSpPr>
          <p:spPr>
            <a:xfrm>
              <a:off x="756285" y="6604000"/>
              <a:ext cx="2159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Katherine Stember (CC BY 4.0)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46914" cy="586740"/>
            <a:chOff x="746760" y="641350"/>
            <a:chExt cx="684691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469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менялось понимание счастья</a:t>
              </a:r>
            </a:p>
          </p:txBody>
        </p:sp>
      </p:grpSp>
      <p:grpSp>
        <p:nvGrpSpPr>
          <p:cNvPr id="63" name="timeline"/>
          <p:cNvGrpSpPr/>
          <p:nvPr/>
        </p:nvGrpSpPr>
        <p:grpSpPr>
          <a:xfrm>
            <a:off x="666079" y="2235200"/>
            <a:ext cx="11063118" cy="2018157"/>
            <a:chOff x="666079" y="2235200"/>
            <a:chExt cx="11063118" cy="2018157"/>
          </a:xfrm>
        </p:grpSpPr>
        <p:sp>
          <p:nvSpPr>
            <p:cNvPr id="7" name="Line 7"/>
            <p:cNvSpPr/>
            <p:nvPr/>
          </p:nvSpPr>
          <p:spPr>
            <a:xfrm>
              <a:off x="1333500" y="3143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95A5A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3022478"/>
              <a:ext cx="295276" cy="231897"/>
              <a:chOff x="1190625" y="30224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0625" y="3228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90625" y="3022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0625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33500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6376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67598" y="2235200"/>
              <a:ext cx="1331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Античность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79" y="3644900"/>
              <a:ext cx="1334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237" y="3930650"/>
              <a:ext cx="1144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91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095625" y="3000375"/>
              <a:ext cx="285751" cy="285751"/>
              <a:chOff x="3095625" y="300037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175000" y="3079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95625" y="3000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31805" y="2235200"/>
              <a:ext cx="813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Стоики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263" y="3644900"/>
              <a:ext cx="800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Сенека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535" y="3930650"/>
              <a:ext cx="1733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душевный покой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1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000625" y="3000375"/>
              <a:ext cx="285751" cy="295276"/>
              <a:chOff x="5000625" y="3000375"/>
              <a:chExt cx="285751" cy="2952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00625" y="32861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00625" y="3111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32375" y="30003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16500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70501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00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435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07001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270387" y="2235200"/>
              <a:ext cx="1746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Средневековье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029" y="3644900"/>
              <a:ext cx="121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Аквинский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8980" y="3930650"/>
              <a:ext cx="1129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дар Божий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2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02714" y="2997464"/>
              <a:ext cx="291932" cy="298187"/>
              <a:chOff x="6902714" y="2997464"/>
              <a:chExt cx="291932" cy="2981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3111500"/>
                <a:ext cx="177896" cy="177859"/>
              </a:xfrm>
              <a:custGeom>
                <a:avLst/>
                <a:gdLst/>
                <a:ahLst/>
                <a:cxnLst/>
                <a:rect l="l" t="t" r="r" b="b"/>
                <a:pathLst>
                  <a:path w="177896" h="177859">
                    <a:moveTo>
                      <a:pt x="47625" y="0"/>
                    </a:moveTo>
                    <a:lnTo>
                      <a:pt x="164830" y="117761"/>
                    </a:lnTo>
                    <a:cubicBezTo>
                      <a:pt x="177896" y="130779"/>
                      <a:pt x="177896" y="151861"/>
                      <a:pt x="164830" y="164862"/>
                    </a:cubicBezTo>
                    <a:cubicBezTo>
                      <a:pt x="151764" y="177859"/>
                      <a:pt x="130653" y="177859"/>
                      <a:pt x="117586" y="164862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53250" y="3095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0875" y="3048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05625" y="3286126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02714" y="2997464"/>
                <a:ext cx="212198" cy="212198"/>
              </a:xfrm>
              <a:custGeom>
                <a:avLst/>
                <a:gdLst/>
                <a:ahLst/>
                <a:cxnLst/>
                <a:rect l="l" t="t" r="r" b="b"/>
                <a:pathLst>
                  <a:path w="212198" h="212198">
                    <a:moveTo>
                      <a:pt x="63125" y="206000"/>
                    </a:moveTo>
                    <a:lnTo>
                      <a:pt x="6197" y="149073"/>
                    </a:lnTo>
                    <a:cubicBezTo>
                      <a:pt x="0" y="142873"/>
                      <a:pt x="0" y="132825"/>
                      <a:pt x="6197" y="126625"/>
                    </a:cubicBezTo>
                    <a:lnTo>
                      <a:pt x="42599" y="90224"/>
                    </a:lnTo>
                    <a:lnTo>
                      <a:pt x="50536" y="98161"/>
                    </a:lnTo>
                    <a:lnTo>
                      <a:pt x="98161" y="50536"/>
                    </a:lnTo>
                    <a:lnTo>
                      <a:pt x="90224" y="42599"/>
                    </a:lnTo>
                    <a:lnTo>
                      <a:pt x="126625" y="6197"/>
                    </a:lnTo>
                    <a:cubicBezTo>
                      <a:pt x="132825" y="0"/>
                      <a:pt x="142873" y="0"/>
                      <a:pt x="149073" y="6197"/>
                    </a:cubicBezTo>
                    <a:lnTo>
                      <a:pt x="206000" y="63125"/>
                    </a:lnTo>
                    <a:cubicBezTo>
                      <a:pt x="212198" y="69324"/>
                      <a:pt x="212198" y="79373"/>
                      <a:pt x="206000" y="85572"/>
                    </a:cubicBezTo>
                    <a:lnTo>
                      <a:pt x="169599" y="121974"/>
                    </a:lnTo>
                    <a:lnTo>
                      <a:pt x="161662" y="114036"/>
                    </a:lnTo>
                    <a:lnTo>
                      <a:pt x="114036" y="161662"/>
                    </a:lnTo>
                    <a:lnTo>
                      <a:pt x="121974" y="169599"/>
                    </a:lnTo>
                    <a:lnTo>
                      <a:pt x="85572" y="206000"/>
                    </a:lnTo>
                    <a:cubicBezTo>
                      <a:pt x="79373" y="212198"/>
                      <a:pt x="69324" y="212198"/>
                      <a:pt x="63125" y="2060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276258" y="2235200"/>
              <a:ext cx="1544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Просвещение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95636" y="3644900"/>
              <a:ext cx="1505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Джефферсон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9649" y="3930650"/>
              <a:ext cx="179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право на счастье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62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810625" y="3000375"/>
              <a:ext cx="285750" cy="279401"/>
              <a:chOff x="8810625" y="3000375"/>
              <a:chExt cx="285750" cy="2794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4125" y="3270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58250" y="3032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3500" y="3000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06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011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34172" y="2235200"/>
              <a:ext cx="1238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XIX–XX вв.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9387" y="3644900"/>
              <a:ext cx="1848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Бентам и Милль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71042" y="3930650"/>
              <a:ext cx="156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максимум благ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53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rgbClr val="E67E2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5612" y="3074755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43423" y="2235200"/>
              <a:ext cx="830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XXI век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803" y="3644900"/>
              <a:ext cx="1741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многомерность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6728" y="3930650"/>
              <a:ext cx="1703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гены и действия</a:t>
              </a:r>
            </a:p>
          </p:txBody>
        </p:sp>
      </p:grpSp>
      <p:grpSp>
        <p:nvGrpSpPr>
          <p:cNvPr id="70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64" name="Rectangle 64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76325" y="5419725"/>
              <a:ext cx="285751" cy="285751"/>
              <a:chOff x="1076325" y="5419725"/>
              <a:chExt cx="285751" cy="28575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76325" y="5641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298576" y="5419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08075" y="5451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3718" y="5384800"/>
              <a:ext cx="8569673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 «хорошего удела» Аристотеля до многомерной модели XXI века: счастье понимали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по-разному, но искали всегда</a:t>
              </a:r>
            </a:p>
          </p:txBody>
        </p:sp>
      </p:grpSp>
      <p:sp>
        <p:nvSpPr>
          <p:cNvPr id="71" name="Line 7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rcRect l="0" t="7728" r="0" b="77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425982" cy="586740"/>
            <a:chOff x="746760" y="641350"/>
            <a:chExt cx="7425982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4259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8" name="compare"/>
          <p:cNvGrpSpPr/>
          <p:nvPr/>
        </p:nvGrpSpPr>
        <p:grpSpPr>
          <a:xfrm>
            <a:off x="762000" y="1666875"/>
            <a:ext cx="10668000" cy="3810000"/>
            <a:chOff x="762000" y="1666875"/>
            <a:chExt cx="106680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18792" r="0" b="18791"/>
            <a:stretch>
              <a:fillRect/>
            </a:stretch>
          </p:blipFill>
          <p:spPr>
            <a:xfrm>
              <a:off x="952500" y="1857375"/>
              <a:ext cx="4572000" cy="1905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79932" y="39751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4387850"/>
              <a:ext cx="308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Удовольствие здесь и сейчас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692650"/>
              <a:ext cx="2796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rcRect l="0" t="22222" r="0" b="22222"/>
            <a:stretch>
              <a:fillRect/>
            </a:stretch>
          </p:blipFill>
          <p:spPr>
            <a:xfrm>
              <a:off x="6667500" y="1857375"/>
              <a:ext cx="4572000" cy="1905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694932" y="3975100"/>
              <a:ext cx="16343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218" y="4387850"/>
              <a:ext cx="2345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7218" y="4692650"/>
              <a:ext cx="2360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Устойчивый результат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85737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</p:grpSp>
      <p:grpSp>
        <p:nvGrpSpPr>
          <p:cNvPr id="23" name="note"/>
          <p:cNvGrpSpPr/>
          <p:nvPr/>
        </p:nvGrpSpPr>
        <p:grpSpPr>
          <a:xfrm>
            <a:off x="993775" y="5848350"/>
            <a:ext cx="6325565" cy="352044"/>
            <a:chOff x="993775" y="5848350"/>
            <a:chExt cx="6325565" cy="352044"/>
          </a:xfrm>
        </p:grpSpPr>
        <p:grpSp>
          <p:nvGrpSpPr>
            <p:cNvPr id="21" name="Group 21"/>
            <p:cNvGrpSpPr/>
            <p:nvPr/>
          </p:nvGrpSpPr>
          <p:grpSpPr>
            <a:xfrm>
              <a:off x="993775" y="5867400"/>
              <a:ext cx="222250" cy="190500"/>
              <a:chOff x="993775" y="5867400"/>
              <a:chExt cx="22225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93775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6650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38656" y="5848350"/>
              <a:ext cx="5880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счастье находится по ту сторону слёз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  <p:grpSp>
        <p:nvGrpSpPr>
          <p:cNvPr id="27" name="credits"/>
          <p:cNvGrpSpPr/>
          <p:nvPr/>
        </p:nvGrpSpPr>
        <p:grpSpPr>
          <a:xfrm>
            <a:off x="756285" y="6604000"/>
            <a:ext cx="3909145" cy="220028"/>
            <a:chOff x="756285" y="6604000"/>
            <a:chExt cx="3909145" cy="220028"/>
          </a:xfrm>
        </p:grpSpPr>
        <p:sp>
          <p:nvSpPr>
            <p:cNvPr id="26" name="TextBox 26"/>
            <p:cNvSpPr txBox="1"/>
            <p:nvPr/>
          </p:nvSpPr>
          <p:spPr>
            <a:xfrm>
              <a:off x="756285" y="6604000"/>
              <a:ext cx="3909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PattayaPatrol (CC BY-SA 4.0) · Shixart1985 (CC BY 2.0)</a:t>
              </a:r>
            </a:p>
          </p:txBody>
        </p:sp>
      </p:grp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10351647" cy="586740"/>
            <a:chOff x="746760" y="641350"/>
            <a:chExt cx="1035164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103516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генетика · 40% действия · 10% обстоятельства</a:t>
              </a:r>
            </a:p>
          </p:txBody>
        </p:sp>
      </p:grpSp>
      <p:grpSp>
        <p:nvGrpSpPr>
          <p:cNvPr id="12" name="donut"/>
          <p:cNvGrpSpPr/>
          <p:nvPr/>
        </p:nvGrpSpPr>
        <p:grpSpPr>
          <a:xfrm>
            <a:off x="1592120" y="2114354"/>
            <a:ext cx="2979880" cy="2858099"/>
            <a:chOff x="1592120" y="2114354"/>
            <a:chExt cx="2979880" cy="2858099"/>
          </a:xfrm>
        </p:grpSpPr>
        <p:sp>
          <p:nvSpPr>
            <p:cNvPr id="7" name="TextBox 7"/>
            <p:cNvSpPr txBox="1"/>
            <p:nvPr/>
          </p:nvSpPr>
          <p:spPr>
            <a:xfrm>
              <a:off x="2182225" y="3251200"/>
              <a:ext cx="19220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Н + В + 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31072" y="3625850"/>
              <a:ext cx="1824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143250" y="2114550"/>
              <a:ext cx="1428750" cy="2857500"/>
            </a:xfrm>
            <a:custGeom>
              <a:avLst/>
              <a:gdLst/>
              <a:ahLst/>
              <a:cxnLst/>
              <a:rect l="l" t="t" r="r" b="b"/>
              <a:pathLst>
                <a:path w="1428750" h="2857500">
                  <a:moveTo>
                    <a:pt x="0" y="0"/>
                  </a:moveTo>
                  <a:cubicBezTo>
                    <a:pt x="789077" y="0"/>
                    <a:pt x="1428750" y="639673"/>
                    <a:pt x="1428750" y="1428750"/>
                  </a:cubicBezTo>
                  <a:cubicBezTo>
                    <a:pt x="1428750" y="2217827"/>
                    <a:pt x="789077" y="2857500"/>
                    <a:pt x="0" y="2857500"/>
                  </a:cubicBezTo>
                  <a:lnTo>
                    <a:pt x="0" y="2343150"/>
                  </a:lnTo>
                  <a:cubicBezTo>
                    <a:pt x="505009" y="2343150"/>
                    <a:pt x="914400" y="1933759"/>
                    <a:pt x="914400" y="1428750"/>
                  </a:cubicBezTo>
                  <a:cubicBezTo>
                    <a:pt x="914400" y="923741"/>
                    <a:pt x="505009" y="514350"/>
                    <a:pt x="0" y="5143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2120" y="2386965"/>
              <a:ext cx="1551130" cy="2585488"/>
            </a:xfrm>
            <a:custGeom>
              <a:avLst/>
              <a:gdLst/>
              <a:ahLst/>
              <a:cxnLst/>
              <a:rect l="l" t="t" r="r" b="b"/>
              <a:pathLst>
                <a:path w="1551130" h="2585488">
                  <a:moveTo>
                    <a:pt x="1551130" y="2585085"/>
                  </a:moveTo>
                  <a:cubicBezTo>
                    <a:pt x="931845" y="2585488"/>
                    <a:pt x="382805" y="2186884"/>
                    <a:pt x="191403" y="1597919"/>
                  </a:cubicBezTo>
                  <a:cubicBezTo>
                    <a:pt x="0" y="1008955"/>
                    <a:pt x="209816" y="363737"/>
                    <a:pt x="711025" y="0"/>
                  </a:cubicBezTo>
                  <a:lnTo>
                    <a:pt x="1013920" y="416242"/>
                  </a:lnTo>
                  <a:cubicBezTo>
                    <a:pt x="693181" y="648975"/>
                    <a:pt x="558855" y="1061817"/>
                    <a:pt x="681237" y="1438726"/>
                  </a:cubicBezTo>
                  <a:cubicBezTo>
                    <a:pt x="803618" y="1815635"/>
                    <a:pt x="1154850" y="2070817"/>
                    <a:pt x="1551130" y="2070735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03145" y="2114354"/>
              <a:ext cx="840105" cy="688854"/>
            </a:xfrm>
            <a:custGeom>
              <a:avLst/>
              <a:gdLst/>
              <a:ahLst/>
              <a:cxnLst/>
              <a:rect l="l" t="t" r="r" b="b"/>
              <a:pathLst>
                <a:path w="840105" h="688854">
                  <a:moveTo>
                    <a:pt x="0" y="272611"/>
                  </a:moveTo>
                  <a:cubicBezTo>
                    <a:pt x="244238" y="95362"/>
                    <a:pt x="538328" y="0"/>
                    <a:pt x="840105" y="196"/>
                  </a:cubicBezTo>
                  <a:lnTo>
                    <a:pt x="840105" y="514546"/>
                  </a:lnTo>
                  <a:cubicBezTo>
                    <a:pt x="647128" y="514506"/>
                    <a:pt x="459086" y="575520"/>
                    <a:pt x="302895" y="688854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</p:grpSp>
      <p:grpSp>
        <p:nvGrpSpPr>
          <p:cNvPr id="25" name="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3" name="Rectangle 13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981700" y="230505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91656" y="209550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463800"/>
              <a:ext cx="408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81700" y="354330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1656" y="3333750"/>
              <a:ext cx="201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40% — действия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3702050"/>
              <a:ext cx="2096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усилия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81700" y="478155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1656" y="457200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95A5A6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418" y="4940300"/>
              <a:ext cx="2511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2" name="note"/>
          <p:cNvGrpSpPr/>
          <p:nvPr/>
        </p:nvGrpSpPr>
        <p:grpSpPr>
          <a:xfrm>
            <a:off x="1513077" y="5911850"/>
            <a:ext cx="9345989" cy="511683"/>
            <a:chOff x="1513077" y="5911850"/>
            <a:chExt cx="9345989" cy="511683"/>
          </a:xfrm>
        </p:grpSpPr>
        <p:grpSp>
          <p:nvGrpSpPr>
            <p:cNvPr id="29" name="Group 29"/>
            <p:cNvGrpSpPr/>
            <p:nvPr/>
          </p:nvGrpSpPr>
          <p:grpSpPr>
            <a:xfrm>
              <a:off x="1513077" y="5948362"/>
              <a:ext cx="174245" cy="257175"/>
              <a:chOff x="1513077" y="5948362"/>
              <a:chExt cx="174245" cy="2571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557338" y="5948362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571625" y="6034088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513077" y="5948362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898142" y="5911850"/>
              <a:ext cx="8960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Формула: Lyubomirsky, Sheldon &amp; Schkade (2005) — иллюстративная модель, а не универсальный закон.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98142" y="6159500"/>
              <a:ext cx="8786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Мета-анализы (Rohrer &amp; Schmukle, 2018) уточняют: гены и среда взаимодействуют, а не суммируются.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035915" cy="586740"/>
            <a:chOff x="746760" y="641350"/>
            <a:chExt cx="7035915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0359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8" name="photo"/>
          <p:cNvGrpSpPr/>
          <p:nvPr/>
        </p:nvGrpSpPr>
        <p:grpSpPr>
          <a:xfrm>
            <a:off x="762000" y="1666875"/>
            <a:ext cx="4953000" cy="3810000"/>
            <a:chOff x="762000" y="1666875"/>
            <a:chExt cx="4953000" cy="3810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l="6768" t="0" r="6768" b="0"/>
            <a:stretch>
              <a:fillRect/>
            </a:stretch>
          </p:blipFill>
          <p:spPr>
            <a:xfrm>
              <a:off x="762000" y="1666875"/>
              <a:ext cx="4953000" cy="3810000"/>
            </a:xfrm>
            <a:prstGeom prst="rect">
              <a:avLst/>
            </a:prstGeom>
          </p:spPr>
        </p:pic>
      </p:grpSp>
      <p:grpSp>
        <p:nvGrpSpPr>
          <p:cNvPr id="31" name="factors"/>
          <p:cNvGrpSpPr/>
          <p:nvPr/>
        </p:nvGrpSpPr>
        <p:grpSpPr>
          <a:xfrm>
            <a:off x="6201021" y="1790700"/>
            <a:ext cx="4706924" cy="3758057"/>
            <a:chOff x="6201021" y="1790700"/>
            <a:chExt cx="4706924" cy="3758057"/>
          </a:xfrm>
        </p:grpSpPr>
        <p:sp>
          <p:nvSpPr>
            <p:cNvPr id="9" name="Freeform 9"/>
            <p:cNvSpPr/>
            <p:nvPr/>
          </p:nvSpPr>
          <p:spPr>
            <a:xfrm>
              <a:off x="6218541" y="17989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34556" y="17907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5318" y="2101850"/>
              <a:ext cx="4167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№1 предиктор (Harvard Study, Waldinger)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01021" y="2566987"/>
              <a:ext cx="341011" cy="314325"/>
              <a:chOff x="6201021" y="2566987"/>
              <a:chExt cx="341011" cy="314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201021" y="25669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34137" y="28114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34556" y="2571750"/>
              <a:ext cx="1209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5318" y="2882900"/>
              <a:ext cx="198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база благополучия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24587" y="3348037"/>
              <a:ext cx="314324" cy="314325"/>
              <a:chOff x="6224587" y="3348037"/>
              <a:chExt cx="314324" cy="3143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224587" y="33480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87033" y="34178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41586" y="35925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34556" y="3352800"/>
              <a:ext cx="2002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5318" y="3663950"/>
              <a:ext cx="299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важнее удовольствия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24587" y="4129087"/>
              <a:ext cx="314324" cy="314324"/>
              <a:chOff x="6224587" y="41290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24587" y="4129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9362" y="42513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34556" y="413385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5318" y="4445000"/>
              <a:ext cx="2245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ежедневная практика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24587" y="492760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4556" y="4914900"/>
              <a:ext cx="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Поток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5318" y="5226050"/>
              <a:ext cx="4172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полная вовлечённость (Чиксентмихайи)</a:t>
              </a:r>
            </a:p>
          </p:txBody>
        </p:sp>
      </p:grpSp>
      <p:grpSp>
        <p:nvGrpSpPr>
          <p:cNvPr id="41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8225" y="5873750"/>
              <a:ext cx="285751" cy="279401"/>
              <a:chOff x="1038225" y="5873750"/>
              <a:chExt cx="285751" cy="279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117600" y="6143626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1100" y="6080126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1725" y="5873750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01725" y="5873750"/>
                <a:ext cx="158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06375">
                    <a:moveTo>
                      <a:pt x="158750" y="0"/>
                    </a:moveTo>
                    <a:lnTo>
                      <a:pt x="158750" y="127000"/>
                    </a:lnTo>
                    <a:cubicBezTo>
                      <a:pt x="158750" y="170838"/>
                      <a:pt x="123213" y="206375"/>
                      <a:pt x="79375" y="206375"/>
                    </a:cubicBezTo>
                    <a:cubicBezTo>
                      <a:pt x="35537" y="206375"/>
                      <a:pt x="0" y="170838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8225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60476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514856" y="5867400"/>
              <a:ext cx="90306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Гарвардское исследование: качество связей — сильнейший предиктор счастья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grpSp>
        <p:nvGrpSpPr>
          <p:cNvPr id="45" name="credits"/>
          <p:cNvGrpSpPr/>
          <p:nvPr/>
        </p:nvGrpSpPr>
        <p:grpSpPr>
          <a:xfrm>
            <a:off x="756285" y="6604000"/>
            <a:ext cx="2070481" cy="220028"/>
            <a:chOff x="756285" y="6604000"/>
            <a:chExt cx="2070481" cy="220028"/>
          </a:xfrm>
        </p:grpSpPr>
        <p:sp>
          <p:nvSpPr>
            <p:cNvPr id="44" name="TextBox 44"/>
            <p:cNvSpPr txBox="1"/>
            <p:nvPr/>
          </p:nvSpPr>
          <p:spPr>
            <a:xfrm>
              <a:off x="756285" y="6604000"/>
              <a:ext cx="2070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PattayaPatrol (CC BY-SA 4.0)</a:t>
              </a:r>
            </a:p>
          </p:txBody>
        </p:sp>
      </p:grp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5030218" cy="586740"/>
            <a:chOff x="746760" y="641350"/>
            <a:chExt cx="5030218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0302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75 000 $ — плато?</a:t>
              </a:r>
            </a:p>
          </p:txBody>
        </p:sp>
      </p:grpSp>
      <p:grpSp>
        <p:nvGrpSpPr>
          <p:cNvPr id="17" name="chart"/>
          <p:cNvGrpSpPr/>
          <p:nvPr/>
        </p:nvGrpSpPr>
        <p:grpSpPr>
          <a:xfrm>
            <a:off x="762000" y="1666875"/>
            <a:ext cx="7429500" cy="3905250"/>
            <a:chOff x="762000" y="1666875"/>
            <a:chExt cx="7429500" cy="3905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74295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05000"/>
              <a:ext cx="2036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953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619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400000" sp="3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79028" y="21971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75 000 $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8918" y="2501900"/>
              <a:ext cx="873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8918" y="4787900"/>
              <a:ext cx="709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0868" y="5054600"/>
              <a:ext cx="13897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низкий доход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8118" y="5054600"/>
              <a:ext cx="1553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высокий доход</a:t>
              </a:r>
            </a:p>
          </p:txBody>
        </p:sp>
      </p:grpSp>
      <p:grpSp>
        <p:nvGrpSpPr>
          <p:cNvPr id="20" name="chart-plot"/>
          <p:cNvGrpSpPr/>
          <p:nvPr/>
        </p:nvGrpSpPr>
        <p:grpSpPr>
          <a:xfrm>
            <a:off x="1428750" y="2647950"/>
            <a:ext cx="6191250" cy="2114550"/>
            <a:chOff x="1428750" y="2647950"/>
            <a:chExt cx="6191250" cy="2114550"/>
          </a:xfrm>
        </p:grpSpPr>
        <p:sp>
          <p:nvSpPr>
            <p:cNvPr id="18" name="Polyline 18"/>
            <p:cNvSpPr/>
            <p:nvPr/>
          </p:nvSpPr>
          <p:spPr>
            <a:xfrm>
              <a:off x="1428750" y="2647950"/>
              <a:ext cx="6191250" cy="2114550"/>
            </a:xfrm>
            <a:custGeom>
              <a:avLst/>
              <a:gdLst/>
              <a:ahLst/>
              <a:cxnLst/>
              <a:rect l="l" t="t" r="r" b="b"/>
              <a:pathLst>
                <a:path w="6191250" h="2114550">
                  <a:moveTo>
                    <a:pt x="0" y="2114550"/>
                  </a:moveTo>
                  <a:lnTo>
                    <a:pt x="857250" y="1752600"/>
                  </a:lnTo>
                  <a:lnTo>
                    <a:pt x="1714500" y="1257300"/>
                  </a:lnTo>
                  <a:lnTo>
                    <a:pt x="2571750" y="800100"/>
                  </a:lnTo>
                  <a:lnTo>
                    <a:pt x="3429000" y="457200"/>
                  </a:lnTo>
                  <a:lnTo>
                    <a:pt x="4286250" y="209550"/>
                  </a:lnTo>
                  <a:lnTo>
                    <a:pt x="5143500" y="76200"/>
                  </a:lnTo>
                  <a:lnTo>
                    <a:pt x="619125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524500" y="2781300"/>
              <a:ext cx="190500" cy="1905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7" name="theses"/>
          <p:cNvGrpSpPr/>
          <p:nvPr/>
        </p:nvGrpSpPr>
        <p:grpSpPr>
          <a:xfrm>
            <a:off x="8382000" y="1666875"/>
            <a:ext cx="3048000" cy="3905250"/>
            <a:chOff x="8382000" y="1666875"/>
            <a:chExt cx="30480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8382000" y="1666875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0318" y="1958975"/>
              <a:ext cx="2479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Канеман–Дитон (2010)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0318" y="2327275"/>
              <a:ext cx="2336001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после 75 000 $ влияние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дохода прекращается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0" y="3714750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0318" y="4006850"/>
              <a:ext cx="2136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Killingsworth (2021)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0318" y="4375150"/>
              <a:ext cx="2524973" cy="913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растёт и дальше;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плато — у 20% самых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несчастных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grpSp>
        <p:nvGrpSpPr>
          <p:cNvPr id="30" name="credits"/>
          <p:cNvGrpSpPr/>
          <p:nvPr/>
        </p:nvGrpSpPr>
        <p:grpSpPr>
          <a:xfrm>
            <a:off x="756285" y="6604000"/>
            <a:ext cx="2960200" cy="220028"/>
            <a:chOff x="756285" y="6604000"/>
            <a:chExt cx="2960200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756285" y="6604000"/>
              <a:ext cx="2960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Marek Ślusarczyk (Tupungato) (CC BY 3.0)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5162677" cy="586740"/>
            <a:chOff x="746760" y="641350"/>
            <a:chExt cx="51626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1626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</p:grpSp>
      <p:grpSp>
        <p:nvGrpSpPr>
          <p:cNvPr id="16" name="chart"/>
          <p:cNvGrpSpPr/>
          <p:nvPr/>
        </p:nvGrpSpPr>
        <p:grpSpPr>
          <a:xfrm>
            <a:off x="762000" y="1762125"/>
            <a:ext cx="6667500" cy="4476750"/>
            <a:chOff x="762000" y="1762125"/>
            <a:chExt cx="6667500" cy="447675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4955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3340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8765" y="4940300"/>
              <a:ext cx="82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1818" y="2501900"/>
              <a:ext cx="8700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высокая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91818" y="5168900"/>
              <a:ext cx="706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низкая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6618" y="5473700"/>
              <a:ext cx="87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5473700"/>
              <a:ext cx="830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4868" y="5778500"/>
              <a:ext cx="2248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</a:t>
              </a:r>
            </a:p>
          </p:txBody>
        </p:sp>
      </p:grpSp>
      <p:grpSp>
        <p:nvGrpSpPr>
          <p:cNvPr id="19" name="chart-plot"/>
          <p:cNvGrpSpPr/>
          <p:nvPr/>
        </p:nvGrpSpPr>
        <p:grpSpPr>
          <a:xfrm>
            <a:off x="1714500" y="2857500"/>
            <a:ext cx="5334000" cy="2009775"/>
            <a:chOff x="1714500" y="2857500"/>
            <a:chExt cx="5334000" cy="2009775"/>
          </a:xfrm>
        </p:grpSpPr>
        <p:sp>
          <p:nvSpPr>
            <p:cNvPr id="17" name="Polyline 17"/>
            <p:cNvSpPr/>
            <p:nvPr/>
          </p:nvSpPr>
          <p:spPr>
            <a:xfrm>
              <a:off x="1714500" y="2857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190500"/>
                  </a:moveTo>
                  <a:lnTo>
                    <a:pt x="1143000" y="952500"/>
                  </a:lnTo>
                  <a:lnTo>
                    <a:pt x="2286000" y="1905000"/>
                  </a:lnTo>
                  <a:lnTo>
                    <a:pt x="3429000" y="1619250"/>
                  </a:lnTo>
                  <a:lnTo>
                    <a:pt x="4572000" y="571500"/>
                  </a:lnTo>
                  <a:lnTo>
                    <a:pt x="53340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95725" y="4657725"/>
              <a:ext cx="209550" cy="20955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</p:grpSp>
      <p:grpSp>
        <p:nvGrpSpPr>
          <p:cNvPr id="28" name="list"/>
          <p:cNvGrpSpPr/>
          <p:nvPr/>
        </p:nvGrpSpPr>
        <p:grpSpPr>
          <a:xfrm>
            <a:off x="7810500" y="2000250"/>
            <a:ext cx="3619500" cy="4114800"/>
            <a:chOff x="7810500" y="2000250"/>
            <a:chExt cx="3619500" cy="4114800"/>
          </a:xfrm>
        </p:grpSpPr>
        <p:sp>
          <p:nvSpPr>
            <p:cNvPr id="20" name="Rectangle 20"/>
            <p:cNvSpPr/>
            <p:nvPr/>
          </p:nvSpPr>
          <p:spPr>
            <a:xfrm>
              <a:off x="7810500" y="20002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8818" y="2197100"/>
              <a:ext cx="22597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30670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68818" y="3251200"/>
              <a:ext cx="26765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 образования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0" y="41338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8818" y="4318000"/>
              <a:ext cx="24323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 статус,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навыки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52006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68818" y="5397500"/>
              <a:ext cx="2468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909077" cy="586740"/>
            <a:chOff x="746760" y="641350"/>
            <a:chExt cx="79090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9090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соцсети делают с нашим счастьем</a:t>
              </a:r>
            </a:p>
          </p:txBody>
        </p:sp>
      </p:grpSp>
      <p:grpSp>
        <p:nvGrpSpPr>
          <p:cNvPr id="16" name="plus"/>
          <p:cNvGrpSpPr/>
          <p:nvPr/>
        </p:nvGrpSpPr>
        <p:grpSpPr>
          <a:xfrm>
            <a:off x="762000" y="1762125"/>
            <a:ext cx="4762500" cy="3810000"/>
            <a:chOff x="762000" y="1762125"/>
            <a:chExt cx="4762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9187" y="2090737"/>
              <a:ext cx="314324" cy="314324"/>
              <a:chOff x="1119187" y="2090737"/>
              <a:chExt cx="314324" cy="3143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191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3962" y="22129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89532" y="2108200"/>
              <a:ext cx="1055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686050"/>
              <a:ext cx="2024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314700"/>
              <a:ext cx="2572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общение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43350"/>
              <a:ext cx="1997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4572000"/>
              <a:ext cx="18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26" name="minus"/>
          <p:cNvGrpSpPr/>
          <p:nvPr/>
        </p:nvGrpSpPr>
        <p:grpSpPr>
          <a:xfrm>
            <a:off x="6667500" y="1762125"/>
            <a:ext cx="4762500" cy="3810000"/>
            <a:chOff x="6667500" y="1762125"/>
            <a:chExt cx="47625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6675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024687" y="2090737"/>
              <a:ext cx="314324" cy="314324"/>
              <a:chOff x="7024687" y="2090737"/>
              <a:chExt cx="314324" cy="3143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0246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46925" y="22129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  <a:moveTo>
                      <a:pt x="6985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495032" y="2108200"/>
              <a:ext cx="1168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9356" y="2686050"/>
              <a:ext cx="2451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9356" y="3314700"/>
              <a:ext cx="2827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FOMO — страх упустить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9356" y="3943350"/>
              <a:ext cx="2423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Падение самооценки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4572000"/>
              <a:ext cx="132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</a:t>
              </a:r>
            </a:p>
          </p:txBody>
        </p:sp>
      </p:grpSp>
      <p:grpSp>
        <p:nvGrpSpPr>
          <p:cNvPr id="33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27" name="Rectangle 27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69975" y="5873750"/>
              <a:ext cx="222250" cy="285751"/>
              <a:chOff x="1069975" y="5873750"/>
              <a:chExt cx="222250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69975" y="5873750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5875" y="0"/>
                    </a:move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22250"/>
                    </a:lnTo>
                    <a:cubicBezTo>
                      <a:pt x="222250" y="239786"/>
                      <a:pt x="208035" y="254001"/>
                      <a:pt x="190500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moveTo>
                      <a:pt x="63500" y="0"/>
                    </a:moveTo>
                    <a:lnTo>
                      <a:pt x="63500" y="285751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96975" y="5937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96975" y="6000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14856" y="5867400"/>
              <a:ext cx="8037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и цифровой детокс повышают благополучие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4459847" cy="586740"/>
            <a:chOff x="746760" y="641350"/>
            <a:chExt cx="445984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44598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делать конкретно</a:t>
              </a:r>
            </a:p>
          </p:txBody>
        </p:sp>
      </p:grpSp>
      <p:grpSp>
        <p:nvGrpSpPr>
          <p:cNvPr id="11" name="rec-1"/>
          <p:cNvGrpSpPr/>
          <p:nvPr/>
        </p:nvGrpSpPr>
        <p:grpSpPr>
          <a:xfrm>
            <a:off x="762000" y="1714500"/>
            <a:ext cx="3429000" cy="2047875"/>
            <a:chOff x="762000" y="1714500"/>
            <a:chExt cx="3429000" cy="2047875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3466" y="20965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2705100"/>
              <a:ext cx="233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Будьте с близкими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282950"/>
              <a:ext cx="2866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время с семьёй и друзьями</a:t>
              </a:r>
            </a:p>
          </p:txBody>
        </p:sp>
      </p:grpSp>
      <p:grpSp>
        <p:nvGrpSpPr>
          <p:cNvPr id="19" name="rec-2"/>
          <p:cNvGrpSpPr/>
          <p:nvPr/>
        </p:nvGrpSpPr>
        <p:grpSpPr>
          <a:xfrm>
            <a:off x="4381500" y="1714500"/>
            <a:ext cx="3429000" cy="2047875"/>
            <a:chOff x="4381500" y="1714500"/>
            <a:chExt cx="3429000" cy="2047875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51388" y="2101850"/>
              <a:ext cx="288925" cy="371476"/>
              <a:chOff x="4751388" y="2101850"/>
              <a:chExt cx="288925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51388" y="2101850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0638" y="0"/>
                    </a:moveTo>
                    <a:lnTo>
                      <a:pt x="247650" y="0"/>
                    </a:lnTo>
                    <a:cubicBezTo>
                      <a:pt x="270446" y="0"/>
                      <a:pt x="288925" y="18479"/>
                      <a:pt x="288925" y="41275"/>
                    </a:cubicBezTo>
                    <a:lnTo>
                      <a:pt x="288925" y="288925"/>
                    </a:lnTo>
                    <a:cubicBezTo>
                      <a:pt x="288925" y="311721"/>
                      <a:pt x="270446" y="330201"/>
                      <a:pt x="247650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moveTo>
                      <a:pt x="82550" y="0"/>
                    </a:moveTo>
                    <a:lnTo>
                      <a:pt x="82550" y="37147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6488" y="21844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16488" y="22669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39056" y="270510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9818" y="3282950"/>
              <a:ext cx="2400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3 добрых факта в день</a:t>
              </a:r>
            </a:p>
          </p:txBody>
        </p:sp>
      </p:grpSp>
      <p:grpSp>
        <p:nvGrpSpPr>
          <p:cNvPr id="28" name="rec-3"/>
          <p:cNvGrpSpPr/>
          <p:nvPr/>
        </p:nvGrpSpPr>
        <p:grpSpPr>
          <a:xfrm>
            <a:off x="8001000" y="1714500"/>
            <a:ext cx="3429000" cy="2047875"/>
            <a:chOff x="8001000" y="1714500"/>
            <a:chExt cx="3429000" cy="2047875"/>
          </a:xfrm>
        </p:grpSpPr>
        <p:sp>
          <p:nvSpPr>
            <p:cNvPr id="20" name="Rectangle 20"/>
            <p:cNvSpPr/>
            <p:nvPr/>
          </p:nvSpPr>
          <p:spPr>
            <a:xfrm>
              <a:off x="8001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350250" y="2081213"/>
              <a:ext cx="288926" cy="371475"/>
              <a:chOff x="8350250" y="2081213"/>
              <a:chExt cx="288926" cy="3714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94857" y="20812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50250" y="2359819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494713" y="2184400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12163" y="2184400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58556" y="2705100"/>
              <a:ext cx="1418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Двигайтесь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59318" y="3282950"/>
              <a:ext cx="1994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спорт каждый день</a:t>
              </a:r>
            </a:p>
          </p:txBody>
        </p:sp>
      </p:grpSp>
      <p:grpSp>
        <p:nvGrpSpPr>
          <p:cNvPr id="51" name="rec-4"/>
          <p:cNvGrpSpPr/>
          <p:nvPr/>
        </p:nvGrpSpPr>
        <p:grpSpPr>
          <a:xfrm>
            <a:off x="762000" y="3952875"/>
            <a:ext cx="10668000" cy="2047875"/>
            <a:chOff x="762000" y="3952875"/>
            <a:chExt cx="10668000" cy="2047875"/>
          </a:xfrm>
        </p:grpSpPr>
        <p:sp>
          <p:nvSpPr>
            <p:cNvPr id="29" name="Rectangle 29"/>
            <p:cNvSpPr/>
            <p:nvPr/>
          </p:nvSpPr>
          <p:spPr>
            <a:xfrm>
              <a:off x="43815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710113" y="4319588"/>
              <a:ext cx="371476" cy="371476"/>
              <a:chOff x="4710113" y="4319588"/>
              <a:chExt cx="371476" cy="3714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75213" y="44846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92663" y="4402138"/>
                <a:ext cx="2063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206375">
                    <a:moveTo>
                      <a:pt x="0" y="103188"/>
                    </a:moveTo>
                    <a:cubicBezTo>
                      <a:pt x="0" y="160177"/>
                      <a:pt x="46199" y="206375"/>
                      <a:pt x="103188" y="206375"/>
                    </a:cubicBezTo>
                    <a:cubicBezTo>
                      <a:pt x="160177" y="206375"/>
                      <a:pt x="206375" y="160177"/>
                      <a:pt x="206375" y="103188"/>
                    </a:cubicBezTo>
                    <a:cubicBezTo>
                      <a:pt x="206375" y="46199"/>
                      <a:pt x="160177" y="0"/>
                      <a:pt x="103188" y="0"/>
                    </a:cubicBezTo>
                    <a:cubicBezTo>
                      <a:pt x="46199" y="0"/>
                      <a:pt x="0" y="46199"/>
                      <a:pt x="0" y="10318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101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639056" y="4943475"/>
              <a:ext cx="1660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Ставьте цели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9818" y="5521325"/>
              <a:ext cx="2230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вместо погони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91525" y="4319588"/>
              <a:ext cx="247650" cy="371476"/>
              <a:chOff x="8391525" y="4319588"/>
              <a:chExt cx="247650" cy="3714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91525" y="4319588"/>
                <a:ext cx="247650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71476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330201"/>
                    </a:lnTo>
                    <a:cubicBezTo>
                      <a:pt x="247650" y="352996"/>
                      <a:pt x="229171" y="371476"/>
                      <a:pt x="206375" y="371476"/>
                    </a:cubicBez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94713" y="43402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15350" y="4608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8556" y="4943475"/>
              <a:ext cx="2027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Детокс соцсетей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9318" y="5521325"/>
              <a:ext cx="288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ограничьте экранное время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90613" y="4319588"/>
              <a:ext cx="371476" cy="371476"/>
              <a:chOff x="1090613" y="4319588"/>
              <a:chExt cx="371476" cy="37147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06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14438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38263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24757" y="4567238"/>
                <a:ext cx="103188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21680">
                    <a:moveTo>
                      <a:pt x="0" y="0"/>
                    </a:moveTo>
                    <a:cubicBezTo>
                      <a:pt x="13586" y="13866"/>
                      <a:pt x="32181" y="21680"/>
                      <a:pt x="51594" y="21680"/>
                    </a:cubicBezTo>
                    <a:cubicBezTo>
                      <a:pt x="71006" y="21680"/>
                      <a:pt x="89602" y="13866"/>
                      <a:pt x="103188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9556" y="4943475"/>
              <a:ext cx="1618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Медитируйте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0318" y="5521325"/>
              <a:ext cx="241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 минут осознанности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grpSp>
        <p:nvGrpSpPr>
          <p:cNvPr id="55" name="credits"/>
          <p:cNvGrpSpPr/>
          <p:nvPr/>
        </p:nvGrpSpPr>
        <p:grpSpPr>
          <a:xfrm>
            <a:off x="756285" y="6604000"/>
            <a:ext cx="1562156" cy="220028"/>
            <a:chOff x="756285" y="6604000"/>
            <a:chExt cx="1562156" cy="220028"/>
          </a:xfrm>
        </p:grpSpPr>
        <p:sp>
          <p:nvSpPr>
            <p:cNvPr id="54" name="TextBox 54"/>
            <p:cNvSpPr txBox="1"/>
            <p:nvPr/>
          </p:nvSpPr>
          <p:spPr>
            <a:xfrm>
              <a:off x="756285" y="6604000"/>
              <a:ext cx="1562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7A3"/>
                  </a:solidFill>
                  <a:latin typeface="+mn-lt"/>
                  <a:ea typeface="+mn-ea"/>
                  <a:cs typeface="+mn-cs"/>
                </a:rPr>
                <a:t>Rick Obst (CC BY 2.0)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146770" cy="586740"/>
            <a:chOff x="746760" y="641350"/>
            <a:chExt cx="614677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1467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762000" y="1238250"/>
            <a:ext cx="10668000" cy="2209800"/>
            <a:chOff x="762000" y="1238250"/>
            <a:chExt cx="10668000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10668000" cy="2209800"/>
            </a:xfrm>
            <a:prstGeom prst="roundRect">
              <a:avLst>
                <a:gd name="adj" fmla="val 6897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2707" y="1438275"/>
              <a:ext cx="272955" cy="284004"/>
              <a:chOff x="1082707" y="1438275"/>
              <a:chExt cx="272955" cy="2840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23950" y="1438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158115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707" y="158115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52956" y="1466850"/>
              <a:ext cx="1067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1968500"/>
              <a:ext cx="3552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Счастье: гены, среда и действия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1968500"/>
              <a:ext cx="446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Качество отношений — ключевой фактор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2387600"/>
              <a:ext cx="4335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Деньги важны до определённого уровня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387600"/>
              <a:ext cx="3595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устойчивее удовольствия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2806700"/>
              <a:ext cx="4270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навык, его можно развивать</a:t>
              </a:r>
            </a:p>
          </p:txBody>
        </p:sp>
      </p:grpSp>
      <p:grpSp>
        <p:nvGrpSpPr>
          <p:cNvPr id="20" name="key-sources"/>
          <p:cNvGrpSpPr/>
          <p:nvPr/>
        </p:nvGrpSpPr>
        <p:grpSpPr>
          <a:xfrm>
            <a:off x="3725886" y="3740150"/>
            <a:ext cx="4740227" cy="264033"/>
            <a:chOff x="3725886" y="3740150"/>
            <a:chExt cx="474022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3725886" y="3740150"/>
              <a:ext cx="47402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Ключевые источники: Селигман, Канеман, Килингсворт</a:t>
              </a:r>
            </a:p>
          </p:txBody>
        </p:sp>
      </p:grpSp>
      <p:grpSp>
        <p:nvGrpSpPr>
          <p:cNvPr id="24" name="qr"/>
          <p:cNvGrpSpPr/>
          <p:nvPr/>
        </p:nvGrpSpPr>
        <p:grpSpPr>
          <a:xfrm>
            <a:off x="4547374" y="4083050"/>
            <a:ext cx="3097252" cy="2494407"/>
            <a:chOff x="4547374" y="4083050"/>
            <a:chExt cx="3097252" cy="2494407"/>
          </a:xfrm>
        </p:grpSpPr>
        <p:sp>
          <p:nvSpPr>
            <p:cNvPr id="21" name="TextBox 21"/>
            <p:cNvSpPr txBox="1"/>
            <p:nvPr/>
          </p:nvSpPr>
          <p:spPr>
            <a:xfrm>
              <a:off x="4547374" y="4083050"/>
              <a:ext cx="3097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Полный список источников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3500" y="4457700"/>
              <a:ext cx="1905000" cy="190500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4638701" y="6254750"/>
              <a:ext cx="2914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Наведите камеру телефона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2026-10-09T20:42:18Z</dcterms:created>
  <dcterms:modified xsi:type="dcterms:W3CDTF">2026-10-09T20:42:18Z</dcterms:modified>
  <cp:category/>
  <cp:contentStatus/>
</cp:coreProperties>
</file>