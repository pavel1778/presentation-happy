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ru"/>
    </a:defPPr>
    <a:lvl1pPr marL="0" algn="l" defTabSz="457200" rtl="0" eaLnBrk="1" latinLnBrk="0" hangingPunct="1">
      <a:defRPr lang="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38" autoAdjust="0"/>
  </p:normalViewPr>
  <p:slideViewPr>
    <p:cSldViewPr snapToGrid="0" snapToObjects="1">
      <p:cViewPr varScale="1">
        <p:scale>
          <a:sx n="101" d="100"/>
          <a:sy n="101" d="100"/>
        </p:scale>
        <p:origin x="144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ru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" dirty="0" smtClean="0"/>
          </a:p>
          <a:p>
            <a:endParaRPr lang="ru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happiness_concep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ru" smtClean="0"/>
              <a:t>10.10.2026</a:t>
            </a:fld>
            <a:endParaRPr lang="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ru" smtClean="0"/>
              <a:t>‹#›</a:t>
            </a:fld>
            <a:endParaRPr lang="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happiness_concep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ru" smtClean="0"/>
              <a:t>10.10.2026</a:t>
            </a:fld>
            <a:endParaRPr lang="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ru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ru" smtClean="0"/>
              <a:t>‹#›</a:t>
            </a:fld>
            <a:endParaRPr lang="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ru"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ru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ru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ru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ru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ru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ru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ru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ru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"/>
      </a:defPPr>
      <a:lvl1pPr marL="0" algn="l" defTabSz="457200" rtl="0" eaLnBrk="1" latinLnBrk="0" hangingPunct="1">
        <a:defRPr lang="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ru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ru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ru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ru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ru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ru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ru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ru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photo"/>
          <p:cNvPicPr>
            <a:picLocks noChangeAspect="1"/>
          </p:cNvPicPr>
          <p:nvPr/>
        </p:nvPicPr>
        <p:blipFill>
          <a:blip r:embed="rId3"/>
          <a:srcRect t="5003" b="500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6000"/>
                </a:srgbClr>
              </a:gs>
              <a:gs pos="100000">
                <a:srgbClr val="F5E6D3">
                  <a:alpha val="86000"/>
                </a:srgbClr>
              </a:gs>
            </a:gsLst>
            <a:lin ang="2700000" scaled="1"/>
          </a:gradFill>
          <a:ln>
            <a:noFill/>
          </a:ln>
        </p:spPr>
      </p:sp>
      <p:grpSp>
        <p:nvGrpSpPr>
          <p:cNvPr id="6" name="cover-decor"/>
          <p:cNvGrpSpPr/>
          <p:nvPr/>
        </p:nvGrpSpPr>
        <p:grpSpPr>
          <a:xfrm>
            <a:off x="0" y="0"/>
            <a:ext cx="12477750" cy="7143750"/>
            <a:chOff x="0" y="0"/>
            <a:chExt cx="12477750" cy="7143750"/>
          </a:xfrm>
        </p:grpSpPr>
        <p:sp>
          <p:nvSpPr>
            <p:cNvPr id="4" name="cover-orb"/>
            <p:cNvSpPr/>
            <p:nvPr/>
          </p:nvSpPr>
          <p:spPr>
            <a:xfrm>
              <a:off x="8096250" y="2762250"/>
              <a:ext cx="4381500" cy="4381500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  <p:sp>
          <p:nvSpPr>
            <p:cNvPr id="5" name="cover-accent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27AE60"/>
            </a:solidFill>
            <a:ln>
              <a:noFill/>
            </a:ln>
          </p:spPr>
        </p:sp>
      </p:grpSp>
      <p:grpSp>
        <p:nvGrpSpPr>
          <p:cNvPr id="9" name="cover-header"/>
          <p:cNvGrpSpPr/>
          <p:nvPr/>
        </p:nvGrpSpPr>
        <p:grpSpPr>
          <a:xfrm>
            <a:off x="746760" y="1130300"/>
            <a:ext cx="7980969" cy="2250440"/>
            <a:chOff x="746760" y="1130300"/>
            <a:chExt cx="7980969" cy="2250440"/>
          </a:xfrm>
        </p:grpSpPr>
        <p:sp>
          <p:nvSpPr>
            <p:cNvPr id="7" name="TextBox 7"/>
            <p:cNvSpPr txBox="1"/>
            <p:nvPr/>
          </p:nvSpPr>
          <p:spPr>
            <a:xfrm>
              <a:off x="753618" y="1130300"/>
              <a:ext cx="79741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spc="1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РОСТОВСКИЙ-НА-ДОНУ КОЛЛЕДЖ СВЯЗИ И ИНФОРМАТИКИ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6760" y="1612900"/>
              <a:ext cx="6145682" cy="1767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650"/>
                </a:lnSpc>
              </a:pPr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Концепция счастья:</a:t>
              </a:r>
              <a:b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делает людей счастливыми</a:t>
              </a:r>
              <a:b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 современном мире?</a:t>
              </a:r>
            </a:p>
          </p:txBody>
        </p:sp>
      </p:grpSp>
      <p:grpSp>
        <p:nvGrpSpPr>
          <p:cNvPr id="17" name="cover-logo"/>
          <p:cNvGrpSpPr/>
          <p:nvPr/>
        </p:nvGrpSpPr>
        <p:grpSpPr>
          <a:xfrm>
            <a:off x="9991725" y="800100"/>
            <a:ext cx="1257300" cy="2266781"/>
            <a:chOff x="9991725" y="800100"/>
            <a:chExt cx="1257300" cy="2266781"/>
          </a:xfrm>
        </p:grpSpPr>
        <p:sp>
          <p:nvSpPr>
            <p:cNvPr id="10" name="Ellipse 10"/>
            <p:cNvSpPr/>
            <p:nvPr/>
          </p:nvSpPr>
          <p:spPr>
            <a:xfrm>
              <a:off x="9991725" y="800100"/>
              <a:ext cx="1257300" cy="1257300"/>
            </a:xfrm>
            <a:prstGeom prst="ellipse">
              <a:avLst/>
            </a:prstGeom>
            <a:solidFill>
              <a:schemeClr val="accent1">
                <a:alpha val="92000"/>
              </a:scheme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0086975" y="895350"/>
              <a:ext cx="1066800" cy="1066800"/>
            </a:xfrm>
            <a:prstGeom prst="ellipse">
              <a:avLst/>
            </a:prstGeom>
            <a:noFill/>
            <a:ln w="28575">
              <a:solidFill>
                <a:srgbClr val="FFFFFF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414000" y="1284288"/>
              <a:ext cx="412751" cy="288925"/>
              <a:chOff x="10414000" y="1284288"/>
              <a:chExt cx="412751" cy="2889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0414000" y="1284288"/>
                <a:ext cx="412751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412751" h="206375">
                    <a:moveTo>
                      <a:pt x="412751" y="82550"/>
                    </a:moveTo>
                    <a:lnTo>
                      <a:pt x="206375" y="0"/>
                    </a:lnTo>
                    <a:lnTo>
                      <a:pt x="0" y="82550"/>
                    </a:lnTo>
                    <a:lnTo>
                      <a:pt x="206375" y="165100"/>
                    </a:lnTo>
                    <a:lnTo>
                      <a:pt x="412751" y="82550"/>
                    </a:lnTo>
                    <a:lnTo>
                      <a:pt x="412751" y="206375"/>
                    </a:lnTo>
                  </a:path>
                </a:pathLst>
              </a:custGeom>
              <a:noFill/>
              <a:ln w="4127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496550" y="1399858"/>
                <a:ext cx="247650" cy="173355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173355">
                    <a:moveTo>
                      <a:pt x="0" y="0"/>
                    </a:moveTo>
                    <a:lnTo>
                      <a:pt x="0" y="111443"/>
                    </a:lnTo>
                    <a:cubicBezTo>
                      <a:pt x="0" y="145636"/>
                      <a:pt x="55438" y="173355"/>
                      <a:pt x="123825" y="173355"/>
                    </a:cubicBezTo>
                    <a:cubicBezTo>
                      <a:pt x="192212" y="173355"/>
                      <a:pt x="247650" y="145636"/>
                      <a:pt x="247650" y="111443"/>
                    </a:cubicBezTo>
                    <a:lnTo>
                      <a:pt x="247650" y="0"/>
                    </a:lnTo>
                  </a:path>
                </a:pathLst>
              </a:custGeom>
              <a:noFill/>
              <a:ln w="41275">
                <a:solidFill>
                  <a:srgbClr val="FFFF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144185" y="2146300"/>
              <a:ext cx="9523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РКСИ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20343" y="2559050"/>
              <a:ext cx="65" cy="5078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ru" sz="1650" dirty="0" smtClean="0">
                <a:solidFill>
                  <a:srgbClr val="5D6D7E"/>
                </a:solidFill>
                <a:latin typeface="+mn-lt"/>
                <a:ea typeface="+mn-ea"/>
                <a:cs typeface="+mn-cs"/>
              </a:endParaRPr>
            </a:p>
            <a:p>
              <a:pPr algn="ctr"/>
              <a:endPara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cover-author"/>
          <p:cNvGrpSpPr/>
          <p:nvPr/>
        </p:nvGrpSpPr>
        <p:grpSpPr>
          <a:xfrm>
            <a:off x="762000" y="3905250"/>
            <a:ext cx="4749125" cy="1428750"/>
            <a:chOff x="762000" y="3905250"/>
            <a:chExt cx="4749125" cy="1428750"/>
          </a:xfrm>
        </p:grpSpPr>
        <p:sp>
          <p:nvSpPr>
            <p:cNvPr id="18" name="Rectangle 18"/>
            <p:cNvSpPr/>
            <p:nvPr/>
          </p:nvSpPr>
          <p:spPr>
            <a:xfrm>
              <a:off x="762000" y="390525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54608" y="3956050"/>
              <a:ext cx="44565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Сабадаш Павел Андреевич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58418" y="4375150"/>
              <a:ext cx="350235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Группа ИС-24</a:t>
              </a:r>
              <a:b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Защита учебной презентации, 2026</a:t>
              </a:r>
            </a:p>
          </p:txBody>
        </p:sp>
      </p:grpSp>
      <p:grpSp>
        <p:nvGrpSpPr>
          <p:cNvPr id="23" name="cover-question"/>
          <p:cNvGrpSpPr/>
          <p:nvPr/>
        </p:nvGrpSpPr>
        <p:grpSpPr>
          <a:xfrm>
            <a:off x="749808" y="5975350"/>
            <a:ext cx="6581046" cy="469392"/>
            <a:chOff x="749808" y="5975350"/>
            <a:chExt cx="6581046" cy="469392"/>
          </a:xfrm>
        </p:grpSpPr>
        <p:sp>
          <p:nvSpPr>
            <p:cNvPr id="22" name="TextBox 22"/>
            <p:cNvSpPr txBox="1"/>
            <p:nvPr/>
          </p:nvSpPr>
          <p:spPr>
            <a:xfrm>
              <a:off x="749808" y="5975350"/>
              <a:ext cx="658104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400" i="1" dirty="0">
                  <a:solidFill>
                    <a:srgbClr val="E67E22"/>
                  </a:solidFill>
                  <a:latin typeface="+mn-lt"/>
                  <a:ea typeface="+mn-ea"/>
                  <a:cs typeface="+mn-cs"/>
                </a:rPr>
                <a:t>Почему деньги не гарантируют счастья?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2-photo"/>
          <p:cNvPicPr>
            <a:picLocks noChangeAspect="1"/>
          </p:cNvPicPr>
          <p:nvPr/>
        </p:nvPicPr>
        <p:blipFill>
          <a:blip r:embed="rId3"/>
          <a:srcRect t="7858" b="785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2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5540060" cy="586740"/>
            <a:chOff x="746760" y="641350"/>
            <a:chExt cx="5540060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55400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Зачем мы об этом говорим</a:t>
              </a:r>
            </a:p>
          </p:txBody>
        </p:sp>
      </p:grpSp>
      <p:grpSp>
        <p:nvGrpSpPr>
          <p:cNvPr id="14" name="goal"/>
          <p:cNvGrpSpPr/>
          <p:nvPr/>
        </p:nvGrpSpPr>
        <p:grpSpPr>
          <a:xfrm>
            <a:off x="762000" y="1619250"/>
            <a:ext cx="4953000" cy="4095750"/>
            <a:chOff x="762000" y="1619250"/>
            <a:chExt cx="4953000" cy="4095750"/>
          </a:xfrm>
        </p:grpSpPr>
        <p:sp>
          <p:nvSpPr>
            <p:cNvPr id="7" name="Rectangle 7"/>
            <p:cNvSpPr/>
            <p:nvPr/>
          </p:nvSpPr>
          <p:spPr>
            <a:xfrm>
              <a:off x="762000" y="1619250"/>
              <a:ext cx="4953000" cy="4095750"/>
            </a:xfrm>
            <a:prstGeom prst="roundRect">
              <a:avLst>
                <a:gd name="adj" fmla="val 4186"/>
              </a:avLst>
            </a:prstGeom>
            <a:solidFill>
              <a:srgbClr val="E67E22">
                <a:alpha val="12000"/>
              </a:srgbClr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223962" y="2100262"/>
              <a:ext cx="485774" cy="485774"/>
              <a:chOff x="1223962" y="2100262"/>
              <a:chExt cx="485774" cy="48577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439862" y="2316162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7"/>
                    </a:moveTo>
                    <a:cubicBezTo>
                      <a:pt x="0" y="41892"/>
                      <a:pt x="12083" y="53975"/>
                      <a:pt x="26987" y="53975"/>
                    </a:cubicBezTo>
                    <a:cubicBezTo>
                      <a:pt x="41892" y="53975"/>
                      <a:pt x="53975" y="41892"/>
                      <a:pt x="53975" y="26987"/>
                    </a:cubicBezTo>
                    <a:cubicBezTo>
                      <a:pt x="53975" y="12083"/>
                      <a:pt x="41892" y="0"/>
                      <a:pt x="26987" y="0"/>
                    </a:cubicBezTo>
                    <a:cubicBezTo>
                      <a:pt x="12083" y="0"/>
                      <a:pt x="0" y="12083"/>
                      <a:pt x="0" y="26987"/>
                    </a:cubicBezTo>
                  </a:path>
                </a:pathLst>
              </a:custGeom>
              <a:noFill/>
              <a:ln w="53975">
                <a:solidFill>
                  <a:srgbClr val="E67E2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331912" y="2208212"/>
                <a:ext cx="269875" cy="269875"/>
              </a:xfrm>
              <a:custGeom>
                <a:avLst/>
                <a:gdLst/>
                <a:ahLst/>
                <a:cxnLst/>
                <a:rect l="l" t="t" r="r" b="b"/>
                <a:pathLst>
                  <a:path w="269875" h="269875">
                    <a:moveTo>
                      <a:pt x="0" y="134937"/>
                    </a:moveTo>
                    <a:cubicBezTo>
                      <a:pt x="0" y="209461"/>
                      <a:pt x="60414" y="269875"/>
                      <a:pt x="134937" y="269875"/>
                    </a:cubicBezTo>
                    <a:cubicBezTo>
                      <a:pt x="209461" y="269875"/>
                      <a:pt x="269875" y="209461"/>
                      <a:pt x="269875" y="134937"/>
                    </a:cubicBezTo>
                    <a:cubicBezTo>
                      <a:pt x="269875" y="60414"/>
                      <a:pt x="209461" y="0"/>
                      <a:pt x="134937" y="0"/>
                    </a:cubicBezTo>
                    <a:cubicBezTo>
                      <a:pt x="60414" y="0"/>
                      <a:pt x="0" y="60414"/>
                      <a:pt x="0" y="134937"/>
                    </a:cubicBezTo>
                  </a:path>
                </a:pathLst>
              </a:custGeom>
              <a:noFill/>
              <a:ln w="53975">
                <a:solidFill>
                  <a:srgbClr val="E67E2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223962" y="2100262"/>
                <a:ext cx="485774" cy="485774"/>
              </a:xfrm>
              <a:custGeom>
                <a:avLst/>
                <a:gdLst/>
                <a:ahLst/>
                <a:cxnLst/>
                <a:rect l="l" t="t" r="r" b="b"/>
                <a:pathLst>
                  <a:path w="485774" h="485774">
                    <a:moveTo>
                      <a:pt x="0" y="242887"/>
                    </a:moveTo>
                    <a:cubicBezTo>
                      <a:pt x="0" y="377030"/>
                      <a:pt x="108744" y="485774"/>
                      <a:pt x="242887" y="485774"/>
                    </a:cubicBezTo>
                    <a:cubicBezTo>
                      <a:pt x="377030" y="485774"/>
                      <a:pt x="485774" y="377030"/>
                      <a:pt x="485774" y="242887"/>
                    </a:cubicBezTo>
                    <a:cubicBezTo>
                      <a:pt x="485774" y="108744"/>
                      <a:pt x="377030" y="0"/>
                      <a:pt x="242887" y="0"/>
                    </a:cubicBezTo>
                    <a:cubicBezTo>
                      <a:pt x="108744" y="0"/>
                      <a:pt x="0" y="108744"/>
                      <a:pt x="0" y="242887"/>
                    </a:cubicBezTo>
                  </a:path>
                </a:pathLst>
              </a:custGeom>
              <a:noFill/>
              <a:ln w="53975">
                <a:solidFill>
                  <a:srgbClr val="E67E22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2004060" y="2127250"/>
              <a:ext cx="123297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ЦЕЛЬ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3856" y="3111500"/>
              <a:ext cx="4038356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Выяснить, что делает людей</a:t>
              </a:r>
              <a:b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счастливыми в современном мире</a:t>
              </a:r>
            </a:p>
          </p:txBody>
        </p:sp>
      </p:grpSp>
      <p:grpSp>
        <p:nvGrpSpPr>
          <p:cNvPr id="24" name="tasks"/>
          <p:cNvGrpSpPr/>
          <p:nvPr/>
        </p:nvGrpSpPr>
        <p:grpSpPr>
          <a:xfrm>
            <a:off x="6096000" y="1619250"/>
            <a:ext cx="5334000" cy="3867150"/>
            <a:chOff x="6096000" y="1619250"/>
            <a:chExt cx="5334000" cy="3867150"/>
          </a:xfrm>
        </p:grpSpPr>
        <p:sp>
          <p:nvSpPr>
            <p:cNvPr id="15" name="Rectangle 15"/>
            <p:cNvSpPr/>
            <p:nvPr/>
          </p:nvSpPr>
          <p:spPr>
            <a:xfrm>
              <a:off x="6096000" y="1619250"/>
              <a:ext cx="5334000" cy="1162050"/>
            </a:xfrm>
            <a:prstGeom prst="roundRect">
              <a:avLst>
                <a:gd name="adj" fmla="val 13115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182868" y="1911350"/>
              <a:ext cx="9908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Задача 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82106" y="2305050"/>
              <a:ext cx="38603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Рассмотреть научные подходы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0" y="2971800"/>
              <a:ext cx="5334000" cy="1162050"/>
            </a:xfrm>
            <a:prstGeom prst="roundRect">
              <a:avLst>
                <a:gd name="adj" fmla="val 13115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182868" y="3263900"/>
              <a:ext cx="9908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Задача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82106" y="3657600"/>
              <a:ext cx="35890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Выявить ключевые факторы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096000" y="4324350"/>
              <a:ext cx="5334000" cy="1162050"/>
            </a:xfrm>
            <a:prstGeom prst="roundRect">
              <a:avLst>
                <a:gd name="adj" fmla="val 13115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182868" y="4616450"/>
              <a:ext cx="9908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Задача 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82106" y="5010150"/>
              <a:ext cx="4117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Дать практические рекомендации</a:t>
              </a:r>
            </a:p>
          </p:txBody>
        </p:sp>
      </p:grpSp>
      <p:sp>
        <p:nvSpPr>
          <p:cNvPr id="25" name="Line 25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3-photo"/>
          <p:cNvPicPr>
            <a:picLocks noChangeAspect="1"/>
          </p:cNvPicPr>
          <p:nvPr/>
        </p:nvPicPr>
        <p:blipFill>
          <a:blip r:embed="rId3"/>
          <a:srcRect t="7812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3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3558306" cy="586740"/>
            <a:chOff x="746760" y="641350"/>
            <a:chExt cx="3558306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355830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мы разберём</a:t>
              </a:r>
            </a:p>
          </p:txBody>
        </p:sp>
      </p:grpSp>
      <p:grpSp>
        <p:nvGrpSpPr>
          <p:cNvPr id="66" name="toc"/>
          <p:cNvGrpSpPr/>
          <p:nvPr/>
        </p:nvGrpSpPr>
        <p:grpSpPr>
          <a:xfrm>
            <a:off x="762000" y="1809750"/>
            <a:ext cx="10791825" cy="3409950"/>
            <a:chOff x="762000" y="1809750"/>
            <a:chExt cx="10791825" cy="3409950"/>
          </a:xfrm>
        </p:grpSpPr>
        <p:sp>
          <p:nvSpPr>
            <p:cNvPr id="7" name="Rectangle 7"/>
            <p:cNvSpPr/>
            <p:nvPr/>
          </p:nvSpPr>
          <p:spPr>
            <a:xfrm>
              <a:off x="762000" y="180975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026319" y="2092325"/>
              <a:ext cx="328613" cy="292101"/>
            </a:xfrm>
            <a:custGeom>
              <a:avLst/>
              <a:gdLst/>
              <a:ahLst/>
              <a:cxnLst/>
              <a:rect l="l" t="t" r="r" b="b"/>
              <a:pathLst>
                <a:path w="328613" h="292101">
                  <a:moveTo>
                    <a:pt x="0" y="146050"/>
                  </a:moveTo>
                  <a:lnTo>
                    <a:pt x="73025" y="146050"/>
                  </a:lnTo>
                  <a:lnTo>
                    <a:pt x="127794" y="292101"/>
                  </a:lnTo>
                  <a:lnTo>
                    <a:pt x="200819" y="0"/>
                  </a:lnTo>
                  <a:lnTo>
                    <a:pt x="255588" y="146050"/>
                  </a:lnTo>
                  <a:lnTo>
                    <a:pt x="328613" y="146050"/>
                  </a:lnTo>
                </a:path>
              </a:pathLst>
            </a:custGeom>
            <a:noFill/>
            <a:ln w="36513">
              <a:solidFill>
                <a:srgbClr val="27AE6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60882" y="2584450"/>
              <a:ext cx="20796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Зачем изучать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3168" y="2978150"/>
              <a:ext cx="21362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данные о депрессии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495675" y="180975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3759994" y="2074069"/>
              <a:ext cx="328613" cy="319882"/>
              <a:chOff x="3759994" y="2074069"/>
              <a:chExt cx="328613" cy="31988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3833019" y="2384426"/>
                <a:ext cx="1825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2563" h="9525">
                    <a:moveTo>
                      <a:pt x="0" y="0"/>
                    </a:moveTo>
                    <a:lnTo>
                      <a:pt x="182563" y="0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814763" y="2110581"/>
                <a:ext cx="219075" cy="18256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18256">
                    <a:moveTo>
                      <a:pt x="0" y="18256"/>
                    </a:moveTo>
                    <a:lnTo>
                      <a:pt x="109538" y="0"/>
                    </a:lnTo>
                    <a:lnTo>
                      <a:pt x="219075" y="18256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924300" y="2074069"/>
                <a:ext cx="9525" cy="31035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0357">
                    <a:moveTo>
                      <a:pt x="0" y="0"/>
                    </a:moveTo>
                    <a:lnTo>
                      <a:pt x="0" y="310357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759994" y="2128838"/>
                <a:ext cx="109538" cy="164307"/>
              </a:xfrm>
              <a:custGeom>
                <a:avLst/>
                <a:gdLst/>
                <a:ahLst/>
                <a:cxnLst/>
                <a:rect l="l" t="t" r="r" b="b"/>
                <a:pathLst>
                  <a:path w="109538" h="164307">
                    <a:moveTo>
                      <a:pt x="109538" y="109538"/>
                    </a:moveTo>
                    <a:lnTo>
                      <a:pt x="54769" y="0"/>
                    </a:lnTo>
                    <a:lnTo>
                      <a:pt x="0" y="109538"/>
                    </a:lnTo>
                    <a:cubicBezTo>
                      <a:pt x="0" y="139786"/>
                      <a:pt x="24521" y="164307"/>
                      <a:pt x="54769" y="164307"/>
                    </a:cubicBezTo>
                    <a:cubicBezTo>
                      <a:pt x="85017" y="164307"/>
                      <a:pt x="109538" y="139786"/>
                      <a:pt x="109538" y="109538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979069" y="2128838"/>
                <a:ext cx="109538" cy="164307"/>
              </a:xfrm>
              <a:custGeom>
                <a:avLst/>
                <a:gdLst/>
                <a:ahLst/>
                <a:cxnLst/>
                <a:rect l="l" t="t" r="r" b="b"/>
                <a:pathLst>
                  <a:path w="109538" h="164307">
                    <a:moveTo>
                      <a:pt x="109538" y="109538"/>
                    </a:moveTo>
                    <a:lnTo>
                      <a:pt x="54769" y="0"/>
                    </a:lnTo>
                    <a:lnTo>
                      <a:pt x="0" y="109538"/>
                    </a:lnTo>
                    <a:cubicBezTo>
                      <a:pt x="0" y="139786"/>
                      <a:pt x="24521" y="164307"/>
                      <a:pt x="54769" y="164307"/>
                    </a:cubicBezTo>
                    <a:cubicBezTo>
                      <a:pt x="85017" y="164307"/>
                      <a:pt x="109538" y="139786"/>
                      <a:pt x="109538" y="109538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3694557" y="2584450"/>
              <a:ext cx="24112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Научный подход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96843" y="2978150"/>
              <a:ext cx="15804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что такое SWB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29350" y="180975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493669" y="2074069"/>
              <a:ext cx="328613" cy="328613"/>
              <a:chOff x="6493669" y="2074069"/>
              <a:chExt cx="328613" cy="32861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657975" y="2256632"/>
                <a:ext cx="127794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146050">
                    <a:moveTo>
                      <a:pt x="63897" y="0"/>
                    </a:moveTo>
                    <a:cubicBezTo>
                      <a:pt x="28608" y="0"/>
                      <a:pt x="0" y="28608"/>
                      <a:pt x="0" y="63897"/>
                    </a:cubicBezTo>
                    <a:lnTo>
                      <a:pt x="0" y="82153"/>
                    </a:lnTo>
                    <a:cubicBezTo>
                      <a:pt x="0" y="117443"/>
                      <a:pt x="28608" y="146050"/>
                      <a:pt x="63897" y="146050"/>
                    </a:cubicBezTo>
                    <a:cubicBezTo>
                      <a:pt x="99186" y="146050"/>
                      <a:pt x="127794" y="117443"/>
                      <a:pt x="127794" y="82153"/>
                    </a:cubicBezTo>
                    <a:lnTo>
                      <a:pt x="127794" y="49292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530181" y="2256632"/>
                <a:ext cx="127794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146050">
                    <a:moveTo>
                      <a:pt x="63897" y="0"/>
                    </a:moveTo>
                    <a:cubicBezTo>
                      <a:pt x="99186" y="0"/>
                      <a:pt x="127794" y="28608"/>
                      <a:pt x="127794" y="63897"/>
                    </a:cubicBezTo>
                    <a:lnTo>
                      <a:pt x="127794" y="82153"/>
                    </a:lnTo>
                    <a:cubicBezTo>
                      <a:pt x="127794" y="117443"/>
                      <a:pt x="99186" y="146050"/>
                      <a:pt x="63897" y="146050"/>
                    </a:cubicBezTo>
                    <a:cubicBezTo>
                      <a:pt x="28608" y="146050"/>
                      <a:pt x="0" y="117443"/>
                      <a:pt x="0" y="82153"/>
                    </a:cubicBezTo>
                    <a:lnTo>
                      <a:pt x="0" y="49292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749257" y="2183607"/>
                <a:ext cx="73025" cy="127794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127794">
                    <a:moveTo>
                      <a:pt x="9128" y="127794"/>
                    </a:moveTo>
                    <a:cubicBezTo>
                      <a:pt x="44417" y="127794"/>
                      <a:pt x="73025" y="99186"/>
                      <a:pt x="73025" y="63897"/>
                    </a:cubicBezTo>
                    <a:cubicBezTo>
                      <a:pt x="73025" y="28608"/>
                      <a:pt x="44417" y="0"/>
                      <a:pt x="9128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657975" y="2074069"/>
                <a:ext cx="127794" cy="115015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115015">
                    <a:moveTo>
                      <a:pt x="127794" y="115015"/>
                    </a:moveTo>
                    <a:lnTo>
                      <a:pt x="127794" y="63897"/>
                    </a:lnTo>
                    <a:cubicBezTo>
                      <a:pt x="127794" y="28608"/>
                      <a:pt x="99186" y="0"/>
                      <a:pt x="63897" y="0"/>
                    </a:cubicBezTo>
                    <a:cubicBezTo>
                      <a:pt x="28608" y="0"/>
                      <a:pt x="0" y="28608"/>
                      <a:pt x="0" y="63897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493669" y="2183607"/>
                <a:ext cx="73025" cy="127794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127794">
                    <a:moveTo>
                      <a:pt x="63897" y="127794"/>
                    </a:moveTo>
                    <a:cubicBezTo>
                      <a:pt x="28608" y="127794"/>
                      <a:pt x="0" y="99186"/>
                      <a:pt x="0" y="63897"/>
                    </a:cubicBezTo>
                    <a:cubicBezTo>
                      <a:pt x="0" y="28608"/>
                      <a:pt x="28608" y="0"/>
                      <a:pt x="63897" y="0"/>
                    </a:cubicBezTo>
                    <a:lnTo>
                      <a:pt x="73025" y="0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530181" y="2074069"/>
                <a:ext cx="127794" cy="246460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246460">
                    <a:moveTo>
                      <a:pt x="0" y="115015"/>
                    </a:moveTo>
                    <a:lnTo>
                      <a:pt x="0" y="63897"/>
                    </a:lnTo>
                    <a:cubicBezTo>
                      <a:pt x="0" y="28608"/>
                      <a:pt x="28608" y="0"/>
                      <a:pt x="63897" y="0"/>
                    </a:cubicBezTo>
                    <a:cubicBezTo>
                      <a:pt x="99186" y="0"/>
                      <a:pt x="127794" y="28608"/>
                      <a:pt x="127794" y="63897"/>
                    </a:cubicBezTo>
                    <a:lnTo>
                      <a:pt x="127794" y="246460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428232" y="2584450"/>
              <a:ext cx="17418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Физиология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0518" y="2978150"/>
              <a:ext cx="17961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нейромедиаторы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963025" y="180975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227344" y="2147094"/>
              <a:ext cx="328613" cy="182563"/>
              <a:chOff x="9227344" y="2147094"/>
              <a:chExt cx="328613" cy="18256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245600" y="2165350"/>
                <a:ext cx="292101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292101" h="146050">
                    <a:moveTo>
                      <a:pt x="0" y="146050"/>
                    </a:moveTo>
                    <a:lnTo>
                      <a:pt x="109538" y="18256"/>
                    </a:lnTo>
                    <a:lnTo>
                      <a:pt x="200819" y="109538"/>
                    </a:lnTo>
                    <a:lnTo>
                      <a:pt x="292101" y="0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428163" y="2256632"/>
                <a:ext cx="36513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36513">
                    <a:moveTo>
                      <a:pt x="0" y="18256"/>
                    </a:moveTo>
                    <a:cubicBezTo>
                      <a:pt x="0" y="28339"/>
                      <a:pt x="8174" y="36513"/>
                      <a:pt x="18256" y="36513"/>
                    </a:cubicBezTo>
                    <a:cubicBezTo>
                      <a:pt x="28339" y="36513"/>
                      <a:pt x="36513" y="28339"/>
                      <a:pt x="36513" y="18256"/>
                    </a:cubicBezTo>
                    <a:cubicBezTo>
                      <a:pt x="36513" y="8174"/>
                      <a:pt x="28339" y="0"/>
                      <a:pt x="18256" y="0"/>
                    </a:cubicBezTo>
                    <a:cubicBezTo>
                      <a:pt x="8174" y="0"/>
                      <a:pt x="0" y="8174"/>
                      <a:pt x="0" y="18256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336882" y="2165350"/>
                <a:ext cx="36513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36513">
                    <a:moveTo>
                      <a:pt x="0" y="18256"/>
                    </a:moveTo>
                    <a:cubicBezTo>
                      <a:pt x="0" y="28339"/>
                      <a:pt x="8174" y="36513"/>
                      <a:pt x="18256" y="36513"/>
                    </a:cubicBezTo>
                    <a:cubicBezTo>
                      <a:pt x="28339" y="36513"/>
                      <a:pt x="36513" y="28339"/>
                      <a:pt x="36513" y="18256"/>
                    </a:cubicBezTo>
                    <a:cubicBezTo>
                      <a:pt x="36513" y="8174"/>
                      <a:pt x="28339" y="0"/>
                      <a:pt x="18256" y="0"/>
                    </a:cubicBezTo>
                    <a:cubicBezTo>
                      <a:pt x="8174" y="0"/>
                      <a:pt x="0" y="8174"/>
                      <a:pt x="0" y="18256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227344" y="2293144"/>
                <a:ext cx="36513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36513">
                    <a:moveTo>
                      <a:pt x="0" y="18256"/>
                    </a:moveTo>
                    <a:cubicBezTo>
                      <a:pt x="0" y="28339"/>
                      <a:pt x="8174" y="36513"/>
                      <a:pt x="18256" y="36513"/>
                    </a:cubicBezTo>
                    <a:cubicBezTo>
                      <a:pt x="28339" y="36513"/>
                      <a:pt x="36513" y="28339"/>
                      <a:pt x="36513" y="18256"/>
                    </a:cubicBezTo>
                    <a:cubicBezTo>
                      <a:pt x="36513" y="8174"/>
                      <a:pt x="28339" y="0"/>
                      <a:pt x="18256" y="0"/>
                    </a:cubicBezTo>
                    <a:cubicBezTo>
                      <a:pt x="8174" y="0"/>
                      <a:pt x="0" y="8174"/>
                      <a:pt x="0" y="18256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519444" y="2147094"/>
                <a:ext cx="36513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36513">
                    <a:moveTo>
                      <a:pt x="0" y="18256"/>
                    </a:moveTo>
                    <a:cubicBezTo>
                      <a:pt x="0" y="28339"/>
                      <a:pt x="8174" y="36513"/>
                      <a:pt x="18256" y="36513"/>
                    </a:cubicBezTo>
                    <a:cubicBezTo>
                      <a:pt x="28339" y="36513"/>
                      <a:pt x="36513" y="28339"/>
                      <a:pt x="36513" y="18256"/>
                    </a:cubicBezTo>
                    <a:cubicBezTo>
                      <a:pt x="36513" y="8174"/>
                      <a:pt x="28339" y="0"/>
                      <a:pt x="18256" y="0"/>
                    </a:cubicBezTo>
                    <a:cubicBezTo>
                      <a:pt x="8174" y="0"/>
                      <a:pt x="0" y="8174"/>
                      <a:pt x="0" y="18256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9161907" y="2584450"/>
              <a:ext cx="12139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История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64193" y="2978150"/>
              <a:ext cx="15180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от Аристотеля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62000" y="361950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1026319" y="3883819"/>
              <a:ext cx="328613" cy="328613"/>
              <a:chOff x="1026319" y="3883819"/>
              <a:chExt cx="328613" cy="32861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1026319" y="3883819"/>
                <a:ext cx="328613" cy="328613"/>
              </a:xfrm>
              <a:custGeom>
                <a:avLst/>
                <a:gdLst/>
                <a:ahLst/>
                <a:cxnLst/>
                <a:rect l="l" t="t" r="r" b="b"/>
                <a:pathLst>
                  <a:path w="328613" h="328613">
                    <a:moveTo>
                      <a:pt x="0" y="164307"/>
                    </a:moveTo>
                    <a:cubicBezTo>
                      <a:pt x="0" y="255051"/>
                      <a:pt x="73563" y="328613"/>
                      <a:pt x="164307" y="328613"/>
                    </a:cubicBezTo>
                    <a:cubicBezTo>
                      <a:pt x="255051" y="328613"/>
                      <a:pt x="328613" y="255051"/>
                      <a:pt x="328613" y="164307"/>
                    </a:cubicBezTo>
                    <a:cubicBezTo>
                      <a:pt x="328613" y="73563"/>
                      <a:pt x="255051" y="0"/>
                      <a:pt x="164307" y="0"/>
                    </a:cubicBezTo>
                    <a:cubicBezTo>
                      <a:pt x="73563" y="0"/>
                      <a:pt x="0" y="73563"/>
                      <a:pt x="0" y="164307"/>
                    </a:cubicBez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135857" y="40116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83" y="0"/>
                    </a:ln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245394" y="40116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83" y="0"/>
                    </a:ln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144985" y="4102894"/>
                <a:ext cx="91281" cy="19178"/>
              </a:xfrm>
              <a:custGeom>
                <a:avLst/>
                <a:gdLst/>
                <a:ahLst/>
                <a:cxnLst/>
                <a:rect l="l" t="t" r="r" b="b"/>
                <a:pathLst>
                  <a:path w="91281" h="19178">
                    <a:moveTo>
                      <a:pt x="0" y="0"/>
                    </a:moveTo>
                    <a:cubicBezTo>
                      <a:pt x="12018" y="12266"/>
                      <a:pt x="28468" y="19178"/>
                      <a:pt x="45641" y="19178"/>
                    </a:cubicBezTo>
                    <a:cubicBezTo>
                      <a:pt x="62813" y="19178"/>
                      <a:pt x="79263" y="12266"/>
                      <a:pt x="91281" y="0"/>
                    </a:cubicBez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960882" y="4394200"/>
              <a:ext cx="13948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Гедонизм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3168" y="4787900"/>
              <a:ext cx="13303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и эвдемония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495675" y="361950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3754905" y="3886958"/>
              <a:ext cx="330051" cy="330563"/>
              <a:chOff x="3754905" y="3886958"/>
              <a:chExt cx="330051" cy="33056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3754905" y="3886958"/>
                <a:ext cx="330051" cy="330563"/>
              </a:xfrm>
              <a:custGeom>
                <a:avLst/>
                <a:gdLst/>
                <a:ahLst/>
                <a:cxnLst/>
                <a:rect l="l" t="t" r="r" b="b"/>
                <a:pathLst>
                  <a:path w="330051" h="330563">
                    <a:moveTo>
                      <a:pt x="132883" y="512"/>
                    </a:moveTo>
                    <a:cubicBezTo>
                      <a:pt x="53833" y="18838"/>
                      <a:pt x="0" y="92126"/>
                      <a:pt x="6156" y="173038"/>
                    </a:cubicBezTo>
                    <a:cubicBezTo>
                      <a:pt x="12311" y="253950"/>
                      <a:pt x="76613" y="318251"/>
                      <a:pt x="157524" y="324407"/>
                    </a:cubicBezTo>
                    <a:cubicBezTo>
                      <a:pt x="238436" y="330563"/>
                      <a:pt x="311725" y="276729"/>
                      <a:pt x="330051" y="197680"/>
                    </a:cubicBezTo>
                    <a:cubicBezTo>
                      <a:pt x="330051" y="187597"/>
                      <a:pt x="321877" y="179424"/>
                      <a:pt x="311794" y="179424"/>
                    </a:cubicBezTo>
                    <a:lnTo>
                      <a:pt x="187652" y="179424"/>
                    </a:lnTo>
                    <a:cubicBezTo>
                      <a:pt x="167486" y="179424"/>
                      <a:pt x="151139" y="163076"/>
                      <a:pt x="151139" y="142911"/>
                    </a:cubicBezTo>
                    <a:lnTo>
                      <a:pt x="151139" y="15117"/>
                    </a:lnTo>
                    <a:cubicBezTo>
                      <a:pt x="150681" y="10748"/>
                      <a:pt x="148492" y="6745"/>
                      <a:pt x="145062" y="4001"/>
                    </a:cubicBezTo>
                    <a:cubicBezTo>
                      <a:pt x="141632" y="1256"/>
                      <a:pt x="137246" y="0"/>
                      <a:pt x="132883" y="512"/>
                    </a:cubicBez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3979069" y="3892947"/>
                <a:ext cx="100410" cy="100410"/>
              </a:xfrm>
              <a:custGeom>
                <a:avLst/>
                <a:gdLst/>
                <a:ahLst/>
                <a:cxnLst/>
                <a:rect l="l" t="t" r="r" b="b"/>
                <a:pathLst>
                  <a:path w="100410" h="100410">
                    <a:moveTo>
                      <a:pt x="0" y="0"/>
                    </a:moveTo>
                    <a:cubicBezTo>
                      <a:pt x="46952" y="16532"/>
                      <a:pt x="83877" y="53458"/>
                      <a:pt x="100410" y="100410"/>
                    </a:cubicBezTo>
                    <a:lnTo>
                      <a:pt x="18256" y="100410"/>
                    </a:lnTo>
                    <a:cubicBezTo>
                      <a:pt x="8174" y="100410"/>
                      <a:pt x="0" y="92236"/>
                      <a:pt x="0" y="82153"/>
                    </a:cubicBezTo>
                    <a:lnTo>
                      <a:pt x="0" y="0"/>
                    </a:ln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3694557" y="4394200"/>
              <a:ext cx="132159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 smtClean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Формула</a:t>
              </a:r>
              <a:endParaRPr lang="ru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696843" y="4787900"/>
              <a:ext cx="8814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50/40/10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29350" y="361950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511925" y="3938588"/>
              <a:ext cx="292101" cy="246856"/>
              <a:chOff x="6511925" y="3938588"/>
              <a:chExt cx="292101" cy="24685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511925" y="4175919"/>
                <a:ext cx="29210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92101" h="9525">
                    <a:moveTo>
                      <a:pt x="0" y="0"/>
                    </a:moveTo>
                    <a:lnTo>
                      <a:pt x="292101" y="0"/>
                    </a:ln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511925" y="3938588"/>
                <a:ext cx="292101" cy="164307"/>
              </a:xfrm>
              <a:custGeom>
                <a:avLst/>
                <a:gdLst/>
                <a:ahLst/>
                <a:cxnLst/>
                <a:rect l="l" t="t" r="r" b="b"/>
                <a:pathLst>
                  <a:path w="292101" h="164307">
                    <a:moveTo>
                      <a:pt x="0" y="164307"/>
                    </a:moveTo>
                    <a:lnTo>
                      <a:pt x="73025" y="54769"/>
                    </a:lnTo>
                    <a:lnTo>
                      <a:pt x="146050" y="91281"/>
                    </a:lnTo>
                    <a:lnTo>
                      <a:pt x="219075" y="0"/>
                    </a:lnTo>
                    <a:lnTo>
                      <a:pt x="292101" y="73025"/>
                    </a:ln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428232" y="4394200"/>
              <a:ext cx="11305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Данные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30518" y="4787900"/>
              <a:ext cx="15337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доход и школа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963025" y="361950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9234683" y="3883819"/>
              <a:ext cx="313898" cy="326604"/>
              <a:chOff x="9234683" y="3883819"/>
              <a:chExt cx="313898" cy="326604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9282113" y="3883819"/>
                <a:ext cx="219075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219075">
                    <a:moveTo>
                      <a:pt x="0" y="109538"/>
                    </a:moveTo>
                    <a:cubicBezTo>
                      <a:pt x="0" y="170034"/>
                      <a:pt x="49042" y="219075"/>
                      <a:pt x="109538" y="219075"/>
                    </a:cubicBezTo>
                    <a:cubicBezTo>
                      <a:pt x="170034" y="219075"/>
                      <a:pt x="219075" y="170034"/>
                      <a:pt x="219075" y="109538"/>
                    </a:cubicBezTo>
                    <a:cubicBezTo>
                      <a:pt x="219075" y="49042"/>
                      <a:pt x="170034" y="0"/>
                      <a:pt x="109538" y="0"/>
                    </a:cubicBezTo>
                    <a:cubicBezTo>
                      <a:pt x="49042" y="0"/>
                      <a:pt x="0" y="49042"/>
                      <a:pt x="0" y="109538"/>
                    </a:cubicBezTo>
                  </a:path>
                </a:pathLst>
              </a:custGeom>
              <a:noFill/>
              <a:ln w="36513">
                <a:solidFill>
                  <a:srgbClr val="E74C3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9391650" y="4048125"/>
                <a:ext cx="156931" cy="162298"/>
              </a:xfrm>
              <a:custGeom>
                <a:avLst/>
                <a:gdLst/>
                <a:ahLst/>
                <a:cxnLst/>
                <a:rect l="l" t="t" r="r" b="b"/>
                <a:pathLst>
                  <a:path w="156931" h="162298">
                    <a:moveTo>
                      <a:pt x="0" y="54769"/>
                    </a:moveTo>
                    <a:lnTo>
                      <a:pt x="62071" y="162298"/>
                    </a:lnTo>
                    <a:lnTo>
                      <a:pt x="91245" y="103276"/>
                    </a:lnTo>
                    <a:lnTo>
                      <a:pt x="156931" y="107511"/>
                    </a:lnTo>
                    <a:lnTo>
                      <a:pt x="94860" y="0"/>
                    </a:lnTo>
                  </a:path>
                </a:pathLst>
              </a:custGeom>
              <a:noFill/>
              <a:ln w="36513">
                <a:solidFill>
                  <a:srgbClr val="E74C3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9234683" y="4048125"/>
                <a:ext cx="156931" cy="162280"/>
              </a:xfrm>
              <a:custGeom>
                <a:avLst/>
                <a:gdLst/>
                <a:ahLst/>
                <a:cxnLst/>
                <a:rect l="l" t="t" r="r" b="b"/>
                <a:pathLst>
                  <a:path w="156931" h="162280">
                    <a:moveTo>
                      <a:pt x="62071" y="0"/>
                    </a:moveTo>
                    <a:lnTo>
                      <a:pt x="0" y="107529"/>
                    </a:lnTo>
                    <a:lnTo>
                      <a:pt x="65686" y="103276"/>
                    </a:lnTo>
                    <a:lnTo>
                      <a:pt x="94860" y="162280"/>
                    </a:lnTo>
                    <a:lnTo>
                      <a:pt x="156931" y="54769"/>
                    </a:lnTo>
                  </a:path>
                </a:pathLst>
              </a:custGeom>
              <a:noFill/>
              <a:ln w="36513">
                <a:solidFill>
                  <a:srgbClr val="E74C3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9161907" y="4394200"/>
              <a:ext cx="1245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Выводы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164193" y="4787900"/>
              <a:ext cx="940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и советы</a:t>
              </a:r>
            </a:p>
          </p:txBody>
        </p:sp>
      </p:grpSp>
      <p:sp>
        <p:nvSpPr>
          <p:cNvPr id="67" name="Line 67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4-photo"/>
          <p:cNvPicPr>
            <a:picLocks noChangeAspect="1"/>
          </p:cNvPicPr>
          <p:nvPr/>
        </p:nvPicPr>
        <p:blipFill>
          <a:blip r:embed="rId3"/>
          <a:srcRect t="14932" b="149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4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8548024" cy="586740"/>
            <a:chOff x="746760" y="641350"/>
            <a:chExt cx="8548024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854802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Литературы много — счастливых меньше</a:t>
              </a:r>
            </a:p>
          </p:txBody>
        </p:sp>
      </p:grpSp>
      <p:grpSp>
        <p:nvGrpSpPr>
          <p:cNvPr id="28" name="chart-dep"/>
          <p:cNvGrpSpPr/>
          <p:nvPr/>
        </p:nvGrpSpPr>
        <p:grpSpPr>
          <a:xfrm>
            <a:off x="762000" y="1762125"/>
            <a:ext cx="5380946" cy="3857625"/>
            <a:chOff x="762000" y="1762125"/>
            <a:chExt cx="5380946" cy="3857625"/>
          </a:xfrm>
        </p:grpSpPr>
        <p:sp>
          <p:nvSpPr>
            <p:cNvPr id="7" name="Rectangle 7"/>
            <p:cNvSpPr/>
            <p:nvPr/>
          </p:nvSpPr>
          <p:spPr>
            <a:xfrm>
              <a:off x="762000" y="1762125"/>
              <a:ext cx="5238750" cy="3857625"/>
            </a:xfrm>
            <a:prstGeom prst="roundRect">
              <a:avLst>
                <a:gd name="adj" fmla="val 3951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8606" y="1943100"/>
              <a:ext cx="17120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E74C3C"/>
                  </a:solidFill>
                  <a:latin typeface="+mn-lt"/>
                  <a:ea typeface="+mn-ea"/>
                  <a:cs typeface="+mn-cs"/>
                </a:rPr>
                <a:t>Депрессия, </a:t>
              </a:r>
              <a:r>
                <a:rPr lang="ru" b="1" dirty="0" smtClean="0">
                  <a:solidFill>
                    <a:srgbClr val="E74C3C"/>
                  </a:solidFill>
                </a:rPr>
                <a:t>РФ</a:t>
              </a:r>
              <a:endParaRPr lang="ru" sz="1800" b="1" dirty="0">
                <a:solidFill>
                  <a:srgbClr val="E74C3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20368" y="2292350"/>
              <a:ext cx="18807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доля взрослых, %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428750" y="2647950"/>
              <a:ext cx="9525" cy="2114550"/>
            </a:xfrm>
            <a:custGeom>
              <a:avLst/>
              <a:gdLst/>
              <a:ahLst/>
              <a:cxnLst/>
              <a:rect l="l" t="t" r="r" b="b"/>
              <a:pathLst>
                <a:path w="9525" h="2114550">
                  <a:moveTo>
                    <a:pt x="0" y="0"/>
                  </a:moveTo>
                  <a:lnTo>
                    <a:pt x="0" y="211455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428750" y="47625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428750" y="27241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E3E8ED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428750" y="340042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E3E8ED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428750" y="408622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E3E8ED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9567" y="2587625"/>
              <a:ext cx="4613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15%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9567" y="3263900"/>
              <a:ext cx="4613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10%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3111" y="3949700"/>
              <a:ext cx="337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5%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23111" y="4568825"/>
              <a:ext cx="337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0%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1543050" y="2981325"/>
              <a:ext cx="3962400" cy="666750"/>
            </a:xfrm>
            <a:custGeom>
              <a:avLst/>
              <a:gdLst/>
              <a:ahLst/>
              <a:cxnLst/>
              <a:rect l="l" t="t" r="r" b="b"/>
              <a:pathLst>
                <a:path w="3962400" h="666750">
                  <a:moveTo>
                    <a:pt x="0" y="666750"/>
                  </a:moveTo>
                  <a:cubicBezTo>
                    <a:pt x="1314450" y="447675"/>
                    <a:pt x="2552700" y="161925"/>
                    <a:pt x="3962400" y="0"/>
                  </a:cubicBezTo>
                </a:path>
              </a:pathLst>
            </a:custGeom>
            <a:noFill/>
            <a:ln w="57150" cap="rnd">
              <a:solidFill>
                <a:srgbClr val="E74C3C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476375" y="3581400"/>
              <a:ext cx="133350" cy="13335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5429250" y="2905125"/>
              <a:ext cx="152400" cy="1524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82142" y="2644775"/>
              <a:ext cx="6466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E74C3C"/>
                  </a:solidFill>
                  <a:latin typeface="+mn-lt"/>
                  <a:ea typeface="+mn-ea"/>
                  <a:cs typeface="+mn-cs"/>
                </a:rPr>
                <a:t>13,1%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87068" y="3597275"/>
              <a:ext cx="5230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E74C3C"/>
                  </a:solidFill>
                  <a:latin typeface="+mn-lt"/>
                  <a:ea typeface="+mn-ea"/>
                  <a:cs typeface="+mn-cs"/>
                </a:rPr>
                <a:t>8,2%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87578" y="4826000"/>
              <a:ext cx="510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2013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49978" y="4826000"/>
              <a:ext cx="510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2023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9368" y="5092700"/>
              <a:ext cx="25109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8,2% → 13,1% за 10 лет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6024" y="5340350"/>
              <a:ext cx="530692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Источник</a:t>
              </a:r>
              <a:r>
                <a:rPr lang="ru" sz="1650" dirty="0" smtClean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: данные НМИЦ психиатрии им. Сербского</a:t>
              </a:r>
              <a:endPara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5" name="chart-hap"/>
          <p:cNvGrpSpPr/>
          <p:nvPr/>
        </p:nvGrpSpPr>
        <p:grpSpPr>
          <a:xfrm>
            <a:off x="6286500" y="1762125"/>
            <a:ext cx="5143500" cy="3857625"/>
            <a:chOff x="6286500" y="1762125"/>
            <a:chExt cx="5143500" cy="3857625"/>
          </a:xfrm>
        </p:grpSpPr>
        <p:sp>
          <p:nvSpPr>
            <p:cNvPr id="29" name="Rectangle 29"/>
            <p:cNvSpPr/>
            <p:nvPr/>
          </p:nvSpPr>
          <p:spPr>
            <a:xfrm>
              <a:off x="6286500" y="1762125"/>
              <a:ext cx="5143500" cy="3857625"/>
            </a:xfrm>
            <a:prstGeom prst="roundRect">
              <a:avLst>
                <a:gd name="adj" fmla="val 3951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3106" y="1943100"/>
              <a:ext cx="19130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Индекс счастья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44868" y="2292350"/>
              <a:ext cx="13902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баллы (0–10)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953250" y="2647950"/>
              <a:ext cx="9525" cy="2114550"/>
            </a:xfrm>
            <a:custGeom>
              <a:avLst/>
              <a:gdLst/>
              <a:ahLst/>
              <a:cxnLst/>
              <a:rect l="l" t="t" r="r" b="b"/>
              <a:pathLst>
                <a:path w="9525" h="2114550">
                  <a:moveTo>
                    <a:pt x="0" y="0"/>
                  </a:moveTo>
                  <a:lnTo>
                    <a:pt x="0" y="211455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6953250" y="4762500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6953250" y="2743200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9525">
              <a:solidFill>
                <a:srgbClr val="E3E8ED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6953250" y="3752850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9525">
              <a:solidFill>
                <a:srgbClr val="E3E8ED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45123" y="2606675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45123" y="3616325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45123" y="4568825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6953250" y="4248150"/>
              <a:ext cx="4286250" cy="57150"/>
            </a:xfrm>
            <a:custGeom>
              <a:avLst/>
              <a:gdLst/>
              <a:ahLst/>
              <a:cxnLst/>
              <a:rect l="l" t="t" r="r" b="b"/>
              <a:pathLst>
                <a:path w="4286250" h="57150">
                  <a:moveTo>
                    <a:pt x="0" y="19050"/>
                  </a:moveTo>
                  <a:cubicBezTo>
                    <a:pt x="1238250" y="57150"/>
                    <a:pt x="2667000" y="0"/>
                    <a:pt x="4286250" y="38100"/>
                  </a:cubicBezTo>
                </a:path>
              </a:pathLst>
            </a:custGeom>
            <a:noFill/>
            <a:ln w="57150" cap="rnd">
              <a:solidFill>
                <a:schemeClr val="accent1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11163300" y="421005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97778" y="4826000"/>
              <a:ext cx="510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2005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888778" y="4826000"/>
              <a:ext cx="510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2025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63868" y="5092700"/>
              <a:ext cx="29862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Индекс на плато с 2005 года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63868" y="5340350"/>
              <a:ext cx="178478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Источник: </a:t>
              </a:r>
              <a:r>
                <a:rPr lang="ru" sz="1650" dirty="0" smtClean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Росстат</a:t>
              </a:r>
              <a:endPara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0" name="quote"/>
          <p:cNvGrpSpPr/>
          <p:nvPr/>
        </p:nvGrpSpPr>
        <p:grpSpPr>
          <a:xfrm>
            <a:off x="993775" y="5886450"/>
            <a:ext cx="7316317" cy="352044"/>
            <a:chOff x="993775" y="5886450"/>
            <a:chExt cx="7316317" cy="352044"/>
          </a:xfrm>
        </p:grpSpPr>
        <p:grpSp>
          <p:nvGrpSpPr>
            <p:cNvPr id="48" name="Group 48"/>
            <p:cNvGrpSpPr/>
            <p:nvPr/>
          </p:nvGrpSpPr>
          <p:grpSpPr>
            <a:xfrm>
              <a:off x="993775" y="5905500"/>
              <a:ext cx="222250" cy="190500"/>
              <a:chOff x="993775" y="5905500"/>
              <a:chExt cx="222250" cy="1905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993775" y="590550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136650" y="590550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438656" y="5886450"/>
              <a:ext cx="68714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Парадокс: литературы больше, счастливых людей — нет</a:t>
              </a:r>
            </a:p>
          </p:txBody>
        </p:sp>
      </p:grpSp>
      <p:sp>
        <p:nvSpPr>
          <p:cNvPr id="51" name="Line 51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9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9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9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5-photo"/>
          <p:cNvPicPr>
            <a:picLocks noChangeAspect="1"/>
          </p:cNvPicPr>
          <p:nvPr/>
        </p:nvPicPr>
        <p:blipFill>
          <a:blip r:embed="rId3"/>
          <a:srcRect t="17056" b="170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5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6856631" cy="586740"/>
            <a:chOff x="746760" y="641350"/>
            <a:chExt cx="6856631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685663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= оценка жизни + эмоции</a:t>
              </a:r>
            </a:p>
          </p:txBody>
        </p:sp>
      </p:grpSp>
      <p:grpSp>
        <p:nvGrpSpPr>
          <p:cNvPr id="25" name="swb-left"/>
          <p:cNvGrpSpPr/>
          <p:nvPr/>
        </p:nvGrpSpPr>
        <p:grpSpPr>
          <a:xfrm>
            <a:off x="762000" y="1600200"/>
            <a:ext cx="10668000" cy="2000250"/>
            <a:chOff x="762000" y="1600200"/>
            <a:chExt cx="10668000" cy="2000250"/>
          </a:xfrm>
        </p:grpSpPr>
        <p:sp>
          <p:nvSpPr>
            <p:cNvPr id="7" name="Rectangle 7"/>
            <p:cNvSpPr/>
            <p:nvPr/>
          </p:nvSpPr>
          <p:spPr>
            <a:xfrm>
              <a:off x="4286250" y="1600200"/>
              <a:ext cx="3619500" cy="2000250"/>
            </a:xfrm>
            <a:prstGeom prst="roundRect">
              <a:avLst>
                <a:gd name="adj" fmla="val 7619"/>
              </a:avLst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140270" y="1949450"/>
              <a:ext cx="191146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Субъективное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168074" y="2273300"/>
              <a:ext cx="18558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благополучие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26064" y="2692400"/>
              <a:ext cx="2539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SWB = оценка + эмоции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00793" y="3073400"/>
              <a:ext cx="25904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сумма двух компонентов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191500" y="1666875"/>
              <a:ext cx="3238500" cy="1857375"/>
            </a:xfrm>
            <a:prstGeom prst="roundRect">
              <a:avLst>
                <a:gd name="adj" fmla="val 820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9632704" y="1938213"/>
              <a:ext cx="355748" cy="309687"/>
            </a:xfrm>
            <a:custGeom>
              <a:avLst/>
              <a:gdLst/>
              <a:ahLst/>
              <a:cxnLst/>
              <a:rect l="l" t="t" r="r" b="b"/>
              <a:pathLst>
                <a:path w="355748" h="309687">
                  <a:moveTo>
                    <a:pt x="320921" y="168184"/>
                  </a:moveTo>
                  <a:lnTo>
                    <a:pt x="178046" y="309687"/>
                  </a:lnTo>
                  <a:lnTo>
                    <a:pt x="35171" y="168184"/>
                  </a:lnTo>
                  <a:cubicBezTo>
                    <a:pt x="9479" y="143182"/>
                    <a:pt x="0" y="105872"/>
                    <a:pt x="10644" y="71639"/>
                  </a:cubicBezTo>
                  <a:cubicBezTo>
                    <a:pt x="21288" y="37406"/>
                    <a:pt x="50252" y="12049"/>
                    <a:pt x="85592" y="6024"/>
                  </a:cubicBezTo>
                  <a:cubicBezTo>
                    <a:pt x="120932" y="0"/>
                    <a:pt x="156661" y="14329"/>
                    <a:pt x="178046" y="43101"/>
                  </a:cubicBezTo>
                  <a:cubicBezTo>
                    <a:pt x="199521" y="14541"/>
                    <a:pt x="235174" y="403"/>
                    <a:pt x="270386" y="6484"/>
                  </a:cubicBezTo>
                  <a:cubicBezTo>
                    <a:pt x="305597" y="12565"/>
                    <a:pt x="334444" y="37842"/>
                    <a:pt x="345096" y="71950"/>
                  </a:cubicBezTo>
                  <a:cubicBezTo>
                    <a:pt x="355748" y="106058"/>
                    <a:pt x="346414" y="143259"/>
                    <a:pt x="320921" y="168298"/>
                  </a:cubicBezTo>
                </a:path>
              </a:pathLst>
            </a:custGeom>
            <a:noFill/>
            <a:ln w="38100">
              <a:solidFill>
                <a:srgbClr val="E74C3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3274" y="2540000"/>
              <a:ext cx="10549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950" b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Эмоции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96374" y="2940050"/>
              <a:ext cx="28287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эмоциональный компонент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1666875"/>
              <a:ext cx="3238500" cy="1857375"/>
            </a:xfrm>
            <a:prstGeom prst="roundRect">
              <a:avLst>
                <a:gd name="adj" fmla="val 820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2209800" y="1924050"/>
              <a:ext cx="342900" cy="333375"/>
              <a:chOff x="2209800" y="1924050"/>
              <a:chExt cx="342900" cy="33337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2286000" y="22479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2266950" y="1962150"/>
                <a:ext cx="2286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9050">
                    <a:moveTo>
                      <a:pt x="0" y="19050"/>
                    </a:moveTo>
                    <a:lnTo>
                      <a:pt x="114300" y="0"/>
                    </a:lnTo>
                    <a:lnTo>
                      <a:pt x="228600" y="1905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2381250" y="192405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0"/>
                    </a:moveTo>
                    <a:lnTo>
                      <a:pt x="0" y="32385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2209800" y="1981200"/>
                <a:ext cx="1143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71450">
                    <a:moveTo>
                      <a:pt x="114300" y="114300"/>
                    </a:moveTo>
                    <a:lnTo>
                      <a:pt x="57150" y="0"/>
                    </a:lnTo>
                    <a:lnTo>
                      <a:pt x="0" y="114300"/>
                    </a:lnTo>
                    <a:cubicBezTo>
                      <a:pt x="0" y="145863"/>
                      <a:pt x="25587" y="171450"/>
                      <a:pt x="57150" y="171450"/>
                    </a:cubicBezTo>
                    <a:cubicBezTo>
                      <a:pt x="88713" y="171450"/>
                      <a:pt x="114300" y="145863"/>
                      <a:pt x="114300" y="11430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438400" y="1981200"/>
                <a:ext cx="1143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71450">
                    <a:moveTo>
                      <a:pt x="114300" y="114300"/>
                    </a:moveTo>
                    <a:lnTo>
                      <a:pt x="57150" y="0"/>
                    </a:lnTo>
                    <a:lnTo>
                      <a:pt x="0" y="114300"/>
                    </a:lnTo>
                    <a:cubicBezTo>
                      <a:pt x="0" y="145863"/>
                      <a:pt x="25587" y="171450"/>
                      <a:pt x="57150" y="171450"/>
                    </a:cubicBezTo>
                    <a:cubicBezTo>
                      <a:pt x="88713" y="171450"/>
                      <a:pt x="114300" y="145863"/>
                      <a:pt x="114300" y="11430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457466" y="2540000"/>
              <a:ext cx="18475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Оценка жизни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48704" y="2940050"/>
              <a:ext cx="24650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когнитивный компонент</a:t>
              </a:r>
            </a:p>
          </p:txBody>
        </p:sp>
      </p:grpSp>
      <p:grpSp>
        <p:nvGrpSpPr>
          <p:cNvPr id="38" name="appr-1"/>
          <p:cNvGrpSpPr/>
          <p:nvPr/>
        </p:nvGrpSpPr>
        <p:grpSpPr>
          <a:xfrm>
            <a:off x="762000" y="3810000"/>
            <a:ext cx="10668000" cy="1123950"/>
            <a:chOff x="762000" y="3810000"/>
            <a:chExt cx="10668000" cy="1123950"/>
          </a:xfrm>
        </p:grpSpPr>
        <p:sp>
          <p:nvSpPr>
            <p:cNvPr id="26" name="Rectangle 26"/>
            <p:cNvSpPr/>
            <p:nvPr/>
          </p:nvSpPr>
          <p:spPr>
            <a:xfrm>
              <a:off x="3495675" y="3810000"/>
              <a:ext cx="2590800" cy="1123950"/>
            </a:xfrm>
            <a:prstGeom prst="roundRect">
              <a:avLst>
                <a:gd name="adj" fmla="val 13559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040479" y="4102100"/>
              <a:ext cx="15011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Когнитивный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61271" y="4425950"/>
              <a:ext cx="16596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мысли и оценки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29350" y="3810000"/>
              <a:ext cx="2590800" cy="1123950"/>
            </a:xfrm>
            <a:prstGeom prst="roundRect">
              <a:avLst>
                <a:gd name="adj" fmla="val 13559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20125" y="4102100"/>
              <a:ext cx="14092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Позитивный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09451" y="4425950"/>
              <a:ext cx="18305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сильные стороны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963025" y="3810000"/>
              <a:ext cx="2466975" cy="1123950"/>
            </a:xfrm>
            <a:prstGeom prst="roundRect">
              <a:avLst>
                <a:gd name="adj" fmla="val 13559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333618" y="4102100"/>
              <a:ext cx="17162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Био-психо-соц.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14756" y="4425950"/>
              <a:ext cx="13539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среда и тело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62000" y="3810000"/>
              <a:ext cx="2590800" cy="1123950"/>
            </a:xfrm>
            <a:prstGeom prst="roundRect">
              <a:avLst>
                <a:gd name="adj" fmla="val 13559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321137" y="4102100"/>
              <a:ext cx="14725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Психоанализ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830919" y="4425950"/>
              <a:ext cx="452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Юнг</a:t>
              </a:r>
            </a:p>
          </p:txBody>
        </p:sp>
      </p:grpSp>
      <p:grpSp>
        <p:nvGrpSpPr>
          <p:cNvPr id="45" name="note"/>
          <p:cNvGrpSpPr/>
          <p:nvPr/>
        </p:nvGrpSpPr>
        <p:grpSpPr>
          <a:xfrm>
            <a:off x="762000" y="5162550"/>
            <a:ext cx="10668000" cy="914400"/>
            <a:chOff x="762000" y="5162550"/>
            <a:chExt cx="10668000" cy="914400"/>
          </a:xfrm>
        </p:grpSpPr>
        <p:sp>
          <p:nvSpPr>
            <p:cNvPr id="39" name="Rectangle 39"/>
            <p:cNvSpPr/>
            <p:nvPr/>
          </p:nvSpPr>
          <p:spPr>
            <a:xfrm>
              <a:off x="762000" y="5162550"/>
              <a:ext cx="10668000" cy="914400"/>
            </a:xfrm>
            <a:prstGeom prst="roundRect">
              <a:avLst>
                <a:gd name="adj" fmla="val 16667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1076325" y="5438775"/>
              <a:ext cx="285751" cy="285750"/>
              <a:chOff x="1076325" y="5438775"/>
              <a:chExt cx="285751" cy="28575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1076325" y="5438775"/>
                <a:ext cx="28575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42875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6" y="142875"/>
                    </a:moveTo>
                    <a:lnTo>
                      <a:pt x="285751" y="142875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3" y="52388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133094" y="5502275"/>
                <a:ext cx="172212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172212" h="222250">
                    <a:moveTo>
                      <a:pt x="38481" y="142875"/>
                    </a:moveTo>
                    <a:cubicBezTo>
                      <a:pt x="11148" y="122376"/>
                      <a:pt x="0" y="86687"/>
                      <a:pt x="10804" y="54275"/>
                    </a:cubicBezTo>
                    <a:cubicBezTo>
                      <a:pt x="21608" y="21862"/>
                      <a:pt x="51940" y="0"/>
                      <a:pt x="86106" y="0"/>
                    </a:cubicBezTo>
                    <a:cubicBezTo>
                      <a:pt x="120271" y="0"/>
                      <a:pt x="150604" y="21862"/>
                      <a:pt x="161408" y="54275"/>
                    </a:cubicBezTo>
                    <a:cubicBezTo>
                      <a:pt x="172212" y="86687"/>
                      <a:pt x="161063" y="122376"/>
                      <a:pt x="133731" y="142875"/>
                    </a:cubicBezTo>
                    <a:cubicBezTo>
                      <a:pt x="121161" y="155319"/>
                      <a:pt x="115266" y="173003"/>
                      <a:pt x="117856" y="190500"/>
                    </a:cubicBezTo>
                    <a:cubicBezTo>
                      <a:pt x="117856" y="208035"/>
                      <a:pt x="103641" y="222250"/>
                      <a:pt x="86106" y="222250"/>
                    </a:cubicBezTo>
                    <a:cubicBezTo>
                      <a:pt x="68571" y="222250"/>
                      <a:pt x="54356" y="208035"/>
                      <a:pt x="54356" y="190500"/>
                    </a:cubicBezTo>
                    <a:cubicBezTo>
                      <a:pt x="56946" y="173003"/>
                      <a:pt x="51051" y="155319"/>
                      <a:pt x="38481" y="142875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82688" y="5661026"/>
                <a:ext cx="73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9525">
                    <a:moveTo>
                      <a:pt x="0" y="0"/>
                    </a:moveTo>
                    <a:lnTo>
                      <a:pt x="73025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553718" y="5384800"/>
              <a:ext cx="9671408" cy="5899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>
                <a:lnSpc>
                  <a:spcPts val="2325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Теория </a:t>
              </a:r>
              <a:r>
                <a:rPr lang="ru-RU" sz="1650" dirty="0" smtClean="0">
                  <a:solidFill>
                    <a:schemeClr val="dk1"/>
                  </a:solidFill>
                </a:rPr>
                <a:t>расширять </a:t>
              </a:r>
              <a:r>
                <a:rPr lang="ru-RU" sz="1650" dirty="0">
                  <a:solidFill>
                    <a:schemeClr val="dk1"/>
                  </a:solidFill>
                </a:rPr>
                <a:t>и </a:t>
              </a:r>
              <a:r>
                <a:rPr lang="ru-RU" sz="1650" dirty="0" smtClean="0">
                  <a:solidFill>
                    <a:schemeClr val="dk1"/>
                  </a:solidFill>
                </a:rPr>
                <a:t>наращивать</a:t>
              </a:r>
              <a:r>
                <a:rPr lang="ru" sz="1650" dirty="0" smtClean="0">
                  <a:solidFill>
                    <a:schemeClr val="dk1"/>
                  </a:solidFill>
                </a:rPr>
                <a:t> (</a:t>
              </a:r>
              <a:r>
                <a:rPr lang="ru" sz="1650" dirty="0" smtClean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broaden-and-build): </a:t>
              </a: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позитивные эмоции расширяют мышление и </a:t>
              </a:r>
              <a:r>
                <a:rPr lang="ru" sz="1650" dirty="0" smtClean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накапливают ресурсы</a:t>
              </a:r>
              <a:endParaRPr lang="ru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46" name="Line 46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5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6-photo"/>
          <p:cNvPicPr>
            <a:picLocks noChangeAspect="1"/>
          </p:cNvPicPr>
          <p:nvPr/>
        </p:nvPicPr>
        <p:blipFill>
          <a:blip r:embed="rId3"/>
          <a:srcRect t="7812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6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7341139" cy="586740"/>
            <a:chOff x="746760" y="641350"/>
            <a:chExt cx="7341139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734113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Как мозг создаёт ощущение счастья</a:t>
              </a:r>
            </a:p>
          </p:txBody>
        </p:sp>
      </p:grpSp>
      <p:sp>
        <p:nvSpPr>
          <p:cNvPr id="7" name="Rectangle 7"/>
          <p:cNvSpPr/>
          <p:nvPr/>
        </p:nvSpPr>
        <p:spPr>
          <a:xfrm>
            <a:off x="4191000" y="1952625"/>
            <a:ext cx="3810000" cy="2667000"/>
          </a:xfrm>
          <a:prstGeom prst="roundRect">
            <a:avLst>
              <a:gd name="adj" fmla="val 5714"/>
            </a:avLst>
          </a:prstGeom>
          <a:solidFill>
            <a:srgbClr val="FFFFFF">
              <a:alpha val="90000"/>
            </a:srgbClr>
          </a:solidFill>
          <a:ln w="19050">
            <a:solidFill>
              <a:schemeClr val="accent1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4"/>
          <a:srcRect t="232" b="231"/>
          <a:stretch>
            <a:fillRect/>
          </a:stretch>
        </p:blipFill>
        <p:spPr>
          <a:xfrm>
            <a:off x="4352925" y="2038351"/>
            <a:ext cx="3434949" cy="24574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9" name="Freeform 9"/>
          <p:cNvSpPr/>
          <p:nvPr/>
        </p:nvSpPr>
        <p:spPr>
          <a:xfrm>
            <a:off x="4136231" y="4873625"/>
            <a:ext cx="242888" cy="215901"/>
          </a:xfrm>
          <a:custGeom>
            <a:avLst/>
            <a:gdLst/>
            <a:ahLst/>
            <a:cxnLst/>
            <a:rect l="l" t="t" r="r" b="b"/>
            <a:pathLst>
              <a:path w="242888" h="215901">
                <a:moveTo>
                  <a:pt x="0" y="107950"/>
                </a:moveTo>
                <a:lnTo>
                  <a:pt x="53975" y="107950"/>
                </a:lnTo>
                <a:lnTo>
                  <a:pt x="94456" y="215901"/>
                </a:lnTo>
                <a:lnTo>
                  <a:pt x="148432" y="0"/>
                </a:lnTo>
                <a:lnTo>
                  <a:pt x="188913" y="107950"/>
                </a:lnTo>
                <a:lnTo>
                  <a:pt x="242888" y="107950"/>
                </a:lnTo>
              </a:path>
            </a:pathLst>
          </a:custGeom>
          <a:noFill/>
          <a:ln w="26988">
            <a:solidFill>
              <a:schemeClr val="accent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4392168" y="4864100"/>
            <a:ext cx="407802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Анимация: работа нейросетей мозга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191500" y="1714500"/>
            <a:ext cx="32385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86000"/>
            </a:srgbClr>
          </a:soli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8453437" y="2109787"/>
            <a:ext cx="314324" cy="314324"/>
            <a:chOff x="8453437" y="2109787"/>
            <a:chExt cx="314324" cy="314324"/>
          </a:xfrm>
        </p:grpSpPr>
        <p:sp>
          <p:nvSpPr>
            <p:cNvPr id="12" name="Freeform 12"/>
            <p:cNvSpPr/>
            <p:nvPr/>
          </p:nvSpPr>
          <p:spPr>
            <a:xfrm>
              <a:off x="8453437" y="2109787"/>
              <a:ext cx="314324" cy="314324"/>
            </a:xfrm>
            <a:custGeom>
              <a:avLst/>
              <a:gdLst/>
              <a:ahLst/>
              <a:cxnLst/>
              <a:rect l="l" t="t" r="r" b="b"/>
              <a:pathLst>
                <a:path w="314324" h="314324">
                  <a:moveTo>
                    <a:pt x="0" y="157162"/>
                  </a:moveTo>
                  <a:cubicBezTo>
                    <a:pt x="0" y="243961"/>
                    <a:pt x="70364" y="314324"/>
                    <a:pt x="157162" y="314324"/>
                  </a:cubicBezTo>
                  <a:cubicBezTo>
                    <a:pt x="243961" y="314324"/>
                    <a:pt x="314324" y="243961"/>
                    <a:pt x="314324" y="157162"/>
                  </a:cubicBezTo>
                  <a:cubicBezTo>
                    <a:pt x="314324" y="70364"/>
                    <a:pt x="243961" y="0"/>
                    <a:pt x="157162" y="0"/>
                  </a:cubicBezTo>
                  <a:cubicBezTo>
                    <a:pt x="70364" y="0"/>
                    <a:pt x="0" y="70364"/>
                    <a:pt x="0" y="157162"/>
                  </a:cubicBezTo>
                </a:path>
              </a:pathLst>
            </a:custGeom>
            <a:noFill/>
            <a:ln w="34925">
              <a:solidFill>
                <a:srgbClr val="1E8449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8558212" y="223202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175" y="0"/>
                  </a:lnTo>
                </a:path>
              </a:pathLst>
            </a:custGeom>
            <a:noFill/>
            <a:ln w="34925">
              <a:solidFill>
                <a:srgbClr val="1E8449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8662987" y="223202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175" y="0"/>
                  </a:lnTo>
                </a:path>
              </a:pathLst>
            </a:custGeom>
            <a:noFill/>
            <a:ln w="34925">
              <a:solidFill>
                <a:srgbClr val="1E8449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8566943" y="2319337"/>
              <a:ext cx="87312" cy="18345"/>
            </a:xfrm>
            <a:custGeom>
              <a:avLst/>
              <a:gdLst/>
              <a:ahLst/>
              <a:cxnLst/>
              <a:rect l="l" t="t" r="r" b="b"/>
              <a:pathLst>
                <a:path w="87312" h="18345">
                  <a:moveTo>
                    <a:pt x="0" y="0"/>
                  </a:moveTo>
                  <a:cubicBezTo>
                    <a:pt x="11496" y="11733"/>
                    <a:pt x="27230" y="18345"/>
                    <a:pt x="43656" y="18345"/>
                  </a:cubicBezTo>
                  <a:cubicBezTo>
                    <a:pt x="60082" y="18345"/>
                    <a:pt x="75817" y="11733"/>
                    <a:pt x="87312" y="0"/>
                  </a:cubicBezTo>
                </a:path>
              </a:pathLst>
            </a:custGeom>
            <a:noFill/>
            <a:ln w="34925">
              <a:solidFill>
                <a:srgbClr val="1E8449"/>
              </a:solidFill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8962644" y="2120900"/>
            <a:ext cx="145245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950" b="1" dirty="0">
                <a:solidFill>
                  <a:srgbClr val="1E8449"/>
                </a:solidFill>
                <a:latin typeface="+mn-lt"/>
                <a:ea typeface="+mn-ea"/>
                <a:cs typeface="+mn-cs"/>
              </a:rPr>
              <a:t>Серотонин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92668" y="2501900"/>
            <a:ext cx="182149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настроение и сон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62000" y="3810000"/>
            <a:ext cx="32385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86000"/>
            </a:srgbClr>
          </a:solidFill>
          <a:ln>
            <a:noFill/>
          </a:ln>
        </p:spPr>
      </p:sp>
      <p:grpSp>
        <p:nvGrpSpPr>
          <p:cNvPr id="24" name="Group 24"/>
          <p:cNvGrpSpPr/>
          <p:nvPr/>
        </p:nvGrpSpPr>
        <p:grpSpPr>
          <a:xfrm>
            <a:off x="1041400" y="4205287"/>
            <a:ext cx="244474" cy="314325"/>
            <a:chOff x="1041400" y="4205287"/>
            <a:chExt cx="244474" cy="314325"/>
          </a:xfrm>
        </p:grpSpPr>
        <p:sp>
          <p:nvSpPr>
            <p:cNvPr id="20" name="Freeform 20"/>
            <p:cNvSpPr/>
            <p:nvPr/>
          </p:nvSpPr>
          <p:spPr>
            <a:xfrm>
              <a:off x="1163759" y="4205287"/>
              <a:ext cx="69850" cy="69850"/>
            </a:xfrm>
            <a:custGeom>
              <a:avLst/>
              <a:gdLst/>
              <a:ahLst/>
              <a:cxnLst/>
              <a:rect l="l" t="t" r="r" b="b"/>
              <a:pathLst>
                <a:path w="69850" h="69850">
                  <a:moveTo>
                    <a:pt x="0" y="34925"/>
                  </a:moveTo>
                  <a:cubicBezTo>
                    <a:pt x="0" y="54213"/>
                    <a:pt x="15636" y="69850"/>
                    <a:pt x="34925" y="69850"/>
                  </a:cubicBezTo>
                  <a:cubicBezTo>
                    <a:pt x="54213" y="69850"/>
                    <a:pt x="69850" y="54213"/>
                    <a:pt x="69850" y="34925"/>
                  </a:cubicBezTo>
                  <a:cubicBezTo>
                    <a:pt x="69850" y="15636"/>
                    <a:pt x="54213" y="0"/>
                    <a:pt x="34925" y="0"/>
                  </a:cubicBezTo>
                  <a:cubicBezTo>
                    <a:pt x="15636" y="0"/>
                    <a:pt x="0" y="15636"/>
                    <a:pt x="0" y="34925"/>
                  </a:cubicBezTo>
                </a:path>
              </a:pathLst>
            </a:custGeom>
            <a:noFill/>
            <a:ln w="34925">
              <a:solidFill>
                <a:srgbClr val="B9631B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041400" y="4441031"/>
              <a:ext cx="100409" cy="26194"/>
            </a:xfrm>
            <a:custGeom>
              <a:avLst/>
              <a:gdLst/>
              <a:ahLst/>
              <a:cxnLst/>
              <a:rect l="l" t="t" r="r" b="b"/>
              <a:pathLst>
                <a:path w="100409" h="26194">
                  <a:moveTo>
                    <a:pt x="0" y="8731"/>
                  </a:moveTo>
                  <a:lnTo>
                    <a:pt x="87312" y="26194"/>
                  </a:lnTo>
                  <a:lnTo>
                    <a:pt x="100409" y="0"/>
                  </a:lnTo>
                </a:path>
              </a:pathLst>
            </a:custGeom>
            <a:noFill/>
            <a:ln w="34925">
              <a:solidFill>
                <a:srgbClr val="B9631B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163637" y="4292600"/>
              <a:ext cx="69850" cy="227012"/>
            </a:xfrm>
            <a:custGeom>
              <a:avLst/>
              <a:gdLst/>
              <a:ahLst/>
              <a:cxnLst/>
              <a:rect l="l" t="t" r="r" b="b"/>
              <a:pathLst>
                <a:path w="69850" h="227012">
                  <a:moveTo>
                    <a:pt x="69850" y="227012"/>
                  </a:moveTo>
                  <a:lnTo>
                    <a:pt x="69850" y="157162"/>
                  </a:lnTo>
                  <a:lnTo>
                    <a:pt x="0" y="104775"/>
                  </a:lnTo>
                  <a:lnTo>
                    <a:pt x="17462" y="0"/>
                  </a:lnTo>
                </a:path>
              </a:pathLst>
            </a:custGeom>
            <a:noFill/>
            <a:ln w="34925">
              <a:solidFill>
                <a:srgbClr val="B9631B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093787" y="4292600"/>
              <a:ext cx="192087" cy="69850"/>
            </a:xfrm>
            <a:custGeom>
              <a:avLst/>
              <a:gdLst/>
              <a:ahLst/>
              <a:cxnLst/>
              <a:rect l="l" t="t" r="r" b="b"/>
              <a:pathLst>
                <a:path w="192087" h="69850">
                  <a:moveTo>
                    <a:pt x="0" y="69850"/>
                  </a:moveTo>
                  <a:lnTo>
                    <a:pt x="0" y="17462"/>
                  </a:lnTo>
                  <a:lnTo>
                    <a:pt x="87312" y="0"/>
                  </a:lnTo>
                  <a:lnTo>
                    <a:pt x="139700" y="52387"/>
                  </a:lnTo>
                  <a:lnTo>
                    <a:pt x="192087" y="69850"/>
                  </a:lnTo>
                </a:path>
              </a:pathLst>
            </a:custGeom>
            <a:noFill/>
            <a:ln w="34925">
              <a:solidFill>
                <a:srgbClr val="B9631B"/>
              </a:solidFill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1533144" y="4216400"/>
            <a:ext cx="163636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950" b="1" dirty="0">
                <a:solidFill>
                  <a:srgbClr val="B9631B"/>
                </a:solidFill>
                <a:latin typeface="+mn-lt"/>
                <a:ea typeface="+mn-ea"/>
                <a:cs typeface="+mn-cs"/>
              </a:rPr>
              <a:t>Эндорфины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3168" y="4597400"/>
            <a:ext cx="205927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эйфория и лёгкость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191500" y="3810000"/>
            <a:ext cx="32385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86000"/>
            </a:srgbClr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8447391" y="4218270"/>
            <a:ext cx="326102" cy="283879"/>
          </a:xfrm>
          <a:custGeom>
            <a:avLst/>
            <a:gdLst/>
            <a:ahLst/>
            <a:cxnLst/>
            <a:rect l="l" t="t" r="r" b="b"/>
            <a:pathLst>
              <a:path w="326102" h="283879">
                <a:moveTo>
                  <a:pt x="294177" y="154168"/>
                </a:moveTo>
                <a:lnTo>
                  <a:pt x="163209" y="283879"/>
                </a:lnTo>
                <a:lnTo>
                  <a:pt x="32240" y="154168"/>
                </a:lnTo>
                <a:cubicBezTo>
                  <a:pt x="8689" y="131250"/>
                  <a:pt x="0" y="97049"/>
                  <a:pt x="9757" y="65669"/>
                </a:cubicBezTo>
                <a:cubicBezTo>
                  <a:pt x="19514" y="34289"/>
                  <a:pt x="46065" y="11045"/>
                  <a:pt x="78459" y="5522"/>
                </a:cubicBezTo>
                <a:cubicBezTo>
                  <a:pt x="110854" y="0"/>
                  <a:pt x="143606" y="13135"/>
                  <a:pt x="163209" y="39510"/>
                </a:cubicBezTo>
                <a:cubicBezTo>
                  <a:pt x="182894" y="13330"/>
                  <a:pt x="215576" y="369"/>
                  <a:pt x="247853" y="5944"/>
                </a:cubicBezTo>
                <a:cubicBezTo>
                  <a:pt x="280130" y="11518"/>
                  <a:pt x="306573" y="34688"/>
                  <a:pt x="316337" y="65954"/>
                </a:cubicBezTo>
                <a:cubicBezTo>
                  <a:pt x="326102" y="97220"/>
                  <a:pt x="317546" y="131320"/>
                  <a:pt x="294177" y="154273"/>
                </a:cubicBezTo>
              </a:path>
            </a:pathLst>
          </a:custGeom>
          <a:noFill/>
          <a:ln w="34925">
            <a:solidFill>
              <a:srgbClr val="C0392B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8962644" y="4216400"/>
            <a:ext cx="144191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950" b="1" dirty="0">
                <a:solidFill>
                  <a:srgbClr val="C0392B"/>
                </a:solidFill>
                <a:latin typeface="+mn-lt"/>
                <a:ea typeface="+mn-ea"/>
                <a:cs typeface="+mn-cs"/>
              </a:rPr>
              <a:t>Окситоцин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92668" y="4597400"/>
            <a:ext cx="206491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доверие и близость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62000" y="1714500"/>
            <a:ext cx="32385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86000"/>
            </a:srgbClr>
          </a:solidFill>
          <a:ln>
            <a:noFill/>
          </a:ln>
        </p:spPr>
      </p:sp>
      <p:sp>
        <p:nvSpPr>
          <p:cNvPr id="32" name="Freeform 32"/>
          <p:cNvSpPr/>
          <p:nvPr/>
        </p:nvSpPr>
        <p:spPr>
          <a:xfrm>
            <a:off x="1023937" y="2127250"/>
            <a:ext cx="314324" cy="279399"/>
          </a:xfrm>
          <a:custGeom>
            <a:avLst/>
            <a:gdLst/>
            <a:ahLst/>
            <a:cxnLst/>
            <a:rect l="l" t="t" r="r" b="b"/>
            <a:pathLst>
              <a:path w="314324" h="279399">
                <a:moveTo>
                  <a:pt x="0" y="139700"/>
                </a:moveTo>
                <a:lnTo>
                  <a:pt x="69850" y="139700"/>
                </a:lnTo>
                <a:lnTo>
                  <a:pt x="122237" y="279399"/>
                </a:lnTo>
                <a:lnTo>
                  <a:pt x="192087" y="0"/>
                </a:lnTo>
                <a:lnTo>
                  <a:pt x="244475" y="139700"/>
                </a:lnTo>
                <a:lnTo>
                  <a:pt x="314324" y="139700"/>
                </a:lnTo>
              </a:path>
            </a:pathLst>
          </a:custGeom>
          <a:noFill/>
          <a:ln w="34925">
            <a:solidFill>
              <a:schemeClr val="accent1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533144" y="2120900"/>
            <a:ext cx="126702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Дофамин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63168" y="2501900"/>
            <a:ext cx="287468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мотивация и предвкушение</a:t>
            </a:r>
          </a:p>
        </p:txBody>
      </p:sp>
      <p:grpSp>
        <p:nvGrpSpPr>
          <p:cNvPr id="42" name="note"/>
          <p:cNvGrpSpPr/>
          <p:nvPr/>
        </p:nvGrpSpPr>
        <p:grpSpPr>
          <a:xfrm>
            <a:off x="762000" y="5257800"/>
            <a:ext cx="10668000" cy="914400"/>
            <a:chOff x="762000" y="5257800"/>
            <a:chExt cx="10668000" cy="914400"/>
          </a:xfrm>
        </p:grpSpPr>
        <p:sp>
          <p:nvSpPr>
            <p:cNvPr id="36" name="Rectangle 36"/>
            <p:cNvSpPr/>
            <p:nvPr/>
          </p:nvSpPr>
          <p:spPr>
            <a:xfrm>
              <a:off x="762000" y="5257800"/>
              <a:ext cx="10668000" cy="914400"/>
            </a:xfrm>
            <a:prstGeom prst="roundRect">
              <a:avLst>
                <a:gd name="adj" fmla="val 16667"/>
              </a:avLst>
            </a:prstGeom>
            <a:solidFill>
              <a:srgbClr val="E74C3C">
                <a:alpha val="10000"/>
              </a:srgbClr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1122397" y="5534025"/>
              <a:ext cx="193606" cy="285751"/>
              <a:chOff x="1122397" y="5534025"/>
              <a:chExt cx="193606" cy="285751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171575" y="5534025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rgbClr val="C0392B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187450" y="5629275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rgbClr val="C0392B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122397" y="5534025"/>
                <a:ext cx="193606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193606" h="285751">
                    <a:moveTo>
                      <a:pt x="65053" y="0"/>
                    </a:moveTo>
                    <a:lnTo>
                      <a:pt x="65053" y="95250"/>
                    </a:lnTo>
                    <a:lnTo>
                      <a:pt x="1553" y="269876"/>
                    </a:lnTo>
                    <a:cubicBezTo>
                      <a:pt x="0" y="272999"/>
                      <a:pt x="4" y="276671"/>
                      <a:pt x="1564" y="279792"/>
                    </a:cubicBezTo>
                    <a:cubicBezTo>
                      <a:pt x="3125" y="282912"/>
                      <a:pt x="6060" y="285118"/>
                      <a:pt x="9490" y="285751"/>
                    </a:cubicBezTo>
                    <a:lnTo>
                      <a:pt x="184116" y="285751"/>
                    </a:lnTo>
                    <a:cubicBezTo>
                      <a:pt x="187547" y="285118"/>
                      <a:pt x="190481" y="282912"/>
                      <a:pt x="192042" y="279792"/>
                    </a:cubicBezTo>
                    <a:cubicBezTo>
                      <a:pt x="193602" y="276671"/>
                      <a:pt x="193606" y="272999"/>
                      <a:pt x="192053" y="269876"/>
                    </a:cubicBezTo>
                    <a:lnTo>
                      <a:pt x="128553" y="95250"/>
                    </a:lnTo>
                    <a:lnTo>
                      <a:pt x="128553" y="0"/>
                    </a:lnTo>
                  </a:path>
                </a:pathLst>
              </a:custGeom>
              <a:noFill/>
              <a:ln w="31750">
                <a:solidFill>
                  <a:srgbClr val="C0392B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553718" y="5499100"/>
              <a:ext cx="7780592" cy="617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Упрощённая модель. Дофамин — нейромедиатор предвкушения, а не «гормон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удовольствия» (Berridge, 1998: liking vs wanting)</a:t>
              </a:r>
            </a:p>
          </p:txBody>
        </p:sp>
      </p:grpSp>
      <p:sp>
        <p:nvSpPr>
          <p:cNvPr id="43" name="Line 43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6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7-photo"/>
          <p:cNvPicPr>
            <a:picLocks noChangeAspect="1"/>
          </p:cNvPicPr>
          <p:nvPr/>
        </p:nvPicPr>
        <p:blipFill>
          <a:blip r:embed="rId3"/>
          <a:srcRect t="7812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7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6846914" cy="586740"/>
            <a:chOff x="746760" y="641350"/>
            <a:chExt cx="6846914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684691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Как менялось понимание счастья</a:t>
              </a:r>
            </a:p>
          </p:txBody>
        </p:sp>
      </p:grpSp>
      <p:grpSp>
        <p:nvGrpSpPr>
          <p:cNvPr id="63" name="timeline"/>
          <p:cNvGrpSpPr/>
          <p:nvPr/>
        </p:nvGrpSpPr>
        <p:grpSpPr>
          <a:xfrm>
            <a:off x="666079" y="2235200"/>
            <a:ext cx="11063118" cy="2018157"/>
            <a:chOff x="666079" y="2235200"/>
            <a:chExt cx="11063118" cy="2018157"/>
          </a:xfrm>
        </p:grpSpPr>
        <p:sp>
          <p:nvSpPr>
            <p:cNvPr id="7" name="Line 7"/>
            <p:cNvSpPr/>
            <p:nvPr/>
          </p:nvSpPr>
          <p:spPr>
            <a:xfrm>
              <a:off x="1333500" y="314325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28575">
              <a:solidFill>
                <a:srgbClr val="95A5A6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009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190625" y="3022478"/>
              <a:ext cx="295276" cy="231897"/>
              <a:chOff x="1190625" y="3022478"/>
              <a:chExt cx="295276" cy="23189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190625" y="3228853"/>
                <a:ext cx="285751" cy="25522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5522">
                    <a:moveTo>
                      <a:pt x="0" y="25522"/>
                    </a:moveTo>
                    <a:cubicBezTo>
                      <a:pt x="44206" y="0"/>
                      <a:pt x="98670" y="0"/>
                      <a:pt x="142875" y="25522"/>
                    </a:cubicBezTo>
                    <a:cubicBezTo>
                      <a:pt x="187081" y="0"/>
                      <a:pt x="241545" y="0"/>
                      <a:pt x="285751" y="25522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90625" y="3022478"/>
                <a:ext cx="285751" cy="25522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5522">
                    <a:moveTo>
                      <a:pt x="0" y="25522"/>
                    </a:moveTo>
                    <a:cubicBezTo>
                      <a:pt x="44206" y="0"/>
                      <a:pt x="98670" y="0"/>
                      <a:pt x="142875" y="25522"/>
                    </a:cubicBezTo>
                    <a:cubicBezTo>
                      <a:pt x="187081" y="0"/>
                      <a:pt x="241545" y="0"/>
                      <a:pt x="285751" y="25522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90625" y="30480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333500" y="30480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476376" y="30480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667598" y="2235200"/>
              <a:ext cx="13318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Античность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079" y="3644900"/>
              <a:ext cx="1334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Аристотель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1237" y="3930650"/>
              <a:ext cx="11445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эвдемония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2914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3095625" y="3000375"/>
              <a:ext cx="285751" cy="285751"/>
              <a:chOff x="3095625" y="3000375"/>
              <a:chExt cx="285751" cy="28575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175000" y="307975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095625" y="300037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6" y="142875"/>
                    </a:moveTo>
                    <a:lnTo>
                      <a:pt x="285751" y="142875"/>
                    </a:lnTo>
                    <a:moveTo>
                      <a:pt x="142875" y="269876"/>
                    </a:moveTo>
                    <a:lnTo>
                      <a:pt x="142875" y="285751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3" y="52388"/>
                    </a:lnTo>
                    <a:moveTo>
                      <a:pt x="233363" y="233363"/>
                    </a:moveTo>
                    <a:lnTo>
                      <a:pt x="244475" y="244475"/>
                    </a:lnTo>
                    <a:moveTo>
                      <a:pt x="52388" y="233363"/>
                    </a:moveTo>
                    <a:lnTo>
                      <a:pt x="41275" y="2444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2831805" y="2235200"/>
              <a:ext cx="8133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Стоики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38263" y="3644900"/>
              <a:ext cx="8004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Сенека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71535" y="3930650"/>
              <a:ext cx="17339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душевный покой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4819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5000625" y="3000375"/>
              <a:ext cx="285751" cy="295276"/>
              <a:chOff x="5000625" y="3000375"/>
              <a:chExt cx="285751" cy="29527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5000625" y="3286126"/>
                <a:ext cx="28575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9525">
                    <a:moveTo>
                      <a:pt x="0" y="0"/>
                    </a:moveTo>
                    <a:lnTo>
                      <a:pt x="285751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5000625" y="3111500"/>
                <a:ext cx="28575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9525">
                    <a:moveTo>
                      <a:pt x="0" y="0"/>
                    </a:moveTo>
                    <a:lnTo>
                      <a:pt x="285751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032375" y="3000375"/>
                <a:ext cx="2222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47625">
                    <a:moveTo>
                      <a:pt x="0" y="47625"/>
                    </a:moveTo>
                    <a:lnTo>
                      <a:pt x="111125" y="0"/>
                    </a:lnTo>
                    <a:lnTo>
                      <a:pt x="222250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016500" y="3111500"/>
                <a:ext cx="9525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25">
                    <a:moveTo>
                      <a:pt x="0" y="0"/>
                    </a:moveTo>
                    <a:lnTo>
                      <a:pt x="0" y="174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270501" y="3111500"/>
                <a:ext cx="9525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25">
                    <a:moveTo>
                      <a:pt x="0" y="0"/>
                    </a:moveTo>
                    <a:lnTo>
                      <a:pt x="0" y="174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080000" y="31750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143500" y="31750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207001" y="31750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4270387" y="2235200"/>
              <a:ext cx="17462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Средневековье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38029" y="3644900"/>
              <a:ext cx="12109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Аквинский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78980" y="3930650"/>
              <a:ext cx="11290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дар Божий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724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902714" y="2997464"/>
              <a:ext cx="291932" cy="298187"/>
              <a:chOff x="6902714" y="2997464"/>
              <a:chExt cx="291932" cy="298187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016750" y="3111500"/>
                <a:ext cx="177896" cy="177859"/>
              </a:xfrm>
              <a:custGeom>
                <a:avLst/>
                <a:gdLst/>
                <a:ahLst/>
                <a:cxnLst/>
                <a:rect l="l" t="t" r="r" b="b"/>
                <a:pathLst>
                  <a:path w="177896" h="177859">
                    <a:moveTo>
                      <a:pt x="47625" y="0"/>
                    </a:moveTo>
                    <a:lnTo>
                      <a:pt x="164830" y="117761"/>
                    </a:lnTo>
                    <a:cubicBezTo>
                      <a:pt x="177896" y="130779"/>
                      <a:pt x="177896" y="151861"/>
                      <a:pt x="164830" y="164862"/>
                    </a:cubicBezTo>
                    <a:cubicBezTo>
                      <a:pt x="151764" y="177859"/>
                      <a:pt x="130653" y="177859"/>
                      <a:pt x="117586" y="164862"/>
                    </a:cubicBez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953250" y="309562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63500" y="6350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000875" y="30480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63500" y="6350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905625" y="3286126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902714" y="2997464"/>
                <a:ext cx="212198" cy="212198"/>
              </a:xfrm>
              <a:custGeom>
                <a:avLst/>
                <a:gdLst/>
                <a:ahLst/>
                <a:cxnLst/>
                <a:rect l="l" t="t" r="r" b="b"/>
                <a:pathLst>
                  <a:path w="212198" h="212198">
                    <a:moveTo>
                      <a:pt x="63125" y="206000"/>
                    </a:moveTo>
                    <a:lnTo>
                      <a:pt x="6197" y="149073"/>
                    </a:lnTo>
                    <a:cubicBezTo>
                      <a:pt x="0" y="142873"/>
                      <a:pt x="0" y="132825"/>
                      <a:pt x="6197" y="126625"/>
                    </a:cubicBezTo>
                    <a:lnTo>
                      <a:pt x="42599" y="90224"/>
                    </a:lnTo>
                    <a:lnTo>
                      <a:pt x="50536" y="98161"/>
                    </a:lnTo>
                    <a:lnTo>
                      <a:pt x="98161" y="50536"/>
                    </a:lnTo>
                    <a:lnTo>
                      <a:pt x="90224" y="42599"/>
                    </a:lnTo>
                    <a:lnTo>
                      <a:pt x="126625" y="6197"/>
                    </a:lnTo>
                    <a:cubicBezTo>
                      <a:pt x="132825" y="0"/>
                      <a:pt x="142873" y="0"/>
                      <a:pt x="149073" y="6197"/>
                    </a:cubicBezTo>
                    <a:lnTo>
                      <a:pt x="206000" y="63125"/>
                    </a:lnTo>
                    <a:cubicBezTo>
                      <a:pt x="212198" y="69324"/>
                      <a:pt x="212198" y="79373"/>
                      <a:pt x="206000" y="85572"/>
                    </a:cubicBezTo>
                    <a:lnTo>
                      <a:pt x="169599" y="121974"/>
                    </a:lnTo>
                    <a:lnTo>
                      <a:pt x="161662" y="114036"/>
                    </a:lnTo>
                    <a:lnTo>
                      <a:pt x="114036" y="161662"/>
                    </a:lnTo>
                    <a:lnTo>
                      <a:pt x="121974" y="169599"/>
                    </a:lnTo>
                    <a:lnTo>
                      <a:pt x="85572" y="206000"/>
                    </a:lnTo>
                    <a:cubicBezTo>
                      <a:pt x="79373" y="212198"/>
                      <a:pt x="69324" y="212198"/>
                      <a:pt x="63125" y="20600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276258" y="2235200"/>
              <a:ext cx="15444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Просвещение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95636" y="3644900"/>
              <a:ext cx="15057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Джефферсон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49649" y="3930650"/>
              <a:ext cx="17977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право на счастье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8629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8810625" y="3000375"/>
              <a:ext cx="285750" cy="279401"/>
              <a:chOff x="8810625" y="3000375"/>
              <a:chExt cx="285750" cy="279401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8874125" y="3270251"/>
                <a:ext cx="15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9525">
                    <a:moveTo>
                      <a:pt x="0" y="0"/>
                    </a:moveTo>
                    <a:lnTo>
                      <a:pt x="1587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858250" y="3032125"/>
                <a:ext cx="190500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5875">
                    <a:moveTo>
                      <a:pt x="0" y="15875"/>
                    </a:moveTo>
                    <a:lnTo>
                      <a:pt x="95250" y="0"/>
                    </a:lnTo>
                    <a:lnTo>
                      <a:pt x="190500" y="158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953500" y="3000375"/>
                <a:ext cx="9525" cy="26987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76">
                    <a:moveTo>
                      <a:pt x="0" y="0"/>
                    </a:moveTo>
                    <a:lnTo>
                      <a:pt x="0" y="269876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810625" y="3048000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95250" y="95250"/>
                    </a:moveTo>
                    <a:lnTo>
                      <a:pt x="47625" y="0"/>
                    </a:lnTo>
                    <a:lnTo>
                      <a:pt x="0" y="95250"/>
                    </a:lnTo>
                    <a:cubicBezTo>
                      <a:pt x="0" y="121553"/>
                      <a:pt x="21322" y="142875"/>
                      <a:pt x="47625" y="142875"/>
                    </a:cubicBezTo>
                    <a:cubicBezTo>
                      <a:pt x="73928" y="142875"/>
                      <a:pt x="95250" y="121553"/>
                      <a:pt x="95250" y="9525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001125" y="3048000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95250" y="95250"/>
                    </a:moveTo>
                    <a:lnTo>
                      <a:pt x="47625" y="0"/>
                    </a:lnTo>
                    <a:lnTo>
                      <a:pt x="0" y="95250"/>
                    </a:lnTo>
                    <a:cubicBezTo>
                      <a:pt x="0" y="121553"/>
                      <a:pt x="21322" y="142875"/>
                      <a:pt x="47625" y="142875"/>
                    </a:cubicBezTo>
                    <a:cubicBezTo>
                      <a:pt x="73928" y="142875"/>
                      <a:pt x="95250" y="121553"/>
                      <a:pt x="95250" y="9525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8334172" y="2235200"/>
              <a:ext cx="12386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XIX–XX вв.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29387" y="3644900"/>
              <a:ext cx="18482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Бентам и Милль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171042" y="3930650"/>
              <a:ext cx="15649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максимум благ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10534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rgbClr val="E67E22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10715612" y="3074755"/>
              <a:ext cx="285778" cy="136992"/>
            </a:xfrm>
            <a:custGeom>
              <a:avLst/>
              <a:gdLst/>
              <a:ahLst/>
              <a:cxnLst/>
              <a:rect l="l" t="t" r="r" b="b"/>
              <a:pathLst>
                <a:path w="285778" h="136992">
                  <a:moveTo>
                    <a:pt x="108408" y="23601"/>
                  </a:moveTo>
                  <a:cubicBezTo>
                    <a:pt x="90249" y="5436"/>
                    <a:pt x="62935" y="0"/>
                    <a:pt x="39204" y="9827"/>
                  </a:cubicBezTo>
                  <a:cubicBezTo>
                    <a:pt x="15473" y="19655"/>
                    <a:pt x="0" y="42811"/>
                    <a:pt x="0" y="68496"/>
                  </a:cubicBezTo>
                  <a:cubicBezTo>
                    <a:pt x="0" y="94181"/>
                    <a:pt x="15473" y="117337"/>
                    <a:pt x="39204" y="127164"/>
                  </a:cubicBezTo>
                  <a:cubicBezTo>
                    <a:pt x="62935" y="136992"/>
                    <a:pt x="90249" y="131555"/>
                    <a:pt x="108408" y="113390"/>
                  </a:cubicBezTo>
                  <a:cubicBezTo>
                    <a:pt x="122499" y="100612"/>
                    <a:pt x="134178" y="85406"/>
                    <a:pt x="142889" y="68496"/>
                  </a:cubicBezTo>
                  <a:cubicBezTo>
                    <a:pt x="151600" y="51586"/>
                    <a:pt x="163279" y="36379"/>
                    <a:pt x="177369" y="23601"/>
                  </a:cubicBezTo>
                  <a:cubicBezTo>
                    <a:pt x="195529" y="5436"/>
                    <a:pt x="222843" y="0"/>
                    <a:pt x="246574" y="9827"/>
                  </a:cubicBezTo>
                  <a:cubicBezTo>
                    <a:pt x="270304" y="19655"/>
                    <a:pt x="285778" y="42811"/>
                    <a:pt x="285778" y="68496"/>
                  </a:cubicBezTo>
                  <a:cubicBezTo>
                    <a:pt x="285778" y="94181"/>
                    <a:pt x="270304" y="117337"/>
                    <a:pt x="246574" y="127164"/>
                  </a:cubicBezTo>
                  <a:cubicBezTo>
                    <a:pt x="222843" y="136992"/>
                    <a:pt x="195529" y="131555"/>
                    <a:pt x="177369" y="113390"/>
                  </a:cubicBezTo>
                  <a:cubicBezTo>
                    <a:pt x="163279" y="100612"/>
                    <a:pt x="151600" y="85406"/>
                    <a:pt x="142889" y="68496"/>
                  </a:cubicBezTo>
                  <a:cubicBezTo>
                    <a:pt x="134178" y="51586"/>
                    <a:pt x="122499" y="36379"/>
                    <a:pt x="108408" y="23601"/>
                  </a:cubicBezTo>
                </a:path>
              </a:pathLst>
            </a:custGeom>
            <a:noFill/>
            <a:ln w="31750">
              <a:solidFill>
                <a:srgbClr val="E67E22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443423" y="2235200"/>
              <a:ext cx="8301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E67E22"/>
                  </a:solidFill>
                  <a:latin typeface="+mn-lt"/>
                  <a:ea typeface="+mn-ea"/>
                  <a:cs typeface="+mn-cs"/>
                </a:rPr>
                <a:t>XXI век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987803" y="3644900"/>
              <a:ext cx="17413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многомерность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006728" y="3930650"/>
              <a:ext cx="17035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гены и действия</a:t>
              </a:r>
            </a:p>
          </p:txBody>
        </p:sp>
      </p:grpSp>
      <p:grpSp>
        <p:nvGrpSpPr>
          <p:cNvPr id="70" name="note"/>
          <p:cNvGrpSpPr/>
          <p:nvPr/>
        </p:nvGrpSpPr>
        <p:grpSpPr>
          <a:xfrm>
            <a:off x="762000" y="5143500"/>
            <a:ext cx="10668000" cy="914400"/>
            <a:chOff x="762000" y="5143500"/>
            <a:chExt cx="10668000" cy="914400"/>
          </a:xfrm>
        </p:grpSpPr>
        <p:sp>
          <p:nvSpPr>
            <p:cNvPr id="64" name="Rectangle 64"/>
            <p:cNvSpPr/>
            <p:nvPr/>
          </p:nvSpPr>
          <p:spPr>
            <a:xfrm>
              <a:off x="762000" y="5143500"/>
              <a:ext cx="10668000" cy="914400"/>
            </a:xfrm>
            <a:prstGeom prst="roundRect">
              <a:avLst>
                <a:gd name="adj" fmla="val 16667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1076325" y="5419725"/>
              <a:ext cx="285751" cy="285751"/>
              <a:chOff x="1076325" y="5419725"/>
              <a:chExt cx="285751" cy="285751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1076325" y="5641976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1298576" y="541972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31750" y="63500"/>
                    </a:move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  <a:cubicBezTo>
                      <a:pt x="0" y="49285"/>
                      <a:pt x="14215" y="63500"/>
                      <a:pt x="31750" y="6350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1108075" y="5451475"/>
                <a:ext cx="238125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222250">
                    <a:moveTo>
                      <a:pt x="95250" y="222250"/>
                    </a:moveTo>
                    <a:lnTo>
                      <a:pt x="182563" y="222250"/>
                    </a:lnTo>
                    <a:cubicBezTo>
                      <a:pt x="213249" y="222250"/>
                      <a:pt x="238125" y="197374"/>
                      <a:pt x="238125" y="166688"/>
                    </a:cubicBezTo>
                    <a:cubicBezTo>
                      <a:pt x="238125" y="136001"/>
                      <a:pt x="213249" y="111125"/>
                      <a:pt x="182563" y="111125"/>
                    </a:cubicBezTo>
                    <a:lnTo>
                      <a:pt x="55563" y="111125"/>
                    </a:lnTo>
                    <a:cubicBezTo>
                      <a:pt x="24876" y="111125"/>
                      <a:pt x="0" y="86249"/>
                      <a:pt x="0" y="55563"/>
                    </a:cubicBezTo>
                    <a:cubicBezTo>
                      <a:pt x="0" y="24876"/>
                      <a:pt x="24876" y="0"/>
                      <a:pt x="55563" y="0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553718" y="5384800"/>
              <a:ext cx="8569673" cy="617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От «хорошего удела» Аристотеля до многомерной модели XXI века: счастье понимали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по-разному, но искали всегда</a:t>
              </a:r>
            </a:p>
          </p:txBody>
        </p:sp>
      </p:grpSp>
      <p:sp>
        <p:nvSpPr>
          <p:cNvPr id="71" name="Line 71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72" name="TextBox 72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7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8-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8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67E22"/>
          </a:solidFill>
          <a:ln>
            <a:noFill/>
          </a:ln>
        </p:spPr>
      </p:sp>
      <p:grpSp>
        <p:nvGrpSpPr>
          <p:cNvPr id="6" name="!!title-flow"/>
          <p:cNvGrpSpPr/>
          <p:nvPr/>
        </p:nvGrpSpPr>
        <p:grpSpPr>
          <a:xfrm>
            <a:off x="746760" y="641350"/>
            <a:ext cx="7425982" cy="586740"/>
            <a:chOff x="746760" y="641350"/>
            <a:chExt cx="7425982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742598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Удовольствие быстро, смысл долог</a:t>
              </a:r>
            </a:p>
          </p:txBody>
        </p:sp>
      </p:grpSp>
      <p:grpSp>
        <p:nvGrpSpPr>
          <p:cNvPr id="18" name="compare"/>
          <p:cNvGrpSpPr/>
          <p:nvPr/>
        </p:nvGrpSpPr>
        <p:grpSpPr>
          <a:xfrm>
            <a:off x="762000" y="1666875"/>
            <a:ext cx="10668000" cy="3810000"/>
            <a:chOff x="762000" y="1666875"/>
            <a:chExt cx="10668000" cy="3810000"/>
          </a:xfrm>
        </p:grpSpPr>
        <p:sp>
          <p:nvSpPr>
            <p:cNvPr id="7" name="Rectangle 7"/>
            <p:cNvSpPr/>
            <p:nvPr/>
          </p:nvSpPr>
          <p:spPr>
            <a:xfrm>
              <a:off x="762000" y="1666875"/>
              <a:ext cx="4953000" cy="381000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4"/>
            <a:srcRect t="18792" b="18791"/>
            <a:stretch>
              <a:fillRect/>
            </a:stretch>
          </p:blipFill>
          <p:spPr>
            <a:xfrm>
              <a:off x="952500" y="1857375"/>
              <a:ext cx="4572000" cy="1905000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979932" y="3975100"/>
              <a:ext cx="13948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Гедонизм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2218" y="4387850"/>
              <a:ext cx="3083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Удовольствие здесь и сейчас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2218" y="4692650"/>
              <a:ext cx="27967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Риск: быстрое привыкание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477000" y="1666875"/>
              <a:ext cx="4953000" cy="381000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5"/>
            <a:srcRect t="22222" b="22222"/>
            <a:stretch>
              <a:fillRect/>
            </a:stretch>
          </p:blipFill>
          <p:spPr>
            <a:xfrm>
              <a:off x="6667500" y="1857375"/>
              <a:ext cx="4572000" cy="19050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6694932" y="3975100"/>
              <a:ext cx="16343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Эвдемония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97218" y="4387850"/>
              <a:ext cx="23450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Смысл и добродетели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97218" y="4692650"/>
              <a:ext cx="23608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Устойчивый результат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0" y="185737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</p:grpSp>
      <p:grpSp>
        <p:nvGrpSpPr>
          <p:cNvPr id="23" name="note"/>
          <p:cNvGrpSpPr/>
          <p:nvPr/>
        </p:nvGrpSpPr>
        <p:grpSpPr>
          <a:xfrm>
            <a:off x="993775" y="5848350"/>
            <a:ext cx="6325565" cy="352044"/>
            <a:chOff x="993775" y="5848350"/>
            <a:chExt cx="6325565" cy="352044"/>
          </a:xfrm>
        </p:grpSpPr>
        <p:grpSp>
          <p:nvGrpSpPr>
            <p:cNvPr id="21" name="Group 21"/>
            <p:cNvGrpSpPr/>
            <p:nvPr/>
          </p:nvGrpSpPr>
          <p:grpSpPr>
            <a:xfrm>
              <a:off x="993775" y="5867400"/>
              <a:ext cx="222250" cy="190500"/>
              <a:chOff x="993775" y="5867400"/>
              <a:chExt cx="222250" cy="1905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993775" y="586740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136650" y="586740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438656" y="5848350"/>
              <a:ext cx="58806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Ньюфелд: счастье находится по ту сторону слёз</a:t>
              </a:r>
            </a:p>
          </p:txBody>
        </p:sp>
      </p:grpSp>
      <p:sp>
        <p:nvSpPr>
          <p:cNvPr id="24" name="Line 24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8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9-photo"/>
          <p:cNvPicPr>
            <a:picLocks noChangeAspect="1"/>
          </p:cNvPicPr>
          <p:nvPr/>
        </p:nvPicPr>
        <p:blipFill>
          <a:blip r:embed="rId3"/>
          <a:srcRect t="7812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9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!!title-flow"/>
          <p:cNvGrpSpPr/>
          <p:nvPr/>
        </p:nvGrpSpPr>
        <p:grpSpPr>
          <a:xfrm>
            <a:off x="746760" y="641350"/>
            <a:ext cx="3671650" cy="586740"/>
            <a:chOff x="746760" y="641350"/>
            <a:chExt cx="3671650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367165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Формула Счастья</a:t>
              </a:r>
            </a:p>
          </p:txBody>
        </p:sp>
      </p:grpSp>
      <p:grpSp>
        <p:nvGrpSpPr>
          <p:cNvPr id="16" name="donut"/>
          <p:cNvGrpSpPr/>
          <p:nvPr/>
        </p:nvGrpSpPr>
        <p:grpSpPr>
          <a:xfrm>
            <a:off x="1437804" y="1990660"/>
            <a:ext cx="3277071" cy="3539047"/>
            <a:chOff x="1437804" y="1990660"/>
            <a:chExt cx="3277071" cy="3539047"/>
          </a:xfrm>
        </p:grpSpPr>
        <p:sp>
          <p:nvSpPr>
            <p:cNvPr id="7" name="Ellipse 7"/>
            <p:cNvSpPr/>
            <p:nvPr/>
          </p:nvSpPr>
          <p:spPr>
            <a:xfrm>
              <a:off x="2000250" y="2419350"/>
              <a:ext cx="2286000" cy="22860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485217" y="3397250"/>
              <a:ext cx="131606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 = </a:t>
              </a:r>
              <a:r>
                <a:rPr lang="ru" sz="1650" b="1" dirty="0" smtClean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Г </a:t>
              </a:r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+ </a:t>
              </a:r>
              <a:r>
                <a:rPr lang="ru" sz="1650" b="1" dirty="0" smtClean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 </a:t>
              </a:r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+ О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3143250" y="1990725"/>
              <a:ext cx="1571625" cy="3143250"/>
            </a:xfrm>
            <a:custGeom>
              <a:avLst/>
              <a:gdLst/>
              <a:ahLst/>
              <a:cxnLst/>
              <a:rect l="l" t="t" r="r" b="b"/>
              <a:pathLst>
                <a:path w="1571625" h="3143250">
                  <a:moveTo>
                    <a:pt x="0" y="0"/>
                  </a:moveTo>
                  <a:cubicBezTo>
                    <a:pt x="867985" y="0"/>
                    <a:pt x="1571625" y="703640"/>
                    <a:pt x="1571625" y="1571625"/>
                  </a:cubicBezTo>
                  <a:cubicBezTo>
                    <a:pt x="1571625" y="2439610"/>
                    <a:pt x="867985" y="3143250"/>
                    <a:pt x="0" y="3143250"/>
                  </a:cubicBezTo>
                  <a:lnTo>
                    <a:pt x="0" y="2619375"/>
                  </a:lnTo>
                  <a:cubicBezTo>
                    <a:pt x="578656" y="2619375"/>
                    <a:pt x="1047750" y="2150281"/>
                    <a:pt x="1047750" y="1571625"/>
                  </a:cubicBezTo>
                  <a:cubicBezTo>
                    <a:pt x="1047750" y="992969"/>
                    <a:pt x="578656" y="523875"/>
                    <a:pt x="0" y="5238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437804" y="2290763"/>
              <a:ext cx="1705446" cy="2843345"/>
            </a:xfrm>
            <a:custGeom>
              <a:avLst/>
              <a:gdLst/>
              <a:ahLst/>
              <a:cxnLst/>
              <a:rect l="l" t="t" r="r" b="b"/>
              <a:pathLst>
                <a:path w="1705446" h="2843345">
                  <a:moveTo>
                    <a:pt x="1705446" y="2843212"/>
                  </a:moveTo>
                  <a:cubicBezTo>
                    <a:pt x="1024483" y="2843345"/>
                    <a:pt x="420903" y="2404925"/>
                    <a:pt x="210451" y="1757298"/>
                  </a:cubicBezTo>
                  <a:cubicBezTo>
                    <a:pt x="0" y="1109672"/>
                    <a:pt x="230560" y="400190"/>
                    <a:pt x="781521" y="0"/>
                  </a:cubicBezTo>
                  <a:lnTo>
                    <a:pt x="1089178" y="423862"/>
                  </a:lnTo>
                  <a:cubicBezTo>
                    <a:pt x="721824" y="690690"/>
                    <a:pt x="568130" y="1163761"/>
                    <a:pt x="708514" y="1595546"/>
                  </a:cubicBezTo>
                  <a:cubicBezTo>
                    <a:pt x="848899" y="2027331"/>
                    <a:pt x="1251412" y="2319564"/>
                    <a:pt x="1705446" y="2319337"/>
                  </a:cubicBezTo>
                  <a:close/>
                </a:path>
              </a:pathLst>
            </a:custGeom>
            <a:solidFill>
              <a:srgbClr val="27AE60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219325" y="1990660"/>
              <a:ext cx="923925" cy="723965"/>
            </a:xfrm>
            <a:custGeom>
              <a:avLst/>
              <a:gdLst/>
              <a:ahLst/>
              <a:cxnLst/>
              <a:rect l="l" t="t" r="r" b="b"/>
              <a:pathLst>
                <a:path w="923925" h="723965">
                  <a:moveTo>
                    <a:pt x="0" y="300102"/>
                  </a:moveTo>
                  <a:cubicBezTo>
                    <a:pt x="268563" y="105031"/>
                    <a:pt x="591993" y="0"/>
                    <a:pt x="923925" y="65"/>
                  </a:cubicBezTo>
                  <a:lnTo>
                    <a:pt x="923925" y="523940"/>
                  </a:lnTo>
                  <a:cubicBezTo>
                    <a:pt x="702529" y="523830"/>
                    <a:pt x="486787" y="593854"/>
                    <a:pt x="307658" y="723965"/>
                  </a:cubicBez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267038" y="3429000"/>
              <a:ext cx="4194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50%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00088" y="4267200"/>
              <a:ext cx="4194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40%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62038" y="2238375"/>
              <a:ext cx="4194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31072" y="5207000"/>
              <a:ext cx="18243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формула счастья</a:t>
              </a:r>
            </a:p>
          </p:txBody>
        </p:sp>
      </p:grpSp>
      <p:grpSp>
        <p:nvGrpSpPr>
          <p:cNvPr id="29" name="legend"/>
          <p:cNvGrpSpPr/>
          <p:nvPr/>
        </p:nvGrpSpPr>
        <p:grpSpPr>
          <a:xfrm>
            <a:off x="5715000" y="1905000"/>
            <a:ext cx="5715000" cy="3524250"/>
            <a:chOff x="5715000" y="1905000"/>
            <a:chExt cx="5715000" cy="3524250"/>
          </a:xfrm>
        </p:grpSpPr>
        <p:sp>
          <p:nvSpPr>
            <p:cNvPr id="17" name="Rectangle 17"/>
            <p:cNvSpPr/>
            <p:nvPr/>
          </p:nvSpPr>
          <p:spPr>
            <a:xfrm>
              <a:off x="5715000" y="1905000"/>
              <a:ext cx="5715000" cy="1047750"/>
            </a:xfrm>
            <a:prstGeom prst="roundRect">
              <a:avLst>
                <a:gd name="adj" fmla="val 1454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981700" y="2305050"/>
              <a:ext cx="247650" cy="247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91656" y="2095500"/>
              <a:ext cx="19208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50% — генетика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92418" y="2463800"/>
              <a:ext cx="40837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наследственная предрасположенность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715000" y="3143250"/>
              <a:ext cx="5715000" cy="1047750"/>
            </a:xfrm>
            <a:prstGeom prst="roundRect">
              <a:avLst>
                <a:gd name="adj" fmla="val 1454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981700" y="3543300"/>
              <a:ext cx="247650" cy="247650"/>
            </a:xfrm>
            <a:prstGeom prst="rect">
              <a:avLst/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91656" y="3333750"/>
              <a:ext cx="31124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27AE60"/>
                  </a:solidFill>
                  <a:latin typeface="+mn-lt"/>
                  <a:ea typeface="+mn-ea"/>
                  <a:cs typeface="+mn-cs"/>
                </a:rPr>
                <a:t>40% — волевой контроль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92418" y="3702050"/>
              <a:ext cx="20967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намеренные усилия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715000" y="4381500"/>
              <a:ext cx="5715000" cy="1047750"/>
            </a:xfrm>
            <a:prstGeom prst="roundRect">
              <a:avLst>
                <a:gd name="adj" fmla="val 1454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981700" y="4781550"/>
              <a:ext cx="247650" cy="247650"/>
            </a:xfrm>
            <a:prstGeom prst="rect">
              <a:avLst/>
            </a:prstGeom>
            <a:solidFill>
              <a:srgbClr val="95A5A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91656" y="4572000"/>
              <a:ext cx="28143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95A5A6"/>
                  </a:solidFill>
                  <a:latin typeface="+mn-lt"/>
                  <a:ea typeface="+mn-ea"/>
                  <a:cs typeface="+mn-cs"/>
                </a:rPr>
                <a:t>10% — обстоятельства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92418" y="4940300"/>
              <a:ext cx="25118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внешние условия жизни</a:t>
              </a:r>
            </a:p>
          </p:txBody>
        </p:sp>
      </p:grpSp>
      <p:grpSp>
        <p:nvGrpSpPr>
          <p:cNvPr id="36" name="note"/>
          <p:cNvGrpSpPr/>
          <p:nvPr/>
        </p:nvGrpSpPr>
        <p:grpSpPr>
          <a:xfrm>
            <a:off x="1513077" y="5873750"/>
            <a:ext cx="8900103" cy="501566"/>
            <a:chOff x="1513077" y="5873750"/>
            <a:chExt cx="8900103" cy="501566"/>
          </a:xfrm>
        </p:grpSpPr>
        <p:grpSp>
          <p:nvGrpSpPr>
            <p:cNvPr id="33" name="Group 33"/>
            <p:cNvGrpSpPr/>
            <p:nvPr/>
          </p:nvGrpSpPr>
          <p:grpSpPr>
            <a:xfrm>
              <a:off x="1513077" y="5948362"/>
              <a:ext cx="174245" cy="257175"/>
              <a:chOff x="1513077" y="5948362"/>
              <a:chExt cx="174245" cy="25717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1557338" y="5948362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rgbClr val="1E8449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571625" y="6034088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rgbClr val="1E8449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513077" y="5948362"/>
                <a:ext cx="17424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174245" h="257175">
                    <a:moveTo>
                      <a:pt x="58548" y="0"/>
                    </a:moveTo>
                    <a:lnTo>
                      <a:pt x="58548" y="85725"/>
                    </a:lnTo>
                    <a:lnTo>
                      <a:pt x="1398" y="242888"/>
                    </a:lnTo>
                    <a:cubicBezTo>
                      <a:pt x="0" y="245699"/>
                      <a:pt x="4" y="249004"/>
                      <a:pt x="1408" y="251812"/>
                    </a:cubicBezTo>
                    <a:cubicBezTo>
                      <a:pt x="2812" y="254620"/>
                      <a:pt x="5454" y="256606"/>
                      <a:pt x="8541" y="257175"/>
                    </a:cubicBezTo>
                    <a:lnTo>
                      <a:pt x="165704" y="257175"/>
                    </a:lnTo>
                    <a:cubicBezTo>
                      <a:pt x="168792" y="256606"/>
                      <a:pt x="171433" y="254620"/>
                      <a:pt x="172837" y="251812"/>
                    </a:cubicBezTo>
                    <a:cubicBezTo>
                      <a:pt x="174241" y="249004"/>
                      <a:pt x="174245" y="245699"/>
                      <a:pt x="172848" y="242888"/>
                    </a:cubicBezTo>
                    <a:lnTo>
                      <a:pt x="115698" y="85725"/>
                    </a:lnTo>
                    <a:lnTo>
                      <a:pt x="115698" y="0"/>
                    </a:lnTo>
                  </a:path>
                </a:pathLst>
              </a:custGeom>
              <a:noFill/>
              <a:ln w="28575">
                <a:solidFill>
                  <a:srgbClr val="1E8449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896618" y="5873750"/>
              <a:ext cx="851656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Формула: </a:t>
              </a:r>
              <a:r>
                <a:rPr lang="ru-RU" sz="1650" dirty="0" err="1">
                  <a:solidFill>
                    <a:schemeClr val="dk1"/>
                  </a:solidFill>
                </a:rPr>
                <a:t>Любомирский</a:t>
              </a:r>
              <a:r>
                <a:rPr lang="ru-RU" sz="1650" dirty="0">
                  <a:solidFill>
                    <a:schemeClr val="dk1"/>
                  </a:solidFill>
                </a:rPr>
                <a:t>, </a:t>
              </a:r>
              <a:r>
                <a:rPr lang="ru-RU" sz="1650" dirty="0" err="1">
                  <a:solidFill>
                    <a:schemeClr val="dk1"/>
                  </a:solidFill>
                </a:rPr>
                <a:t>Шелдон</a:t>
              </a:r>
              <a:r>
                <a:rPr lang="ru-RU" sz="1650" dirty="0">
                  <a:solidFill>
                    <a:schemeClr val="dk1"/>
                  </a:solidFill>
                </a:rPr>
                <a:t> и </a:t>
              </a:r>
              <a:r>
                <a:rPr lang="ru-RU" sz="1650" dirty="0" err="1" smtClean="0">
                  <a:solidFill>
                    <a:schemeClr val="dk1"/>
                  </a:solidFill>
                </a:rPr>
                <a:t>Шкейд</a:t>
              </a:r>
              <a:r>
                <a:rPr lang="ru-RU" sz="1650" dirty="0" smtClean="0">
                  <a:solidFill>
                    <a:schemeClr val="dk1"/>
                  </a:solidFill>
                </a:rPr>
                <a:t> </a:t>
              </a:r>
              <a:r>
                <a:rPr lang="ru" sz="1650" dirty="0" smtClean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(2005</a:t>
              </a: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) — иллюстративная модель, не закон.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96618" y="6121400"/>
              <a:ext cx="702602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Мета-анализы </a:t>
              </a:r>
              <a:r>
                <a:rPr lang="ru" sz="1650" dirty="0" smtClean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</a:t>
              </a:r>
              <a:r>
                <a:rPr lang="ru-RU" sz="1650" dirty="0" err="1">
                  <a:solidFill>
                    <a:schemeClr val="dk1"/>
                  </a:solidFill>
                </a:rPr>
                <a:t>Рорер</a:t>
              </a:r>
              <a:r>
                <a:rPr lang="ru-RU" sz="1650" dirty="0">
                  <a:solidFill>
                    <a:schemeClr val="dk1"/>
                  </a:solidFill>
                </a:rPr>
                <a:t> и </a:t>
              </a:r>
              <a:r>
                <a:rPr lang="ru-RU" sz="1650" dirty="0" err="1">
                  <a:solidFill>
                    <a:schemeClr val="dk1"/>
                  </a:solidFill>
                </a:rPr>
                <a:t>Шмукль</a:t>
              </a:r>
              <a:r>
                <a:rPr lang="ru" sz="1650" dirty="0" smtClean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, </a:t>
              </a: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2018): гены и среда взаимодействуют.</a:t>
              </a:r>
            </a:p>
          </p:txBody>
        </p:sp>
      </p:grpSp>
      <p:sp>
        <p:nvSpPr>
          <p:cNvPr id="37" name="Line 37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 xmlns:p14="http://schemas.microsoft.com/office/powerpoint/2010/main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0-photo"/>
          <p:cNvPicPr>
            <a:picLocks noChangeAspect="1"/>
          </p:cNvPicPr>
          <p:nvPr/>
        </p:nvPicPr>
        <p:blipFill>
          <a:blip r:embed="rId3"/>
          <a:srcRect t="21398" b="2139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0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!!title-flow"/>
          <p:cNvGrpSpPr/>
          <p:nvPr/>
        </p:nvGrpSpPr>
        <p:grpSpPr>
          <a:xfrm>
            <a:off x="746760" y="641350"/>
            <a:ext cx="7035915" cy="586740"/>
            <a:chOff x="746760" y="641350"/>
            <a:chExt cx="7035915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703591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Качество отношений важнее денег</a:t>
              </a:r>
            </a:p>
          </p:txBody>
        </p:sp>
      </p:grpSp>
      <p:grpSp>
        <p:nvGrpSpPr>
          <p:cNvPr id="8" name="photo"/>
          <p:cNvGrpSpPr/>
          <p:nvPr/>
        </p:nvGrpSpPr>
        <p:grpSpPr>
          <a:xfrm>
            <a:off x="762000" y="1666875"/>
            <a:ext cx="4953000" cy="3810000"/>
            <a:chOff x="762000" y="1666875"/>
            <a:chExt cx="4953000" cy="38100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4"/>
            <a:srcRect l="6768" r="6768"/>
            <a:stretch>
              <a:fillRect/>
            </a:stretch>
          </p:blipFill>
          <p:spPr>
            <a:xfrm>
              <a:off x="762000" y="1666875"/>
              <a:ext cx="4953000" cy="3810000"/>
            </a:xfrm>
            <a:prstGeom prst="rect">
              <a:avLst/>
            </a:prstGeom>
          </p:spPr>
        </p:pic>
      </p:grpSp>
      <p:grpSp>
        <p:nvGrpSpPr>
          <p:cNvPr id="31" name="factors"/>
          <p:cNvGrpSpPr/>
          <p:nvPr/>
        </p:nvGrpSpPr>
        <p:grpSpPr>
          <a:xfrm>
            <a:off x="6201021" y="1790700"/>
            <a:ext cx="4706924" cy="3758057"/>
            <a:chOff x="6201021" y="1790700"/>
            <a:chExt cx="4706924" cy="3758057"/>
          </a:xfrm>
        </p:grpSpPr>
        <p:sp>
          <p:nvSpPr>
            <p:cNvPr id="9" name="Freeform 9"/>
            <p:cNvSpPr/>
            <p:nvPr/>
          </p:nvSpPr>
          <p:spPr>
            <a:xfrm>
              <a:off x="6218541" y="1798920"/>
              <a:ext cx="326102" cy="283879"/>
            </a:xfrm>
            <a:custGeom>
              <a:avLst/>
              <a:gdLst/>
              <a:ahLst/>
              <a:cxnLst/>
              <a:rect l="l" t="t" r="r" b="b"/>
              <a:pathLst>
                <a:path w="326102" h="283879">
                  <a:moveTo>
                    <a:pt x="294177" y="154168"/>
                  </a:moveTo>
                  <a:lnTo>
                    <a:pt x="163209" y="283879"/>
                  </a:lnTo>
                  <a:lnTo>
                    <a:pt x="32240" y="154168"/>
                  </a:lnTo>
                  <a:cubicBezTo>
                    <a:pt x="8689" y="131250"/>
                    <a:pt x="0" y="97049"/>
                    <a:pt x="9757" y="65669"/>
                  </a:cubicBezTo>
                  <a:cubicBezTo>
                    <a:pt x="19514" y="34289"/>
                    <a:pt x="46065" y="11045"/>
                    <a:pt x="78459" y="5522"/>
                  </a:cubicBezTo>
                  <a:cubicBezTo>
                    <a:pt x="110854" y="0"/>
                    <a:pt x="143606" y="13135"/>
                    <a:pt x="163209" y="39510"/>
                  </a:cubicBezTo>
                  <a:cubicBezTo>
                    <a:pt x="182894" y="13330"/>
                    <a:pt x="215576" y="369"/>
                    <a:pt x="247853" y="5944"/>
                  </a:cubicBezTo>
                  <a:cubicBezTo>
                    <a:pt x="280130" y="11518"/>
                    <a:pt x="306573" y="34688"/>
                    <a:pt x="316337" y="65954"/>
                  </a:cubicBezTo>
                  <a:cubicBezTo>
                    <a:pt x="326102" y="97220"/>
                    <a:pt x="317546" y="131320"/>
                    <a:pt x="294177" y="154273"/>
                  </a:cubicBezTo>
                </a:path>
              </a:pathLst>
            </a:custGeom>
            <a:noFill/>
            <a:ln w="34925">
              <a:solidFill>
                <a:srgbClr val="E67E2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734556" y="1790700"/>
              <a:ext cx="14019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E67E22"/>
                  </a:solidFill>
                  <a:latin typeface="+mn-lt"/>
                  <a:ea typeface="+mn-ea"/>
                  <a:cs typeface="+mn-cs"/>
                </a:rPr>
                <a:t>Отношения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35318" y="2101850"/>
              <a:ext cx="41674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№1 предиктор (Harvard Study, Waldinger)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6201021" y="2566987"/>
              <a:ext cx="341011" cy="314325"/>
              <a:chOff x="6201021" y="2566987"/>
              <a:chExt cx="341011" cy="3143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6201021" y="2566987"/>
                <a:ext cx="341011" cy="311635"/>
              </a:xfrm>
              <a:custGeom>
                <a:avLst/>
                <a:gdLst/>
                <a:ahLst/>
                <a:cxnLst/>
                <a:rect l="l" t="t" r="r" b="b"/>
                <a:pathLst>
                  <a:path w="341011" h="311635">
                    <a:moveTo>
                      <a:pt x="171299" y="311635"/>
                    </a:moveTo>
                    <a:cubicBezTo>
                      <a:pt x="61905" y="277725"/>
                      <a:pt x="0" y="162269"/>
                      <a:pt x="32298" y="52387"/>
                    </a:cubicBezTo>
                    <a:cubicBezTo>
                      <a:pt x="86703" y="54877"/>
                      <a:pt x="139939" y="36088"/>
                      <a:pt x="180729" y="0"/>
                    </a:cubicBezTo>
                    <a:cubicBezTo>
                      <a:pt x="221518" y="36088"/>
                      <a:pt x="274755" y="54877"/>
                      <a:pt x="329160" y="52387"/>
                    </a:cubicBezTo>
                    <a:cubicBezTo>
                      <a:pt x="341011" y="92710"/>
                      <a:pt x="340463" y="135665"/>
                      <a:pt x="327588" y="175672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434137" y="2811462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34925"/>
                    </a:moveTo>
                    <a:lnTo>
                      <a:pt x="34925" y="69850"/>
                    </a:ln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6734556" y="2571750"/>
              <a:ext cx="12090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Здоровье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35318" y="2882900"/>
              <a:ext cx="19841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база благополучия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6224587" y="3348037"/>
              <a:ext cx="314324" cy="314325"/>
              <a:chOff x="6224587" y="3348037"/>
              <a:chExt cx="314324" cy="31432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6224587" y="3348037"/>
                <a:ext cx="314324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157162">
                    <a:moveTo>
                      <a:pt x="0" y="157162"/>
                    </a:moveTo>
                    <a:lnTo>
                      <a:pt x="17462" y="157162"/>
                    </a:lnTo>
                    <a:moveTo>
                      <a:pt x="157162" y="0"/>
                    </a:moveTo>
                    <a:lnTo>
                      <a:pt x="157162" y="17462"/>
                    </a:lnTo>
                    <a:moveTo>
                      <a:pt x="296862" y="157162"/>
                    </a:moveTo>
                    <a:lnTo>
                      <a:pt x="314324" y="157162"/>
                    </a:lnTo>
                    <a:moveTo>
                      <a:pt x="45402" y="45402"/>
                    </a:moveTo>
                    <a:lnTo>
                      <a:pt x="57626" y="57626"/>
                    </a:lnTo>
                    <a:moveTo>
                      <a:pt x="268922" y="45402"/>
                    </a:moveTo>
                    <a:lnTo>
                      <a:pt x="256698" y="57626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287033" y="3417887"/>
                <a:ext cx="189432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189432" h="244475">
                    <a:moveTo>
                      <a:pt x="42329" y="157162"/>
                    </a:moveTo>
                    <a:cubicBezTo>
                      <a:pt x="12263" y="134613"/>
                      <a:pt x="0" y="95355"/>
                      <a:pt x="11884" y="59702"/>
                    </a:cubicBezTo>
                    <a:cubicBezTo>
                      <a:pt x="23769" y="24048"/>
                      <a:pt x="57134" y="0"/>
                      <a:pt x="94716" y="0"/>
                    </a:cubicBezTo>
                    <a:cubicBezTo>
                      <a:pt x="132298" y="0"/>
                      <a:pt x="165664" y="24048"/>
                      <a:pt x="177548" y="59702"/>
                    </a:cubicBezTo>
                    <a:cubicBezTo>
                      <a:pt x="189432" y="95355"/>
                      <a:pt x="177169" y="134613"/>
                      <a:pt x="147104" y="157162"/>
                    </a:cubicBezTo>
                    <a:cubicBezTo>
                      <a:pt x="133276" y="170850"/>
                      <a:pt x="126792" y="190303"/>
                      <a:pt x="129641" y="209550"/>
                    </a:cubicBezTo>
                    <a:cubicBezTo>
                      <a:pt x="129641" y="228838"/>
                      <a:pt x="114005" y="244475"/>
                      <a:pt x="94716" y="244475"/>
                    </a:cubicBezTo>
                    <a:cubicBezTo>
                      <a:pt x="75428" y="244475"/>
                      <a:pt x="59791" y="228838"/>
                      <a:pt x="59791" y="209550"/>
                    </a:cubicBezTo>
                    <a:cubicBezTo>
                      <a:pt x="62641" y="190303"/>
                      <a:pt x="56156" y="170850"/>
                      <a:pt x="42329" y="157162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341586" y="3592512"/>
                <a:ext cx="8032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327" h="9525">
                    <a:moveTo>
                      <a:pt x="0" y="0"/>
                    </a:moveTo>
                    <a:lnTo>
                      <a:pt x="80327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6734556" y="3352800"/>
              <a:ext cx="20029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Осмысленность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35318" y="3663950"/>
              <a:ext cx="29904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смысл важнее удовольствия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6224587" y="4129087"/>
              <a:ext cx="314324" cy="314324"/>
              <a:chOff x="6224587" y="4129087"/>
              <a:chExt cx="314324" cy="31432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224587" y="412908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329362" y="4251325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34925"/>
                    </a:moveTo>
                    <a:lnTo>
                      <a:pt x="34925" y="69850"/>
                    </a:ln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6734556" y="4133850"/>
              <a:ext cx="18715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Благодарность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35318" y="4445000"/>
              <a:ext cx="22455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ежедневная практика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224587" y="4927600"/>
              <a:ext cx="314324" cy="279399"/>
            </a:xfrm>
            <a:custGeom>
              <a:avLst/>
              <a:gdLst/>
              <a:ahLst/>
              <a:cxnLst/>
              <a:rect l="l" t="t" r="r" b="b"/>
              <a:pathLst>
                <a:path w="314324" h="279399">
                  <a:moveTo>
                    <a:pt x="0" y="139700"/>
                  </a:moveTo>
                  <a:lnTo>
                    <a:pt x="69850" y="139700"/>
                  </a:lnTo>
                  <a:lnTo>
                    <a:pt x="122237" y="279399"/>
                  </a:lnTo>
                  <a:lnTo>
                    <a:pt x="192087" y="0"/>
                  </a:lnTo>
                  <a:lnTo>
                    <a:pt x="244475" y="139700"/>
                  </a:lnTo>
                  <a:lnTo>
                    <a:pt x="314324" y="139700"/>
                  </a:lnTo>
                </a:path>
              </a:pathLst>
            </a:custGeom>
            <a:noFill/>
            <a:ln w="34925">
              <a:solidFill>
                <a:schemeClr val="accent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34556" y="4914900"/>
              <a:ext cx="7364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Поток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35318" y="5226050"/>
              <a:ext cx="41726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полная вовлечённость (Чиксентмихайи)</a:t>
              </a:r>
            </a:p>
          </p:txBody>
        </p:sp>
      </p:grpSp>
      <p:grpSp>
        <p:nvGrpSpPr>
          <p:cNvPr id="41" name="note"/>
          <p:cNvGrpSpPr/>
          <p:nvPr/>
        </p:nvGrpSpPr>
        <p:grpSpPr>
          <a:xfrm>
            <a:off x="762000" y="5676900"/>
            <a:ext cx="10668000" cy="666750"/>
            <a:chOff x="762000" y="5676900"/>
            <a:chExt cx="10668000" cy="666750"/>
          </a:xfrm>
        </p:grpSpPr>
        <p:sp>
          <p:nvSpPr>
            <p:cNvPr id="32" name="Rectangle 32"/>
            <p:cNvSpPr/>
            <p:nvPr/>
          </p:nvSpPr>
          <p:spPr>
            <a:xfrm>
              <a:off x="762000" y="5676900"/>
              <a:ext cx="10668000" cy="666750"/>
            </a:xfrm>
            <a:prstGeom prst="roundRect">
              <a:avLst>
                <a:gd name="adj" fmla="val 22857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1038225" y="5873750"/>
              <a:ext cx="285751" cy="279401"/>
              <a:chOff x="1038225" y="5873750"/>
              <a:chExt cx="285751" cy="27940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1117600" y="6143626"/>
                <a:ext cx="12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">
                    <a:moveTo>
                      <a:pt x="0" y="0"/>
                    </a:move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181100" y="6080126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101725" y="5873750"/>
                <a:ext cx="15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9525">
                    <a:moveTo>
                      <a:pt x="0" y="0"/>
                    </a:moveTo>
                    <a:lnTo>
                      <a:pt x="158750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101725" y="5873750"/>
                <a:ext cx="158750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206375">
                    <a:moveTo>
                      <a:pt x="158750" y="0"/>
                    </a:moveTo>
                    <a:lnTo>
                      <a:pt x="158750" y="127000"/>
                    </a:lnTo>
                    <a:cubicBezTo>
                      <a:pt x="158750" y="170838"/>
                      <a:pt x="123213" y="206375"/>
                      <a:pt x="79375" y="206375"/>
                    </a:cubicBezTo>
                    <a:cubicBezTo>
                      <a:pt x="35537" y="206375"/>
                      <a:pt x="0" y="170838"/>
                      <a:pt x="0" y="127000"/>
                    </a:cubicBez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38225" y="59213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260476" y="59213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514856" y="5867400"/>
              <a:ext cx="90306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Гарвардское исследование: качество связей — сильнейший предиктор счастья</a:t>
              </a:r>
            </a:p>
          </p:txBody>
        </p:sp>
      </p:grpSp>
      <p:sp>
        <p:nvSpPr>
          <p:cNvPr id="42" name="Line 42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1-photo"/>
          <p:cNvPicPr>
            <a:picLocks noChangeAspect="1"/>
          </p:cNvPicPr>
          <p:nvPr/>
        </p:nvPicPr>
        <p:blipFill>
          <a:blip r:embed="rId3"/>
          <a:srcRect t="7812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1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grpSp>
        <p:nvGrpSpPr>
          <p:cNvPr id="6" name="!!title-flow"/>
          <p:cNvGrpSpPr/>
          <p:nvPr/>
        </p:nvGrpSpPr>
        <p:grpSpPr>
          <a:xfrm>
            <a:off x="746760" y="641350"/>
            <a:ext cx="7614713" cy="461665"/>
            <a:chOff x="746760" y="641350"/>
            <a:chExt cx="7614713" cy="461665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7614713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После </a:t>
              </a:r>
              <a:r>
                <a:rPr lang="ru" sz="3000" b="1" dirty="0" smtClean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определённого дохода — </a:t>
              </a:r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плато?</a:t>
              </a:r>
            </a:p>
          </p:txBody>
        </p:sp>
      </p:grpSp>
      <p:grpSp>
        <p:nvGrpSpPr>
          <p:cNvPr id="17" name="chart"/>
          <p:cNvGrpSpPr/>
          <p:nvPr/>
        </p:nvGrpSpPr>
        <p:grpSpPr>
          <a:xfrm>
            <a:off x="762000" y="1666875"/>
            <a:ext cx="7429500" cy="3905250"/>
            <a:chOff x="762000" y="1666875"/>
            <a:chExt cx="7429500" cy="3905250"/>
          </a:xfrm>
        </p:grpSpPr>
        <p:sp>
          <p:nvSpPr>
            <p:cNvPr id="7" name="Rectangle 7"/>
            <p:cNvSpPr/>
            <p:nvPr/>
          </p:nvSpPr>
          <p:spPr>
            <a:xfrm>
              <a:off x="762000" y="1666875"/>
              <a:ext cx="7429500" cy="3905250"/>
            </a:xfrm>
            <a:prstGeom prst="roundRect">
              <a:avLst>
                <a:gd name="adj" fmla="val 390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8606" y="1905000"/>
              <a:ext cx="20367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и доход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428750" y="2495550"/>
              <a:ext cx="9525" cy="2457450"/>
            </a:xfrm>
            <a:custGeom>
              <a:avLst/>
              <a:gdLst/>
              <a:ahLst/>
              <a:cxnLst/>
              <a:rect l="l" t="t" r="r" b="b"/>
              <a:pathLst>
                <a:path w="9525" h="2457450">
                  <a:moveTo>
                    <a:pt x="0" y="0"/>
                  </a:moveTo>
                  <a:lnTo>
                    <a:pt x="0" y="245745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428750" y="4953000"/>
              <a:ext cx="6381750" cy="9525"/>
            </a:xfrm>
            <a:custGeom>
              <a:avLst/>
              <a:gdLst/>
              <a:ahLst/>
              <a:cxnLst/>
              <a:rect l="l" t="t" r="r" b="b"/>
              <a:pathLst>
                <a:path w="6381750" h="9525">
                  <a:moveTo>
                    <a:pt x="0" y="0"/>
                  </a:moveTo>
                  <a:lnTo>
                    <a:pt x="638175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5619750" y="2495550"/>
              <a:ext cx="9525" cy="2457450"/>
            </a:xfrm>
            <a:custGeom>
              <a:avLst/>
              <a:gdLst/>
              <a:ahLst/>
              <a:cxnLst/>
              <a:rect l="l" t="t" r="r" b="b"/>
              <a:pathLst>
                <a:path w="9525" h="2457450">
                  <a:moveTo>
                    <a:pt x="0" y="0"/>
                  </a:moveTo>
                  <a:lnTo>
                    <a:pt x="0" y="2457450"/>
                  </a:lnTo>
                </a:path>
              </a:pathLst>
            </a:custGeom>
            <a:noFill/>
            <a:ln w="19050">
              <a:solidFill>
                <a:srgbClr val="E74C3C"/>
              </a:solidFill>
              <a:custDash>
                <a:ds d="400000" sp="300000"/>
              </a:custDash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03772" y="2197100"/>
              <a:ext cx="83195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 smtClean="0">
                  <a:solidFill>
                    <a:srgbClr val="E74C3C"/>
                  </a:solidFill>
                  <a:latin typeface="+mn-lt"/>
                  <a:ea typeface="+mn-ea"/>
                  <a:cs typeface="+mn-cs"/>
                </a:rPr>
                <a:t>60 000 </a:t>
              </a:r>
              <a:r>
                <a:rPr lang="ru-RU" b="1" dirty="0" smtClean="0">
                  <a:solidFill>
                    <a:srgbClr val="FF0000"/>
                  </a:solidFill>
                </a:rPr>
                <a:t>₽</a:t>
              </a:r>
              <a:endParaRPr lang="ru" sz="1650" b="1" dirty="0">
                <a:solidFill>
                  <a:srgbClr val="FF0000"/>
                </a:solidFill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3242" y="2559050"/>
              <a:ext cx="7145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3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высокое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3242" y="4826000"/>
              <a:ext cx="5806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3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низкое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12392" y="5092700"/>
              <a:ext cx="11370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3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низкий доход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79642" y="5092700"/>
              <a:ext cx="12709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3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высокий доход</a:t>
              </a:r>
            </a:p>
          </p:txBody>
        </p:sp>
      </p:grpSp>
      <p:grpSp>
        <p:nvGrpSpPr>
          <p:cNvPr id="20" name="chart-plot"/>
          <p:cNvGrpSpPr/>
          <p:nvPr/>
        </p:nvGrpSpPr>
        <p:grpSpPr>
          <a:xfrm>
            <a:off x="1428750" y="2647950"/>
            <a:ext cx="6191250" cy="2114550"/>
            <a:chOff x="1428750" y="2647950"/>
            <a:chExt cx="6191250" cy="2114550"/>
          </a:xfrm>
        </p:grpSpPr>
        <p:sp>
          <p:nvSpPr>
            <p:cNvPr id="18" name="Polyline 18"/>
            <p:cNvSpPr/>
            <p:nvPr/>
          </p:nvSpPr>
          <p:spPr>
            <a:xfrm>
              <a:off x="1428750" y="2647950"/>
              <a:ext cx="6191250" cy="2114550"/>
            </a:xfrm>
            <a:custGeom>
              <a:avLst/>
              <a:gdLst/>
              <a:ahLst/>
              <a:cxnLst/>
              <a:rect l="l" t="t" r="r" b="b"/>
              <a:pathLst>
                <a:path w="6191250" h="2114550">
                  <a:moveTo>
                    <a:pt x="0" y="2114550"/>
                  </a:moveTo>
                  <a:lnTo>
                    <a:pt x="857250" y="1752600"/>
                  </a:lnTo>
                  <a:lnTo>
                    <a:pt x="1714500" y="1257300"/>
                  </a:lnTo>
                  <a:lnTo>
                    <a:pt x="2571750" y="800100"/>
                  </a:lnTo>
                  <a:lnTo>
                    <a:pt x="3429000" y="457200"/>
                  </a:lnTo>
                  <a:lnTo>
                    <a:pt x="4286250" y="209550"/>
                  </a:lnTo>
                  <a:lnTo>
                    <a:pt x="5143500" y="76200"/>
                  </a:lnTo>
                  <a:lnTo>
                    <a:pt x="6191250" y="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5524500" y="2781300"/>
              <a:ext cx="190500" cy="1905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</p:sp>
      </p:grpSp>
      <p:grpSp>
        <p:nvGrpSpPr>
          <p:cNvPr id="27" name="theses"/>
          <p:cNvGrpSpPr/>
          <p:nvPr/>
        </p:nvGrpSpPr>
        <p:grpSpPr>
          <a:xfrm>
            <a:off x="8382000" y="1666875"/>
            <a:ext cx="3048000" cy="3905250"/>
            <a:chOff x="8382000" y="1666875"/>
            <a:chExt cx="3048000" cy="3905250"/>
          </a:xfrm>
        </p:grpSpPr>
        <p:sp>
          <p:nvSpPr>
            <p:cNvPr id="21" name="Rectangle 21"/>
            <p:cNvSpPr/>
            <p:nvPr/>
          </p:nvSpPr>
          <p:spPr>
            <a:xfrm>
              <a:off x="8382000" y="1666875"/>
              <a:ext cx="3048000" cy="1857375"/>
            </a:xfrm>
            <a:prstGeom prst="roundRect">
              <a:avLst>
                <a:gd name="adj" fmla="val 8205"/>
              </a:avLst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40318" y="1958975"/>
              <a:ext cx="24794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Канеман–Дитон (2010)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40318" y="2260600"/>
              <a:ext cx="2165721" cy="14747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после </a:t>
              </a:r>
              <a:r>
                <a:rPr lang="ru" sz="1650" dirty="0" smtClean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порога влияние</a:t>
              </a: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 smtClean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дохода на </a:t>
              </a:r>
            </a:p>
            <a:p>
              <a:pPr algn="l">
                <a:lnSpc>
                  <a:spcPts val="2325"/>
                </a:lnSpc>
              </a:pPr>
              <a:r>
                <a:rPr lang="ru" sz="1650" dirty="0" smtClean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неудовлетворённость</a:t>
              </a:r>
            </a:p>
            <a:p>
              <a:pPr algn="l">
                <a:lnSpc>
                  <a:spcPts val="2325"/>
                </a:lnSpc>
              </a:pPr>
              <a:r>
                <a:rPr lang="ru" sz="1650" dirty="0" smtClean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прекращается</a:t>
              </a:r>
            </a:p>
            <a:p>
              <a:pPr algn="l">
                <a:lnSpc>
                  <a:spcPts val="2325"/>
                </a:lnSpc>
              </a:pPr>
              <a:endParaRPr lang="ru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382000" y="3714750"/>
              <a:ext cx="3048000" cy="1857375"/>
            </a:xfrm>
            <a:prstGeom prst="roundRect">
              <a:avLst>
                <a:gd name="adj" fmla="val 8205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40318" y="4006850"/>
              <a:ext cx="21364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7AE60"/>
                  </a:solidFill>
                  <a:latin typeface="+mn-lt"/>
                  <a:ea typeface="+mn-ea"/>
                  <a:cs typeface="+mn-cs"/>
                </a:rPr>
                <a:t>Killingsworth (2021)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40318" y="4375150"/>
              <a:ext cx="2524973" cy="913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счастье растёт и дальше;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плато — у 20% самых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несчастных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 xmlns:p14="http://schemas.microsoft.com/office/powerpoint/2010/main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2-photo"/>
          <p:cNvPicPr>
            <a:picLocks noChangeAspect="1"/>
          </p:cNvPicPr>
          <p:nvPr/>
        </p:nvPicPr>
        <p:blipFill>
          <a:blip r:embed="rId3"/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2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67E22"/>
          </a:solidFill>
          <a:ln>
            <a:noFill/>
          </a:ln>
        </p:spPr>
      </p:sp>
      <p:grpSp>
        <p:nvGrpSpPr>
          <p:cNvPr id="6" name="!!title-flow"/>
          <p:cNvGrpSpPr/>
          <p:nvPr/>
        </p:nvGrpSpPr>
        <p:grpSpPr>
          <a:xfrm>
            <a:off x="746760" y="641350"/>
            <a:ext cx="5162677" cy="586740"/>
            <a:chOff x="746760" y="641350"/>
            <a:chExt cx="5162677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516267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Парадокс среднего звена</a:t>
              </a:r>
            </a:p>
          </p:txBody>
        </p:sp>
      </p:grpSp>
      <p:grpSp>
        <p:nvGrpSpPr>
          <p:cNvPr id="16" name="chart"/>
          <p:cNvGrpSpPr/>
          <p:nvPr/>
        </p:nvGrpSpPr>
        <p:grpSpPr>
          <a:xfrm>
            <a:off x="762000" y="1762125"/>
            <a:ext cx="6667500" cy="4476750"/>
            <a:chOff x="762000" y="1762125"/>
            <a:chExt cx="6667500" cy="4476750"/>
          </a:xfrm>
        </p:grpSpPr>
        <p:sp>
          <p:nvSpPr>
            <p:cNvPr id="7" name="Rectangle 7"/>
            <p:cNvSpPr/>
            <p:nvPr/>
          </p:nvSpPr>
          <p:spPr>
            <a:xfrm>
              <a:off x="762000" y="1762125"/>
              <a:ext cx="6667500" cy="4476750"/>
            </a:xfrm>
            <a:prstGeom prst="roundRect">
              <a:avLst>
                <a:gd name="adj" fmla="val 340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1714500" y="2495550"/>
              <a:ext cx="9525" cy="2838450"/>
            </a:xfrm>
            <a:custGeom>
              <a:avLst/>
              <a:gdLst/>
              <a:ahLst/>
              <a:cxnLst/>
              <a:rect l="l" t="t" r="r" b="b"/>
              <a:pathLst>
                <a:path w="9525" h="2838450">
                  <a:moveTo>
                    <a:pt x="0" y="0"/>
                  </a:moveTo>
                  <a:lnTo>
                    <a:pt x="0" y="283845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714500" y="5334000"/>
              <a:ext cx="5429250" cy="9525"/>
            </a:xfrm>
            <a:custGeom>
              <a:avLst/>
              <a:gdLst/>
              <a:ahLst/>
              <a:cxnLst/>
              <a:rect l="l" t="t" r="r" b="b"/>
              <a:pathLst>
                <a:path w="5429250" h="9525">
                  <a:moveTo>
                    <a:pt x="0" y="0"/>
                  </a:moveTo>
                  <a:lnTo>
                    <a:pt x="542925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588765" y="4940300"/>
              <a:ext cx="82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провал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6592" y="2559050"/>
              <a:ext cx="7118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3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высокая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6592" y="5226050"/>
              <a:ext cx="5779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3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низкая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96618" y="5473700"/>
              <a:ext cx="8742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среднее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87618" y="5473700"/>
              <a:ext cx="8307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высшее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34868" y="5778500"/>
              <a:ext cx="22483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уровень образования</a:t>
              </a:r>
            </a:p>
          </p:txBody>
        </p:sp>
      </p:grpSp>
      <p:grpSp>
        <p:nvGrpSpPr>
          <p:cNvPr id="19" name="chart-plot"/>
          <p:cNvGrpSpPr/>
          <p:nvPr/>
        </p:nvGrpSpPr>
        <p:grpSpPr>
          <a:xfrm>
            <a:off x="1714500" y="2857500"/>
            <a:ext cx="5334000" cy="2009775"/>
            <a:chOff x="1714500" y="2857500"/>
            <a:chExt cx="5334000" cy="2009775"/>
          </a:xfrm>
        </p:grpSpPr>
        <p:sp>
          <p:nvSpPr>
            <p:cNvPr id="17" name="Polyline 17"/>
            <p:cNvSpPr/>
            <p:nvPr/>
          </p:nvSpPr>
          <p:spPr>
            <a:xfrm>
              <a:off x="1714500" y="2857500"/>
              <a:ext cx="5334000" cy="1905000"/>
            </a:xfrm>
            <a:custGeom>
              <a:avLst/>
              <a:gdLst/>
              <a:ahLst/>
              <a:cxnLst/>
              <a:rect l="l" t="t" r="r" b="b"/>
              <a:pathLst>
                <a:path w="5334000" h="1905000">
                  <a:moveTo>
                    <a:pt x="0" y="190500"/>
                  </a:moveTo>
                  <a:lnTo>
                    <a:pt x="1143000" y="952500"/>
                  </a:lnTo>
                  <a:lnTo>
                    <a:pt x="2286000" y="1905000"/>
                  </a:lnTo>
                  <a:lnTo>
                    <a:pt x="3429000" y="1619250"/>
                  </a:lnTo>
                  <a:lnTo>
                    <a:pt x="4572000" y="571500"/>
                  </a:lnTo>
                  <a:lnTo>
                    <a:pt x="5334000" y="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3895725" y="4657725"/>
              <a:ext cx="209550" cy="209550"/>
            </a:xfrm>
            <a:prstGeom prst="ellipse">
              <a:avLst/>
            </a:prstGeom>
            <a:solidFill>
              <a:srgbClr val="E67E22"/>
            </a:solidFill>
            <a:ln>
              <a:noFill/>
            </a:ln>
          </p:spPr>
        </p:sp>
      </p:grpSp>
      <p:grpSp>
        <p:nvGrpSpPr>
          <p:cNvPr id="28" name="list"/>
          <p:cNvGrpSpPr/>
          <p:nvPr/>
        </p:nvGrpSpPr>
        <p:grpSpPr>
          <a:xfrm>
            <a:off x="7810500" y="2000250"/>
            <a:ext cx="3619500" cy="4114800"/>
            <a:chOff x="7810500" y="2000250"/>
            <a:chExt cx="3619500" cy="4114800"/>
          </a:xfrm>
        </p:grpSpPr>
        <p:sp>
          <p:nvSpPr>
            <p:cNvPr id="20" name="Rectangle 20"/>
            <p:cNvSpPr/>
            <p:nvPr/>
          </p:nvSpPr>
          <p:spPr>
            <a:xfrm>
              <a:off x="7810500" y="2000250"/>
              <a:ext cx="3619500" cy="91440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68818" y="2197100"/>
              <a:ext cx="22597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Слабая прямая связь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10500" y="3067050"/>
              <a:ext cx="3619500" cy="91440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068818" y="3251200"/>
              <a:ext cx="2676540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Провал у среднего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специального образования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810500" y="4133850"/>
              <a:ext cx="3619500" cy="91440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068818" y="4318000"/>
              <a:ext cx="2432352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Косвенно: доход, статус,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навыки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810500" y="5200650"/>
              <a:ext cx="3619500" cy="91440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068818" y="5397500"/>
              <a:ext cx="24682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Завышенные ожидания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3-photo"/>
          <p:cNvPicPr>
            <a:picLocks noChangeAspect="1"/>
          </p:cNvPicPr>
          <p:nvPr/>
        </p:nvPicPr>
        <p:blipFill>
          <a:blip r:embed="rId3"/>
          <a:srcRect t="7812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3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!!title-flow"/>
          <p:cNvGrpSpPr/>
          <p:nvPr/>
        </p:nvGrpSpPr>
        <p:grpSpPr>
          <a:xfrm>
            <a:off x="746760" y="641350"/>
            <a:ext cx="7909077" cy="586740"/>
            <a:chOff x="746760" y="641350"/>
            <a:chExt cx="7909077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790907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соцсети делают с нашим счастьем</a:t>
              </a:r>
            </a:p>
          </p:txBody>
        </p:sp>
      </p:grpSp>
      <p:grpSp>
        <p:nvGrpSpPr>
          <p:cNvPr id="16" name="plus"/>
          <p:cNvGrpSpPr/>
          <p:nvPr/>
        </p:nvGrpSpPr>
        <p:grpSpPr>
          <a:xfrm>
            <a:off x="762000" y="1762125"/>
            <a:ext cx="4762500" cy="3810000"/>
            <a:chOff x="762000" y="1762125"/>
            <a:chExt cx="4762500" cy="3810000"/>
          </a:xfrm>
        </p:grpSpPr>
        <p:sp>
          <p:nvSpPr>
            <p:cNvPr id="7" name="Rectangle 7"/>
            <p:cNvSpPr/>
            <p:nvPr/>
          </p:nvSpPr>
          <p:spPr>
            <a:xfrm>
              <a:off x="762000" y="1762125"/>
              <a:ext cx="4762500" cy="3810000"/>
            </a:xfrm>
            <a:prstGeom prst="roundRect">
              <a:avLst>
                <a:gd name="adj" fmla="val 4000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119187" y="2090737"/>
              <a:ext cx="314324" cy="314324"/>
              <a:chOff x="1119187" y="2090737"/>
              <a:chExt cx="314324" cy="31432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119187" y="209073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rgbClr val="1E8449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223962" y="2212975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34925"/>
                    </a:moveTo>
                    <a:lnTo>
                      <a:pt x="34925" y="69850"/>
                    </a:ln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rgbClr val="1E8449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589532" y="2108200"/>
              <a:ext cx="105578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Плюсы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3856" y="2686050"/>
              <a:ext cx="20243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Связь с близкими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3856" y="3314700"/>
              <a:ext cx="25725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Поддержка и общение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3856" y="3943350"/>
              <a:ext cx="19970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Доступ к знаниям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3856" y="4572000"/>
              <a:ext cx="18878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Онлайн-терапия</a:t>
              </a:r>
            </a:p>
          </p:txBody>
        </p:sp>
      </p:grpSp>
      <p:grpSp>
        <p:nvGrpSpPr>
          <p:cNvPr id="26" name="minus"/>
          <p:cNvGrpSpPr/>
          <p:nvPr/>
        </p:nvGrpSpPr>
        <p:grpSpPr>
          <a:xfrm>
            <a:off x="6667500" y="1762125"/>
            <a:ext cx="4762500" cy="3810000"/>
            <a:chOff x="6667500" y="1762125"/>
            <a:chExt cx="4762500" cy="3810000"/>
          </a:xfrm>
        </p:grpSpPr>
        <p:sp>
          <p:nvSpPr>
            <p:cNvPr id="17" name="Rectangle 17"/>
            <p:cNvSpPr/>
            <p:nvPr/>
          </p:nvSpPr>
          <p:spPr>
            <a:xfrm>
              <a:off x="6667500" y="1762125"/>
              <a:ext cx="4762500" cy="3810000"/>
            </a:xfrm>
            <a:prstGeom prst="roundRect">
              <a:avLst>
                <a:gd name="adj" fmla="val 4000"/>
              </a:avLst>
            </a:prstGeom>
            <a:solidFill>
              <a:srgbClr val="E74C3C">
                <a:alpha val="12000"/>
              </a:srgbClr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024687" y="2090737"/>
              <a:ext cx="314324" cy="314324"/>
              <a:chOff x="7024687" y="2090737"/>
              <a:chExt cx="314324" cy="31432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024687" y="209073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rgbClr val="C0392B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146925" y="2212975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0"/>
                    </a:moveTo>
                    <a:lnTo>
                      <a:pt x="69850" y="69850"/>
                    </a:lnTo>
                    <a:moveTo>
                      <a:pt x="69850" y="0"/>
                    </a:moveTo>
                    <a:lnTo>
                      <a:pt x="0" y="69850"/>
                    </a:lnTo>
                  </a:path>
                </a:pathLst>
              </a:custGeom>
              <a:noFill/>
              <a:ln w="34925">
                <a:solidFill>
                  <a:srgbClr val="C0392B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7495032" y="2108200"/>
              <a:ext cx="11680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Минусы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39356" y="2686050"/>
              <a:ext cx="24510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Сравнение с другими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39356" y="3314700"/>
              <a:ext cx="28273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FOMO — страх упустить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39356" y="3943350"/>
              <a:ext cx="24235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Падение самооценки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39356" y="4572000"/>
              <a:ext cx="13251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Плохой сон</a:t>
              </a:r>
            </a:p>
          </p:txBody>
        </p:sp>
      </p:grpSp>
      <p:grpSp>
        <p:nvGrpSpPr>
          <p:cNvPr id="33" name="note"/>
          <p:cNvGrpSpPr/>
          <p:nvPr/>
        </p:nvGrpSpPr>
        <p:grpSpPr>
          <a:xfrm>
            <a:off x="762000" y="5676900"/>
            <a:ext cx="10668000" cy="666750"/>
            <a:chOff x="762000" y="5676900"/>
            <a:chExt cx="10668000" cy="666750"/>
          </a:xfrm>
        </p:grpSpPr>
        <p:sp>
          <p:nvSpPr>
            <p:cNvPr id="27" name="Rectangle 27"/>
            <p:cNvSpPr/>
            <p:nvPr/>
          </p:nvSpPr>
          <p:spPr>
            <a:xfrm>
              <a:off x="762000" y="5676900"/>
              <a:ext cx="10668000" cy="666750"/>
            </a:xfrm>
            <a:prstGeom prst="roundRect">
              <a:avLst>
                <a:gd name="adj" fmla="val 22857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1069975" y="5873750"/>
              <a:ext cx="222250" cy="285751"/>
              <a:chOff x="1069975" y="5873750"/>
              <a:chExt cx="222250" cy="285751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069975" y="5873750"/>
                <a:ext cx="222250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85751">
                    <a:moveTo>
                      <a:pt x="15875" y="0"/>
                    </a:moveTo>
                    <a:lnTo>
                      <a:pt x="190500" y="0"/>
                    </a:lnTo>
                    <a:cubicBezTo>
                      <a:pt x="208035" y="0"/>
                      <a:pt x="222250" y="14215"/>
                      <a:pt x="222250" y="31750"/>
                    </a:cubicBezTo>
                    <a:lnTo>
                      <a:pt x="222250" y="222250"/>
                    </a:lnTo>
                    <a:cubicBezTo>
                      <a:pt x="222250" y="239786"/>
                      <a:pt x="208035" y="254001"/>
                      <a:pt x="190500" y="254001"/>
                    </a:cubicBezTo>
                    <a:lnTo>
                      <a:pt x="15875" y="254001"/>
                    </a:lnTo>
                    <a:cubicBezTo>
                      <a:pt x="7107" y="254001"/>
                      <a:pt x="0" y="246893"/>
                      <a:pt x="0" y="238125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moveTo>
                      <a:pt x="63500" y="0"/>
                    </a:moveTo>
                    <a:lnTo>
                      <a:pt x="63500" y="285751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196975" y="593725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196975" y="600075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514856" y="5867400"/>
              <a:ext cx="80372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Осознанное потребление и цифровой детокс повышают благополучие</a:t>
              </a:r>
            </a:p>
          </p:txBody>
        </p:sp>
      </p:grpSp>
      <p:sp>
        <p:nvSpPr>
          <p:cNvPr id="34" name="Line 34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 xmlns:p14="http://schemas.microsoft.com/office/powerpoint/2010/main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4-photo"/>
          <p:cNvPicPr>
            <a:picLocks noChangeAspect="1"/>
          </p:cNvPicPr>
          <p:nvPr/>
        </p:nvPicPr>
        <p:blipFill>
          <a:blip r:embed="rId3"/>
          <a:srcRect t="7812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4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4459847" cy="586740"/>
            <a:chOff x="746760" y="641350"/>
            <a:chExt cx="4459847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445984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делать конкретно</a:t>
              </a:r>
            </a:p>
          </p:txBody>
        </p:sp>
      </p:grpSp>
      <p:grpSp>
        <p:nvGrpSpPr>
          <p:cNvPr id="11" name="rec-1"/>
          <p:cNvGrpSpPr/>
          <p:nvPr/>
        </p:nvGrpSpPr>
        <p:grpSpPr>
          <a:xfrm>
            <a:off x="762000" y="1714500"/>
            <a:ext cx="3429000" cy="2047875"/>
            <a:chOff x="762000" y="1714500"/>
            <a:chExt cx="3429000" cy="2047875"/>
          </a:xfrm>
        </p:grpSpPr>
        <p:sp>
          <p:nvSpPr>
            <p:cNvPr id="7" name="Rectangle 7"/>
            <p:cNvSpPr/>
            <p:nvPr/>
          </p:nvSpPr>
          <p:spPr>
            <a:xfrm>
              <a:off x="762000" y="1714500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083466" y="2096556"/>
              <a:ext cx="385394" cy="335495"/>
            </a:xfrm>
            <a:custGeom>
              <a:avLst/>
              <a:gdLst/>
              <a:ahLst/>
              <a:cxnLst/>
              <a:rect l="l" t="t" r="r" b="b"/>
              <a:pathLst>
                <a:path w="385394" h="335495">
                  <a:moveTo>
                    <a:pt x="347665" y="182199"/>
                  </a:moveTo>
                  <a:lnTo>
                    <a:pt x="192884" y="335495"/>
                  </a:lnTo>
                  <a:lnTo>
                    <a:pt x="38102" y="182199"/>
                  </a:lnTo>
                  <a:cubicBezTo>
                    <a:pt x="10269" y="155114"/>
                    <a:pt x="0" y="114695"/>
                    <a:pt x="11531" y="77609"/>
                  </a:cubicBezTo>
                  <a:cubicBezTo>
                    <a:pt x="23062" y="40523"/>
                    <a:pt x="54440" y="13053"/>
                    <a:pt x="92725" y="6527"/>
                  </a:cubicBezTo>
                  <a:cubicBezTo>
                    <a:pt x="131010" y="0"/>
                    <a:pt x="169717" y="15523"/>
                    <a:pt x="192884" y="46693"/>
                  </a:cubicBezTo>
                  <a:cubicBezTo>
                    <a:pt x="216148" y="15753"/>
                    <a:pt x="254772" y="437"/>
                    <a:pt x="292918" y="7024"/>
                  </a:cubicBezTo>
                  <a:cubicBezTo>
                    <a:pt x="331064" y="13612"/>
                    <a:pt x="362314" y="40995"/>
                    <a:pt x="373854" y="77946"/>
                  </a:cubicBezTo>
                  <a:cubicBezTo>
                    <a:pt x="385394" y="114896"/>
                    <a:pt x="375282" y="155197"/>
                    <a:pt x="347665" y="182323"/>
                  </a:cubicBezTo>
                </a:path>
              </a:pathLst>
            </a:custGeom>
            <a:noFill/>
            <a:ln w="41275">
              <a:solidFill>
                <a:srgbClr val="27AE6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9556" y="2705100"/>
              <a:ext cx="233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Будьте с близкими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0318" y="3282950"/>
              <a:ext cx="28663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время с семьёй и друзьями</a:t>
              </a:r>
            </a:p>
          </p:txBody>
        </p:sp>
      </p:grpSp>
      <p:grpSp>
        <p:nvGrpSpPr>
          <p:cNvPr id="19" name="rec-2"/>
          <p:cNvGrpSpPr/>
          <p:nvPr/>
        </p:nvGrpSpPr>
        <p:grpSpPr>
          <a:xfrm>
            <a:off x="4381500" y="1714500"/>
            <a:ext cx="3429000" cy="2047875"/>
            <a:chOff x="4381500" y="1714500"/>
            <a:chExt cx="3429000" cy="2047875"/>
          </a:xfrm>
        </p:grpSpPr>
        <p:sp>
          <p:nvSpPr>
            <p:cNvPr id="12" name="Rectangle 12"/>
            <p:cNvSpPr/>
            <p:nvPr/>
          </p:nvSpPr>
          <p:spPr>
            <a:xfrm>
              <a:off x="4381500" y="1714500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4751388" y="2101850"/>
              <a:ext cx="288925" cy="371476"/>
              <a:chOff x="4751388" y="2101850"/>
              <a:chExt cx="288925" cy="37147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751388" y="2101850"/>
                <a:ext cx="288925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288925" h="371476">
                    <a:moveTo>
                      <a:pt x="20638" y="0"/>
                    </a:moveTo>
                    <a:lnTo>
                      <a:pt x="247650" y="0"/>
                    </a:lnTo>
                    <a:cubicBezTo>
                      <a:pt x="270446" y="0"/>
                      <a:pt x="288925" y="18479"/>
                      <a:pt x="288925" y="41275"/>
                    </a:cubicBezTo>
                    <a:lnTo>
                      <a:pt x="288925" y="288925"/>
                    </a:lnTo>
                    <a:cubicBezTo>
                      <a:pt x="288925" y="311721"/>
                      <a:pt x="270446" y="330201"/>
                      <a:pt x="247650" y="330201"/>
                    </a:cubicBezTo>
                    <a:lnTo>
                      <a:pt x="20638" y="330201"/>
                    </a:lnTo>
                    <a:cubicBezTo>
                      <a:pt x="9240" y="330201"/>
                      <a:pt x="0" y="320961"/>
                      <a:pt x="0" y="309563"/>
                    </a:cubicBezTo>
                    <a:lnTo>
                      <a:pt x="0" y="20638"/>
                    </a:lnTo>
                    <a:cubicBezTo>
                      <a:pt x="0" y="9240"/>
                      <a:pt x="9240" y="0"/>
                      <a:pt x="20638" y="0"/>
                    </a:cubicBezTo>
                    <a:moveTo>
                      <a:pt x="82550" y="0"/>
                    </a:moveTo>
                    <a:lnTo>
                      <a:pt x="82550" y="371476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916488" y="2184400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916488" y="2266950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4639056" y="2705100"/>
              <a:ext cx="18715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Благодарность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39818" y="3282950"/>
              <a:ext cx="24000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3 добрых факта в день</a:t>
              </a:r>
            </a:p>
          </p:txBody>
        </p:sp>
      </p:grpSp>
      <p:grpSp>
        <p:nvGrpSpPr>
          <p:cNvPr id="28" name="rec-3"/>
          <p:cNvGrpSpPr/>
          <p:nvPr/>
        </p:nvGrpSpPr>
        <p:grpSpPr>
          <a:xfrm>
            <a:off x="8001000" y="1714500"/>
            <a:ext cx="3429000" cy="2047875"/>
            <a:chOff x="8001000" y="1714500"/>
            <a:chExt cx="3429000" cy="2047875"/>
          </a:xfrm>
        </p:grpSpPr>
        <p:sp>
          <p:nvSpPr>
            <p:cNvPr id="20" name="Rectangle 20"/>
            <p:cNvSpPr/>
            <p:nvPr/>
          </p:nvSpPr>
          <p:spPr>
            <a:xfrm>
              <a:off x="8001000" y="1714500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8350250" y="2081213"/>
              <a:ext cx="288926" cy="371475"/>
              <a:chOff x="8350250" y="2081213"/>
              <a:chExt cx="288926" cy="37147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494857" y="2081213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41275"/>
                    </a:moveTo>
                    <a:cubicBezTo>
                      <a:pt x="0" y="64071"/>
                      <a:pt x="18479" y="82550"/>
                      <a:pt x="41275" y="82550"/>
                    </a:cubicBez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50250" y="2359819"/>
                <a:ext cx="118666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118666" h="30956">
                    <a:moveTo>
                      <a:pt x="0" y="10319"/>
                    </a:moveTo>
                    <a:lnTo>
                      <a:pt x="103188" y="30956"/>
                    </a:lnTo>
                    <a:lnTo>
                      <a:pt x="118666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494713" y="2184400"/>
                <a:ext cx="82550" cy="268288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268288">
                    <a:moveTo>
                      <a:pt x="82550" y="268288"/>
                    </a:moveTo>
                    <a:lnTo>
                      <a:pt x="82550" y="185738"/>
                    </a:lnTo>
                    <a:lnTo>
                      <a:pt x="0" y="123825"/>
                    </a:lnTo>
                    <a:lnTo>
                      <a:pt x="20638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412163" y="2184400"/>
                <a:ext cx="227013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82550">
                    <a:moveTo>
                      <a:pt x="0" y="82550"/>
                    </a:moveTo>
                    <a:lnTo>
                      <a:pt x="0" y="20638"/>
                    </a:lnTo>
                    <a:lnTo>
                      <a:pt x="103188" y="0"/>
                    </a:lnTo>
                    <a:lnTo>
                      <a:pt x="165100" y="61913"/>
                    </a:lnTo>
                    <a:lnTo>
                      <a:pt x="227013" y="8255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8258556" y="2705100"/>
              <a:ext cx="14186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Двигайтесь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59318" y="3282950"/>
              <a:ext cx="19945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спорт каждый день</a:t>
              </a:r>
            </a:p>
          </p:txBody>
        </p:sp>
      </p:grpSp>
      <p:grpSp>
        <p:nvGrpSpPr>
          <p:cNvPr id="51" name="rec-4"/>
          <p:cNvGrpSpPr/>
          <p:nvPr/>
        </p:nvGrpSpPr>
        <p:grpSpPr>
          <a:xfrm>
            <a:off x="762000" y="3952875"/>
            <a:ext cx="10668000" cy="2047875"/>
            <a:chOff x="762000" y="3952875"/>
            <a:chExt cx="10668000" cy="2047875"/>
          </a:xfrm>
        </p:grpSpPr>
        <p:sp>
          <p:nvSpPr>
            <p:cNvPr id="29" name="Rectangle 29"/>
            <p:cNvSpPr/>
            <p:nvPr/>
          </p:nvSpPr>
          <p:spPr>
            <a:xfrm>
              <a:off x="4381500" y="3952875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4710113" y="4319588"/>
              <a:ext cx="371476" cy="371476"/>
              <a:chOff x="4710113" y="4319588"/>
              <a:chExt cx="371476" cy="37147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4875213" y="448468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8"/>
                    </a:moveTo>
                    <a:cubicBezTo>
                      <a:pt x="0" y="32035"/>
                      <a:pt x="9240" y="41275"/>
                      <a:pt x="20638" y="41275"/>
                    </a:cubicBezTo>
                    <a:cubicBezTo>
                      <a:pt x="32035" y="41275"/>
                      <a:pt x="41275" y="32035"/>
                      <a:pt x="41275" y="20638"/>
                    </a:cubicBezTo>
                    <a:cubicBezTo>
                      <a:pt x="41275" y="9240"/>
                      <a:pt x="32035" y="0"/>
                      <a:pt x="20638" y="0"/>
                    </a:cubicBezTo>
                    <a:cubicBezTo>
                      <a:pt x="9240" y="0"/>
                      <a:pt x="0" y="9240"/>
                      <a:pt x="0" y="20638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792663" y="4402138"/>
                <a:ext cx="20637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206375" h="206375">
                    <a:moveTo>
                      <a:pt x="0" y="103188"/>
                    </a:moveTo>
                    <a:cubicBezTo>
                      <a:pt x="0" y="160177"/>
                      <a:pt x="46199" y="206375"/>
                      <a:pt x="103188" y="206375"/>
                    </a:cubicBezTo>
                    <a:cubicBezTo>
                      <a:pt x="160177" y="206375"/>
                      <a:pt x="206375" y="160177"/>
                      <a:pt x="206375" y="103188"/>
                    </a:cubicBezTo>
                    <a:cubicBezTo>
                      <a:pt x="206375" y="46199"/>
                      <a:pt x="160177" y="0"/>
                      <a:pt x="103188" y="0"/>
                    </a:cubicBezTo>
                    <a:cubicBezTo>
                      <a:pt x="46199" y="0"/>
                      <a:pt x="0" y="46199"/>
                      <a:pt x="0" y="103188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710113" y="4319588"/>
                <a:ext cx="371476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371476" h="371476">
                    <a:moveTo>
                      <a:pt x="0" y="185738"/>
                    </a:moveTo>
                    <a:cubicBezTo>
                      <a:pt x="0" y="288318"/>
                      <a:pt x="83158" y="371476"/>
                      <a:pt x="185738" y="371476"/>
                    </a:cubicBezTo>
                    <a:cubicBezTo>
                      <a:pt x="288318" y="371476"/>
                      <a:pt x="371476" y="288318"/>
                      <a:pt x="371476" y="185738"/>
                    </a:cubicBezTo>
                    <a:cubicBezTo>
                      <a:pt x="371476" y="83158"/>
                      <a:pt x="288318" y="0"/>
                      <a:pt x="185738" y="0"/>
                    </a:cubicBezTo>
                    <a:cubicBezTo>
                      <a:pt x="83158" y="0"/>
                      <a:pt x="0" y="83158"/>
                      <a:pt x="0" y="185738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4639056" y="4943475"/>
              <a:ext cx="16605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Ставьте цели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39818" y="5521325"/>
              <a:ext cx="22300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смысл вместо погони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001000" y="3952875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8391525" y="4319588"/>
              <a:ext cx="247650" cy="371476"/>
              <a:chOff x="8391525" y="4319588"/>
              <a:chExt cx="247650" cy="37147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391525" y="4319588"/>
                <a:ext cx="247650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371476">
                    <a:moveTo>
                      <a:pt x="0" y="41275"/>
                    </a:moveTo>
                    <a:cubicBezTo>
                      <a:pt x="0" y="18479"/>
                      <a:pt x="18479" y="0"/>
                      <a:pt x="41275" y="0"/>
                    </a:cubicBezTo>
                    <a:lnTo>
                      <a:pt x="206375" y="0"/>
                    </a:lnTo>
                    <a:cubicBezTo>
                      <a:pt x="229171" y="0"/>
                      <a:pt x="247650" y="18479"/>
                      <a:pt x="247650" y="41275"/>
                    </a:cubicBezTo>
                    <a:lnTo>
                      <a:pt x="247650" y="330201"/>
                    </a:lnTo>
                    <a:cubicBezTo>
                      <a:pt x="247650" y="352996"/>
                      <a:pt x="229171" y="371476"/>
                      <a:pt x="206375" y="371476"/>
                    </a:cubicBezTo>
                    <a:lnTo>
                      <a:pt x="41275" y="371476"/>
                    </a:lnTo>
                    <a:cubicBezTo>
                      <a:pt x="18479" y="371476"/>
                      <a:pt x="0" y="352996"/>
                      <a:pt x="0" y="330201"/>
                    </a:cubicBezTo>
                    <a:lnTo>
                      <a:pt x="0" y="41275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494713" y="4340225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515350" y="46085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06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8258556" y="4943475"/>
              <a:ext cx="20275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Детокс соцсетей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59318" y="5521325"/>
              <a:ext cx="28834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ограничьте экранное время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62000" y="3952875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1090613" y="4319588"/>
              <a:ext cx="371476" cy="371476"/>
              <a:chOff x="1090613" y="4319588"/>
              <a:chExt cx="371476" cy="37147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090613" y="4319588"/>
                <a:ext cx="371476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371476" h="371476">
                    <a:moveTo>
                      <a:pt x="0" y="185738"/>
                    </a:moveTo>
                    <a:cubicBezTo>
                      <a:pt x="0" y="288318"/>
                      <a:pt x="83158" y="371476"/>
                      <a:pt x="185738" y="371476"/>
                    </a:cubicBezTo>
                    <a:cubicBezTo>
                      <a:pt x="288318" y="371476"/>
                      <a:pt x="371476" y="288318"/>
                      <a:pt x="371476" y="185738"/>
                    </a:cubicBezTo>
                    <a:cubicBezTo>
                      <a:pt x="371476" y="83158"/>
                      <a:pt x="288318" y="0"/>
                      <a:pt x="185738" y="0"/>
                    </a:cubicBezTo>
                    <a:cubicBezTo>
                      <a:pt x="83158" y="0"/>
                      <a:pt x="0" y="83158"/>
                      <a:pt x="0" y="185738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214438" y="4464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206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338263" y="4464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206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224757" y="4567238"/>
                <a:ext cx="103188" cy="21680"/>
              </a:xfrm>
              <a:custGeom>
                <a:avLst/>
                <a:gdLst/>
                <a:ahLst/>
                <a:cxnLst/>
                <a:rect l="l" t="t" r="r" b="b"/>
                <a:pathLst>
                  <a:path w="103188" h="21680">
                    <a:moveTo>
                      <a:pt x="0" y="0"/>
                    </a:moveTo>
                    <a:cubicBezTo>
                      <a:pt x="13586" y="13866"/>
                      <a:pt x="32181" y="21680"/>
                      <a:pt x="51594" y="21680"/>
                    </a:cubicBezTo>
                    <a:cubicBezTo>
                      <a:pt x="71006" y="21680"/>
                      <a:pt x="89602" y="13866"/>
                      <a:pt x="103188" y="0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19556" y="4943475"/>
              <a:ext cx="16187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Медитируйте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20318" y="5521325"/>
              <a:ext cx="24115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10 минут осознанности</a:t>
              </a:r>
            </a:p>
          </p:txBody>
        </p:sp>
      </p:grpSp>
      <p:sp>
        <p:nvSpPr>
          <p:cNvPr id="52" name="Line 52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14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5-photo"/>
          <p:cNvPicPr>
            <a:picLocks noChangeAspect="1"/>
          </p:cNvPicPr>
          <p:nvPr/>
        </p:nvPicPr>
        <p:blipFill>
          <a:blip r:embed="rId3"/>
          <a:srcRect t="7812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5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6146770" cy="586740"/>
            <a:chOff x="746760" y="641350"/>
            <a:chExt cx="6146770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614677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= осознанные усилия</a:t>
              </a:r>
            </a:p>
          </p:txBody>
        </p:sp>
      </p:grpSp>
      <p:grpSp>
        <p:nvGrpSpPr>
          <p:cNvPr id="18" name="conclusions"/>
          <p:cNvGrpSpPr/>
          <p:nvPr/>
        </p:nvGrpSpPr>
        <p:grpSpPr>
          <a:xfrm>
            <a:off x="762000" y="1238250"/>
            <a:ext cx="10668000" cy="2209800"/>
            <a:chOff x="762000" y="1238250"/>
            <a:chExt cx="10668000" cy="2209800"/>
          </a:xfrm>
        </p:grpSpPr>
        <p:sp>
          <p:nvSpPr>
            <p:cNvPr id="7" name="Rectangle 7"/>
            <p:cNvSpPr/>
            <p:nvPr/>
          </p:nvSpPr>
          <p:spPr>
            <a:xfrm>
              <a:off x="762000" y="1238250"/>
              <a:ext cx="10668000" cy="2209800"/>
            </a:xfrm>
            <a:prstGeom prst="roundRect">
              <a:avLst>
                <a:gd name="adj" fmla="val 6897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82707" y="1438275"/>
              <a:ext cx="272955" cy="284004"/>
              <a:chOff x="1082707" y="1438275"/>
              <a:chExt cx="272955" cy="28400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123950" y="14382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95250"/>
                    </a:moveTo>
                    <a:cubicBezTo>
                      <a:pt x="0" y="147855"/>
                      <a:pt x="42645" y="190500"/>
                      <a:pt x="95250" y="190500"/>
                    </a:cubicBezTo>
                    <a:cubicBezTo>
                      <a:pt x="147855" y="190500"/>
                      <a:pt x="190500" y="147855"/>
                      <a:pt x="190500" y="95250"/>
                    </a:cubicBezTo>
                    <a:cubicBezTo>
                      <a:pt x="190500" y="42645"/>
                      <a:pt x="147855" y="0"/>
                      <a:pt x="95250" y="0"/>
                    </a:cubicBezTo>
                    <a:cubicBezTo>
                      <a:pt x="42645" y="0"/>
                      <a:pt x="0" y="42645"/>
                      <a:pt x="0" y="9525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219200" y="1581150"/>
                <a:ext cx="136462" cy="141129"/>
              </a:xfrm>
              <a:custGeom>
                <a:avLst/>
                <a:gdLst/>
                <a:ahLst/>
                <a:cxnLst/>
                <a:rect l="l" t="t" r="r" b="b"/>
                <a:pathLst>
                  <a:path w="136462" h="141129">
                    <a:moveTo>
                      <a:pt x="0" y="47625"/>
                    </a:moveTo>
                    <a:lnTo>
                      <a:pt x="53975" y="141129"/>
                    </a:lnTo>
                    <a:lnTo>
                      <a:pt x="79343" y="89805"/>
                    </a:lnTo>
                    <a:lnTo>
                      <a:pt x="136462" y="93488"/>
                    </a:lnTo>
                    <a:lnTo>
                      <a:pt x="82487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82707" y="1581150"/>
                <a:ext cx="136462" cy="141113"/>
              </a:xfrm>
              <a:custGeom>
                <a:avLst/>
                <a:gdLst/>
                <a:ahLst/>
                <a:cxnLst/>
                <a:rect l="l" t="t" r="r" b="b"/>
                <a:pathLst>
                  <a:path w="136462" h="141113">
                    <a:moveTo>
                      <a:pt x="53975" y="0"/>
                    </a:moveTo>
                    <a:lnTo>
                      <a:pt x="0" y="93504"/>
                    </a:lnTo>
                    <a:lnTo>
                      <a:pt x="57118" y="89805"/>
                    </a:lnTo>
                    <a:lnTo>
                      <a:pt x="82487" y="141113"/>
                    </a:lnTo>
                    <a:lnTo>
                      <a:pt x="136462" y="47625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552956" y="1466850"/>
              <a:ext cx="10677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Выводы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8418" y="1968500"/>
              <a:ext cx="35526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1576" indent="-131576" algn="l">
                <a:buClr>
                  <a:schemeClr val="dk1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Счастье: гены, среда и действия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92418" y="1968500"/>
              <a:ext cx="44663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1576" indent="-131576" algn="l">
                <a:buClr>
                  <a:schemeClr val="dk1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Качество отношений — ключевой фактор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8418" y="2387600"/>
              <a:ext cx="43354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1576" indent="-131576" algn="l">
                <a:buClr>
                  <a:schemeClr val="dk1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Деньги важны до определённого уровня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92418" y="2387600"/>
              <a:ext cx="35950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1576" indent="-131576" algn="l">
                <a:buClr>
                  <a:schemeClr val="dk1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Смысл устойчивее удовольствия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8418" y="2806700"/>
              <a:ext cx="42707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1576" indent="-131576" algn="l">
                <a:buClr>
                  <a:schemeClr val="dk1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Счастье — навык, его можно развивать</a:t>
              </a:r>
            </a:p>
          </p:txBody>
        </p:sp>
      </p:grpSp>
      <p:grpSp>
        <p:nvGrpSpPr>
          <p:cNvPr id="31" name="sources"/>
          <p:cNvGrpSpPr/>
          <p:nvPr/>
        </p:nvGrpSpPr>
        <p:grpSpPr>
          <a:xfrm>
            <a:off x="762000" y="3695700"/>
            <a:ext cx="6325741" cy="2705100"/>
            <a:chOff x="762000" y="3695700"/>
            <a:chExt cx="6325741" cy="2705100"/>
          </a:xfrm>
        </p:grpSpPr>
        <p:sp>
          <p:nvSpPr>
            <p:cNvPr id="19" name="Rectangle 19"/>
            <p:cNvSpPr/>
            <p:nvPr/>
          </p:nvSpPr>
          <p:spPr>
            <a:xfrm>
              <a:off x="762000" y="3695700"/>
              <a:ext cx="6096000" cy="2705100"/>
            </a:xfrm>
            <a:prstGeom prst="roundRect">
              <a:avLst>
                <a:gd name="adj" fmla="val 5634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1054100" y="3879850"/>
              <a:ext cx="177800" cy="203199"/>
              <a:chOff x="1054100" y="3879850"/>
              <a:chExt cx="177800" cy="203199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1054100" y="3879850"/>
                <a:ext cx="1778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03199">
                    <a:moveTo>
                      <a:pt x="177800" y="0"/>
                    </a:moveTo>
                    <a:lnTo>
                      <a:pt x="177800" y="203199"/>
                    </a:lnTo>
                    <a:lnTo>
                      <a:pt x="25400" y="203199"/>
                    </a:lnTo>
                    <a:cubicBezTo>
                      <a:pt x="11372" y="203199"/>
                      <a:pt x="0" y="191828"/>
                      <a:pt x="0" y="1778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77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54100" y="4032249"/>
                <a:ext cx="177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5400">
                    <a:moveTo>
                      <a:pt x="177800" y="0"/>
                    </a:moveTo>
                    <a:lnTo>
                      <a:pt x="25400" y="0"/>
                    </a:ln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104900" y="393065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381506" y="3848100"/>
              <a:ext cx="13082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Источники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4504" y="4343400"/>
              <a:ext cx="23843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95692" indent="-95692" algn="l">
                <a:buClr>
                  <a:schemeClr val="dk1"/>
                </a:buClr>
                <a:buSzTx/>
                <a:buFontTx/>
                <a:buChar char="•"/>
              </a:pPr>
              <a:r>
                <a:rPr lang="ru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World Happiness Report (ВОЗ)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4504" y="4667250"/>
              <a:ext cx="20887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95692" indent="-95692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Killingsworth, PNAS (2021)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4504" y="4991100"/>
              <a:ext cx="2374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95692" indent="-95692" algn="l">
                <a:buClr>
                  <a:schemeClr val="dk1"/>
                </a:buClr>
                <a:buSzTx/>
                <a:buFontTx/>
                <a:buChar char="•"/>
              </a:pPr>
              <a:r>
                <a:rPr lang="ru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Канеман и Дитон (2010, 2023)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32504" y="4343400"/>
              <a:ext cx="25553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95692" indent="-95692" algn="l">
                <a:buClr>
                  <a:schemeClr val="dk1"/>
                </a:buClr>
                <a:buSzTx/>
                <a:buFontTx/>
                <a:buChar char="•"/>
              </a:pPr>
              <a:r>
                <a:rPr lang="ru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Селигман «Подлинное счастье»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32504" y="4667250"/>
              <a:ext cx="30552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95692" indent="-95692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Lyubomirsky, Sheldon &amp; Schkade (2005)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032504" y="4991100"/>
              <a:ext cx="14708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95692" indent="-95692" algn="l">
                <a:buClr>
                  <a:schemeClr val="dk1"/>
                </a:buClr>
                <a:buSzTx/>
                <a:buFontTx/>
                <a:buChar char="•"/>
              </a:pPr>
              <a:r>
                <a:rPr lang="ru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Джидарьян (2013)</a:t>
              </a:r>
            </a:p>
          </p:txBody>
        </p:sp>
      </p:grpSp>
      <p:grpSp>
        <p:nvGrpSpPr>
          <p:cNvPr id="35" name="qr"/>
          <p:cNvGrpSpPr/>
          <p:nvPr/>
        </p:nvGrpSpPr>
        <p:grpSpPr>
          <a:xfrm>
            <a:off x="7048500" y="3695700"/>
            <a:ext cx="4191000" cy="2705100"/>
            <a:chOff x="7048500" y="3695700"/>
            <a:chExt cx="4191000" cy="2705100"/>
          </a:xfrm>
        </p:grpSpPr>
        <p:sp>
          <p:nvSpPr>
            <p:cNvPr id="32" name="Rectangle 32"/>
            <p:cNvSpPr/>
            <p:nvPr/>
          </p:nvSpPr>
          <p:spPr>
            <a:xfrm>
              <a:off x="7048500" y="3695700"/>
              <a:ext cx="4191000" cy="2705100"/>
            </a:xfrm>
            <a:prstGeom prst="roundRect">
              <a:avLst>
                <a:gd name="adj" fmla="val 5634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595374" y="3873500"/>
              <a:ext cx="30972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Полный список источников</a:t>
              </a:r>
            </a:p>
          </p:txBody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91500" y="4305300"/>
              <a:ext cx="1905000" cy="1905000"/>
            </a:xfrm>
            <a:prstGeom prst="rect">
              <a:avLst/>
            </a:prstGeom>
          </p:spPr>
        </p:pic>
      </p:grpSp>
      <p:sp>
        <p:nvSpPr>
          <p:cNvPr id="36" name="Line 36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happiness_concept">
  <a:themeElements>
    <a:clrScheme name="happiness_concept">
      <a:dk1>
        <a:srgbClr val="2C3E50"/>
      </a:dk1>
      <a:lt1>
        <a:srgbClr val="FFFFFF"/>
      </a:lt1>
      <a:dk2>
        <a:srgbClr val="2C3E50"/>
      </a:dk2>
      <a:lt2>
        <a:srgbClr val="EEECE1"/>
      </a:lt2>
      <a:accent1>
        <a:srgbClr val="1B4F72"/>
      </a:accent1>
      <a:accent2>
        <a:srgbClr val="1B4F72"/>
      </a:accent2>
      <a:accent3>
        <a:srgbClr val="9BBB59"/>
      </a:accent3>
      <a:accent4>
        <a:srgbClr val="1B4F72"/>
      </a:accent4>
      <a:accent5>
        <a:srgbClr val="4BACC6"/>
      </a:accent5>
      <a:accent6>
        <a:srgbClr val="F79646"/>
      </a:accent6>
      <a:hlink>
        <a:srgbClr val="1B4F72"/>
      </a:hlink>
      <a:folHlink>
        <a:srgbClr val="800080"/>
      </a:folHlink>
    </a:clrScheme>
    <a:fontScheme name="happiness_conce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appiness_conce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happiness_concept">
  <a:themeElements>
    <a:clrScheme name="happiness_concept">
      <a:dk1>
        <a:srgbClr val="2C3E50"/>
      </a:dk1>
      <a:lt1>
        <a:srgbClr val="FFFFFF"/>
      </a:lt1>
      <a:dk2>
        <a:srgbClr val="2C3E50"/>
      </a:dk2>
      <a:lt2>
        <a:srgbClr val="EEECE1"/>
      </a:lt2>
      <a:accent1>
        <a:srgbClr val="1B4F72"/>
      </a:accent1>
      <a:accent2>
        <a:srgbClr val="1B4F72"/>
      </a:accent2>
      <a:accent3>
        <a:srgbClr val="9BBB59"/>
      </a:accent3>
      <a:accent4>
        <a:srgbClr val="1B4F72"/>
      </a:accent4>
      <a:accent5>
        <a:srgbClr val="4BACC6"/>
      </a:accent5>
      <a:accent6>
        <a:srgbClr val="F79646"/>
      </a:accent6>
      <a:hlink>
        <a:srgbClr val="1B4F72"/>
      </a:hlink>
      <a:folHlink>
        <a:srgbClr val="800080"/>
      </a:folHlink>
    </a:clrScheme>
    <a:fontScheme name="happiness_conce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appiness_conce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635</Words>
  <Application>Microsoft Office PowerPoint</Application>
  <PresentationFormat>Широкоэкранный</PresentationFormat>
  <Paragraphs>217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Microsoft YaHei</vt:lpstr>
      <vt:lpstr>Arial</vt:lpstr>
      <vt:lpstr>happiness_concept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/>
  <cp:lastModifiedBy>student</cp:lastModifiedBy>
  <cp:revision>10</cp:revision>
  <dcterms:created xsi:type="dcterms:W3CDTF">2026-10-09T22:19:31Z</dcterms:created>
  <dcterms:modified xsi:type="dcterms:W3CDTF">2026-10-10T10:48:22Z</dcterms:modified>
  <cp:category/>
  <cp:contentStatus/>
  <dc:language>ru</dc:language>
</cp:coreProperties>
</file>