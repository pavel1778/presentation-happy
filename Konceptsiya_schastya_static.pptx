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Разберёмся по порядку.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— выяснить, что делает людей счастливыми. Три задачи: рассмотреть научные подходы, выявить ключевые факторы и дать практические рекомендации. Дальше разберём, почему эта тема важна.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пройдём от философии к нейробиологии, от теорий к факторам, от данных к практическим выводам. Начнём с главного вопроса: почему счастье вообще стоит изучать?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Всемирная организация здравоохранения фиксирует рост депрессии. При этом средний уровень счастья не растёт. Парадокс: литературы о счастье всё больше, а счастливых людей меньше. Аристотель называл счастье «хорошим уделом». Что же такое счастье с научной точки зрения?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психологии счастье — это субъективное благополучие. Оно включает оценку жизни и эмоции. Существует четыре подхода: психоанализ Юнга, когнитивный, позитивный и био-психо-социальный. Барбара Фредриксон доказала: позитивные эмоции расширяют мышление и накапливают ресурсы. Какие системы мозга за это отвечают?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Четыре ключевых нейромедиатора. Дофамин отвечает за предвкушение и мотивацию, серотонин — за настроение и сон, эндорфины — за лёгкость, окситоцин — за доверие и близость. Кент Берридж разделил liking и wanting — это открытие 1998 года. Как понимали счастье раньше?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определил счастье как эвдемонию. Стоики — как внутреннее спокойствие. Фома Аквинский — как дар Божий. Просвещение провозгласило его естественным правом. Утилитаризм — максимизацией удовольствия. Двадцать первый век — многомерным феноменом.</a:t>
            </a:r>
          </a:p>
          <a:p>
            <a:pPr/>
            <a:endParaRPr lang="ru" dirty="0"/>
          </a:p>
          <a:p>
            <a:pPr/>
            <a:r>
              <a:rPr lang="ru" dirty="0"/>
              <a:t>Западная линия — только одна из многих. У счастья есть и русская традиция осмысления: философская и религиозная. Об этом — дальше.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Русская традиция ставит в центр не обладание, а состояние души. Преподобный Никон Оптинский писал: «Счастью моему нет предела, я наконец узнал, что такое Царствие Божие внутри вас есть». Мученик Евстратий говорил: «Мучение это суть радость» — вера преображает страдание в надежду. Братья Стругацкие в «Понедельнике начинается в субботу» иронично заметили: «Счастье есть отсутствие несчастья». В Томске даже стоит памятник счастью — знак того, что счастье есть культурный феномен, и представление о нём менялось от эпохи к эпохе.</a:t>
            </a:r>
          </a:p>
          <a:p>
            <a:pPr/>
            <a:endParaRPr lang="ru" dirty="0"/>
          </a:p>
          <a:p>
            <a:pPr/>
            <a:r>
              <a:rPr lang="ru" dirty="0"/>
              <a:t>Но счастье изучали не только философы и писатели — были и отечественные учёные.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Отечественная психология тоже вносила вклад в понимание счастья. С. Л. Рубинштейн в книге «Бытие и сознание» (1957) рассматривал счастье как единство знания и переживания. Д. А. Леонтьев в «Психологии смысла» (2003) показал, что смысл жизни и жизненные ориентации — основа благополучия. И. А. Джидарьян («Психология счастья и оптимизма», 2013) связывала счастье с оптимизмом и удовлетворённостью жизнью. Л. В. Куликов («Психология настроения», 1997) описал настроение как фон и регулятор субъективного благополучия. Идею активности и потока в отечественной традиции развивали Рубинштейн, Выготский и Петровский.</a:t>
            </a:r>
          </a:p>
          <a:p>
            <a:pPr/>
            <a:endParaRPr lang="ru" dirty="0"/>
          </a:p>
          <a:p>
            <a:pPr/>
            <a:r>
              <a:rPr lang="ru" dirty="0"/>
              <a:t>Какие два подхода конкурируют сегодня?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как максимум удовольствия, но есть риск быстрого привыкания. Эвдемония: счастье как смысл и добродетели, результат устойчивее. Канадский психолог Гордон Ньюфелд говорил: счастье находится по ту сторону слёз. Как измерить счастье в процентах?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Спор о гедонии и эвдемонии — один из древнейших в этике. Аристотель определял эвдемонию не как пассивное состояние, а как «деятельность души в полноте добродетели» — жизнь по разуму в стремлении к совершенству (Eudaimonia). Гедония же — это удовольствие и отсутствие страданий (Hedone). Иными словами, вопрос «что такое счастье» был поставлен философией задолго до психологии, и уже тогда стало ясно: быстрое удовольствие и устойчивый смысл — это разные вещи. Как измерить счастье в процентах? Но их относительная важность зависит от человека и ситуации.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пятьдесят процентов генетика, сорок процентов действия, десять процентов обстоятельства. Соня Любомирски назвала это теорией сорока процентов. Но мета-анализ Рорера и Шмукля 2018 года уточняет: гены и среда взаимодействуют, а не суммируются. Что реально влияет на счастье? Формула впервые предложена Любомирским, Шелдоном и Шкейдом (2005). Это иллюстративная модель, а не универсальный закон: наследуемость и вклад действий оцениваются по-разному.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Гарвардское исследование длиной восемьдесят пять лет показало: качество отношений — сильнейший предиктор счастья. Другие факторы: здоровье, осмысленность, благодарность и состояние потока по Чиксентмихайи.</a:t>
            </a:r>
          </a:p>
          <a:p>
            <a:pPr/>
            <a:endParaRPr lang="ru" dirty="0"/>
          </a:p>
          <a:p>
            <a:pPr/>
            <a:r>
              <a:rPr lang="ru" dirty="0"/>
              <a:t>Три книги помогают это понять. Джонатан Хайдт, «Гипотеза счастья: поиск современной истины в древней мудрости» (2006), сравнивает душу с наездником на слоне: разум направляет, но эмоции сильнее. Лоретта Бройнинг, «Гормоны счастья. Приучите свой мозг вырабатывать серотонин, дофамин, эндорфин и окситоцин», объясняет химию этих нейромедиаторов. Михай Чиксентмихайи, «Психология оптимального переживания», описывает поток — полную вовлечённость, в которой время исчезает.</a:t>
            </a:r>
          </a:p>
          <a:p>
            <a:pPr/>
            <a:endParaRPr lang="ru" dirty="0"/>
          </a:p>
          <a:p>
            <a:pPr/>
            <a:r>
              <a:rPr lang="ru" dirty="0"/>
              <a:t>Промежуточный вывод: для большинства людей, по данным Harvard Study, качество отношений — важнейший фактор, но деньги тоже важны до определённого уровня.</a:t>
            </a:r>
          </a:p>
          <a:p>
            <a:pPr/>
            <a:endParaRPr lang="ru" dirty="0"/>
          </a:p>
          <a:p>
            <a:pPr/>
            <a:r>
              <a:rPr lang="ru" dirty="0"/>
              <a:t>А что насчёт денег?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2010 году показали порог по уровню дохода. Но Киллингсворт в 2021 году выяснил: счастье растёт и дальше. В 2023 году Канеман и Киллингсворт выпустили совместную работу: плато — только у двадцати процентов самых несчастных. А как насчёт образования?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Ещё в античности спорили, делает ли богатство счастливым. Аристотель считал, что умеренное благосостояние — условие достойной жизни, но не её цель: добродетель и разум важнее накопления. Эпикур, которого часто понимают неверно, учил довольствоваться малым и искать не роскошь, а спокойствие души (атараксию). Стоики, прежде всего Сенека, прямо писали: счастье зависит от нашего отношения к вещам, а не от их количества. Поэтому «плато» на графике дохода — это эмпирическое подтверждение старой философской мысли: деньги нужны до определённого предела, а дальше решает то, как мы распоряжаемся жизнью. А как насчёт образования?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нелинейна. Самая низкая удовлетворённость — у людей со средним специальным образованием. Причины: завышенные ожидания и ограниченные возможности. А что с цифровой средой?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Соцсети дают связь, поддержку, доступ к знаниям и онлайн-терапию. Но провоцируют сравнение, страх упустить, падение самооценки и плохой сон. Осознанное потребление и цифровой детокс повышают благополучие. Что делать конкретно?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конкретных шагов: инвестировать в отношения, практиковать благодарность, заниматься спортом, медитировать, ставить цели и ограничить соцсети. Каждый шаг подтверждён научными исследованиями.</a:t>
            </a:r>
          </a:p>
          <a:p>
            <a:pPr/>
            <a:endParaRPr lang="ru" dirty="0"/>
          </a:p>
          <a:p>
            <a:pPr/>
            <a:r>
              <a:rPr lang="ru" dirty="0"/>
              <a:t>Дополняет их список из статьи портала Apteka — пять шагов к счастью. Первый: признать истину — жизнь не обязана быть фейерверком радости. Второй: избавиться от обид, простить и отпустить. Третий: проживать все эмоции, включая негативные. Четвёртый: благодарность, фокус на хорошем. Пятый: искренность в общении, тёплые связи.</a:t>
            </a:r>
          </a:p>
          <a:p>
            <a:pPr/>
            <a:endParaRPr lang="ru" dirty="0"/>
          </a:p>
          <a:p>
            <a:pPr/>
            <a:r>
              <a:rPr lang="ru" dirty="0"/>
              <a:t>И важная мысль: призвание не обязательно связано с работой. Даже нелюбимая работа может приносить пользу, если видеть в ней смысл. Академик Сергей Смирнов говорил о ценности семьи как опоры человека.</a:t>
            </a:r>
          </a:p>
          <a:p>
            <a:pPr/>
            <a:endParaRPr lang="ru" dirty="0"/>
          </a:p>
          <a:p>
            <a:pPr/>
            <a:r>
              <a:rPr lang="ru" dirty="0"/>
              <a:t>В основе этих шагов — идея активности как основы личности (С. Л. Рубинштейн) и развития через деятельность (Л. С. Выготский): счастье растёт из того, что мы делаем, а не только из того, что с нами происходит.</a:t>
            </a:r>
          </a:p>
          <a:p>
            <a:pPr/>
            <a:endParaRPr lang="ru" dirty="0"/>
          </a:p>
          <a:p>
            <a:pPr/>
            <a:r>
              <a:rPr lang="ru" dirty="0"/>
              <a:t>Итог — в следующем слайде.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Оно зависит от генов, обстоятельств и наших действий. Главный фактор — качество отношений. Деньги важны только до определённого уровня. Смысл устойчивее удовольствия. Счастье — это навык, который можно развивать. Полный список источников — по QR-коду. Счастье можно развивать через практики, но генетика и обстоятельства тоже влияют.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a4bd17c0a4ce7cc8.gif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efefa2fb4b90a1b.jpg"/>
  <Relationship Id="rId3" Type="http://schemas.openxmlformats.org/officeDocument/2006/relationships/image" Target="../media/image_a6c36e00f88891c6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image" Target="../media/image_2222c98a7936cd44.jp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0a04665911cb4d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f09c644b6901cd77.png"/>
  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6000"/>
                </a:srgbClr>
              </a:gs>
              <a:gs pos="100000">
                <a:srgbClr val="F5E6D3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cover-decor"/>
          <p:cNvGrpSpPr/>
          <p:nvPr/>
        </p:nvGrpSpPr>
        <p:grpSpPr>
          <a:xfrm>
            <a:off x="0" y="0"/>
            <a:ext cx="12477750" cy="7143750"/>
            <a:chOff x="0" y="0"/>
            <a:chExt cx="12477750" cy="7143750"/>
          </a:xfrm>
        </p:grpSpPr>
        <p:sp>
          <p:nvSpPr>
            <p:cNvPr id="4" name="cover-orb"/>
            <p:cNvSpPr/>
            <p:nvPr/>
          </p:nvSpPr>
          <p:spPr>
            <a:xfrm>
              <a:off x="8096250" y="2762250"/>
              <a:ext cx="4381500" cy="43815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5" name="cover-accent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</p:grpSp>
      <p:grpSp>
        <p:nvGrpSpPr>
          <p:cNvPr id="9" name="cover-header"/>
          <p:cNvGrpSpPr/>
          <p:nvPr/>
        </p:nvGrpSpPr>
        <p:grpSpPr>
          <a:xfrm>
            <a:off x="746760" y="1130300"/>
            <a:ext cx="7980969" cy="2250440"/>
            <a:chOff x="746760" y="1130300"/>
            <a:chExt cx="7980969" cy="2250440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612900"/>
              <a:ext cx="6145682" cy="1767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852666" y="800100"/>
            <a:ext cx="1535419" cy="2081657"/>
            <a:chOff x="9852666" y="800100"/>
            <a:chExt cx="1535419" cy="2081657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6" y="2559050"/>
              <a:ext cx="1535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28750"/>
            <a:chOff x="762000" y="3905250"/>
            <a:chExt cx="4749125" cy="1428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  <a:b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540060" cy="586740"/>
            <a:chOff x="746760" y="641350"/>
            <a:chExt cx="554006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540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4060" y="2127250"/>
              <a:ext cx="12329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 людей</a:t>
              </a:r>
              <a:b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Дать практические рекомендации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3558306" cy="586740"/>
            <a:chOff x="746760" y="641350"/>
            <a:chExt cx="355830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583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советы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8548024" cy="586740"/>
            <a:chOff x="746760" y="641350"/>
            <a:chExt cx="854802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54802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28" name="chart-dep"/>
          <p:cNvGrpSpPr/>
          <p:nvPr/>
        </p:nvGrpSpPr>
        <p:grpSpPr>
          <a:xfrm>
            <a:off x="762000" y="1762125"/>
            <a:ext cx="5238750" cy="3900932"/>
            <a:chOff x="762000" y="1762125"/>
            <a:chExt cx="5238750" cy="3900932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43100"/>
              <a:ext cx="1845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РФ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0368" y="2292350"/>
              <a:ext cx="1880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доля взрослых, %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428750" y="2724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34004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28750" y="4086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567" y="2587625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67" y="32639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111" y="39497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111" y="4568825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43050" y="2981325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666750"/>
                  </a:moveTo>
                  <a:cubicBezTo>
                    <a:pt x="1314450" y="447675"/>
                    <a:pt x="2552700" y="161925"/>
                    <a:pt x="3962400" y="0"/>
                  </a:cubicBezTo>
                </a:path>
              </a:pathLst>
            </a:custGeom>
            <a:noFill/>
            <a:ln w="57150" cap="rnd">
              <a:solidFill>
                <a:srgbClr val="E74C3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76375" y="3581400"/>
              <a:ext cx="133350" cy="1333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29250" y="2905125"/>
              <a:ext cx="152400" cy="1524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82142" y="2644775"/>
              <a:ext cx="64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13,1%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68" y="3597275"/>
              <a:ext cx="52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8,2%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5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99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68" y="50927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8,2% → 13,1% за 10 лет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9368" y="5340350"/>
              <a:ext cx="4594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Источник: НМИЦ психиатрии им. Сербского</a:t>
              </a:r>
            </a:p>
          </p:txBody>
        </p:sp>
      </p:grpSp>
      <p:grpSp>
        <p:nvGrpSpPr>
          <p:cNvPr id="45" name="chart-hap"/>
          <p:cNvGrpSpPr/>
          <p:nvPr/>
        </p:nvGrpSpPr>
        <p:grpSpPr>
          <a:xfrm>
            <a:off x="6286500" y="1762125"/>
            <a:ext cx="5143500" cy="3900932"/>
            <a:chOff x="6286500" y="1762125"/>
            <a:chExt cx="5143500" cy="3900932"/>
          </a:xfrm>
        </p:grpSpPr>
        <p:sp>
          <p:nvSpPr>
            <p:cNvPr id="29" name="Rectangle 29"/>
            <p:cNvSpPr/>
            <p:nvPr/>
          </p:nvSpPr>
          <p:spPr>
            <a:xfrm>
              <a:off x="6286500" y="1762125"/>
              <a:ext cx="514350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9431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4868" y="2292350"/>
              <a:ext cx="13902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баллы (0–10)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9532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953250" y="47625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953250" y="27432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53250" y="37528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5123" y="260667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5123" y="36163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123" y="45688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53250" y="424815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0" y="19050"/>
                  </a:moveTo>
                  <a:cubicBezTo>
                    <a:pt x="1238250" y="57150"/>
                    <a:pt x="2667000" y="0"/>
                    <a:pt x="4286250" y="3810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63300" y="42100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7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8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3868" y="5092700"/>
              <a:ext cx="29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Индекс на плато с 2005 года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3868" y="5340350"/>
              <a:ext cx="193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Источник: Росстат</a:t>
              </a:r>
            </a:p>
          </p:txBody>
        </p:sp>
      </p:grpSp>
      <p:grpSp>
        <p:nvGrpSpPr>
          <p:cNvPr id="50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48" name="Group 48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Парадокс: литературы больше, счастливых людей — нет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56631" cy="586740"/>
            <a:chOff x="746760" y="641350"/>
            <a:chExt cx="6856631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566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-left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 = оценка + эмоции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сумма двух компонентов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эмоциональный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когнитивный компонент</a:t>
              </a:r>
            </a:p>
          </p:txBody>
        </p:sp>
      </p:grpSp>
      <p:grpSp>
        <p:nvGrpSpPr>
          <p:cNvPr id="38" name="appr-1"/>
          <p:cNvGrpSpPr/>
          <p:nvPr/>
        </p:nvGrpSpPr>
        <p:grpSpPr>
          <a:xfrm>
            <a:off x="762000" y="3810000"/>
            <a:ext cx="10668000" cy="1123950"/>
            <a:chOff x="762000" y="3810000"/>
            <a:chExt cx="106680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мысли и оценки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сильные стороны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3810000"/>
              <a:ext cx="2466975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3618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Био-психо-соц.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4756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среда и тело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6601265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Теория «расширять и наращивать» (broaden-and-build):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позитивные эмоции расширяют мышление и накапливают ресурсы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341139" cy="586740"/>
            <a:chOff x="746760" y="641350"/>
            <a:chExt cx="7341139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3411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мозг создаёт ощущение счастья</a:t>
              </a:r>
            </a:p>
          </p:txBody>
        </p:sp>
      </p:grpSp>
      <p:grpSp>
        <p:nvGrpSpPr>
          <p:cNvPr id="35" name="diagram"/>
          <p:cNvGrpSpPr/>
          <p:nvPr/>
        </p:nvGrpSpPr>
        <p:grpSpPr>
          <a:xfrm>
            <a:off x="762000" y="1714500"/>
            <a:ext cx="10668000" cy="3472307"/>
            <a:chOff x="762000" y="1714500"/>
            <a:chExt cx="10668000" cy="3472307"/>
          </a:xfrm>
        </p:grpSpPr>
        <p:sp>
          <p:nvSpPr>
            <p:cNvPr id="7" name="Rectangle 7"/>
            <p:cNvSpPr/>
            <p:nvPr/>
          </p:nvSpPr>
          <p:spPr>
            <a:xfrm>
              <a:off x="4191000" y="1952625"/>
              <a:ext cx="3810000" cy="2667000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232" r="0" b="231"/>
            <a:stretch>
              <a:fillRect/>
            </a:stretch>
          </p:blipFill>
          <p:spPr>
            <a:xfrm>
              <a:off x="4305300" y="2009775"/>
              <a:ext cx="3581400" cy="2562225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>
              <a:off x="4136231" y="487362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92168" y="4864100"/>
              <a:ext cx="4078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Анимация: работа нейросетей мозга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453437" y="2109787"/>
              <a:ext cx="314324" cy="314324"/>
              <a:chOff x="8453437" y="2109787"/>
              <a:chExt cx="314324" cy="31432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453437" y="21097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58212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62987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66943" y="2319337"/>
                <a:ext cx="87312" cy="1834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18345">
                    <a:moveTo>
                      <a:pt x="0" y="0"/>
                    </a:moveTo>
                    <a:cubicBezTo>
                      <a:pt x="11496" y="11733"/>
                      <a:pt x="27230" y="18345"/>
                      <a:pt x="43656" y="18345"/>
                    </a:cubicBezTo>
                    <a:cubicBezTo>
                      <a:pt x="60082" y="18345"/>
                      <a:pt x="75817" y="11733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962644" y="2120900"/>
              <a:ext cx="14524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92668" y="2501900"/>
              <a:ext cx="1821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41400" y="4205287"/>
              <a:ext cx="244474" cy="314325"/>
              <a:chOff x="1041400" y="4205287"/>
              <a:chExt cx="244474" cy="314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63759" y="420528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1400" y="4441031"/>
                <a:ext cx="100409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00409" h="26194">
                    <a:moveTo>
                      <a:pt x="0" y="8731"/>
                    </a:moveTo>
                    <a:lnTo>
                      <a:pt x="87312" y="26194"/>
                    </a:lnTo>
                    <a:lnTo>
                      <a:pt x="100409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63637" y="4292600"/>
                <a:ext cx="69850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27012">
                    <a:moveTo>
                      <a:pt x="69850" y="227012"/>
                    </a:moveTo>
                    <a:lnTo>
                      <a:pt x="69850" y="157162"/>
                    </a:lnTo>
                    <a:lnTo>
                      <a:pt x="0" y="104775"/>
                    </a:ln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3787" y="4292600"/>
                <a:ext cx="19208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69850">
                    <a:moveTo>
                      <a:pt x="0" y="69850"/>
                    </a:moveTo>
                    <a:lnTo>
                      <a:pt x="0" y="17462"/>
                    </a:lnTo>
                    <a:lnTo>
                      <a:pt x="87312" y="0"/>
                    </a:lnTo>
                    <a:lnTo>
                      <a:pt x="139700" y="52387"/>
                    </a:lnTo>
                    <a:lnTo>
                      <a:pt x="192087" y="6985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33144" y="4216400"/>
              <a:ext cx="16363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3168" y="4597400"/>
              <a:ext cx="205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47391" y="421827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C0392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62644" y="4216400"/>
              <a:ext cx="1441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2668" y="4597400"/>
              <a:ext cx="2064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3937" y="21272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3144" y="2120900"/>
              <a:ext cx="1267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3168" y="2501900"/>
              <a:ext cx="2874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предвкушение</a:t>
              </a:r>
            </a:p>
          </p:txBody>
        </p:sp>
      </p:grpSp>
      <p:grpSp>
        <p:nvGrpSpPr>
          <p:cNvPr id="42" name="note"/>
          <p:cNvGrpSpPr/>
          <p:nvPr/>
        </p:nvGrpSpPr>
        <p:grpSpPr>
          <a:xfrm>
            <a:off x="762000" y="5257800"/>
            <a:ext cx="10668000" cy="914400"/>
            <a:chOff x="762000" y="5257800"/>
            <a:chExt cx="10668000" cy="9144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578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E74C3C">
                <a:alpha val="10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22397" y="5534025"/>
              <a:ext cx="193606" cy="285751"/>
              <a:chOff x="1122397" y="5534025"/>
              <a:chExt cx="193606" cy="2857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71575" y="553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87450" y="56292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2397" y="55340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553718" y="54991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удовольствия» (Berridge, 1998: liking vs wanting)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46914" cy="586740"/>
            <a:chOff x="746760" y="641350"/>
            <a:chExt cx="684691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469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95A5A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1042" y="3930650"/>
              <a:ext cx="156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максимум благ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rgbClr val="E67E2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по-разному, но искали всегда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b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b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811996" cy="586740"/>
            <a:chOff x="746760" y="641350"/>
            <a:chExt cx="581199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8119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в русской традиции</a:t>
              </a:r>
            </a:p>
          </p:txBody>
        </p:sp>
      </p:grpSp>
      <p:grpSp>
        <p:nvGrpSpPr>
          <p:cNvPr id="25" name="cards"/>
          <p:cNvGrpSpPr/>
          <p:nvPr/>
        </p:nvGrpSpPr>
        <p:grpSpPr>
          <a:xfrm>
            <a:off x="762000" y="1600200"/>
            <a:ext cx="10668000" cy="3143250"/>
            <a:chOff x="762000" y="1600200"/>
            <a:chExt cx="10668000" cy="3143250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69975" y="1924050"/>
              <a:ext cx="222250" cy="190500"/>
              <a:chOff x="1069975" y="1924050"/>
              <a:chExt cx="222250" cy="190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9975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2850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77518" y="1873250"/>
              <a:ext cx="359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Преподобный Никон Оптинский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" y="2266950"/>
              <a:ext cx="482109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«Счастью моему нет предела, я наконец</a:t>
              </a:r>
              <a:b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узнал, что такое Царствие Божие внутри вас»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562725" y="1892300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02018" y="1873250"/>
              <a:ext cx="2194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Мученик Евстратий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6718" y="2266950"/>
              <a:ext cx="380574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«Мучение это суть радость» — вера</a:t>
              </a:r>
              <a:b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преображает страдание в надежду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314700"/>
              <a:ext cx="106680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69975" y="3606800"/>
              <a:ext cx="222250" cy="254001"/>
              <a:chOff x="1069975" y="3606800"/>
              <a:chExt cx="222250" cy="2540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69975" y="3606800"/>
                <a:ext cx="222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4001">
                    <a:moveTo>
                      <a:pt x="222250" y="0"/>
                    </a:moveTo>
                    <a:lnTo>
                      <a:pt x="222250" y="254001"/>
                    </a:ln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69975" y="3797301"/>
                <a:ext cx="2222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31750">
                    <a:moveTo>
                      <a:pt x="222250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3475" y="3670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77518" y="3587750"/>
              <a:ext cx="6548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Братья Стругацкие · «Понедельник начинается в субботу»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218" y="4006850"/>
              <a:ext cx="8713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«Счастье есть отсутствие несчастья» — ироничная формула советской эпохи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218" y="4311650"/>
              <a:ext cx="7021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Томске стоит памятник счастью: счастье — культурный феномен</a:t>
              </a:r>
            </a:p>
          </p:txBody>
        </p:sp>
      </p:grpSp>
      <p:grpSp>
        <p:nvGrpSpPr>
          <p:cNvPr id="32" name="note"/>
          <p:cNvGrpSpPr/>
          <p:nvPr/>
        </p:nvGrpSpPr>
        <p:grpSpPr>
          <a:xfrm>
            <a:off x="762000" y="4953000"/>
            <a:ext cx="10668000" cy="1143000"/>
            <a:chOff x="762000" y="4953000"/>
            <a:chExt cx="106680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762000" y="495300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038225" y="5229225"/>
              <a:ext cx="285751" cy="285750"/>
              <a:chOff x="1038225" y="5229225"/>
              <a:chExt cx="285751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38225" y="522922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94994" y="529272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44588" y="545147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5618" y="5137150"/>
              <a:ext cx="6595670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Русская традиция ставит в центр не обладание, а состояние души: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нельзя купить — его можно только воспитать в себе.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c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c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322550" cy="586740"/>
            <a:chOff x="746760" y="641350"/>
            <a:chExt cx="532255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3225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Русские учёные о счастье</a:t>
              </a:r>
            </a:p>
          </p:txBody>
        </p:sp>
      </p:grpSp>
      <p:grpSp>
        <p:nvGrpSpPr>
          <p:cNvPr id="37" name="cards"/>
          <p:cNvGrpSpPr/>
          <p:nvPr/>
        </p:nvGrpSpPr>
        <p:grpSpPr>
          <a:xfrm>
            <a:off x="762000" y="1600200"/>
            <a:ext cx="10668000" cy="3408807"/>
            <a:chOff x="762000" y="1600200"/>
            <a:chExt cx="10668000" cy="3408807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8225" y="1857375"/>
              <a:ext cx="285750" cy="279401"/>
              <a:chOff x="1038225" y="1857375"/>
              <a:chExt cx="285750" cy="2794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01725" y="2127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5850" y="1889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81100" y="1857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382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287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76756" y="1828800"/>
              <a:ext cx="2154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С. Л. Рубинштейн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218" y="2235200"/>
              <a:ext cx="2834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«Бытие и сознание» (1957)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2552700"/>
              <a:ext cx="469157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единство знания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переживания, связь философии и психологии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62725" y="1857375"/>
              <a:ext cx="285751" cy="285750"/>
              <a:chOff x="6562725" y="1857375"/>
              <a:chExt cx="285751" cy="285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62725" y="18573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19494" y="19208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9088" y="20796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001256" y="1828800"/>
              <a:ext cx="1815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Д. А. Леонтьев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6718" y="2235200"/>
              <a:ext cx="3035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смысла» (2003)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6718" y="2552700"/>
              <a:ext cx="3580120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жизни и жизненные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ориентации — основа благополучия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038225" y="3686175"/>
              <a:ext cx="285751" cy="285751"/>
              <a:chOff x="1038225" y="3686175"/>
              <a:chExt cx="285751" cy="2857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117600" y="37655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38225" y="3686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476756" y="3657600"/>
              <a:ext cx="20341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И. А. Джидарьян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2218" y="4064000"/>
              <a:ext cx="4417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счастья и оптимизма» (2013)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2218" y="4381500"/>
              <a:ext cx="289426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Оптимизм, смысл жизни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удовлетворённость жизнью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557228" y="3697977"/>
              <a:ext cx="296457" cy="258073"/>
            </a:xfrm>
            <a:custGeom>
              <a:avLst/>
              <a:gdLst/>
              <a:ahLst/>
              <a:cxnLst/>
              <a:rect l="l" t="t" r="r" b="b"/>
              <a:pathLst>
                <a:path w="296457" h="258073">
                  <a:moveTo>
                    <a:pt x="267435" y="140153"/>
                  </a:moveTo>
                  <a:lnTo>
                    <a:pt x="148372" y="258073"/>
                  </a:lnTo>
                  <a:lnTo>
                    <a:pt x="29310" y="140153"/>
                  </a:lnTo>
                  <a:cubicBezTo>
                    <a:pt x="7899" y="119319"/>
                    <a:pt x="0" y="88227"/>
                    <a:pt x="8870" y="59699"/>
                  </a:cubicBezTo>
                  <a:cubicBezTo>
                    <a:pt x="17740" y="31172"/>
                    <a:pt x="41877" y="10041"/>
                    <a:pt x="71327" y="5020"/>
                  </a:cubicBezTo>
                  <a:cubicBezTo>
                    <a:pt x="100777" y="0"/>
                    <a:pt x="130551" y="11941"/>
                    <a:pt x="148372" y="35918"/>
                  </a:cubicBezTo>
                  <a:cubicBezTo>
                    <a:pt x="166268" y="12118"/>
                    <a:pt x="195979" y="336"/>
                    <a:pt x="225322" y="5403"/>
                  </a:cubicBezTo>
                  <a:cubicBezTo>
                    <a:pt x="254665" y="10471"/>
                    <a:pt x="278704" y="31535"/>
                    <a:pt x="287580" y="59958"/>
                  </a:cubicBezTo>
                  <a:cubicBezTo>
                    <a:pt x="296457" y="88382"/>
                    <a:pt x="288679" y="119383"/>
                    <a:pt x="267435" y="140249"/>
                  </a:cubicBezTo>
                </a:path>
              </a:pathLst>
            </a:custGeom>
            <a:noFill/>
            <a:ln w="31750">
              <a:solidFill>
                <a:srgbClr val="E74C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1256" y="3657600"/>
              <a:ext cx="1666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Л. В. Куликов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6718" y="4064000"/>
              <a:ext cx="3443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настроения» (1997)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6718" y="4381500"/>
              <a:ext cx="3218038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как фон и регулятор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субъективного благополучия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219700"/>
            <a:ext cx="10668000" cy="971550"/>
            <a:chOff x="762000" y="5219700"/>
            <a:chExt cx="10668000" cy="971550"/>
          </a:xfrm>
        </p:grpSpPr>
        <p:sp>
          <p:nvSpPr>
            <p:cNvPr id="38" name="Rectangle 38"/>
            <p:cNvSpPr/>
            <p:nvPr/>
          </p:nvSpPr>
          <p:spPr>
            <a:xfrm>
              <a:off x="762000" y="5219700"/>
              <a:ext cx="10668000" cy="971550"/>
            </a:xfrm>
            <a:prstGeom prst="roundRect">
              <a:avLst>
                <a:gd name="adj" fmla="val 15686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38225" y="5476875"/>
              <a:ext cx="285751" cy="285751"/>
              <a:chOff x="1038225" y="5476875"/>
              <a:chExt cx="285751" cy="28575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69975" y="54768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38225" y="56673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44601" y="54789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76351" y="566975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15618" y="5384800"/>
              <a:ext cx="6511913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Идею активности и потока в отечественной психологии развивали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С. Л. Рубинштейн, Л. С. Выготский и В. А. Петровский.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425982" cy="586740"/>
            <a:chOff x="746760" y="641350"/>
            <a:chExt cx="7425982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4259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18792" r="0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rcRect l="0" t="22222" r="0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счастье находится по ту сторону слёз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3589734" cy="586740"/>
            <a:chOff x="746760" y="641350"/>
            <a:chExt cx="358973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8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16" name="donut"/>
          <p:cNvGrpSpPr/>
          <p:nvPr/>
        </p:nvGrpSpPr>
        <p:grpSpPr>
          <a:xfrm>
            <a:off x="1437804" y="1990660"/>
            <a:ext cx="3277071" cy="3539047"/>
            <a:chOff x="1437804" y="1990660"/>
            <a:chExt cx="3277071" cy="3539047"/>
          </a:xfrm>
        </p:grpSpPr>
        <p:sp>
          <p:nvSpPr>
            <p:cNvPr id="7" name="Ellipse 7"/>
            <p:cNvSpPr/>
            <p:nvPr/>
          </p:nvSpPr>
          <p:spPr>
            <a:xfrm>
              <a:off x="2000250" y="2419350"/>
              <a:ext cx="2286000" cy="22860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06383" y="3397250"/>
              <a:ext cx="1473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Г + В + О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143250" y="1990725"/>
              <a:ext cx="1571625" cy="3143250"/>
            </a:xfrm>
            <a:custGeom>
              <a:avLst/>
              <a:gdLst/>
              <a:ahLst/>
              <a:cxnLst/>
              <a:rect l="l" t="t" r="r" b="b"/>
              <a:pathLst>
                <a:path w="1571625" h="3143250">
                  <a:moveTo>
                    <a:pt x="0" y="0"/>
                  </a:moveTo>
                  <a:cubicBezTo>
                    <a:pt x="867985" y="0"/>
                    <a:pt x="1571625" y="703640"/>
                    <a:pt x="1571625" y="1571625"/>
                  </a:cubicBezTo>
                  <a:cubicBezTo>
                    <a:pt x="1571625" y="2439610"/>
                    <a:pt x="867985" y="3143250"/>
                    <a:pt x="0" y="3143250"/>
                  </a:cubicBezTo>
                  <a:lnTo>
                    <a:pt x="0" y="2619375"/>
                  </a:lnTo>
                  <a:cubicBezTo>
                    <a:pt x="578656" y="2619375"/>
                    <a:pt x="1047750" y="2150281"/>
                    <a:pt x="1047750" y="1571625"/>
                  </a:cubicBezTo>
                  <a:cubicBezTo>
                    <a:pt x="1047750" y="992969"/>
                    <a:pt x="578656" y="523875"/>
                    <a:pt x="0" y="5238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437804" y="2290763"/>
              <a:ext cx="1705446" cy="2843345"/>
            </a:xfrm>
            <a:custGeom>
              <a:avLst/>
              <a:gdLst/>
              <a:ahLst/>
              <a:cxnLst/>
              <a:rect l="l" t="t" r="r" b="b"/>
              <a:pathLst>
                <a:path w="1705446" h="2843345">
                  <a:moveTo>
                    <a:pt x="1705446" y="2843212"/>
                  </a:moveTo>
                  <a:cubicBezTo>
                    <a:pt x="1024483" y="2843345"/>
                    <a:pt x="420903" y="2404925"/>
                    <a:pt x="210451" y="1757298"/>
                  </a:cubicBezTo>
                  <a:cubicBezTo>
                    <a:pt x="0" y="1109672"/>
                    <a:pt x="230560" y="400190"/>
                    <a:pt x="781521" y="0"/>
                  </a:cubicBezTo>
                  <a:lnTo>
                    <a:pt x="1089178" y="423862"/>
                  </a:lnTo>
                  <a:cubicBezTo>
                    <a:pt x="721824" y="690690"/>
                    <a:pt x="568130" y="1163761"/>
                    <a:pt x="708514" y="1595546"/>
                  </a:cubicBezTo>
                  <a:cubicBezTo>
                    <a:pt x="848899" y="2027331"/>
                    <a:pt x="1251412" y="2319564"/>
                    <a:pt x="1705446" y="2319337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19325" y="1990660"/>
              <a:ext cx="923925" cy="723965"/>
            </a:xfrm>
            <a:custGeom>
              <a:avLst/>
              <a:gdLst/>
              <a:ahLst/>
              <a:cxnLst/>
              <a:rect l="l" t="t" r="r" b="b"/>
              <a:pathLst>
                <a:path w="923925" h="723965">
                  <a:moveTo>
                    <a:pt x="0" y="300102"/>
                  </a:moveTo>
                  <a:cubicBezTo>
                    <a:pt x="268563" y="105031"/>
                    <a:pt x="591993" y="0"/>
                    <a:pt x="923925" y="65"/>
                  </a:cubicBezTo>
                  <a:lnTo>
                    <a:pt x="923925" y="523940"/>
                  </a:lnTo>
                  <a:cubicBezTo>
                    <a:pt x="702529" y="523830"/>
                    <a:pt x="486787" y="593854"/>
                    <a:pt x="307658" y="723965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67038" y="34290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0088" y="42672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2038" y="2238375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31072" y="520700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9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7" name="Rectangle 17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3333750"/>
              <a:ext cx="3112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усилия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95A5A6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6" name="note"/>
          <p:cNvGrpSpPr/>
          <p:nvPr/>
        </p:nvGrpSpPr>
        <p:grpSpPr>
          <a:xfrm>
            <a:off x="1513077" y="5873750"/>
            <a:ext cx="9461435" cy="570357"/>
            <a:chOff x="1513077" y="5873750"/>
            <a:chExt cx="9461435" cy="570357"/>
          </a:xfrm>
        </p:grpSpPr>
        <p:grpSp>
          <p:nvGrpSpPr>
            <p:cNvPr id="33" name="Group 33"/>
            <p:cNvGrpSpPr/>
            <p:nvPr/>
          </p:nvGrpSpPr>
          <p:grpSpPr>
            <a:xfrm>
              <a:off x="1513077" y="5948362"/>
              <a:ext cx="174245" cy="257175"/>
              <a:chOff x="1513077" y="5948362"/>
              <a:chExt cx="17424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57338" y="594836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71625" y="603408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513077" y="594836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896618" y="5873750"/>
              <a:ext cx="9077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Формула: Любомирский, Шелдон и Шкейд (2005) — иллюстративная модель, не закон.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96618" y="6121400"/>
              <a:ext cx="748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Мета-анализы (Рорер и Шмукль, 2018): гены и среда взаимодействуют.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035915" cy="586740"/>
            <a:chOff x="746760" y="641350"/>
            <a:chExt cx="7035915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0359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6768" t="0" r="6768" b="0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8086663" cy="586740"/>
            <a:chOff x="746760" y="641350"/>
            <a:chExt cx="8086663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0866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определённого дохода — плато?</a:t>
              </a:r>
            </a:p>
          </p:txBody>
        </p:sp>
      </p:grpSp>
      <p:grpSp>
        <p:nvGrpSpPr>
          <p:cNvPr id="17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400000" sp="3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76662" y="2197100"/>
              <a:ext cx="886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60 000 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2559050"/>
              <a:ext cx="714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4826000"/>
              <a:ext cx="580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2392" y="5092700"/>
              <a:ext cx="1137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низкий доход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5092700"/>
              <a:ext cx="1270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высокий доход</a:t>
              </a:r>
            </a:p>
          </p:txBody>
        </p:sp>
      </p:grpSp>
      <p:grpSp>
        <p:nvGrpSpPr>
          <p:cNvPr id="20" name="chart-plot"/>
          <p:cNvGrpSpPr/>
          <p:nvPr/>
        </p:nvGrpSpPr>
        <p:grpSpPr>
          <a:xfrm>
            <a:off x="1428750" y="2647950"/>
            <a:ext cx="6191250" cy="2114550"/>
            <a:chOff x="1428750" y="2647950"/>
            <a:chExt cx="6191250" cy="2114550"/>
          </a:xfrm>
        </p:grpSpPr>
        <p:sp>
          <p:nvSpPr>
            <p:cNvPr id="18" name="Polyline 18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7" name="theses"/>
          <p:cNvGrpSpPr/>
          <p:nvPr/>
        </p:nvGrpSpPr>
        <p:grpSpPr>
          <a:xfrm>
            <a:off x="8382000" y="1666875"/>
            <a:ext cx="3048000" cy="3905250"/>
            <a:chOff x="8382000" y="1666875"/>
            <a:chExt cx="30480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8382000" y="1666875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03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Канеман–Дитон (2010)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0318" y="2327275"/>
              <a:ext cx="2157673" cy="12085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после порога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влияние дохода на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неудовлетворённость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прекращается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0318" y="4006850"/>
              <a:ext cx="2136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Killingsworth (2021)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03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растёт и дальше;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плато — у 20% самых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несчастных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162677" cy="586740"/>
            <a:chOff x="746760" y="641350"/>
            <a:chExt cx="51626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1626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</p:grpSp>
      <p:grpSp>
        <p:nvGrpSpPr>
          <p:cNvPr id="16" name="chart"/>
          <p:cNvGrpSpPr/>
          <p:nvPr/>
        </p:nvGrpSpPr>
        <p:grpSpPr>
          <a:xfrm>
            <a:off x="762000" y="1762125"/>
            <a:ext cx="6667500" cy="4476750"/>
            <a:chOff x="762000" y="1762125"/>
            <a:chExt cx="6667500" cy="4476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592" y="2559050"/>
              <a:ext cx="7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высокая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5226050"/>
              <a:ext cx="577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низкая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</a:t>
              </a:r>
            </a:p>
          </p:txBody>
        </p:sp>
      </p:grpSp>
      <p:grpSp>
        <p:nvGrpSpPr>
          <p:cNvPr id="19" name="chart-plot"/>
          <p:cNvGrpSpPr/>
          <p:nvPr/>
        </p:nvGrpSpPr>
        <p:grpSpPr>
          <a:xfrm>
            <a:off x="1714500" y="2857500"/>
            <a:ext cx="5334000" cy="2009775"/>
            <a:chOff x="1714500" y="2857500"/>
            <a:chExt cx="5334000" cy="2009775"/>
          </a:xfrm>
        </p:grpSpPr>
        <p:sp>
          <p:nvSpPr>
            <p:cNvPr id="17" name="Polyline 17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</p:grpSp>
      <p:grpSp>
        <p:nvGrpSpPr>
          <p:cNvPr id="28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20" name="Rectangle 20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 образования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 статус,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навыки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909077" cy="586740"/>
            <a:chOff x="746760" y="641350"/>
            <a:chExt cx="79090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9090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и цифровой детокс повышают благополучие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4459847" cy="586740"/>
            <a:chOff x="746760" y="641350"/>
            <a:chExt cx="445984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44598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делать конкретно</a:t>
              </a:r>
            </a:p>
          </p:txBody>
        </p:sp>
      </p:grpSp>
      <p:grpSp>
        <p:nvGrpSpPr>
          <p:cNvPr id="11" name="rec-1"/>
          <p:cNvGrpSpPr/>
          <p:nvPr/>
        </p:nvGrpSpPr>
        <p:grpSpPr>
          <a:xfrm>
            <a:off x="762000" y="1714500"/>
            <a:ext cx="3429000" cy="2047875"/>
            <a:chOff x="762000" y="1714500"/>
            <a:chExt cx="3429000" cy="2047875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время с семьёй и друзьями</a:t>
              </a:r>
            </a:p>
          </p:txBody>
        </p:sp>
      </p:grpSp>
      <p:grpSp>
        <p:nvGrpSpPr>
          <p:cNvPr id="19" name="rec-2"/>
          <p:cNvGrpSpPr/>
          <p:nvPr/>
        </p:nvGrpSpPr>
        <p:grpSpPr>
          <a:xfrm>
            <a:off x="4381500" y="1714500"/>
            <a:ext cx="3429000" cy="2047875"/>
            <a:chOff x="4381500" y="1714500"/>
            <a:chExt cx="3429000" cy="2047875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 добрых факта в день</a:t>
              </a:r>
            </a:p>
          </p:txBody>
        </p:sp>
      </p:grpSp>
      <p:grpSp>
        <p:nvGrpSpPr>
          <p:cNvPr id="28" name="rec-3"/>
          <p:cNvGrpSpPr/>
          <p:nvPr/>
        </p:nvGrpSpPr>
        <p:grpSpPr>
          <a:xfrm>
            <a:off x="8001000" y="1714500"/>
            <a:ext cx="3429000" cy="2047875"/>
            <a:chOff x="8001000" y="1714500"/>
            <a:chExt cx="34290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Двигайтесь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спорт каждый день</a:t>
              </a:r>
            </a:p>
          </p:txBody>
        </p:sp>
      </p:grpSp>
      <p:grpSp>
        <p:nvGrpSpPr>
          <p:cNvPr id="51" name="rec-4"/>
          <p:cNvGrpSpPr/>
          <p:nvPr/>
        </p:nvGrpSpPr>
        <p:grpSpPr>
          <a:xfrm>
            <a:off x="762000" y="3952875"/>
            <a:ext cx="10668000" cy="2047875"/>
            <a:chOff x="762000" y="3952875"/>
            <a:chExt cx="10668000" cy="2047875"/>
          </a:xfrm>
        </p:grpSpPr>
        <p:sp>
          <p:nvSpPr>
            <p:cNvPr id="29" name="Rectangle 29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Ставьте цели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вместо погони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Детокс соцсетей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ограничьте экранное время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Медитируйте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 минут осознанности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146770" cy="586740"/>
            <a:chOff x="746760" y="641350"/>
            <a:chExt cx="614677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1467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209800"/>
            <a:chOff x="762000" y="1238250"/>
            <a:chExt cx="106680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209800"/>
            </a:xfrm>
            <a:prstGeom prst="roundRect">
              <a:avLst>
                <a:gd name="adj" fmla="val 6897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6685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6850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6850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3876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3876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80670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32" name="sources"/>
          <p:cNvGrpSpPr/>
          <p:nvPr/>
        </p:nvGrpSpPr>
        <p:grpSpPr>
          <a:xfrm>
            <a:off x="762000" y="3695700"/>
            <a:ext cx="6096000" cy="2705100"/>
            <a:chOff x="762000" y="3695700"/>
            <a:chExt cx="6096000" cy="2705100"/>
          </a:xfrm>
        </p:grpSpPr>
        <p:sp>
          <p:nvSpPr>
            <p:cNvPr id="19" name="Rectangle 19"/>
            <p:cNvSpPr/>
            <p:nvPr/>
          </p:nvSpPr>
          <p:spPr>
            <a:xfrm>
              <a:off x="762000" y="3695700"/>
              <a:ext cx="6096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54100" y="3879850"/>
              <a:ext cx="177800" cy="203199"/>
              <a:chOff x="1054100" y="3879850"/>
              <a:chExt cx="177800" cy="2031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4100" y="38798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177800" y="0"/>
                    </a:moveTo>
                    <a:lnTo>
                      <a:pt x="177800" y="203199"/>
                    </a:ln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54100" y="4032249"/>
                <a:ext cx="177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5400">
                    <a:moveTo>
                      <a:pt x="177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04900" y="3930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81506" y="3848100"/>
              <a:ext cx="1308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4343400"/>
              <a:ext cx="2384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World Happiness Report (ВОЗ)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4504" y="4667250"/>
              <a:ext cx="2374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Канеман и Дитон (2010, 2023)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4991100"/>
              <a:ext cx="2088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Killingsworth, PNAS (2021)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32504" y="4343400"/>
              <a:ext cx="255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Селигман «Подлинное счастье»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2504" y="4667250"/>
              <a:ext cx="2069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Любомирский и др. (2005)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32504" y="4991100"/>
              <a:ext cx="2460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Джидарьян, Куликов, Леонтьев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4504" y="5314950"/>
              <a:ext cx="4693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Рубинштейн (1957), Выготский — отечественная психология</a:t>
              </a:r>
            </a:p>
          </p:txBody>
        </p:sp>
      </p:grpSp>
      <p:grpSp>
        <p:nvGrpSpPr>
          <p:cNvPr id="36" name="qr"/>
          <p:cNvGrpSpPr/>
          <p:nvPr/>
        </p:nvGrpSpPr>
        <p:grpSpPr>
          <a:xfrm>
            <a:off x="7048500" y="3695700"/>
            <a:ext cx="4191000" cy="2705100"/>
            <a:chOff x="7048500" y="3695700"/>
            <a:chExt cx="4191000" cy="2705100"/>
          </a:xfrm>
        </p:grpSpPr>
        <p:sp>
          <p:nvSpPr>
            <p:cNvPr id="33" name="Rectangle 33"/>
            <p:cNvSpPr/>
            <p:nvPr/>
          </p:nvSpPr>
          <p:spPr>
            <a:xfrm>
              <a:off x="7048500" y="3695700"/>
              <a:ext cx="4191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95374" y="3873500"/>
              <a:ext cx="3097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Полный список источников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0" y="4305300"/>
              <a:ext cx="1905000" cy="1905000"/>
            </a:xfrm>
            <a:prstGeom prst="rect">
              <a:avLst/>
            </a:prstGeom>
          </p:spPr>
        </p:pic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2026-10-10T12:19:21Z</dcterms:created>
  <dcterms:modified xsi:type="dcterms:W3CDTF">2026-10-10T12:19:21Z</dcterms:modified>
  <cp:category/>
  <cp:contentStatus/>
</cp:coreProperties>
</file>