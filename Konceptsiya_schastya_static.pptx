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традиции проблему счастья разрабатывали С. Л. Рубинштейн (счастье как связь с философией и психологией, «Бытие и сознание», 1957) и Д. А. Леонтьев (смысл жизни и жизненные ориентации, «Психология смысла», 2003).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счастье есть культурный феномен, а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 Но их относительная важность зависит от человека и ситуации.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 Формула впервые предложена Lyubomirsky, Sheldon &amp; Schkade (2005). Это иллюстративная модель, а не универсальный закон: наследуемость и вклад действий оцениваются по-разному.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для большинства людей, по данным Harvard Study, качество отношений — важнейший фактор, но деньги тоже важны до определённого уровня.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психологии проблему счастья и настроения развивали И. А. Джидарьян («Психология счастья и оптимизма», 2013), Л. В. Куликов («Психология настроения», 1997) и В. А. Петровский (идея «состояния потока» в отечественной традиции).</a:t>
            </a:r>
          </a:p>
          <a:p>
            <a:pPr/>
            <a:endParaRPr lang="ru" dirty="0"/>
          </a:p>
          <a:p>
            <a:pPr/>
            <a:r>
              <a:rPr lang="ru" dirty="0"/>
              <a:t>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В основе этих шагов — идея активности как основы личности (С. Л. Рубинштейн) и развития через деятельность (Л. С. Выготский): счастье растёт из того, что мы делаем, а не только из того, что с нами происходит.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Счастье можно развивать через практики, но генетика и обстоятельства тоже влияют.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f09c644b6901cd77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grpSp>
        <p:nvGrpSpPr>
          <p:cNvPr id="6" name="cover-decor"/>
          <p:cNvGrpSpPr/>
          <p:nvPr/>
        </p:nvGrpSpPr>
        <p:grpSpPr>
          <a:xfrm>
            <a:off x="0" y="0"/>
            <a:ext cx="12477750" cy="7143750"/>
            <a:chOff x="0" y="0"/>
            <a:chExt cx="12477750" cy="7143750"/>
          </a:xfrm>
        </p:grpSpPr>
        <p:sp>
          <p:nvSpPr>
            <p:cNvPr id="4" name="cover-orb"/>
            <p:cNvSpPr/>
            <p:nvPr/>
          </p:nvSpPr>
          <p:spPr>
            <a:xfrm>
              <a:off x="8096250" y="2762250"/>
              <a:ext cx="4381500" cy="4381500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>
              <a:noFill/>
            </a:ln>
          </p:spPr>
        </p:sp>
        <p:sp>
          <p:nvSpPr>
            <p:cNvPr id="5" name="cover-accent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9" name="cover-header"/>
          <p:cNvGrpSpPr/>
          <p:nvPr/>
        </p:nvGrpSpPr>
        <p:grpSpPr>
          <a:xfrm>
            <a:off x="746760" y="1130300"/>
            <a:ext cx="7980969" cy="2250440"/>
            <a:chOff x="746760" y="1130300"/>
            <a:chExt cx="7980969" cy="2250440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6760" y="1612900"/>
              <a:ext cx="6145682" cy="1767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28750"/>
            <a:chOff x="762000" y="3905250"/>
            <a:chExt cx="4749125" cy="1428750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540060" cy="586740"/>
            <a:chOff x="746760" y="641350"/>
            <a:chExt cx="554006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5400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28" name="credits"/>
          <p:cNvGrpSpPr/>
          <p:nvPr/>
        </p:nvGrpSpPr>
        <p:grpSpPr>
          <a:xfrm>
            <a:off x="756285" y="6604000"/>
            <a:ext cx="1973338" cy="220028"/>
            <a:chOff x="756285" y="6604000"/>
            <a:chExt cx="1973338" cy="220028"/>
          </a:xfrm>
        </p:grpSpPr>
        <p:sp>
          <p:nvSpPr>
            <p:cNvPr id="27" name="TextBox 27"/>
            <p:cNvSpPr txBox="1"/>
            <p:nvPr/>
          </p:nvSpPr>
          <p:spPr>
            <a:xfrm>
              <a:off x="756285" y="6604000"/>
              <a:ext cx="19733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Wacky1976 (CC BY-SA 4.0)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3558306" cy="586740"/>
            <a:chOff x="746760" y="641350"/>
            <a:chExt cx="3558306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5583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70" name="credits"/>
          <p:cNvGrpSpPr/>
          <p:nvPr/>
        </p:nvGrpSpPr>
        <p:grpSpPr>
          <a:xfrm>
            <a:off x="756285" y="6604000"/>
            <a:ext cx="1713425" cy="220028"/>
            <a:chOff x="756285" y="6604000"/>
            <a:chExt cx="1713425" cy="220028"/>
          </a:xfrm>
        </p:grpSpPr>
        <p:sp>
          <p:nvSpPr>
            <p:cNvPr id="69" name="TextBox 69"/>
            <p:cNvSpPr txBox="1"/>
            <p:nvPr/>
          </p:nvSpPr>
          <p:spPr>
            <a:xfrm>
              <a:off x="756285" y="6604000"/>
              <a:ext cx="17134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Shixart1985 (CC BY 2.0)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8548024" cy="586740"/>
            <a:chOff x="746760" y="641350"/>
            <a:chExt cx="854802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854802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28" name="chart-dep"/>
          <p:cNvGrpSpPr/>
          <p:nvPr/>
        </p:nvGrpSpPr>
        <p:grpSpPr>
          <a:xfrm>
            <a:off x="762000" y="1762125"/>
            <a:ext cx="5238750" cy="3900932"/>
            <a:chOff x="762000" y="1762125"/>
            <a:chExt cx="5238750" cy="3900932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431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0368" y="2292350"/>
              <a:ext cx="18807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доля взрослых, %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7625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428750" y="27241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428750" y="34004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428750" y="40862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9567" y="2587625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9567" y="32639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111" y="39497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111" y="4568825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43050" y="2981325"/>
              <a:ext cx="3962400" cy="666750"/>
            </a:xfrm>
            <a:custGeom>
              <a:avLst/>
              <a:gdLst/>
              <a:ahLst/>
              <a:cxnLst/>
              <a:rect l="l" t="t" r="r" b="b"/>
              <a:pathLst>
                <a:path w="3962400" h="666750">
                  <a:moveTo>
                    <a:pt x="0" y="666750"/>
                  </a:moveTo>
                  <a:cubicBezTo>
                    <a:pt x="1314450" y="447675"/>
                    <a:pt x="2552700" y="161925"/>
                    <a:pt x="3962400" y="0"/>
                  </a:cubicBezTo>
                </a:path>
              </a:pathLst>
            </a:custGeom>
            <a:noFill/>
            <a:ln w="57150" cap="rnd">
              <a:solidFill>
                <a:srgbClr val="E74C3C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76375" y="3581400"/>
              <a:ext cx="133350" cy="1333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429250" y="2905125"/>
              <a:ext cx="152400" cy="1524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82142" y="2644775"/>
              <a:ext cx="6466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13,1%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87068" y="3597275"/>
              <a:ext cx="52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8,2%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75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99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9368" y="50927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9368" y="5340350"/>
              <a:ext cx="21526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CDC/ВОЗ</a:t>
              </a:r>
            </a:p>
          </p:txBody>
        </p:sp>
      </p:grpSp>
      <p:grpSp>
        <p:nvGrpSpPr>
          <p:cNvPr id="45" name="chart-hap"/>
          <p:cNvGrpSpPr/>
          <p:nvPr/>
        </p:nvGrpSpPr>
        <p:grpSpPr>
          <a:xfrm>
            <a:off x="6286500" y="1762125"/>
            <a:ext cx="5143500" cy="3900932"/>
            <a:chOff x="6286500" y="1762125"/>
            <a:chExt cx="5143500" cy="3900932"/>
          </a:xfrm>
        </p:grpSpPr>
        <p:sp>
          <p:nvSpPr>
            <p:cNvPr id="29" name="Rectangle 29"/>
            <p:cNvSpPr/>
            <p:nvPr/>
          </p:nvSpPr>
          <p:spPr>
            <a:xfrm>
              <a:off x="6286500" y="1762125"/>
              <a:ext cx="514350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9431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4868" y="2292350"/>
              <a:ext cx="13902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баллы (0–10)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9532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6953250" y="47625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6953250" y="27432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6953250" y="375285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45123" y="260667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5123" y="36163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45123" y="45688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953250" y="4248150"/>
              <a:ext cx="4286250" cy="57150"/>
            </a:xfrm>
            <a:custGeom>
              <a:avLst/>
              <a:gdLst/>
              <a:ahLst/>
              <a:cxnLst/>
              <a:rect l="l" t="t" r="r" b="b"/>
              <a:pathLst>
                <a:path w="4286250" h="57150">
                  <a:moveTo>
                    <a:pt x="0" y="19050"/>
                  </a:moveTo>
                  <a:cubicBezTo>
                    <a:pt x="1238250" y="57150"/>
                    <a:pt x="2667000" y="0"/>
                    <a:pt x="4286250" y="38100"/>
                  </a:cubicBezTo>
                </a:path>
              </a:pathLst>
            </a:custGeom>
            <a:noFill/>
            <a:ln w="57150" cap="rnd">
              <a:solidFill>
                <a:schemeClr val="accent1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163300" y="42100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97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88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3868" y="5092700"/>
              <a:ext cx="298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Индекс на плато с 2005 года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3868" y="5340350"/>
              <a:ext cx="35439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World Happiness Report</a:t>
              </a:r>
            </a:p>
          </p:txBody>
        </p:sp>
      </p:grpSp>
      <p:grpSp>
        <p:nvGrpSpPr>
          <p:cNvPr id="50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48" name="Group 48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56631" cy="586740"/>
            <a:chOff x="746760" y="641350"/>
            <a:chExt cx="6856631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56631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-left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38" name="appr-1"/>
          <p:cNvGrpSpPr/>
          <p:nvPr/>
        </p:nvGrpSpPr>
        <p:grpSpPr>
          <a:xfrm>
            <a:off x="762000" y="3810000"/>
            <a:ext cx="10668000" cy="1123950"/>
            <a:chOff x="762000" y="3810000"/>
            <a:chExt cx="106680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63025" y="3810000"/>
              <a:ext cx="2466975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3618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14756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49" name="credits"/>
          <p:cNvGrpSpPr/>
          <p:nvPr/>
        </p:nvGrpSpPr>
        <p:grpSpPr>
          <a:xfrm>
            <a:off x="756285" y="6604000"/>
            <a:ext cx="2595835" cy="220028"/>
            <a:chOff x="756285" y="6604000"/>
            <a:chExt cx="2595835" cy="220028"/>
          </a:xfrm>
        </p:grpSpPr>
        <p:sp>
          <p:nvSpPr>
            <p:cNvPr id="48" name="TextBox 48"/>
            <p:cNvSpPr txBox="1"/>
            <p:nvPr/>
          </p:nvSpPr>
          <p:spPr>
            <a:xfrm>
              <a:off x="756285" y="6604000"/>
              <a:ext cx="25958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YVC Biology Department (CC BY 2.0)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341139" cy="586740"/>
            <a:chOff x="746760" y="641350"/>
            <a:chExt cx="7341139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34113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35" name="diagram"/>
          <p:cNvGrpSpPr/>
          <p:nvPr/>
        </p:nvGrpSpPr>
        <p:grpSpPr>
          <a:xfrm>
            <a:off x="762000" y="1714500"/>
            <a:ext cx="10668000" cy="3472307"/>
            <a:chOff x="762000" y="1714500"/>
            <a:chExt cx="10668000" cy="3472307"/>
          </a:xfrm>
        </p:grpSpPr>
        <p:sp>
          <p:nvSpPr>
            <p:cNvPr id="7" name="Rectangle 7"/>
            <p:cNvSpPr/>
            <p:nvPr/>
          </p:nvSpPr>
          <p:spPr>
            <a:xfrm>
              <a:off x="4191000" y="1952625"/>
              <a:ext cx="3810000" cy="2667000"/>
            </a:xfrm>
            <a:prstGeom prst="roundRect">
              <a:avLst>
                <a:gd name="adj" fmla="val 571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2636" r="0" b="2637"/>
            <a:stretch>
              <a:fillRect/>
            </a:stretch>
          </p:blipFill>
          <p:spPr>
            <a:xfrm>
              <a:off x="4305300" y="2066925"/>
              <a:ext cx="3581400" cy="2438400"/>
            </a:xfrm>
            <a:prstGeom prst="rect">
              <a:avLst/>
            </a:prstGeom>
          </p:spPr>
        </p:pic>
        <p:sp>
          <p:nvSpPr>
            <p:cNvPr id="9" name="Freeform 9"/>
            <p:cNvSpPr/>
            <p:nvPr/>
          </p:nvSpPr>
          <p:spPr>
            <a:xfrm>
              <a:off x="4136231" y="48736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92168" y="4864100"/>
              <a:ext cx="4078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Анимация: работа нейросетей мозга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42" name="note"/>
          <p:cNvGrpSpPr/>
          <p:nvPr/>
        </p:nvGrpSpPr>
        <p:grpSpPr>
          <a:xfrm>
            <a:off x="762000" y="5257800"/>
            <a:ext cx="10668000" cy="914400"/>
            <a:chOff x="762000" y="5257800"/>
            <a:chExt cx="10668000" cy="914400"/>
          </a:xfrm>
        </p:grpSpPr>
        <p:sp>
          <p:nvSpPr>
            <p:cNvPr id="36" name="Rectangle 36"/>
            <p:cNvSpPr/>
            <p:nvPr/>
          </p:nvSpPr>
          <p:spPr>
            <a:xfrm>
              <a:off x="762000" y="52578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1122397" y="5534025"/>
              <a:ext cx="193606" cy="285751"/>
              <a:chOff x="1122397" y="5534025"/>
              <a:chExt cx="193606" cy="2857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171575" y="55340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187450" y="56292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122397" y="55340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553718" y="54991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3" name="Line 4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46" name="credits"/>
          <p:cNvGrpSpPr/>
          <p:nvPr/>
        </p:nvGrpSpPr>
        <p:grpSpPr>
          <a:xfrm>
            <a:off x="756285" y="6604000"/>
            <a:ext cx="2159067" cy="220028"/>
            <a:chOff x="756285" y="6604000"/>
            <a:chExt cx="2159067" cy="220028"/>
          </a:xfrm>
        </p:grpSpPr>
        <p:sp>
          <p:nvSpPr>
            <p:cNvPr id="45" name="TextBox 45"/>
            <p:cNvSpPr txBox="1"/>
            <p:nvPr/>
          </p:nvSpPr>
          <p:spPr>
            <a:xfrm>
              <a:off x="756285" y="6604000"/>
              <a:ext cx="21590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Katherine Stember (CC BY 4.0)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46914" cy="586740"/>
            <a:chOff x="746760" y="641350"/>
            <a:chExt cx="684691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4691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425982" cy="586740"/>
            <a:chOff x="746760" y="641350"/>
            <a:chExt cx="7425982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42598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27" name="credits"/>
          <p:cNvGrpSpPr/>
          <p:nvPr/>
        </p:nvGrpSpPr>
        <p:grpSpPr>
          <a:xfrm>
            <a:off x="756285" y="6604000"/>
            <a:ext cx="3909145" cy="220028"/>
            <a:chOff x="756285" y="6604000"/>
            <a:chExt cx="3909145" cy="220028"/>
          </a:xfrm>
        </p:grpSpPr>
        <p:sp>
          <p:nvSpPr>
            <p:cNvPr id="26" name="TextBox 26"/>
            <p:cNvSpPr txBox="1"/>
            <p:nvPr/>
          </p:nvSpPr>
          <p:spPr>
            <a:xfrm>
              <a:off x="756285" y="6604000"/>
              <a:ext cx="39091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PattayaPatrol (CC BY-SA 4.0) · Shixart1985 (CC BY 2.0)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12" name="donut"/>
          <p:cNvGrpSpPr/>
          <p:nvPr/>
        </p:nvGrpSpPr>
        <p:grpSpPr>
          <a:xfrm>
            <a:off x="1592120" y="2114354"/>
            <a:ext cx="2979880" cy="2858099"/>
            <a:chOff x="1592120" y="2114354"/>
            <a:chExt cx="2979880" cy="2858099"/>
          </a:xfrm>
        </p:grpSpPr>
        <p:sp>
          <p:nvSpPr>
            <p:cNvPr id="7" name="TextBox 7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</p:grpSp>
      <p:grpSp>
        <p:nvGrpSpPr>
          <p:cNvPr id="25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3" name="Rectangle 13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2" name="note"/>
          <p:cNvGrpSpPr/>
          <p:nvPr/>
        </p:nvGrpSpPr>
        <p:grpSpPr>
          <a:xfrm>
            <a:off x="1513077" y="5873750"/>
            <a:ext cx="9480466" cy="570357"/>
            <a:chOff x="1513077" y="5873750"/>
            <a:chExt cx="9480466" cy="570357"/>
          </a:xfrm>
        </p:grpSpPr>
        <p:grpSp>
          <p:nvGrpSpPr>
            <p:cNvPr id="29" name="Group 29"/>
            <p:cNvGrpSpPr/>
            <p:nvPr/>
          </p:nvGrpSpPr>
          <p:grpSpPr>
            <a:xfrm>
              <a:off x="1513077" y="5948362"/>
              <a:ext cx="174245" cy="257175"/>
              <a:chOff x="1513077" y="5948362"/>
              <a:chExt cx="174245" cy="25717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557338" y="594836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571625" y="603408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513077" y="594836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896618" y="5873750"/>
              <a:ext cx="90969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Формула: Lyubomirsky, Sheldon &amp; Schkade (2005) — иллюстративная модель, не закон.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96618" y="6121400"/>
              <a:ext cx="77123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Мета-анализы (Rohrer &amp; Schmukle, 2018): гены и среда взаимодействуют.</a:t>
              </a:r>
            </a:p>
          </p:txBody>
        </p:sp>
      </p:grpSp>
      <p:sp>
        <p:nvSpPr>
          <p:cNvPr id="33" name="Line 3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035915" cy="586740"/>
            <a:chOff x="746760" y="641350"/>
            <a:chExt cx="7035915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0359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45" name="credits"/>
          <p:cNvGrpSpPr/>
          <p:nvPr/>
        </p:nvGrpSpPr>
        <p:grpSpPr>
          <a:xfrm>
            <a:off x="756285" y="6604000"/>
            <a:ext cx="2070481" cy="220028"/>
            <a:chOff x="756285" y="6604000"/>
            <a:chExt cx="2070481" cy="220028"/>
          </a:xfrm>
        </p:grpSpPr>
        <p:sp>
          <p:nvSpPr>
            <p:cNvPr id="44" name="TextBox 44"/>
            <p:cNvSpPr txBox="1"/>
            <p:nvPr/>
          </p:nvSpPr>
          <p:spPr>
            <a:xfrm>
              <a:off x="756285" y="6604000"/>
              <a:ext cx="20704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PattayaPatrol (CC BY-SA 4.0)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030218" cy="586740"/>
            <a:chOff x="746760" y="641350"/>
            <a:chExt cx="5030218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03021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20" name="chart-plot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</p:grpSp>
      <p:grpSp>
        <p:nvGrpSpPr>
          <p:cNvPr id="27" name="theses"/>
          <p:cNvGrpSpPr/>
          <p:nvPr/>
        </p:nvGrpSpPr>
        <p:grpSpPr>
          <a:xfrm>
            <a:off x="8382000" y="1666875"/>
            <a:ext cx="3048000" cy="3905250"/>
            <a:chOff x="8382000" y="1666875"/>
            <a:chExt cx="3048000" cy="3905250"/>
          </a:xfrm>
        </p:grpSpPr>
        <p:sp>
          <p:nvSpPr>
            <p:cNvPr id="21" name="Rectangle 21"/>
            <p:cNvSpPr/>
            <p:nvPr/>
          </p:nvSpPr>
          <p:spPr>
            <a:xfrm>
              <a:off x="8382000" y="1666875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403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03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382000" y="3714750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40318" y="4006850"/>
              <a:ext cx="2136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403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30" name="credits"/>
          <p:cNvGrpSpPr/>
          <p:nvPr/>
        </p:nvGrpSpPr>
        <p:grpSpPr>
          <a:xfrm>
            <a:off x="756285" y="6604000"/>
            <a:ext cx="2960200" cy="220028"/>
            <a:chOff x="756285" y="6604000"/>
            <a:chExt cx="2960200" cy="220028"/>
          </a:xfrm>
        </p:grpSpPr>
        <p:sp>
          <p:nvSpPr>
            <p:cNvPr id="29" name="TextBox 29"/>
            <p:cNvSpPr txBox="1"/>
            <p:nvPr/>
          </p:nvSpPr>
          <p:spPr>
            <a:xfrm>
              <a:off x="756285" y="6604000"/>
              <a:ext cx="29602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Marek Ślusarczyk (Tupungato) (CC BY 3.0)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162677" cy="586740"/>
            <a:chOff x="746760" y="641350"/>
            <a:chExt cx="51626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1626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762000" y="1762125"/>
            <a:ext cx="6667500" cy="4476750"/>
            <a:chOff x="762000" y="1762125"/>
            <a:chExt cx="6667500" cy="447675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19" name="chart-plot"/>
          <p:cNvGrpSpPr/>
          <p:nvPr/>
        </p:nvGrpSpPr>
        <p:grpSpPr>
          <a:xfrm>
            <a:off x="1714500" y="2857500"/>
            <a:ext cx="5334000" cy="2009775"/>
            <a:chOff x="1714500" y="2857500"/>
            <a:chExt cx="5334000" cy="2009775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</p:grpSp>
      <p:grpSp>
        <p:nvGrpSpPr>
          <p:cNvPr id="28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0" name="Rectangle 20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909077" cy="586740"/>
            <a:chOff x="746760" y="641350"/>
            <a:chExt cx="79090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9090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4459847" cy="586740"/>
            <a:chOff x="746760" y="641350"/>
            <a:chExt cx="44598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44598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51" name="rec-4"/>
          <p:cNvGrpSpPr/>
          <p:nvPr/>
        </p:nvGrpSpPr>
        <p:grpSpPr>
          <a:xfrm>
            <a:off x="762000" y="3952875"/>
            <a:ext cx="10668000" cy="2047875"/>
            <a:chOff x="762000" y="3952875"/>
            <a:chExt cx="10668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sp>
        <p:nvSpPr>
          <p:cNvPr id="52" name="Line 5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5" name="credits"/>
          <p:cNvGrpSpPr/>
          <p:nvPr/>
        </p:nvGrpSpPr>
        <p:grpSpPr>
          <a:xfrm>
            <a:off x="756285" y="6604000"/>
            <a:ext cx="1562156" cy="220028"/>
            <a:chOff x="756285" y="6604000"/>
            <a:chExt cx="1562156" cy="220028"/>
          </a:xfrm>
        </p:grpSpPr>
        <p:sp>
          <p:nvSpPr>
            <p:cNvPr id="54" name="TextBox 54"/>
            <p:cNvSpPr txBox="1"/>
            <p:nvPr/>
          </p:nvSpPr>
          <p:spPr>
            <a:xfrm>
              <a:off x="756285" y="6604000"/>
              <a:ext cx="15621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Rick Obst (CC BY 2.0)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146770" cy="586740"/>
            <a:chOff x="746760" y="641350"/>
            <a:chExt cx="614677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14677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209800"/>
            <a:chOff x="762000" y="1238250"/>
            <a:chExt cx="10668000" cy="220980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209800"/>
            </a:xfrm>
            <a:prstGeom prst="roundRect">
              <a:avLst>
                <a:gd name="adj" fmla="val 6897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6685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6850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6850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3876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3876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80670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0" name="key-sources"/>
          <p:cNvGrpSpPr/>
          <p:nvPr/>
        </p:nvGrpSpPr>
        <p:grpSpPr>
          <a:xfrm>
            <a:off x="3199194" y="3702050"/>
            <a:ext cx="5793611" cy="322707"/>
            <a:chOff x="3199194" y="3702050"/>
            <a:chExt cx="5793611" cy="322707"/>
          </a:xfrm>
        </p:grpSpPr>
        <p:sp>
          <p:nvSpPr>
            <p:cNvPr id="19" name="TextBox 19"/>
            <p:cNvSpPr txBox="1"/>
            <p:nvPr/>
          </p:nvSpPr>
          <p:spPr>
            <a:xfrm>
              <a:off x="3199194" y="3702050"/>
              <a:ext cx="57936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Ключевые источники: Селигман, Канеман, Килингсворт</a:t>
              </a:r>
            </a:p>
          </p:txBody>
        </p:sp>
      </p:grpSp>
      <p:grpSp>
        <p:nvGrpSpPr>
          <p:cNvPr id="24" name="qr"/>
          <p:cNvGrpSpPr/>
          <p:nvPr/>
        </p:nvGrpSpPr>
        <p:grpSpPr>
          <a:xfrm>
            <a:off x="4547374" y="4083050"/>
            <a:ext cx="3097252" cy="2494407"/>
            <a:chOff x="4547374" y="4083050"/>
            <a:chExt cx="3097252" cy="2494407"/>
          </a:xfrm>
        </p:grpSpPr>
        <p:sp>
          <p:nvSpPr>
            <p:cNvPr id="21" name="TextBox 21"/>
            <p:cNvSpPr txBox="1"/>
            <p:nvPr/>
          </p:nvSpPr>
          <p:spPr>
            <a:xfrm>
              <a:off x="4547374" y="4083050"/>
              <a:ext cx="3097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 источников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43500" y="4457700"/>
              <a:ext cx="1905000" cy="190500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4638701" y="6254750"/>
              <a:ext cx="2914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 телефона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2026-10-09T21:33:55Z</dcterms:created>
  <dcterms:modified xsi:type="dcterms:W3CDTF">2026-10-09T21:33:55Z</dcterms:modified>
  <cp:category/>
  <cp:contentStatus/>
</cp:coreProperties>
</file>