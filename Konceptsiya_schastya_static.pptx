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традиции проблему счастья разрабатывали С. Л. Рубинштейн (счастье как связь с философией и психологией, «Бытие и сознание», 1957) и Д. А. Леонтьев (смысл жизни и жизненные ориентации, «Психология смысла», 2003).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счастье есть культурный феномен, а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 Как измерить счастье в процентах? Но их относительная важность зависит от человека и ситуации.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 Формула впервые предложена Lyubomirsky, Sheldon &amp; Schkade (2005). Это иллюстративная модель, а не универсальный закон: наследуемость и вклад действий оцениваются по-разному.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Хайдт, «Гипотеза счастья: поиск современной истины в древней мудрости» (2006), сравнивает душу с наездником на слоне: разум направляет, но эмоции сильнее. Лоретта Бройнинг, «Гормоны счастья. Приучите свой мозг вырабатывать серотонин, дофамин, эндорфин и окситоцин», объясняет химию этих нейромедиаторов. Михай Чиксентмихайи, «Психология оптимального переживания»,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для большинства людей, по данным Harvard Study, качество отношений — важнейший фактор, но деньги тоже важны до определённого уровня.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психологии проблему счастья и настроения развивали И. А. Джидарьян («Психология счастья и оптимизма», 2013), Л. В. Куликов («Психология настроения», 1997) и В. А. Петровский (идея «состояния потока» в отечественной традиции).</a:t>
            </a:r>
          </a:p>
          <a:p>
            <a:pPr/>
            <a:endParaRPr lang="ru" dirty="0"/>
          </a:p>
          <a:p>
            <a:pPr/>
            <a:r>
              <a:rPr lang="ru" dirty="0"/>
              <a:t>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 А как насчёт образования?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В основе этих шагов — идея активности как основы личности (С. Л. Рубинштейн) и развития через деятельность (Л. С. Выготский): счастье растёт из того, что мы делаем, а не только из того, что с нами происходит.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Счастье можно развивать через практики, но генетика и обстоятельства тоже влияют.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7efefa2fb4b90a1b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f09c644b6901cd77.png"/>
  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grpSp>
        <p:nvGrpSpPr>
          <p:cNvPr id="6" name="cover-decor"/>
          <p:cNvGrpSpPr/>
          <p:nvPr/>
        </p:nvGrpSpPr>
        <p:grpSpPr>
          <a:xfrm>
            <a:off x="0" y="0"/>
            <a:ext cx="12477750" cy="7143750"/>
            <a:chOff x="0" y="0"/>
            <a:chExt cx="12477750" cy="7143750"/>
          </a:xfrm>
        </p:grpSpPr>
        <p:sp>
          <p:nvSpPr>
            <p:cNvPr id="4" name="cover-orb"/>
            <p:cNvSpPr/>
            <p:nvPr/>
          </p:nvSpPr>
          <p:spPr>
            <a:xfrm>
              <a:off x="8096250" y="2762250"/>
              <a:ext cx="4381500" cy="4381500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>
              <a:noFill/>
            </a:ln>
          </p:spPr>
        </p:sp>
        <p:sp>
          <p:nvSpPr>
            <p:cNvPr id="5" name="cover-accent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</p:grpSp>
      <p:grpSp>
        <p:nvGrpSpPr>
          <p:cNvPr id="9" name="cover-header"/>
          <p:cNvGrpSpPr/>
          <p:nvPr/>
        </p:nvGrpSpPr>
        <p:grpSpPr>
          <a:xfrm>
            <a:off x="746760" y="1130300"/>
            <a:ext cx="7980969" cy="2250440"/>
            <a:chOff x="746760" y="1130300"/>
            <a:chExt cx="7980969" cy="2250440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6760" y="1612900"/>
              <a:ext cx="6145682" cy="1767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28750"/>
            <a:chOff x="762000" y="3905250"/>
            <a:chExt cx="4749125" cy="1428750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5540060" cy="586740"/>
            <a:chOff x="746760" y="641350"/>
            <a:chExt cx="554006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5400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3558306" cy="586740"/>
            <a:chOff x="746760" y="641350"/>
            <a:chExt cx="3558306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355830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8548024" cy="586740"/>
            <a:chOff x="746760" y="641350"/>
            <a:chExt cx="854802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854802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28" name="chart-dep"/>
          <p:cNvGrpSpPr/>
          <p:nvPr/>
        </p:nvGrpSpPr>
        <p:grpSpPr>
          <a:xfrm>
            <a:off x="762000" y="1762125"/>
            <a:ext cx="5238750" cy="3900932"/>
            <a:chOff x="762000" y="1762125"/>
            <a:chExt cx="5238750" cy="3900932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431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20368" y="2292350"/>
              <a:ext cx="18807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доля взрослых, %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7625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428750" y="272415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428750" y="34004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428750" y="40862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99567" y="2587625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99567" y="32639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3111" y="39497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23111" y="4568825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1543050" y="2981325"/>
              <a:ext cx="3962400" cy="666750"/>
            </a:xfrm>
            <a:custGeom>
              <a:avLst/>
              <a:gdLst/>
              <a:ahLst/>
              <a:cxnLst/>
              <a:rect l="l" t="t" r="r" b="b"/>
              <a:pathLst>
                <a:path w="3962400" h="666750">
                  <a:moveTo>
                    <a:pt x="0" y="666750"/>
                  </a:moveTo>
                  <a:cubicBezTo>
                    <a:pt x="1314450" y="447675"/>
                    <a:pt x="2552700" y="161925"/>
                    <a:pt x="3962400" y="0"/>
                  </a:cubicBezTo>
                </a:path>
              </a:pathLst>
            </a:custGeom>
            <a:noFill/>
            <a:ln w="57150" cap="rnd">
              <a:solidFill>
                <a:srgbClr val="E74C3C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476375" y="3581400"/>
              <a:ext cx="133350" cy="1333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429250" y="2905125"/>
              <a:ext cx="152400" cy="1524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82142" y="2644775"/>
              <a:ext cx="6466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13,1%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87068" y="3597275"/>
              <a:ext cx="523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8,2%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875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499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9368" y="50927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9368" y="5340350"/>
              <a:ext cx="21526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CDC/ВОЗ</a:t>
              </a:r>
            </a:p>
          </p:txBody>
        </p:sp>
      </p:grpSp>
      <p:grpSp>
        <p:nvGrpSpPr>
          <p:cNvPr id="45" name="chart-hap"/>
          <p:cNvGrpSpPr/>
          <p:nvPr/>
        </p:nvGrpSpPr>
        <p:grpSpPr>
          <a:xfrm>
            <a:off x="6286500" y="1762125"/>
            <a:ext cx="5143500" cy="3900932"/>
            <a:chOff x="6286500" y="1762125"/>
            <a:chExt cx="5143500" cy="3900932"/>
          </a:xfrm>
        </p:grpSpPr>
        <p:sp>
          <p:nvSpPr>
            <p:cNvPr id="29" name="Rectangle 29"/>
            <p:cNvSpPr/>
            <p:nvPr/>
          </p:nvSpPr>
          <p:spPr>
            <a:xfrm>
              <a:off x="6286500" y="1762125"/>
              <a:ext cx="514350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3106" y="19431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44868" y="2292350"/>
              <a:ext cx="13902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баллы (0–10)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9532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6953250" y="47625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6953250" y="27432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6953250" y="375285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45123" y="260667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45123" y="36163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45123" y="45688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953250" y="4248150"/>
              <a:ext cx="4286250" cy="57150"/>
            </a:xfrm>
            <a:custGeom>
              <a:avLst/>
              <a:gdLst/>
              <a:ahLst/>
              <a:cxnLst/>
              <a:rect l="l" t="t" r="r" b="b"/>
              <a:pathLst>
                <a:path w="4286250" h="57150">
                  <a:moveTo>
                    <a:pt x="0" y="19050"/>
                  </a:moveTo>
                  <a:cubicBezTo>
                    <a:pt x="1238250" y="57150"/>
                    <a:pt x="2667000" y="0"/>
                    <a:pt x="4286250" y="38100"/>
                  </a:cubicBezTo>
                </a:path>
              </a:pathLst>
            </a:custGeom>
            <a:noFill/>
            <a:ln w="57150" cap="rnd">
              <a:solidFill>
                <a:schemeClr val="accent1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163300" y="421005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97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88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3868" y="5092700"/>
              <a:ext cx="298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Индекс на плато с 2005 года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3868" y="5340350"/>
              <a:ext cx="35439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World Happiness Report</a:t>
              </a:r>
            </a:p>
          </p:txBody>
        </p:sp>
      </p:grpSp>
      <p:grpSp>
        <p:nvGrpSpPr>
          <p:cNvPr id="50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48" name="Group 48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56631" cy="586740"/>
            <a:chOff x="746760" y="641350"/>
            <a:chExt cx="6856631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56631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swb-left"/>
          <p:cNvGrpSpPr/>
          <p:nvPr/>
        </p:nvGrpSpPr>
        <p:grpSpPr>
          <a:xfrm>
            <a:off x="762000" y="1600200"/>
            <a:ext cx="10668000" cy="2000250"/>
            <a:chOff x="762000" y="1600200"/>
            <a:chExt cx="10668000" cy="2000250"/>
          </a:xfrm>
        </p:grpSpPr>
        <p:sp>
          <p:nvSpPr>
            <p:cNvPr id="7" name="Rectangle 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</p:grpSp>
      <p:grpSp>
        <p:nvGrpSpPr>
          <p:cNvPr id="38" name="appr-1"/>
          <p:cNvGrpSpPr/>
          <p:nvPr/>
        </p:nvGrpSpPr>
        <p:grpSpPr>
          <a:xfrm>
            <a:off x="762000" y="3810000"/>
            <a:ext cx="10668000" cy="1123950"/>
            <a:chOff x="762000" y="3810000"/>
            <a:chExt cx="106680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63025" y="3810000"/>
              <a:ext cx="2466975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33618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514756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39" name="Rectangle 39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7341139" cy="586740"/>
            <a:chOff x="746760" y="641350"/>
            <a:chExt cx="7341139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34113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35" name="diagram"/>
          <p:cNvGrpSpPr/>
          <p:nvPr/>
        </p:nvGrpSpPr>
        <p:grpSpPr>
          <a:xfrm>
            <a:off x="762000" y="1714500"/>
            <a:ext cx="10668000" cy="3472307"/>
            <a:chOff x="762000" y="1714500"/>
            <a:chExt cx="10668000" cy="3472307"/>
          </a:xfrm>
        </p:grpSpPr>
        <p:sp>
          <p:nvSpPr>
            <p:cNvPr id="7" name="Rectangle 7"/>
            <p:cNvSpPr/>
            <p:nvPr/>
          </p:nvSpPr>
          <p:spPr>
            <a:xfrm>
              <a:off x="4191000" y="1952625"/>
              <a:ext cx="3810000" cy="2667000"/>
            </a:xfrm>
            <a:prstGeom prst="roundRect">
              <a:avLst>
                <a:gd name="adj" fmla="val 571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232" r="0" b="231"/>
            <a:stretch>
              <a:fillRect/>
            </a:stretch>
          </p:blipFill>
          <p:spPr>
            <a:xfrm>
              <a:off x="4305300" y="2009775"/>
              <a:ext cx="3581400" cy="2562225"/>
            </a:xfrm>
            <a:prstGeom prst="rect">
              <a:avLst/>
            </a:prstGeom>
          </p:spPr>
        </p:pic>
        <p:sp>
          <p:nvSpPr>
            <p:cNvPr id="9" name="Freeform 9"/>
            <p:cNvSpPr/>
            <p:nvPr/>
          </p:nvSpPr>
          <p:spPr>
            <a:xfrm>
              <a:off x="4136231" y="48736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392168" y="4864100"/>
              <a:ext cx="4078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Анимация: работа нейросетей мозга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42" name="note"/>
          <p:cNvGrpSpPr/>
          <p:nvPr/>
        </p:nvGrpSpPr>
        <p:grpSpPr>
          <a:xfrm>
            <a:off x="762000" y="5257800"/>
            <a:ext cx="10668000" cy="914400"/>
            <a:chOff x="762000" y="5257800"/>
            <a:chExt cx="10668000" cy="914400"/>
          </a:xfrm>
        </p:grpSpPr>
        <p:sp>
          <p:nvSpPr>
            <p:cNvPr id="36" name="Rectangle 36"/>
            <p:cNvSpPr/>
            <p:nvPr/>
          </p:nvSpPr>
          <p:spPr>
            <a:xfrm>
              <a:off x="762000" y="52578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1122397" y="5534025"/>
              <a:ext cx="193606" cy="285751"/>
              <a:chOff x="1122397" y="5534025"/>
              <a:chExt cx="193606" cy="28575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171575" y="55340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187450" y="56292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122397" y="55340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553718" y="54991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3" name="Line 4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46914" cy="586740"/>
            <a:chOff x="746760" y="641350"/>
            <a:chExt cx="684691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4691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71042" y="3930650"/>
              <a:ext cx="1564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благ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7425982" cy="586740"/>
            <a:chOff x="746760" y="641350"/>
            <a:chExt cx="7425982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42598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3671650" cy="586740"/>
            <a:chOff x="746760" y="641350"/>
            <a:chExt cx="367165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367165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16" name="donut"/>
          <p:cNvGrpSpPr/>
          <p:nvPr/>
        </p:nvGrpSpPr>
        <p:grpSpPr>
          <a:xfrm>
            <a:off x="1437804" y="1990660"/>
            <a:ext cx="3277071" cy="3539047"/>
            <a:chOff x="1437804" y="1990660"/>
            <a:chExt cx="3277071" cy="3539047"/>
          </a:xfrm>
        </p:grpSpPr>
        <p:sp>
          <p:nvSpPr>
            <p:cNvPr id="7" name="Ellipse 7"/>
            <p:cNvSpPr/>
            <p:nvPr/>
          </p:nvSpPr>
          <p:spPr>
            <a:xfrm>
              <a:off x="2000250" y="2419350"/>
              <a:ext cx="2286000" cy="22860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388159" y="3397250"/>
              <a:ext cx="15101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43250" y="1990725"/>
              <a:ext cx="1571625" cy="3143250"/>
            </a:xfrm>
            <a:custGeom>
              <a:avLst/>
              <a:gdLst/>
              <a:ahLst/>
              <a:cxnLst/>
              <a:rect l="l" t="t" r="r" b="b"/>
              <a:pathLst>
                <a:path w="1571625" h="3143250">
                  <a:moveTo>
                    <a:pt x="0" y="0"/>
                  </a:moveTo>
                  <a:cubicBezTo>
                    <a:pt x="867985" y="0"/>
                    <a:pt x="1571625" y="703640"/>
                    <a:pt x="1571625" y="1571625"/>
                  </a:cubicBezTo>
                  <a:cubicBezTo>
                    <a:pt x="1571625" y="2439610"/>
                    <a:pt x="867985" y="3143250"/>
                    <a:pt x="0" y="3143250"/>
                  </a:cubicBezTo>
                  <a:lnTo>
                    <a:pt x="0" y="2619375"/>
                  </a:lnTo>
                  <a:cubicBezTo>
                    <a:pt x="578656" y="2619375"/>
                    <a:pt x="1047750" y="2150281"/>
                    <a:pt x="1047750" y="1571625"/>
                  </a:cubicBezTo>
                  <a:cubicBezTo>
                    <a:pt x="1047750" y="992969"/>
                    <a:pt x="578656" y="523875"/>
                    <a:pt x="0" y="52387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437804" y="2290763"/>
              <a:ext cx="1705446" cy="2843345"/>
            </a:xfrm>
            <a:custGeom>
              <a:avLst/>
              <a:gdLst/>
              <a:ahLst/>
              <a:cxnLst/>
              <a:rect l="l" t="t" r="r" b="b"/>
              <a:pathLst>
                <a:path w="1705446" h="2843345">
                  <a:moveTo>
                    <a:pt x="1705446" y="2843212"/>
                  </a:moveTo>
                  <a:cubicBezTo>
                    <a:pt x="1024483" y="2843345"/>
                    <a:pt x="420903" y="2404925"/>
                    <a:pt x="210451" y="1757298"/>
                  </a:cubicBezTo>
                  <a:cubicBezTo>
                    <a:pt x="0" y="1109672"/>
                    <a:pt x="230560" y="400190"/>
                    <a:pt x="781521" y="0"/>
                  </a:cubicBezTo>
                  <a:lnTo>
                    <a:pt x="1089178" y="423862"/>
                  </a:lnTo>
                  <a:cubicBezTo>
                    <a:pt x="721824" y="690690"/>
                    <a:pt x="568130" y="1163761"/>
                    <a:pt x="708514" y="1595546"/>
                  </a:cubicBezTo>
                  <a:cubicBezTo>
                    <a:pt x="848899" y="2027331"/>
                    <a:pt x="1251412" y="2319564"/>
                    <a:pt x="1705446" y="2319337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219325" y="1990660"/>
              <a:ext cx="923925" cy="723965"/>
            </a:xfrm>
            <a:custGeom>
              <a:avLst/>
              <a:gdLst/>
              <a:ahLst/>
              <a:cxnLst/>
              <a:rect l="l" t="t" r="r" b="b"/>
              <a:pathLst>
                <a:path w="923925" h="723965">
                  <a:moveTo>
                    <a:pt x="0" y="300102"/>
                  </a:moveTo>
                  <a:cubicBezTo>
                    <a:pt x="268563" y="105031"/>
                    <a:pt x="591993" y="0"/>
                    <a:pt x="923925" y="65"/>
                  </a:cubicBezTo>
                  <a:lnTo>
                    <a:pt x="923925" y="523940"/>
                  </a:lnTo>
                  <a:cubicBezTo>
                    <a:pt x="702529" y="523830"/>
                    <a:pt x="486787" y="593854"/>
                    <a:pt x="307658" y="723965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267038" y="3429000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50%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00088" y="4267200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40%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62038" y="2238375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231072" y="520700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9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7" name="Rectangle 17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1656" y="3333750"/>
              <a:ext cx="31124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волевой контроль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6" name="note"/>
          <p:cNvGrpSpPr/>
          <p:nvPr/>
        </p:nvGrpSpPr>
        <p:grpSpPr>
          <a:xfrm>
            <a:off x="1513077" y="5873750"/>
            <a:ext cx="9480466" cy="570357"/>
            <a:chOff x="1513077" y="5873750"/>
            <a:chExt cx="9480466" cy="570357"/>
          </a:xfrm>
        </p:grpSpPr>
        <p:grpSp>
          <p:nvGrpSpPr>
            <p:cNvPr id="33" name="Group 33"/>
            <p:cNvGrpSpPr/>
            <p:nvPr/>
          </p:nvGrpSpPr>
          <p:grpSpPr>
            <a:xfrm>
              <a:off x="1513077" y="5948362"/>
              <a:ext cx="174245" cy="257175"/>
              <a:chOff x="1513077" y="5948362"/>
              <a:chExt cx="174245" cy="25717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557338" y="594836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571625" y="603408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513077" y="594836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896618" y="5873750"/>
              <a:ext cx="90969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Формула: Lyubomirsky, Sheldon &amp; Schkade (2005) — иллюстративная модель, не закон.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896618" y="6121400"/>
              <a:ext cx="77123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Мета-анализы (Rohrer &amp; Schmukle, 2018): гены и среда взаимодействуют.</a:t>
              </a:r>
            </a:p>
          </p:txBody>
        </p:sp>
      </p:grpSp>
      <p:sp>
        <p:nvSpPr>
          <p:cNvPr id="37" name="Line 3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7035915" cy="586740"/>
            <a:chOff x="746760" y="641350"/>
            <a:chExt cx="7035915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03591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5030218" cy="586740"/>
            <a:chOff x="746760" y="641350"/>
            <a:chExt cx="5030218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03021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93242" y="2559050"/>
              <a:ext cx="7145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3242" y="4826000"/>
              <a:ext cx="5806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2392" y="5092700"/>
              <a:ext cx="1137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9642" y="5092700"/>
              <a:ext cx="12709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20" name="chart-plot"/>
          <p:cNvGrpSpPr/>
          <p:nvPr/>
        </p:nvGrpSpPr>
        <p:grpSpPr>
          <a:xfrm>
            <a:off x="1428750" y="2647950"/>
            <a:ext cx="6191250" cy="2114550"/>
            <a:chOff x="1428750" y="2647950"/>
            <a:chExt cx="6191250" cy="2114550"/>
          </a:xfrm>
        </p:grpSpPr>
        <p:sp>
          <p:nvSpPr>
            <p:cNvPr id="18" name="Polyline 18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</p:grpSp>
      <p:grpSp>
        <p:nvGrpSpPr>
          <p:cNvPr id="27" name="theses"/>
          <p:cNvGrpSpPr/>
          <p:nvPr/>
        </p:nvGrpSpPr>
        <p:grpSpPr>
          <a:xfrm>
            <a:off x="8382000" y="1666875"/>
            <a:ext cx="3048000" cy="3905250"/>
            <a:chOff x="8382000" y="1666875"/>
            <a:chExt cx="3048000" cy="3905250"/>
          </a:xfrm>
        </p:grpSpPr>
        <p:sp>
          <p:nvSpPr>
            <p:cNvPr id="21" name="Rectangle 21"/>
            <p:cNvSpPr/>
            <p:nvPr/>
          </p:nvSpPr>
          <p:spPr>
            <a:xfrm>
              <a:off x="8382000" y="1666875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6403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403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382000" y="3714750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40318" y="4006850"/>
              <a:ext cx="2136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403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5162677" cy="586740"/>
            <a:chOff x="746760" y="641350"/>
            <a:chExt cx="51626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1626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762000" y="1762125"/>
            <a:ext cx="6667500" cy="4476750"/>
            <a:chOff x="762000" y="1762125"/>
            <a:chExt cx="6667500" cy="447675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6592" y="2559050"/>
              <a:ext cx="7118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6592" y="5226050"/>
              <a:ext cx="57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19" name="chart-plot"/>
          <p:cNvGrpSpPr/>
          <p:nvPr/>
        </p:nvGrpSpPr>
        <p:grpSpPr>
          <a:xfrm>
            <a:off x="1714500" y="2857500"/>
            <a:ext cx="5334000" cy="2009775"/>
            <a:chOff x="1714500" y="2857500"/>
            <a:chExt cx="5334000" cy="2009775"/>
          </a:xfrm>
        </p:grpSpPr>
        <p:sp>
          <p:nvSpPr>
            <p:cNvPr id="17" name="Polyline 17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</p:grpSp>
      <p:grpSp>
        <p:nvGrpSpPr>
          <p:cNvPr id="28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20" name="Rectangle 20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7909077" cy="586740"/>
            <a:chOff x="746760" y="641350"/>
            <a:chExt cx="79090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9090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4459847" cy="586740"/>
            <a:chOff x="746760" y="641350"/>
            <a:chExt cx="44598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44598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</p:grpSp>
      <p:grpSp>
        <p:nvGrpSpPr>
          <p:cNvPr id="51" name="rec-4"/>
          <p:cNvGrpSpPr/>
          <p:nvPr/>
        </p:nvGrpSpPr>
        <p:grpSpPr>
          <a:xfrm>
            <a:off x="762000" y="3952875"/>
            <a:ext cx="10668000" cy="2047875"/>
            <a:chOff x="762000" y="3952875"/>
            <a:chExt cx="10668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</p:grpSp>
      <p:sp>
        <p:nvSpPr>
          <p:cNvPr id="52" name="Line 5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146770" cy="586740"/>
            <a:chOff x="746760" y="641350"/>
            <a:chExt cx="614677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14677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209800"/>
            <a:chOff x="762000" y="1238250"/>
            <a:chExt cx="10668000" cy="220980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209800"/>
            </a:xfrm>
            <a:prstGeom prst="roundRect">
              <a:avLst>
                <a:gd name="adj" fmla="val 6897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6685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6850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6850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3876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3876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80670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31" name="sources"/>
          <p:cNvGrpSpPr/>
          <p:nvPr/>
        </p:nvGrpSpPr>
        <p:grpSpPr>
          <a:xfrm>
            <a:off x="762000" y="3695700"/>
            <a:ext cx="6325741" cy="2705100"/>
            <a:chOff x="762000" y="3695700"/>
            <a:chExt cx="6325741" cy="2705100"/>
          </a:xfrm>
        </p:grpSpPr>
        <p:sp>
          <p:nvSpPr>
            <p:cNvPr id="19" name="Rectangle 19"/>
            <p:cNvSpPr/>
            <p:nvPr/>
          </p:nvSpPr>
          <p:spPr>
            <a:xfrm>
              <a:off x="762000" y="3695700"/>
              <a:ext cx="6096000" cy="2705100"/>
            </a:xfrm>
            <a:prstGeom prst="roundRect">
              <a:avLst>
                <a:gd name="adj" fmla="val 5634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1054100" y="3879850"/>
              <a:ext cx="177800" cy="203199"/>
              <a:chOff x="1054100" y="3879850"/>
              <a:chExt cx="177800" cy="203199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054100" y="3879850"/>
                <a:ext cx="177800" cy="203199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03199">
                    <a:moveTo>
                      <a:pt x="177800" y="0"/>
                    </a:moveTo>
                    <a:lnTo>
                      <a:pt x="177800" y="203199"/>
                    </a:lnTo>
                    <a:lnTo>
                      <a:pt x="25400" y="203199"/>
                    </a:lnTo>
                    <a:cubicBezTo>
                      <a:pt x="11372" y="203199"/>
                      <a:pt x="0" y="191828"/>
                      <a:pt x="0" y="177800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  <a:lnTo>
                      <a:pt x="177800" y="0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54100" y="4032249"/>
                <a:ext cx="1778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5400">
                    <a:moveTo>
                      <a:pt x="177800" y="0"/>
                    </a:moveTo>
                    <a:lnTo>
                      <a:pt x="25400" y="0"/>
                    </a:ln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04900" y="3930650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381506" y="3848100"/>
              <a:ext cx="13082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4504" y="4343400"/>
              <a:ext cx="23843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World Happiness Report (ВОЗ)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84504" y="4667250"/>
              <a:ext cx="20887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en-US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Killingsworth, PNAS (2021)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504" y="4991100"/>
              <a:ext cx="23743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Канеман и Дитон (2010, 2023)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032504" y="4343400"/>
              <a:ext cx="25553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Селигман «Подлинное счастье»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32504" y="4667250"/>
              <a:ext cx="30552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en-US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Lyubomirsky, Sheldon &amp; Schkade (2005)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032504" y="4991100"/>
              <a:ext cx="14708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Джидарьян (2013)</a:t>
              </a:r>
            </a:p>
          </p:txBody>
        </p:sp>
      </p:grpSp>
      <p:grpSp>
        <p:nvGrpSpPr>
          <p:cNvPr id="35" name="qr"/>
          <p:cNvGrpSpPr/>
          <p:nvPr/>
        </p:nvGrpSpPr>
        <p:grpSpPr>
          <a:xfrm>
            <a:off x="7048500" y="3695700"/>
            <a:ext cx="4191000" cy="2705100"/>
            <a:chOff x="7048500" y="3695700"/>
            <a:chExt cx="4191000" cy="2705100"/>
          </a:xfrm>
        </p:grpSpPr>
        <p:sp>
          <p:nvSpPr>
            <p:cNvPr id="32" name="Rectangle 32"/>
            <p:cNvSpPr/>
            <p:nvPr/>
          </p:nvSpPr>
          <p:spPr>
            <a:xfrm>
              <a:off x="7048500" y="3695700"/>
              <a:ext cx="4191000" cy="2705100"/>
            </a:xfrm>
            <a:prstGeom prst="roundRect">
              <a:avLst>
                <a:gd name="adj" fmla="val 5634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595374" y="3873500"/>
              <a:ext cx="3097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 источников</a:t>
              </a:r>
            </a:p>
          </p:txBody>
        </p:sp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1500" y="4305300"/>
              <a:ext cx="1905000" cy="1905000"/>
            </a:xfrm>
            <a:prstGeom prst="rect">
              <a:avLst/>
            </a:prstGeom>
          </p:spPr>
        </p:pic>
      </p:grpSp>
      <p:sp>
        <p:nvSpPr>
          <p:cNvPr id="36" name="Line 3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2026-10-09T22:23:16Z</dcterms:created>
  <dcterms:modified xsi:type="dcterms:W3CDTF">2026-10-09T22:23:16Z</dcterms:modified>
  <cp:category/>
  <cp:contentStatus/>
</cp:coreProperties>
</file>