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Default Extension="svg" ContentType="image/svg+xml"/>
  <Default Extension="mp4" ContentType="video/mp4"/>
  <Default Extension="mp3" ContentType="audio/m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 в «Гипотезе счастья» сравнивает душу с наездником на слоне: разум направляет, но эмоции сильнее. Лоретта Бройнинг в «Гормонах счастья» объясняет химию дофамина, серотонина, окситоцина и эндорфина. Михай Чиксентмихайи в «Психологии оптимального переживания»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качество отношений важнее денег. Но деньги всё же важны — до определённого уровня. 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Спасибо за внимание.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  <Relationship Id="rId4" Type="http://schemas.microsoft.com/office/2007/relationships/media" Target="../media/narration1.mp3"/>
  <Relationship Id="rId5" Type="http://schemas.openxmlformats.org/officeDocument/2006/relationships/audio" Target="../media/narration1.mp3"/>
  <Relationship Id="rId6" Type="http://schemas.openxmlformats.org/officeDocument/2006/relationships/image" Target="../media/narration_poster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  <Relationship Id="rId4" Type="http://schemas.microsoft.com/office/2007/relationships/media" Target="../media/narration2.mp3"/>
  <Relationship Id="rId5" Type="http://schemas.openxmlformats.org/officeDocument/2006/relationships/audio" Target="../media/narration2.mp3"/>
  <Relationship Id="rId6" Type="http://schemas.openxmlformats.org/officeDocument/2006/relationships/image" Target="../media/narration_poster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  <Relationship Id="rId4" Type="http://schemas.microsoft.com/office/2007/relationships/media" Target="../media/narration3.mp3"/>
  <Relationship Id="rId5" Type="http://schemas.openxmlformats.org/officeDocument/2006/relationships/audio" Target="../media/narration3.mp3"/>
  <Relationship Id="rId6" Type="http://schemas.openxmlformats.org/officeDocument/2006/relationships/image" Target="../media/narration_poster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  <Relationship Id="rId4" Type="http://schemas.microsoft.com/office/2007/relationships/media" Target="../media/narration4.mp3"/>
  <Relationship Id="rId5" Type="http://schemas.openxmlformats.org/officeDocument/2006/relationships/audio" Target="../media/narration4.mp3"/>
  <Relationship Id="rId6" Type="http://schemas.openxmlformats.org/officeDocument/2006/relationships/image" Target="../media/narration_poster.png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  <Relationship Id="rId4" Type="http://schemas.microsoft.com/office/2007/relationships/media" Target="../media/narration5.mp3"/>
  <Relationship Id="rId5" Type="http://schemas.openxmlformats.org/officeDocument/2006/relationships/audio" Target="../media/narration5.mp3"/>
  <Relationship Id="rId6" Type="http://schemas.openxmlformats.org/officeDocument/2006/relationships/image" Target="../media/narration_poster.png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  <Relationship Id="rId5" Type="http://schemas.microsoft.com/office/2007/relationships/media" Target="../media/narration6.mp3"/>
  <Relationship Id="rId6" Type="http://schemas.openxmlformats.org/officeDocument/2006/relationships/audio" Target="../media/narration6.mp3"/>
  <Relationship Id="rId7" Type="http://schemas.openxmlformats.org/officeDocument/2006/relationships/image" Target="../media/narration_poster.png"/>
<Relationship Id="rId9" Type="http://schemas.microsoft.com/office/2007/relationships/media" Target="../media/slide6_video.mp4"/><Relationship Id="rId8" Type="http://schemas.openxmlformats.org/officeDocument/2006/relationships/video" Target="../media/slide6_video.mp4"/>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  <Relationship Id="rId4" Type="http://schemas.microsoft.com/office/2007/relationships/media" Target="../media/narration7.mp3"/>
  <Relationship Id="rId5" Type="http://schemas.openxmlformats.org/officeDocument/2006/relationships/audio" Target="../media/narration7.mp3"/>
  <Relationship Id="rId6" Type="http://schemas.openxmlformats.org/officeDocument/2006/relationships/image" Target="../media/narration_poster.png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  <Relationship Id="rId6" Type="http://schemas.microsoft.com/office/2007/relationships/media" Target="../media/narration8.mp3"/>
  <Relationship Id="rId7" Type="http://schemas.openxmlformats.org/officeDocument/2006/relationships/audio" Target="../media/narration8.mp3"/>
  <Relationship Id="rId8" Type="http://schemas.openxmlformats.org/officeDocument/2006/relationships/image" Target="../media/narration_poster.png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  <Relationship Id="rId4" Type="http://schemas.microsoft.com/office/2007/relationships/media" Target="../media/narration9.mp3"/>
  <Relationship Id="rId5" Type="http://schemas.openxmlformats.org/officeDocument/2006/relationships/audio" Target="../media/narration9.mp3"/>
  <Relationship Id="rId6" Type="http://schemas.openxmlformats.org/officeDocument/2006/relationships/image" Target="../media/narration_poster.png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  <Relationship Id="rId5" Type="http://schemas.microsoft.com/office/2007/relationships/media" Target="../media/narration10.mp3"/>
  <Relationship Id="rId6" Type="http://schemas.openxmlformats.org/officeDocument/2006/relationships/audio" Target="../media/narration10.mp3"/>
  <Relationship Id="rId7" Type="http://schemas.openxmlformats.org/officeDocument/2006/relationships/image" Target="../media/narration_poster.png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  <Relationship Id="rId4" Type="http://schemas.microsoft.com/office/2007/relationships/media" Target="../media/narration11.mp3"/>
  <Relationship Id="rId5" Type="http://schemas.openxmlformats.org/officeDocument/2006/relationships/audio" Target="../media/narration11.mp3"/>
  <Relationship Id="rId6" Type="http://schemas.openxmlformats.org/officeDocument/2006/relationships/image" Target="../media/narration_poster.png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  <Relationship Id="rId4" Type="http://schemas.microsoft.com/office/2007/relationships/media" Target="../media/narration12.mp3"/>
  <Relationship Id="rId5" Type="http://schemas.openxmlformats.org/officeDocument/2006/relationships/audio" Target="../media/narration12.mp3"/>
  <Relationship Id="rId6" Type="http://schemas.openxmlformats.org/officeDocument/2006/relationships/image" Target="../media/narration_poster.png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  <Relationship Id="rId4" Type="http://schemas.microsoft.com/office/2007/relationships/media" Target="../media/narration13.mp3"/>
  <Relationship Id="rId5" Type="http://schemas.openxmlformats.org/officeDocument/2006/relationships/audio" Target="../media/narration13.mp3"/>
  <Relationship Id="rId6" Type="http://schemas.openxmlformats.org/officeDocument/2006/relationships/image" Target="../media/narration_poster.png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  <Relationship Id="rId4" Type="http://schemas.microsoft.com/office/2007/relationships/media" Target="../media/narration14.mp3"/>
  <Relationship Id="rId5" Type="http://schemas.openxmlformats.org/officeDocument/2006/relationships/audio" Target="../media/narration14.mp3"/>
  <Relationship Id="rId6" Type="http://schemas.openxmlformats.org/officeDocument/2006/relationships/image" Target="../media/narration_poster.png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24e0dca5fc560e17.svg"/>
  <Relationship Id="rId4" Type="http://schemas.openxmlformats.org/officeDocument/2006/relationships/notesSlide" Target="../notesSlides/notesSlide15.xml"/>
  <Relationship Id="rId5" Type="http://schemas.microsoft.com/office/2007/relationships/media" Target="../media/narration15.mp3"/>
  <Relationship Id="rId6" Type="http://schemas.openxmlformats.org/officeDocument/2006/relationships/audio" Target="../media/narration15.mp3"/>
  <Relationship Id="rId7" Type="http://schemas.openxmlformats.org/officeDocument/2006/relationships/image" Target="../media/narration_poster.png"/>
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cover-orb"/>
          <p:cNvSpPr/>
          <p:nvPr/>
        </p:nvSpPr>
        <p:spPr>
          <a:xfrm>
            <a:off x="8096250" y="2762250"/>
            <a:ext cx="4381500" cy="43815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5" name="cover-orb-2"/>
          <p:cNvSpPr/>
          <p:nvPr/>
        </p:nvSpPr>
        <p:spPr>
          <a:xfrm>
            <a:off x="95250" y="-476250"/>
            <a:ext cx="3238500" cy="3238500"/>
          </a:xfrm>
          <a:prstGeom prst="ellipse">
            <a:avLst/>
          </a:prstGeom>
          <a:solidFill>
            <a:srgbClr val="27AE60">
              <a:alpha val="8000"/>
            </a:srgbClr>
          </a:solidFill>
          <a:ln>
            <a:noFill/>
          </a:ln>
        </p:spPr>
      </p:sp>
      <p:sp>
        <p:nvSpPr>
          <p:cNvPr id="6" name="cover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9" name="cover-header"/>
          <p:cNvGrpSpPr/>
          <p:nvPr/>
        </p:nvGrpSpPr>
        <p:grpSpPr>
          <a:xfrm>
            <a:off x="743712" y="1130300"/>
            <a:ext cx="7984017" cy="2367788"/>
            <a:chOff x="743712" y="1130300"/>
            <a:chExt cx="7984017" cy="2367788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3712" y="1612900"/>
              <a:ext cx="7374819" cy="18851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40307"/>
            <a:chOff x="762000" y="3905250"/>
            <a:chExt cx="4749125" cy="1440307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9704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sabadaspaha@gmail.com</a:t>
              </a:r>
              <a:b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  <p:pic>
        <p:nvPicPr>
          <p:cNvPr id="26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800"/>
                  </p:stCondLst>
                </p:cTn>
                <p:tgtEl>
                  <p:spTgt spid="2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648072" cy="704088"/>
            <a:chOff x="743712" y="565150"/>
            <a:chExt cx="664807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64807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grpSp>
        <p:nvGrpSpPr>
          <p:cNvPr id="28" name="credits"/>
          <p:cNvGrpSpPr/>
          <p:nvPr/>
        </p:nvGrpSpPr>
        <p:grpSpPr>
          <a:xfrm>
            <a:off x="753618" y="6540500"/>
            <a:ext cx="2907075" cy="322707"/>
            <a:chOff x="753618" y="6540500"/>
            <a:chExt cx="2907075" cy="322707"/>
          </a:xfrm>
        </p:grpSpPr>
        <p:sp>
          <p:nvSpPr>
            <p:cNvPr id="27" name="TextBox 27"/>
            <p:cNvSpPr txBox="1"/>
            <p:nvPr/>
          </p:nvSpPr>
          <p:spPr>
            <a:xfrm>
              <a:off x="753618" y="6540500"/>
              <a:ext cx="29070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Wacky1976 (CC BY-SA 4.0)</a:t>
              </a:r>
            </a:p>
          </p:txBody>
        </p:sp>
      </p:grpSp>
      <p:pic>
        <p:nvPicPr>
          <p:cNvPr id="29" name="PPT Master narration: narration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7" fill="hold" display="0">
                  <p:stCondLst>
                    <p:cond delay="300"/>
                  </p:stCondLst>
                </p:cTn>
                <p:tgtEl>
                  <p:spTgt spid="29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4269967" cy="704088"/>
            <a:chOff x="743712" y="565150"/>
            <a:chExt cx="42699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42699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grpSp>
        <p:nvGrpSpPr>
          <p:cNvPr id="70" name="credits"/>
          <p:cNvGrpSpPr/>
          <p:nvPr/>
        </p:nvGrpSpPr>
        <p:grpSpPr>
          <a:xfrm>
            <a:off x="753618" y="6540500"/>
            <a:ext cx="2524167" cy="322707"/>
            <a:chOff x="753618" y="6540500"/>
            <a:chExt cx="2524167" cy="322707"/>
          </a:xfrm>
        </p:grpSpPr>
        <p:sp>
          <p:nvSpPr>
            <p:cNvPr id="69" name="TextBox 69"/>
            <p:cNvSpPr txBox="1"/>
            <p:nvPr/>
          </p:nvSpPr>
          <p:spPr>
            <a:xfrm>
              <a:off x="753618" y="6540500"/>
              <a:ext cx="25241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Shixart1985 (CC BY 2.0)</a:t>
              </a:r>
            </a:p>
          </p:txBody>
        </p:sp>
      </p:grpSp>
      <p:pic>
        <p:nvPicPr>
          <p:cNvPr id="71" name="PPT Master narration: narration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71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10257629" cy="704088"/>
            <a:chOff x="743712" y="565150"/>
            <a:chExt cx="1025762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1025762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18" name="chart-dep"/>
          <p:cNvGrpSpPr/>
          <p:nvPr/>
        </p:nvGrpSpPr>
        <p:grpSpPr>
          <a:xfrm>
            <a:off x="762000" y="1762125"/>
            <a:ext cx="5238750" cy="3810000"/>
            <a:chOff x="762000" y="1762125"/>
            <a:chExt cx="523875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812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Polyline 11"/>
            <p:cNvSpPr/>
            <p:nvPr/>
          </p:nvSpPr>
          <p:spPr>
            <a:xfrm>
              <a:off x="1428750" y="2705100"/>
              <a:ext cx="4191000" cy="1924050"/>
            </a:xfrm>
            <a:custGeom>
              <a:avLst/>
              <a:gdLst/>
              <a:ahLst/>
              <a:cxnLst/>
              <a:rect l="l" t="t" r="r" b="b"/>
              <a:pathLst>
                <a:path w="4191000" h="1924050">
                  <a:moveTo>
                    <a:pt x="0" y="1924050"/>
                  </a:moveTo>
                  <a:lnTo>
                    <a:pt x="857250" y="1657350"/>
                  </a:lnTo>
                  <a:lnTo>
                    <a:pt x="1714500" y="1276350"/>
                  </a:lnTo>
                  <a:lnTo>
                    <a:pt x="2571750" y="838200"/>
                  </a:lnTo>
                  <a:lnTo>
                    <a:pt x="3429000" y="323850"/>
                  </a:lnTo>
                  <a:lnTo>
                    <a:pt x="4191000" y="0"/>
                  </a:lnTo>
                </a:path>
              </a:pathLst>
            </a:custGeom>
            <a:noFill/>
            <a:ln w="57150">
              <a:solidFill>
                <a:srgbClr val="E74C3C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5534025" y="2619375"/>
              <a:ext cx="171450" cy="1714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48918" y="25781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6736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56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135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9368" y="52451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</p:grpSp>
      <p:grpSp>
        <p:nvGrpSpPr>
          <p:cNvPr id="30" name="chart-hap"/>
          <p:cNvGrpSpPr/>
          <p:nvPr/>
        </p:nvGrpSpPr>
        <p:grpSpPr>
          <a:xfrm>
            <a:off x="6286500" y="1762125"/>
            <a:ext cx="5143500" cy="3810000"/>
            <a:chOff x="6286500" y="1762125"/>
            <a:chExt cx="5143500" cy="3810000"/>
          </a:xfrm>
        </p:grpSpPr>
        <p:sp>
          <p:nvSpPr>
            <p:cNvPr id="19" name="Rectangle 19"/>
            <p:cNvSpPr/>
            <p:nvPr/>
          </p:nvSpPr>
          <p:spPr>
            <a:xfrm>
              <a:off x="62865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63106" y="19812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69532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6953250" y="48387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3" name="Polyline 23"/>
            <p:cNvSpPr/>
            <p:nvPr/>
          </p:nvSpPr>
          <p:spPr>
            <a:xfrm>
              <a:off x="6953250" y="3619500"/>
              <a:ext cx="3714750" cy="95250"/>
            </a:xfrm>
            <a:custGeom>
              <a:avLst/>
              <a:gdLst/>
              <a:ahLst/>
              <a:cxnLst/>
              <a:rect l="l" t="t" r="r" b="b"/>
              <a:pathLst>
                <a:path w="3714750" h="95250">
                  <a:moveTo>
                    <a:pt x="0" y="76200"/>
                  </a:moveTo>
                  <a:lnTo>
                    <a:pt x="742950" y="0"/>
                  </a:lnTo>
                  <a:lnTo>
                    <a:pt x="1485900" y="95250"/>
                  </a:lnTo>
                  <a:lnTo>
                    <a:pt x="2228850" y="19050"/>
                  </a:lnTo>
                  <a:lnTo>
                    <a:pt x="2971800" y="76200"/>
                  </a:lnTo>
                  <a:lnTo>
                    <a:pt x="3714750" y="381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0582275" y="357187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54368" y="25781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54368" y="46736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40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88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3868" y="5245100"/>
              <a:ext cx="18635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плато с 2005 года</a:t>
              </a:r>
            </a:p>
          </p:txBody>
        </p:sp>
      </p:grpSp>
      <p:grpSp>
        <p:nvGrpSpPr>
          <p:cNvPr id="35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33" name="Group 33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36" name="Line 3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  <p:pic>
        <p:nvPicPr>
          <p:cNvPr id="38" name="PPT Master narration: narration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27957" cy="704088"/>
            <a:chOff x="743712" y="565150"/>
            <a:chExt cx="822795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2795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swb"/>
          <p:cNvGrpSpPr/>
          <p:nvPr/>
        </p:nvGrpSpPr>
        <p:grpSpPr>
          <a:xfrm>
            <a:off x="762000" y="1600200"/>
            <a:ext cx="10668000" cy="2000250"/>
            <a:chOff x="762000" y="1600200"/>
            <a:chExt cx="10668000" cy="2000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</p:grpSp>
      <p:grpSp>
        <p:nvGrpSpPr>
          <p:cNvPr id="38" name="approaches"/>
          <p:cNvGrpSpPr/>
          <p:nvPr/>
        </p:nvGrpSpPr>
        <p:grpSpPr>
          <a:xfrm>
            <a:off x="762000" y="3810000"/>
            <a:ext cx="10791825" cy="1123950"/>
            <a:chOff x="762000" y="3810000"/>
            <a:chExt cx="10791825" cy="1123950"/>
          </a:xfrm>
        </p:grpSpPr>
        <p:sp>
          <p:nvSpPr>
            <p:cNvPr id="26" name="Rectangle 26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96302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400293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81431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39" name="Rectangle 39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  <p:grpSp>
        <p:nvGrpSpPr>
          <p:cNvPr id="49" name="credits"/>
          <p:cNvGrpSpPr/>
          <p:nvPr/>
        </p:nvGrpSpPr>
        <p:grpSpPr>
          <a:xfrm>
            <a:off x="753618" y="6540500"/>
            <a:ext cx="3824147" cy="322707"/>
            <a:chOff x="753618" y="6540500"/>
            <a:chExt cx="3824147" cy="322707"/>
          </a:xfrm>
        </p:grpSpPr>
        <p:sp>
          <p:nvSpPr>
            <p:cNvPr id="48" name="TextBox 48"/>
            <p:cNvSpPr txBox="1"/>
            <p:nvPr/>
          </p:nvSpPr>
          <p:spPr>
            <a:xfrm>
              <a:off x="753618" y="6540500"/>
              <a:ext cx="38241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YVC Biology Department (CC BY 2.0)</a:t>
              </a:r>
            </a:p>
          </p:txBody>
        </p:sp>
      </p:grpSp>
      <p:pic>
        <p:nvPicPr>
          <p:cNvPr id="50" name="PPT Master narration: narration5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7" fill="hold" display="0">
                  <p:stCondLst>
                    <p:cond delay="300"/>
                  </p:stCondLst>
                </p:cTn>
                <p:tgtEl>
                  <p:spTgt spid="50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809367" cy="704088"/>
            <a:chOff x="743712" y="565150"/>
            <a:chExt cx="88093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8093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9" name="video"/>
          <p:cNvGrpSpPr/>
          <p:nvPr/>
        </p:nvGrpSpPr>
        <p:grpSpPr>
          <a:xfrm>
            <a:off x="4476750" y="2000250"/>
            <a:ext cx="3238500" cy="2381250"/>
            <a:chOff x="4476750" y="2000250"/>
            <a:chExt cx="3238500" cy="2381250"/>
          </a:xfrm>
        </p:grpSpPr>
        <p:sp>
          <p:nvSpPr>
            <p:cNvPr id="7" name="Rectangle 7"/>
            <p:cNvSpPr/>
            <p:nvPr/>
          </p:nvSpPr>
          <p:spPr>
            <a:xfrm>
              <a:off x="4476750" y="2000250"/>
              <a:ext cx="3238500" cy="2381250"/>
            </a:xfrm>
            <a:prstGeom prst="roundRect">
              <a:avLst>
                <a:gd name="adj" fmla="val 6400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 descr="Видео: нейросети мозга">
              <a:hlinkClick r:id="" action="ppaction://media"/>
            </p:cNvPr>
            <p:cNvPicPr>
              <a:picLocks noChangeAspect="1"/>
            </p:cNvPicPr>
            <p:nvPr>
              <a:videoFile r:link="rId8"/>
              <p:extLst>
                <p:ext uri="{DAA4B4D4-6D71-4841-9C94-3DE7FCFB9230}">
                  <p14:media xmlns:p14="http://schemas.microsoft.com/office/powerpoint/2010/main" xmlns:r="http://schemas.openxmlformats.org/officeDocument/2006/relationships" r:embed="rId9"/>
                </p:ext>
              </p:extLst>
            </p:nvPr>
          </p:nvPicPr>
          <p:blipFill>
            <a:blip r:embed="rId3"/>
            <a:stretch>
              <a:fillRect/>
            </a:stretch>
          </p:blipFill>
          <p:spPr>
            <a:xfrm>
              <a:off x="4572000" y="2095500"/>
              <a:ext cx="3048000" cy="2190750"/>
            </a:xfrm>
            <a:prstGeom prst="rect">
              <a:avLst/>
            </a:prstGeom>
          </p:spPr>
        </p:pic>
      </p:grpSp>
      <p:grpSp>
        <p:nvGrpSpPr>
          <p:cNvPr id="12" name="video-note"/>
          <p:cNvGrpSpPr/>
          <p:nvPr/>
        </p:nvGrpSpPr>
        <p:grpSpPr>
          <a:xfrm>
            <a:off x="4345781" y="4559300"/>
            <a:ext cx="3055047" cy="322707"/>
            <a:chOff x="4345781" y="4559300"/>
            <a:chExt cx="3055047" cy="322707"/>
          </a:xfrm>
        </p:grpSpPr>
        <p:sp>
          <p:nvSpPr>
            <p:cNvPr id="10" name="Freeform 10"/>
            <p:cNvSpPr/>
            <p:nvPr/>
          </p:nvSpPr>
          <p:spPr>
            <a:xfrm>
              <a:off x="4345781" y="45688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696968" y="4559300"/>
              <a:ext cx="27038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Видео: нейросети мозга</a:t>
              </a:r>
            </a:p>
          </p:txBody>
        </p:sp>
      </p:grpSp>
      <p:grpSp>
        <p:nvGrpSpPr>
          <p:cNvPr id="17" name="dopamine"/>
          <p:cNvGrpSpPr/>
          <p:nvPr/>
        </p:nvGrpSpPr>
        <p:grpSpPr>
          <a:xfrm>
            <a:off x="762000" y="1714500"/>
            <a:ext cx="3238500" cy="1143000"/>
            <a:chOff x="762000" y="1714500"/>
            <a:chExt cx="3238500" cy="1143000"/>
          </a:xfrm>
        </p:grpSpPr>
        <p:sp>
          <p:nvSpPr>
            <p:cNvPr id="13" name="Rectangle 13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26" name="serotonin"/>
          <p:cNvGrpSpPr/>
          <p:nvPr/>
        </p:nvGrpSpPr>
        <p:grpSpPr>
          <a:xfrm>
            <a:off x="8191500" y="1714500"/>
            <a:ext cx="3238500" cy="1143000"/>
            <a:chOff x="8191500" y="1714500"/>
            <a:chExt cx="3238500" cy="1143000"/>
          </a:xfrm>
        </p:grpSpPr>
        <p:sp>
          <p:nvSpPr>
            <p:cNvPr id="18" name="Rectangle 18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</p:grpSp>
      <p:grpSp>
        <p:nvGrpSpPr>
          <p:cNvPr id="35" name="endorphins"/>
          <p:cNvGrpSpPr/>
          <p:nvPr/>
        </p:nvGrpSpPr>
        <p:grpSpPr>
          <a:xfrm>
            <a:off x="762000" y="3810000"/>
            <a:ext cx="3238500" cy="1143000"/>
            <a:chOff x="762000" y="3810000"/>
            <a:chExt cx="3238500" cy="1143000"/>
          </a:xfrm>
        </p:grpSpPr>
        <p:sp>
          <p:nvSpPr>
            <p:cNvPr id="27" name="Rectangle 27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</p:grpSp>
      <p:grpSp>
        <p:nvGrpSpPr>
          <p:cNvPr id="40" name="oxytocin"/>
          <p:cNvGrpSpPr/>
          <p:nvPr/>
        </p:nvGrpSpPr>
        <p:grpSpPr>
          <a:xfrm>
            <a:off x="8191500" y="3810000"/>
            <a:ext cx="3238500" cy="1143000"/>
            <a:chOff x="8191500" y="3810000"/>
            <a:chExt cx="32385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</p:grpSp>
      <p:grpSp>
        <p:nvGrpSpPr>
          <p:cNvPr id="47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41" name="Rectangle 41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1122397" y="5419725"/>
              <a:ext cx="193606" cy="285751"/>
              <a:chOff x="1122397" y="5419725"/>
              <a:chExt cx="193606" cy="28575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171575" y="54197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87450" y="55149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122397" y="54197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553718" y="53848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8" name="Line 48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9" name="TextBox 49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  <p:grpSp>
        <p:nvGrpSpPr>
          <p:cNvPr id="51" name="credits"/>
          <p:cNvGrpSpPr/>
          <p:nvPr/>
        </p:nvGrpSpPr>
        <p:grpSpPr>
          <a:xfrm>
            <a:off x="753618" y="6540500"/>
            <a:ext cx="3180693" cy="322707"/>
            <a:chOff x="753618" y="6540500"/>
            <a:chExt cx="3180693" cy="322707"/>
          </a:xfrm>
        </p:grpSpPr>
        <p:sp>
          <p:nvSpPr>
            <p:cNvPr id="50" name="TextBox 50"/>
            <p:cNvSpPr txBox="1"/>
            <p:nvPr/>
          </p:nvSpPr>
          <p:spPr>
            <a:xfrm>
              <a:off x="753618" y="6540500"/>
              <a:ext cx="31806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Katherine Stember (CC BY 4.0)</a:t>
              </a:r>
            </a:p>
          </p:txBody>
        </p:sp>
      </p:grpSp>
      <p:pic>
        <p:nvPicPr>
          <p:cNvPr id="52" name="PPT Master narration: narration6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7" fill="hold" display="0">
                  <p:stCondLst>
                    <p:cond delay="300"/>
                  </p:stCondLst>
                </p:cTn>
                <p:tgtEl>
                  <p:spTgt spid="5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16297" cy="704088"/>
            <a:chOff x="743712" y="565150"/>
            <a:chExt cx="821629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1629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026406" y="3930650"/>
              <a:ext cx="18541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пользы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  <p:pic>
        <p:nvPicPr>
          <p:cNvPr id="73" name="PPT Master narration: narration7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3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911179" cy="704088"/>
            <a:chOff x="743712" y="565150"/>
            <a:chExt cx="891117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91117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grpSp>
        <p:nvGrpSpPr>
          <p:cNvPr id="27" name="credits"/>
          <p:cNvGrpSpPr/>
          <p:nvPr/>
        </p:nvGrpSpPr>
        <p:grpSpPr>
          <a:xfrm>
            <a:off x="753618" y="6540500"/>
            <a:ext cx="5758934" cy="322707"/>
            <a:chOff x="753618" y="6540500"/>
            <a:chExt cx="5758934" cy="322707"/>
          </a:xfrm>
        </p:grpSpPr>
        <p:sp>
          <p:nvSpPr>
            <p:cNvPr id="26" name="TextBox 26"/>
            <p:cNvSpPr txBox="1"/>
            <p:nvPr/>
          </p:nvSpPr>
          <p:spPr>
            <a:xfrm>
              <a:off x="753618" y="6540500"/>
              <a:ext cx="57589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PattayaPatrol (CC BY-SA 4.0) · Shixart1985 (CC BY 2.0)</a:t>
              </a:r>
            </a:p>
          </p:txBody>
        </p:sp>
      </p:grpSp>
      <p:pic>
        <p:nvPicPr>
          <p:cNvPr id="28" name="PPT Master narration: narration8.mp3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28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10351647" cy="586740"/>
            <a:chOff x="746760" y="641350"/>
            <a:chExt cx="103516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103516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генетика · 40% действия · 10% обстоятельства</a:t>
              </a:r>
            </a:p>
          </p:txBody>
        </p:sp>
      </p:grpSp>
      <p:grpSp>
        <p:nvGrpSpPr>
          <p:cNvPr id="12" name="donut"/>
          <p:cNvGrpSpPr/>
          <p:nvPr/>
        </p:nvGrpSpPr>
        <p:grpSpPr>
          <a:xfrm>
            <a:off x="1592120" y="2114354"/>
            <a:ext cx="2979880" cy="2858099"/>
            <a:chOff x="1592120" y="2114354"/>
            <a:chExt cx="2979880" cy="2858099"/>
          </a:xfrm>
        </p:grpSpPr>
        <p:sp>
          <p:nvSpPr>
            <p:cNvPr id="7" name="Freeform 7"/>
            <p:cNvSpPr/>
            <p:nvPr/>
          </p:nvSpPr>
          <p:spPr>
            <a:xfrm>
              <a:off x="3143250" y="211455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0"/>
                  </a:move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lnTo>
                    <a:pt x="0" y="2343150"/>
                  </a:lnTo>
                  <a:cubicBezTo>
                    <a:pt x="505009" y="2343150"/>
                    <a:pt x="914400" y="1933759"/>
                    <a:pt x="914400" y="1428750"/>
                  </a:cubicBezTo>
                  <a:cubicBezTo>
                    <a:pt x="914400" y="923741"/>
                    <a:pt x="505009" y="514350"/>
                    <a:pt x="0" y="51435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592120" y="238696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2585085"/>
                  </a:move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lnTo>
                    <a:pt x="1013920" y="416242"/>
                  </a:lnTo>
                  <a:cubicBezTo>
                    <a:pt x="693181" y="648975"/>
                    <a:pt x="558855" y="1061817"/>
                    <a:pt x="681237" y="1438726"/>
                  </a:cubicBezTo>
                  <a:cubicBezTo>
                    <a:pt x="803618" y="1815635"/>
                    <a:pt x="1154850" y="2070817"/>
                    <a:pt x="1551130" y="2070735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303145" y="2114354"/>
              <a:ext cx="840105" cy="688854"/>
            </a:xfrm>
            <a:custGeom>
              <a:avLst/>
              <a:gdLst/>
              <a:ahLst/>
              <a:cxnLst/>
              <a:rect l="l" t="t" r="r" b="b"/>
              <a:pathLst>
                <a:path w="840105" h="688854">
                  <a:moveTo>
                    <a:pt x="0" y="272611"/>
                  </a:moveTo>
                  <a:cubicBezTo>
                    <a:pt x="244238" y="95362"/>
                    <a:pt x="538328" y="0"/>
                    <a:pt x="840105" y="196"/>
                  </a:cubicBezTo>
                  <a:lnTo>
                    <a:pt x="840105" y="514546"/>
                  </a:lnTo>
                  <a:cubicBezTo>
                    <a:pt x="647128" y="514506"/>
                    <a:pt x="459086" y="575520"/>
                    <a:pt x="302895" y="688854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182225" y="3251200"/>
              <a:ext cx="19220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231072" y="362585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5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3" name="Rectangle 13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1656" y="3333750"/>
              <a:ext cx="20106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действия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1" name="note"/>
          <p:cNvGrpSpPr/>
          <p:nvPr/>
        </p:nvGrpSpPr>
        <p:grpSpPr>
          <a:xfrm>
            <a:off x="998727" y="5899150"/>
            <a:ext cx="9262868" cy="617982"/>
            <a:chOff x="998727" y="5899150"/>
            <a:chExt cx="9262868" cy="617982"/>
          </a:xfrm>
        </p:grpSpPr>
        <p:grpSp>
          <p:nvGrpSpPr>
            <p:cNvPr id="29" name="Group 29"/>
            <p:cNvGrpSpPr/>
            <p:nvPr/>
          </p:nvGrpSpPr>
          <p:grpSpPr>
            <a:xfrm>
              <a:off x="998727" y="5929312"/>
              <a:ext cx="174245" cy="257175"/>
              <a:chOff x="998727" y="5929312"/>
              <a:chExt cx="174245" cy="25717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1042988" y="592931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1057275" y="601503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998727" y="592931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401318" y="5899150"/>
              <a:ext cx="8860277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 предложена в 2000-х. Мета-анализы (Rohrer &amp; Schmukle, 2018) уточняют: гены 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среда взаимодействуют, а не суммируются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  <p:pic>
        <p:nvPicPr>
          <p:cNvPr id="34" name="PPT Master narration: narration9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4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443098" cy="704088"/>
            <a:chOff x="743712" y="565150"/>
            <a:chExt cx="8443098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44309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45" name="credits"/>
          <p:cNvGrpSpPr/>
          <p:nvPr/>
        </p:nvGrpSpPr>
        <p:grpSpPr>
          <a:xfrm>
            <a:off x="753618" y="6540500"/>
            <a:ext cx="3050187" cy="322707"/>
            <a:chOff x="753618" y="6540500"/>
            <a:chExt cx="3050187" cy="322707"/>
          </a:xfrm>
        </p:grpSpPr>
        <p:sp>
          <p:nvSpPr>
            <p:cNvPr id="44" name="TextBox 44"/>
            <p:cNvSpPr txBox="1"/>
            <p:nvPr/>
          </p:nvSpPr>
          <p:spPr>
            <a:xfrm>
              <a:off x="753618" y="6540500"/>
              <a:ext cx="30501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PattayaPatrol (CC BY-SA 4.0)</a:t>
              </a:r>
            </a:p>
          </p:txBody>
        </p:sp>
      </p:grpSp>
      <p:pic>
        <p:nvPicPr>
          <p:cNvPr id="46" name="PPT Master narration: narration10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7" fill="hold" display="0">
                  <p:stCondLst>
                    <p:cond delay="300"/>
                  </p:stCondLst>
                </p:cTn>
                <p:tgtEl>
                  <p:spTgt spid="4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036262" cy="704088"/>
            <a:chOff x="743712" y="565150"/>
            <a:chExt cx="603626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03626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9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Polyline 11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3" name="Ellipse 13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48918" y="2501900"/>
              <a:ext cx="8732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48918" y="4787900"/>
              <a:ext cx="7096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10868" y="5054600"/>
              <a:ext cx="13897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8118" y="5054600"/>
              <a:ext cx="1553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26" name="theses"/>
          <p:cNvGrpSpPr/>
          <p:nvPr/>
        </p:nvGrpSpPr>
        <p:grpSpPr>
          <a:xfrm>
            <a:off x="8572500" y="1666875"/>
            <a:ext cx="3429000" cy="3905250"/>
            <a:chOff x="8572500" y="1666875"/>
            <a:chExt cx="3429000" cy="3905250"/>
          </a:xfrm>
        </p:grpSpPr>
        <p:sp>
          <p:nvSpPr>
            <p:cNvPr id="20" name="Rectangle 20"/>
            <p:cNvSpPr/>
            <p:nvPr/>
          </p:nvSpPr>
          <p:spPr>
            <a:xfrm>
              <a:off x="8572500" y="1666875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8308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8308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572500" y="3714750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830818" y="4006850"/>
              <a:ext cx="29152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(2021, PNAS)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308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7" name="Line 2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grpSp>
        <p:nvGrpSpPr>
          <p:cNvPr id="30" name="credits"/>
          <p:cNvGrpSpPr/>
          <p:nvPr/>
        </p:nvGrpSpPr>
        <p:grpSpPr>
          <a:xfrm>
            <a:off x="753618" y="6540500"/>
            <a:ext cx="4360934" cy="322707"/>
            <a:chOff x="753618" y="6540500"/>
            <a:chExt cx="4360934" cy="322707"/>
          </a:xfrm>
        </p:grpSpPr>
        <p:sp>
          <p:nvSpPr>
            <p:cNvPr id="29" name="TextBox 29"/>
            <p:cNvSpPr txBox="1"/>
            <p:nvPr/>
          </p:nvSpPr>
          <p:spPr>
            <a:xfrm>
              <a:off x="753618" y="6540500"/>
              <a:ext cx="43609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Marek Ślusarczyk (Tupungato) (CC BY 3.0)</a:t>
              </a:r>
            </a:p>
          </p:txBody>
        </p:sp>
      </p:grpSp>
      <p:pic>
        <p:nvPicPr>
          <p:cNvPr id="31" name="PPT Master narration: narration1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1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195212" cy="704088"/>
            <a:chOff x="743712" y="565150"/>
            <a:chExt cx="619521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19521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8" name="chart"/>
          <p:cNvGrpSpPr/>
          <p:nvPr/>
        </p:nvGrpSpPr>
        <p:grpSpPr>
          <a:xfrm>
            <a:off x="952500" y="1762125"/>
            <a:ext cx="6477000" cy="4476750"/>
            <a:chOff x="952500" y="1762125"/>
            <a:chExt cx="6477000" cy="4476750"/>
          </a:xfrm>
        </p:grpSpPr>
        <p:sp>
          <p:nvSpPr>
            <p:cNvPr id="7" name="Rectangle 7"/>
            <p:cNvSpPr/>
            <p:nvPr/>
          </p:nvSpPr>
          <p:spPr>
            <a:xfrm>
              <a:off x="952500" y="1762125"/>
              <a:ext cx="64770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Polyline 10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91818" y="2501900"/>
              <a:ext cx="8700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91818" y="5168900"/>
              <a:ext cx="706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27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19" name="Rectangle 19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28" name="Line 28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  <p:pic>
        <p:nvPicPr>
          <p:cNvPr id="30" name="PPT Master narration: narration1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0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9490893" cy="704088"/>
            <a:chOff x="743712" y="565150"/>
            <a:chExt cx="9490893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949089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  <p:pic>
        <p:nvPicPr>
          <p:cNvPr id="36" name="PPT Master narration: narration1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6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5351817" cy="704088"/>
            <a:chOff x="743712" y="565150"/>
            <a:chExt cx="535181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53518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48" name="recs"/>
          <p:cNvGrpSpPr/>
          <p:nvPr/>
        </p:nvGrpSpPr>
        <p:grpSpPr>
          <a:xfrm>
            <a:off x="762000" y="1714500"/>
            <a:ext cx="10668000" cy="4286250"/>
            <a:chOff x="762000" y="1714500"/>
            <a:chExt cx="10668000" cy="4286250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</p:grpSp>
      <p:sp>
        <p:nvSpPr>
          <p:cNvPr id="49" name="Line 49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52" name="credits"/>
          <p:cNvGrpSpPr/>
          <p:nvPr/>
        </p:nvGrpSpPr>
        <p:grpSpPr>
          <a:xfrm>
            <a:off x="753618" y="6540500"/>
            <a:ext cx="2301316" cy="322707"/>
            <a:chOff x="753618" y="6540500"/>
            <a:chExt cx="2301316" cy="322707"/>
          </a:xfrm>
        </p:grpSpPr>
        <p:sp>
          <p:nvSpPr>
            <p:cNvPr id="51" name="TextBox 51"/>
            <p:cNvSpPr txBox="1"/>
            <p:nvPr/>
          </p:nvSpPr>
          <p:spPr>
            <a:xfrm>
              <a:off x="753618" y="6540500"/>
              <a:ext cx="2301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Rick Obst (CC BY 2.0)</a:t>
              </a:r>
            </a:p>
          </p:txBody>
        </p:sp>
      </p:grpSp>
      <p:pic>
        <p:nvPicPr>
          <p:cNvPr id="53" name="PPT Master narration: narration1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3" fill="hold" display="0">
                  <p:stCondLst>
                    <p:cond delay="300"/>
                  </p:stCondLst>
                </p:cTn>
                <p:tgtEl>
                  <p:spTgt spid="53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7376124" cy="704088"/>
            <a:chOff x="743712" y="565150"/>
            <a:chExt cx="7376124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73761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114550"/>
            <a:chOff x="762000" y="1238250"/>
            <a:chExt cx="10668000" cy="211455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114550"/>
            </a:xfrm>
            <a:prstGeom prst="roundRect">
              <a:avLst>
                <a:gd name="adj" fmla="val 7207"/>
              </a:avLst>
            </a:prstGeom>
            <a:solidFill>
              <a:srgbClr val="FFFFFF">
                <a:alpha val="88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4780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1135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1135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2733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2733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63525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26" name="sources"/>
          <p:cNvGrpSpPr/>
          <p:nvPr/>
        </p:nvGrpSpPr>
        <p:grpSpPr>
          <a:xfrm>
            <a:off x="981456" y="3638550"/>
            <a:ext cx="3692903" cy="2310257"/>
            <a:chOff x="981456" y="3638550"/>
            <a:chExt cx="3692903" cy="2310257"/>
          </a:xfrm>
        </p:grpSpPr>
        <p:sp>
          <p:nvSpPr>
            <p:cNvPr id="19" name="TextBox 19"/>
            <p:cNvSpPr txBox="1"/>
            <p:nvPr/>
          </p:nvSpPr>
          <p:spPr>
            <a:xfrm>
              <a:off x="981456" y="3638550"/>
              <a:ext cx="13082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2218" y="4006850"/>
              <a:ext cx="27061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1. World Happiness Report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82218" y="4330700"/>
              <a:ext cx="29914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2. Killingsworth, PNAS (2021)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2218" y="4654550"/>
              <a:ext cx="3382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3. Канеман и Дитон (2010, 2023)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218" y="4978400"/>
              <a:ext cx="36921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4. Селигман, «Подлинное счастье»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82218" y="5302250"/>
              <a:ext cx="22276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5. Рувики, «Счастье»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2218" y="5626100"/>
              <a:ext cx="3284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6. Skillbox, «Что такое счастье»</a:t>
              </a:r>
            </a:p>
          </p:txBody>
        </p:sp>
      </p:grpSp>
      <p:grpSp>
        <p:nvGrpSpPr>
          <p:cNvPr id="30" name="qr"/>
          <p:cNvGrpSpPr/>
          <p:nvPr/>
        </p:nvGrpSpPr>
        <p:grpSpPr>
          <a:xfrm>
            <a:off x="8095241" y="3676650"/>
            <a:ext cx="1907019" cy="2538857"/>
            <a:chOff x="8095241" y="3676650"/>
            <a:chExt cx="1907019" cy="2538857"/>
          </a:xfrm>
        </p:grpSpPr>
        <p:sp>
          <p:nvSpPr>
            <p:cNvPr id="27" name="TextBox 27"/>
            <p:cNvSpPr txBox="1"/>
            <p:nvPr/>
          </p:nvSpPr>
          <p:spPr>
            <a:xfrm>
              <a:off x="8095241" y="3676650"/>
              <a:ext cx="19070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</a:t>
              </a:r>
            </a:p>
          </p:txBody>
        </p:sp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1500" y="4095750"/>
              <a:ext cx="1714500" cy="1714500"/>
            </a:xfrm>
            <a:prstGeom prst="rect">
              <a:avLst/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8137857" y="5892800"/>
              <a:ext cx="18217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Наведите камеру</a:t>
              </a:r>
            </a:p>
          </p:txBody>
        </p:sp>
      </p:grpSp>
      <p:sp>
        <p:nvSpPr>
          <p:cNvPr id="31" name="Line 3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pic>
        <p:nvPicPr>
          <p:cNvPr id="33" name="PPT Master narration: narration15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7" fill="hold" display="0">
                  <p:stCondLst>
                    <p:cond delay="300"/>
                  </p:stCondLst>
                </p:cTn>
                <p:tgtEl>
                  <p:spTgt spid="3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2026-10-09T18:52:24Z</dcterms:created>
  <dcterms:modified xsi:type="dcterms:W3CDTF">2026-10-09T18:52:24Z</dcterms:modified>
  <cp:category/>
  <cp:contentStatus/>
</cp:coreProperties>
</file>