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традиции проблему счастья разрабатывали С. Л. Рубинштейн (счастье как связь с философией и психологией, «Бытие и сознание», 1957) и Д. А. Леонтьев (смысл жизни и жизненные ориентации, «Психология смысла», 2003).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 Формула впервые предложена Lyubomirsky, Sheldon &amp; Schkade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психологии проблему счастья и настроения развивали И. А. Джидарьян («Психология счастья и оптимизма», 2013), Л. В. Куликов («Психология настроения», 1997) и В. А. Петровский (идея «состояния потока» в отечественной традиции).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Спасибо за внимание.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096250" y="2762250"/>
            <a:ext cx="4381500" cy="43815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-476250"/>
            <a:ext cx="3238500" cy="32385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sp>
        <p:nvSpPr>
          <p:cNvPr id="6" name="cover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9" name="cover-header"/>
          <p:cNvGrpSpPr/>
          <p:nvPr/>
        </p:nvGrpSpPr>
        <p:grpSpPr>
          <a:xfrm>
            <a:off x="746760" y="1130300"/>
            <a:ext cx="7980969" cy="2250440"/>
            <a:chOff x="746760" y="1130300"/>
            <a:chExt cx="7980969" cy="2250440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6760" y="1612900"/>
              <a:ext cx="6145682" cy="1767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540060" cy="586740"/>
            <a:chOff x="746760" y="641350"/>
            <a:chExt cx="554006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5400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6285" y="6604000"/>
            <a:ext cx="1973338" cy="220028"/>
            <a:chOff x="756285" y="6604000"/>
            <a:chExt cx="1973338" cy="220028"/>
          </a:xfrm>
        </p:grpSpPr>
        <p:sp>
          <p:nvSpPr>
            <p:cNvPr id="27" name="TextBox 27"/>
            <p:cNvSpPr txBox="1"/>
            <p:nvPr/>
          </p:nvSpPr>
          <p:spPr>
            <a:xfrm>
              <a:off x="756285" y="6604000"/>
              <a:ext cx="19733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558306" cy="586740"/>
            <a:chOff x="746760" y="641350"/>
            <a:chExt cx="355830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583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6285" y="6604000"/>
            <a:ext cx="1713425" cy="220028"/>
            <a:chOff x="756285" y="6604000"/>
            <a:chExt cx="1713425" cy="220028"/>
          </a:xfrm>
        </p:grpSpPr>
        <p:sp>
          <p:nvSpPr>
            <p:cNvPr id="69" name="TextBox 69"/>
            <p:cNvSpPr txBox="1"/>
            <p:nvPr/>
          </p:nvSpPr>
          <p:spPr>
            <a:xfrm>
              <a:off x="756285" y="6604000"/>
              <a:ext cx="17134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8548024" cy="586740"/>
            <a:chOff x="746760" y="641350"/>
            <a:chExt cx="854802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5480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823653"/>
            <a:chOff x="762000" y="1762125"/>
            <a:chExt cx="5238750" cy="3823653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3035" y="2355850"/>
              <a:ext cx="12766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E74C3C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42035" y="5365750"/>
              <a:ext cx="1461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Источник: CDC/ВОЗ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823653"/>
            <a:chOff x="6286500" y="1762125"/>
            <a:chExt cx="5143500" cy="3823653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7535" y="2355850"/>
              <a:ext cx="9437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chemeClr val="accent1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6535" y="5365750"/>
              <a:ext cx="2405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Источник: World Happiness Report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56631" cy="586740"/>
            <a:chOff x="746760" y="641350"/>
            <a:chExt cx="6856631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566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16" name="swb-left"/>
          <p:cNvGrpSpPr/>
          <p:nvPr/>
        </p:nvGrpSpPr>
        <p:grpSpPr>
          <a:xfrm>
            <a:off x="762000" y="1666875"/>
            <a:ext cx="3238500" cy="1857375"/>
            <a:chOff x="762000" y="1666875"/>
            <a:chExt cx="3238500" cy="1857375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22" name="swb-mid"/>
          <p:cNvGrpSpPr/>
          <p:nvPr/>
        </p:nvGrpSpPr>
        <p:grpSpPr>
          <a:xfrm>
            <a:off x="4286250" y="1600200"/>
            <a:ext cx="3619500" cy="2000250"/>
            <a:chOff x="4286250" y="1600200"/>
            <a:chExt cx="3619500" cy="2000250"/>
          </a:xfrm>
        </p:grpSpPr>
        <p:sp>
          <p:nvSpPr>
            <p:cNvPr id="17" name="Rectangle 1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</p:grpSp>
      <p:grpSp>
        <p:nvGrpSpPr>
          <p:cNvPr id="27" name="swb-right"/>
          <p:cNvGrpSpPr/>
          <p:nvPr/>
        </p:nvGrpSpPr>
        <p:grpSpPr>
          <a:xfrm>
            <a:off x="8191500" y="1666875"/>
            <a:ext cx="3238500" cy="1857375"/>
            <a:chOff x="8191500" y="1666875"/>
            <a:chExt cx="3238500" cy="1857375"/>
          </a:xfrm>
        </p:grpSpPr>
        <p:sp>
          <p:nvSpPr>
            <p:cNvPr id="23" name="Rectangle 23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</p:grpSp>
      <p:grpSp>
        <p:nvGrpSpPr>
          <p:cNvPr id="31" name="appr-1"/>
          <p:cNvGrpSpPr/>
          <p:nvPr/>
        </p:nvGrpSpPr>
        <p:grpSpPr>
          <a:xfrm>
            <a:off x="762000" y="3810000"/>
            <a:ext cx="2590800" cy="1123950"/>
            <a:chOff x="762000" y="3810000"/>
            <a:chExt cx="2590800" cy="1123950"/>
          </a:xfrm>
        </p:grpSpPr>
        <p:sp>
          <p:nvSpPr>
            <p:cNvPr id="28" name="Rectangle 28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35" name="appr-2"/>
          <p:cNvGrpSpPr/>
          <p:nvPr/>
        </p:nvGrpSpPr>
        <p:grpSpPr>
          <a:xfrm>
            <a:off x="3495675" y="3810000"/>
            <a:ext cx="2590800" cy="1123950"/>
            <a:chOff x="3495675" y="3810000"/>
            <a:chExt cx="2590800" cy="1123950"/>
          </a:xfrm>
        </p:grpSpPr>
        <p:sp>
          <p:nvSpPr>
            <p:cNvPr id="32" name="Rectangle 32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</p:grpSp>
      <p:grpSp>
        <p:nvGrpSpPr>
          <p:cNvPr id="39" name="appr-3"/>
          <p:cNvGrpSpPr/>
          <p:nvPr/>
        </p:nvGrpSpPr>
        <p:grpSpPr>
          <a:xfrm>
            <a:off x="6229350" y="3810000"/>
            <a:ext cx="2590800" cy="1123950"/>
            <a:chOff x="6229350" y="3810000"/>
            <a:chExt cx="2590800" cy="1123950"/>
          </a:xfrm>
        </p:grpSpPr>
        <p:sp>
          <p:nvSpPr>
            <p:cNvPr id="36" name="Rectangle 36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</p:grpSp>
      <p:grpSp>
        <p:nvGrpSpPr>
          <p:cNvPr id="43" name="appr-4"/>
          <p:cNvGrpSpPr/>
          <p:nvPr/>
        </p:nvGrpSpPr>
        <p:grpSpPr>
          <a:xfrm>
            <a:off x="8963025" y="3810000"/>
            <a:ext cx="2590800" cy="1123950"/>
            <a:chOff x="8963025" y="3810000"/>
            <a:chExt cx="2590800" cy="1123950"/>
          </a:xfrm>
        </p:grpSpPr>
        <p:sp>
          <p:nvSpPr>
            <p:cNvPr id="40" name="Rectangle 40"/>
            <p:cNvSpPr/>
            <p:nvPr/>
          </p:nvSpPr>
          <p:spPr>
            <a:xfrm>
              <a:off x="896302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400293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581431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</p:grpSp>
      <p:grpSp>
        <p:nvGrpSpPr>
          <p:cNvPr id="50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44" name="Rectangle 44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54" name="credits"/>
          <p:cNvGrpSpPr/>
          <p:nvPr/>
        </p:nvGrpSpPr>
        <p:grpSpPr>
          <a:xfrm>
            <a:off x="756285" y="6604000"/>
            <a:ext cx="2595835" cy="220028"/>
            <a:chOff x="756285" y="6604000"/>
            <a:chExt cx="2595835" cy="220028"/>
          </a:xfrm>
        </p:grpSpPr>
        <p:sp>
          <p:nvSpPr>
            <p:cNvPr id="53" name="TextBox 53"/>
            <p:cNvSpPr txBox="1"/>
            <p:nvPr/>
          </p:nvSpPr>
          <p:spPr>
            <a:xfrm>
              <a:off x="756285" y="6604000"/>
              <a:ext cx="2595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"/>
                            </p:stCondLst>
                            <p:childTnLst>
                              <p:par>
                                <p:cTn xmlns:p="http://schemas.openxmlformats.org/presentationml/2006/main"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xmlns:p="http://schemas.openxmlformats.org/presentationml/2006/main" id="42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4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341139" cy="586740"/>
            <a:chOff x="746760" y="641350"/>
            <a:chExt cx="7341139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3411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9" name="video"/>
          <p:cNvGrpSpPr/>
          <p:nvPr/>
        </p:nvGrpSpPr>
        <p:grpSpPr>
          <a:xfrm>
            <a:off x="4191000" y="1952625"/>
            <a:ext cx="3810000" cy="2667000"/>
            <a:chOff x="4191000" y="1952625"/>
            <a:chExt cx="3810000" cy="2667000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636" r="0" b="2637"/>
            <a:stretch>
              <a:fillRect/>
            </a:stretch>
          </p:blipFill>
          <p:spPr>
            <a:xfrm>
              <a:off x="4305300" y="2066925"/>
              <a:ext cx="3581400" cy="2438400"/>
            </a:xfrm>
            <a:prstGeom prst="rect">
              <a:avLst/>
            </a:prstGeom>
          </p:spPr>
        </p:pic>
      </p:grpSp>
      <p:grpSp>
        <p:nvGrpSpPr>
          <p:cNvPr id="12" name="video-note"/>
          <p:cNvGrpSpPr/>
          <p:nvPr/>
        </p:nvGrpSpPr>
        <p:grpSpPr>
          <a:xfrm>
            <a:off x="4345781" y="4826000"/>
            <a:ext cx="3086058" cy="322707"/>
            <a:chOff x="4345781" y="4826000"/>
            <a:chExt cx="3086058" cy="322707"/>
          </a:xfrm>
        </p:grpSpPr>
        <p:sp>
          <p:nvSpPr>
            <p:cNvPr id="10" name="Freeform 10"/>
            <p:cNvSpPr/>
            <p:nvPr/>
          </p:nvSpPr>
          <p:spPr>
            <a:xfrm>
              <a:off x="4345781" y="485457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696968" y="4826000"/>
              <a:ext cx="2734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Анимация: работа мозга</a:t>
              </a:r>
            </a:p>
          </p:txBody>
        </p:sp>
      </p:grpSp>
      <p:grpSp>
        <p:nvGrpSpPr>
          <p:cNvPr id="17" name="dopamine"/>
          <p:cNvGrpSpPr/>
          <p:nvPr/>
        </p:nvGrpSpPr>
        <p:grpSpPr>
          <a:xfrm>
            <a:off x="762000" y="1714500"/>
            <a:ext cx="3238500" cy="1143000"/>
            <a:chOff x="762000" y="1714500"/>
            <a:chExt cx="3238500" cy="1143000"/>
          </a:xfrm>
        </p:grpSpPr>
        <p:sp>
          <p:nvSpPr>
            <p:cNvPr id="13" name="Rectangle 13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26" name="serotonin"/>
          <p:cNvGrpSpPr/>
          <p:nvPr/>
        </p:nvGrpSpPr>
        <p:grpSpPr>
          <a:xfrm>
            <a:off x="8191500" y="1714500"/>
            <a:ext cx="3238500" cy="1143000"/>
            <a:chOff x="8191500" y="1714500"/>
            <a:chExt cx="3238500" cy="1143000"/>
          </a:xfrm>
        </p:grpSpPr>
        <p:sp>
          <p:nvSpPr>
            <p:cNvPr id="18" name="Rectangle 18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5" name="endorphins"/>
          <p:cNvGrpSpPr/>
          <p:nvPr/>
        </p:nvGrpSpPr>
        <p:grpSpPr>
          <a:xfrm>
            <a:off x="762000" y="3810000"/>
            <a:ext cx="3238500" cy="1143000"/>
            <a:chOff x="762000" y="3810000"/>
            <a:chExt cx="3238500" cy="1143000"/>
          </a:xfrm>
        </p:grpSpPr>
        <p:sp>
          <p:nvSpPr>
            <p:cNvPr id="27" name="Rectangle 27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40" name="oxytocin"/>
          <p:cNvGrpSpPr/>
          <p:nvPr/>
        </p:nvGrpSpPr>
        <p:grpSpPr>
          <a:xfrm>
            <a:off x="8191500" y="3810000"/>
            <a:ext cx="3238500" cy="1143000"/>
            <a:chOff x="8191500" y="3810000"/>
            <a:chExt cx="32385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47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41" name="Rectangle 41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8" name="Line 4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51" name="credits"/>
          <p:cNvGrpSpPr/>
          <p:nvPr/>
        </p:nvGrpSpPr>
        <p:grpSpPr>
          <a:xfrm>
            <a:off x="756285" y="6604000"/>
            <a:ext cx="2159067" cy="220028"/>
            <a:chOff x="756285" y="6604000"/>
            <a:chExt cx="2159067" cy="220028"/>
          </a:xfrm>
        </p:grpSpPr>
        <p:sp>
          <p:nvSpPr>
            <p:cNvPr id="50" name="TextBox 50"/>
            <p:cNvSpPr txBox="1"/>
            <p:nvPr/>
          </p:nvSpPr>
          <p:spPr>
            <a:xfrm>
              <a:off x="756285" y="6604000"/>
              <a:ext cx="2159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3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xmlns:p="http://schemas.openxmlformats.org/presentationml/2006/main" id="42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46914" cy="586740"/>
            <a:chOff x="746760" y="641350"/>
            <a:chExt cx="684691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4691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425982" cy="586740"/>
            <a:chOff x="746760" y="641350"/>
            <a:chExt cx="7425982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4259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6285" y="6604000"/>
            <a:ext cx="3909145" cy="220028"/>
            <a:chOff x="756285" y="6604000"/>
            <a:chExt cx="3909145" cy="220028"/>
          </a:xfrm>
        </p:grpSpPr>
        <p:sp>
          <p:nvSpPr>
            <p:cNvPr id="26" name="TextBox 26"/>
            <p:cNvSpPr txBox="1"/>
            <p:nvPr/>
          </p:nvSpPr>
          <p:spPr>
            <a:xfrm>
              <a:off x="756285" y="6604000"/>
              <a:ext cx="39091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8" name="donut-seg1"/>
          <p:cNvGrpSpPr/>
          <p:nvPr/>
        </p:nvGrpSpPr>
        <p:grpSpPr>
          <a:xfrm>
            <a:off x="3143250" y="2114550"/>
            <a:ext cx="1428750" cy="2857500"/>
            <a:chOff x="3143250" y="2114550"/>
            <a:chExt cx="1428750" cy="2857500"/>
          </a:xfrm>
        </p:grpSpPr>
        <p:sp>
          <p:nvSpPr>
            <p:cNvPr id="7" name="Freeform 7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10" name="donut-seg2"/>
          <p:cNvGrpSpPr/>
          <p:nvPr/>
        </p:nvGrpSpPr>
        <p:grpSpPr>
          <a:xfrm>
            <a:off x="1592120" y="2386965"/>
            <a:ext cx="1551130" cy="2585488"/>
            <a:chOff x="1592120" y="2386965"/>
            <a:chExt cx="1551130" cy="2585488"/>
          </a:xfrm>
        </p:grpSpPr>
        <p:sp>
          <p:nvSpPr>
            <p:cNvPr id="9" name="Freeform 9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12" name="donut-seg3"/>
          <p:cNvGrpSpPr/>
          <p:nvPr/>
        </p:nvGrpSpPr>
        <p:grpSpPr>
          <a:xfrm>
            <a:off x="2303145" y="2114354"/>
            <a:ext cx="840105" cy="688854"/>
            <a:chOff x="2303145" y="2114354"/>
            <a:chExt cx="840105" cy="688854"/>
          </a:xfrm>
        </p:grpSpPr>
        <p:sp>
          <p:nvSpPr>
            <p:cNvPr id="11" name="Freeform 11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</p:grpSp>
      <p:grpSp>
        <p:nvGrpSpPr>
          <p:cNvPr id="15" name="donut-center"/>
          <p:cNvGrpSpPr/>
          <p:nvPr/>
        </p:nvGrpSpPr>
        <p:grpSpPr>
          <a:xfrm>
            <a:off x="2182225" y="3251200"/>
            <a:ext cx="1922049" cy="697357"/>
            <a:chOff x="2182225" y="3251200"/>
            <a:chExt cx="1922049" cy="697357"/>
          </a:xfrm>
        </p:grpSpPr>
        <p:sp>
          <p:nvSpPr>
            <p:cNvPr id="13" name="TextBox 13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8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6" name="Rectangle 16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5" name="note"/>
          <p:cNvGrpSpPr/>
          <p:nvPr/>
        </p:nvGrpSpPr>
        <p:grpSpPr>
          <a:xfrm>
            <a:off x="1513077" y="5911850"/>
            <a:ext cx="9345989" cy="511683"/>
            <a:chOff x="1513077" y="5911850"/>
            <a:chExt cx="9345989" cy="511683"/>
          </a:xfrm>
        </p:grpSpPr>
        <p:grpSp>
          <p:nvGrpSpPr>
            <p:cNvPr id="32" name="Group 32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898142" y="5911850"/>
              <a:ext cx="89609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Формула: Lyubomirsky, Sheldon &amp; Schkade (2005) — иллюстративная модель, а не универсальный закон.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898142" y="6159500"/>
              <a:ext cx="87864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Мета-анализы (Rohrer &amp; Schmukle, 2018) уточняют: гены и среда взаимодействуют, а не суммируются.</a:t>
              </a:r>
            </a:p>
          </p:txBody>
        </p:sp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035915" cy="586740"/>
            <a:chOff x="746760" y="641350"/>
            <a:chExt cx="7035915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0359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6285" y="6604000"/>
            <a:ext cx="2070481" cy="220028"/>
            <a:chOff x="756285" y="6604000"/>
            <a:chExt cx="2070481" cy="220028"/>
          </a:xfrm>
        </p:grpSpPr>
        <p:sp>
          <p:nvSpPr>
            <p:cNvPr id="44" name="TextBox 44"/>
            <p:cNvSpPr txBox="1"/>
            <p:nvPr/>
          </p:nvSpPr>
          <p:spPr>
            <a:xfrm>
              <a:off x="756285" y="6604000"/>
              <a:ext cx="20704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030218" cy="586740"/>
            <a:chOff x="746760" y="641350"/>
            <a:chExt cx="5030218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0302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sp>
        <p:nvSpPr>
          <p:cNvPr id="18" name="Polyline 18"/>
          <p:cNvSpPr/>
          <p:nvPr/>
        </p:nvSpPr>
        <p:spPr>
          <a:xfrm>
            <a:off x="1428750" y="2647950"/>
            <a:ext cx="6191250" cy="2114550"/>
          </a:xfrm>
          <a:custGeom>
            <a:avLst/>
            <a:gdLst/>
            <a:ahLst/>
            <a:cxnLst/>
            <a:rect l="l" t="t" r="r" b="b"/>
            <a:pathLst>
              <a:path w="6191250" h="2114550">
                <a:moveTo>
                  <a:pt x="0" y="2114550"/>
                </a:moveTo>
                <a:lnTo>
                  <a:pt x="857250" y="1752600"/>
                </a:lnTo>
                <a:lnTo>
                  <a:pt x="1714500" y="1257300"/>
                </a:lnTo>
                <a:lnTo>
                  <a:pt x="2571750" y="800100"/>
                </a:lnTo>
                <a:lnTo>
                  <a:pt x="3429000" y="457200"/>
                </a:lnTo>
                <a:lnTo>
                  <a:pt x="4286250" y="209550"/>
                </a:lnTo>
                <a:lnTo>
                  <a:pt x="5143500" y="76200"/>
                </a:lnTo>
                <a:lnTo>
                  <a:pt x="6191250" y="0"/>
                </a:lnTo>
              </a:path>
            </a:pathLst>
          </a:custGeom>
          <a:noFill/>
          <a:ln w="57150">
            <a:solidFill>
              <a:schemeClr val="accent1"/>
            </a:solidFill>
          </a:ln>
        </p:spPr>
      </p:sp>
      <p:sp>
        <p:nvSpPr>
          <p:cNvPr id="19" name="Ellipse 19"/>
          <p:cNvSpPr/>
          <p:nvPr/>
        </p:nvSpPr>
        <p:spPr>
          <a:xfrm>
            <a:off x="5524500" y="2781300"/>
            <a:ext cx="190500" cy="1905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26" name="theses"/>
          <p:cNvGrpSpPr/>
          <p:nvPr/>
        </p:nvGrpSpPr>
        <p:grpSpPr>
          <a:xfrm>
            <a:off x="8572500" y="1666875"/>
            <a:ext cx="3429000" cy="3905250"/>
            <a:chOff x="8572500" y="1666875"/>
            <a:chExt cx="3429000" cy="3905250"/>
          </a:xfrm>
        </p:grpSpPr>
        <p:sp>
          <p:nvSpPr>
            <p:cNvPr id="20" name="Rectangle 20"/>
            <p:cNvSpPr/>
            <p:nvPr/>
          </p:nvSpPr>
          <p:spPr>
            <a:xfrm>
              <a:off x="8572500" y="1666875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8308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308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572500" y="3714750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830818" y="4006850"/>
              <a:ext cx="29152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(2021, PNAS)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308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0" name="credits"/>
          <p:cNvGrpSpPr/>
          <p:nvPr/>
        </p:nvGrpSpPr>
        <p:grpSpPr>
          <a:xfrm>
            <a:off x="756285" y="6604000"/>
            <a:ext cx="2960200" cy="220028"/>
            <a:chOff x="756285" y="6604000"/>
            <a:chExt cx="2960200" cy="220028"/>
          </a:xfrm>
        </p:grpSpPr>
        <p:sp>
          <p:nvSpPr>
            <p:cNvPr id="29" name="TextBox 29"/>
            <p:cNvSpPr txBox="1"/>
            <p:nvPr/>
          </p:nvSpPr>
          <p:spPr>
            <a:xfrm>
              <a:off x="756285" y="6604000"/>
              <a:ext cx="29602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162677" cy="586740"/>
            <a:chOff x="746760" y="641350"/>
            <a:chExt cx="51626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1626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952500" y="1762125"/>
            <a:ext cx="6477000" cy="4476750"/>
            <a:chOff x="952500" y="1762125"/>
            <a:chExt cx="6477000" cy="4476750"/>
          </a:xfrm>
        </p:grpSpPr>
        <p:sp>
          <p:nvSpPr>
            <p:cNvPr id="7" name="Rectangle 7"/>
            <p:cNvSpPr/>
            <p:nvPr/>
          </p:nvSpPr>
          <p:spPr>
            <a:xfrm>
              <a:off x="952500" y="1762125"/>
              <a:ext cx="64770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sp>
        <p:nvSpPr>
          <p:cNvPr id="17" name="Polyline 17"/>
          <p:cNvSpPr/>
          <p:nvPr/>
        </p:nvSpPr>
        <p:spPr>
          <a:xfrm>
            <a:off x="1714500" y="2857500"/>
            <a:ext cx="5334000" cy="1905000"/>
          </a:xfrm>
          <a:custGeom>
            <a:avLst/>
            <a:gdLst/>
            <a:ahLst/>
            <a:cxnLst/>
            <a:rect l="l" t="t" r="r" b="b"/>
            <a:pathLst>
              <a:path w="5334000" h="1905000">
                <a:moveTo>
                  <a:pt x="0" y="190500"/>
                </a:moveTo>
                <a:lnTo>
                  <a:pt x="1143000" y="952500"/>
                </a:lnTo>
                <a:lnTo>
                  <a:pt x="2286000" y="1905000"/>
                </a:lnTo>
                <a:lnTo>
                  <a:pt x="3429000" y="1619250"/>
                </a:lnTo>
                <a:lnTo>
                  <a:pt x="4572000" y="571500"/>
                </a:lnTo>
                <a:lnTo>
                  <a:pt x="5334000" y="0"/>
                </a:lnTo>
              </a:path>
            </a:pathLst>
          </a:custGeom>
          <a:noFill/>
          <a:ln w="57150">
            <a:solidFill>
              <a:schemeClr val="accent1"/>
            </a:solidFill>
          </a:ln>
        </p:spPr>
      </p:sp>
      <p:sp>
        <p:nvSpPr>
          <p:cNvPr id="18" name="Ellipse 18"/>
          <p:cNvSpPr/>
          <p:nvPr/>
        </p:nvSpPr>
        <p:spPr>
          <a:xfrm>
            <a:off x="3895725" y="4657725"/>
            <a:ext cx="209550" cy="20955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27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19" name="Rectangle 19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8" name="Line 2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909077" cy="586740"/>
            <a:chOff x="746760" y="641350"/>
            <a:chExt cx="79090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9090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4459847" cy="586740"/>
            <a:chOff x="746760" y="641350"/>
            <a:chExt cx="44598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44598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37" name="rec-4"/>
          <p:cNvGrpSpPr/>
          <p:nvPr/>
        </p:nvGrpSpPr>
        <p:grpSpPr>
          <a:xfrm>
            <a:off x="762000" y="3952875"/>
            <a:ext cx="3429000" cy="2047875"/>
            <a:chOff x="762000" y="3952875"/>
            <a:chExt cx="3429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grpSp>
        <p:nvGrpSpPr>
          <p:cNvPr id="45" name="rec-5"/>
          <p:cNvGrpSpPr/>
          <p:nvPr/>
        </p:nvGrpSpPr>
        <p:grpSpPr>
          <a:xfrm>
            <a:off x="4381500" y="3952875"/>
            <a:ext cx="3429000" cy="2047875"/>
            <a:chOff x="4381500" y="3952875"/>
            <a:chExt cx="3429000" cy="2047875"/>
          </a:xfrm>
        </p:grpSpPr>
        <p:sp>
          <p:nvSpPr>
            <p:cNvPr id="38" name="Rectangle 38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</p:grpSp>
      <p:grpSp>
        <p:nvGrpSpPr>
          <p:cNvPr id="53" name="rec-6"/>
          <p:cNvGrpSpPr/>
          <p:nvPr/>
        </p:nvGrpSpPr>
        <p:grpSpPr>
          <a:xfrm>
            <a:off x="8001000" y="3952875"/>
            <a:ext cx="3429000" cy="2047875"/>
            <a:chOff x="8001000" y="3952875"/>
            <a:chExt cx="3429000" cy="2047875"/>
          </a:xfrm>
        </p:grpSpPr>
        <p:sp>
          <p:nvSpPr>
            <p:cNvPr id="46" name="Rectangle 4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</p:grpSp>
      <p:sp>
        <p:nvSpPr>
          <p:cNvPr id="54" name="Line 5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7" name="credits"/>
          <p:cNvGrpSpPr/>
          <p:nvPr/>
        </p:nvGrpSpPr>
        <p:grpSpPr>
          <a:xfrm>
            <a:off x="756285" y="6604000"/>
            <a:ext cx="1562156" cy="220028"/>
            <a:chOff x="756285" y="6604000"/>
            <a:chExt cx="1562156" cy="220028"/>
          </a:xfrm>
        </p:grpSpPr>
        <p:sp>
          <p:nvSpPr>
            <p:cNvPr id="56" name="TextBox 56"/>
            <p:cNvSpPr txBox="1"/>
            <p:nvPr/>
          </p:nvSpPr>
          <p:spPr>
            <a:xfrm>
              <a:off x="756285" y="6604000"/>
              <a:ext cx="15621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"/>
                            </p:stCondLst>
                            <p:childTnLst>
                              <p:par>
                                <p:cTn xmlns:p="http://schemas.openxmlformats.org/presentationml/2006/main"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2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146770" cy="586740"/>
            <a:chOff x="746760" y="641350"/>
            <a:chExt cx="614677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14677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0" name="key-sources"/>
          <p:cNvGrpSpPr/>
          <p:nvPr/>
        </p:nvGrpSpPr>
        <p:grpSpPr>
          <a:xfrm>
            <a:off x="3725886" y="3740150"/>
            <a:ext cx="4740227" cy="264033"/>
            <a:chOff x="3725886" y="3740150"/>
            <a:chExt cx="4740227" cy="264033"/>
          </a:xfrm>
        </p:grpSpPr>
        <p:sp>
          <p:nvSpPr>
            <p:cNvPr id="19" name="TextBox 19"/>
            <p:cNvSpPr txBox="1"/>
            <p:nvPr/>
          </p:nvSpPr>
          <p:spPr>
            <a:xfrm>
              <a:off x="3725886" y="3740150"/>
              <a:ext cx="47402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Ключевые источники: Селигман, Канеман, Килингсворт</a:t>
              </a:r>
            </a:p>
          </p:txBody>
        </p:sp>
      </p:grpSp>
      <p:grpSp>
        <p:nvGrpSpPr>
          <p:cNvPr id="24" name="qr"/>
          <p:cNvGrpSpPr/>
          <p:nvPr/>
        </p:nvGrpSpPr>
        <p:grpSpPr>
          <a:xfrm>
            <a:off x="4547374" y="4083050"/>
            <a:ext cx="3097252" cy="2494407"/>
            <a:chOff x="4547374" y="4083050"/>
            <a:chExt cx="3097252" cy="2494407"/>
          </a:xfrm>
        </p:grpSpPr>
        <p:sp>
          <p:nvSpPr>
            <p:cNvPr id="21" name="TextBox 21"/>
            <p:cNvSpPr txBox="1"/>
            <p:nvPr/>
          </p:nvSpPr>
          <p:spPr>
            <a:xfrm>
              <a:off x="4547374" y="408305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43500" y="4457700"/>
              <a:ext cx="1905000" cy="190500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4638701" y="6254750"/>
              <a:ext cx="2914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 телефона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2026-10-09T20:28:26Z</dcterms:created>
  <dcterms:modified xsi:type="dcterms:W3CDTF">2026-10-09T20:28:26Z</dcterms:modified>
  <cp:category/>
  <cp:contentStatus/>
</cp:coreProperties>
</file>