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Разберёмся по порядку.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— выяснить, что делает людей счастливыми. Три задачи: рассмотреть научные подходы, выявить ключевые факторы и дать практические рекомендации. Дальше разберём, почему эта тема важна.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пройдём от философии к нейробиологии, от теорий к факторам, от данных к практическим выводам. Начнём с главного вопроса: почему счастье вообще стоит изучать?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Всемирная организация здравоохранения фиксирует рост депрессии. При этом средний уровень счастья не растёт. Парадокс: литературы о счастье всё больше, а счастливых людей меньше. Аристотель называл счастье «хорошим уделом». Что же такое счастье с научной точки зрения?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психологии счастье — это субъективное благополучие. Оно включает оценку жизни и эмоции. Существует четыре подхода: психоанализ Юнга, когнитивный, позитивный и био-психо-социальный. Барбара Фредриксон доказала: позитивные эмоции расширяют мышление и накапливают ресурсы. Какие системы мозга за это отвечают?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Четыре ключевых нейромедиатора. Дофамин отвечает за предвкушение и мотивацию, серотонин — за настроение и сон, эндорфины — за лёгкость, окситоцин — за доверие и близость. Кент Берридж разделил liking и wanting — это открытие 1998 года. Как понимали счастье раньше?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определил счастье как эвдемонию. Стоики — как внутреннее спокойствие. Фома Аквинский — как дар Божий. Просвещение провозгласило его естественным правом. Утилитаризм — максимизацией удовольствия. Двадцать первый век — многомерным феноменом. Какие два подхода конкурируют сегодня?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как максимум удовольствия, но есть риск быстрого привыкания. Эвдемония: счастье как смысл и добродетели, результат устойчивее. Канадский психолог Гордон Ньюфелд говорил: счастье находится по ту сторону слёз. Как измерить счастье в процентах?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пятьдесят процентов генетика, сорок процентов действия, десять процентов обстоятельства. Соня Любомирски назвала это теорией сорока процентов. Но мета-анализ Рорера и Шмукле 2018 года уточняет: гены и среда взаимодействуют, а не суммируются. Что реально влияет на счастье?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Гарвардское исследование длиной восемьдесят пять лет показало: качество отношений — сильнейший предиктор счастья. Другие факторы: здоровье, осмысленность, благодарность и состояние потока по Чиксентмихайи. А что насчёт денег?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2010 году показали порог в семьдесят пять тысяч долларов. Но Киллингсворт в 2021 году выяснил: счастье растёт и дальше. В 2023 году Канеман и Киллингсворт выпустили совместную работу: плато — только у двадцати процентов самых несчастных. А как насчёт образования?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нелинейна. Самая низкая удовлетворённость — у людей со средним специальным образованием. Причины: завышенные ожидания и ограниченные возможности. А что с цифровой средой?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Соцсети дают связь, поддержку, доступ к знаниям и онлайн-терапию. Но провоцируют сравнение, страх упустить, падение самооценки и плохой сон. Осознанное потребление и цифровой детокс повышают благополучие. Что делать конкретно?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конкретных шагов: инвестировать в отношения, практиковать благодарность, заниматься спортом, медитировать, ставить цели и ограничить соцсети. Каждый шаг подтверждён научными исследованиями. Итог — в следующем слайде.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Оно зависит от генов, обстоятельств и наших действий. Главный фактор — качество отношений. Деньги важны только до определённого уровня. Смысл устойчивее удовольствия. Счастье — это навык, который можно развивать. Полный список источников — по QR-коду. Спасибо за внимание.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  <Relationship Id="rId4" Type="http://schemas.microsoft.com/office/2007/relationships/media" Target="../media/narration2.mp3"/>
  <Relationship Id="rId5" Type="http://schemas.openxmlformats.org/officeDocument/2006/relationships/audio" Target="../media/narration2.mp3"/>
  <Relationship Id="rId6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  <Relationship Id="rId4" Type="http://schemas.microsoft.com/office/2007/relationships/media" Target="../media/narration3.mp3"/>
  <Relationship Id="rId5" Type="http://schemas.openxmlformats.org/officeDocument/2006/relationships/audio" Target="../media/narration3.mp3"/>
  <Relationship Id="rId6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4.xml"/>
  <Relationship Id="rId4" Type="http://schemas.microsoft.com/office/2007/relationships/media" Target="../media/narration4.mp3"/>
  <Relationship Id="rId5" Type="http://schemas.openxmlformats.org/officeDocument/2006/relationships/audio" Target="../media/narration4.mp3"/>
  <Relationship Id="rId6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5.xml"/>
  <Relationship Id="rId4" Type="http://schemas.microsoft.com/office/2007/relationships/media" Target="../media/narration5.mp3"/>
  <Relationship Id="rId5" Type="http://schemas.openxmlformats.org/officeDocument/2006/relationships/audio" Target="../media/narration5.mp3"/>
  <Relationship Id="rId6" Type="http://schemas.openxmlformats.org/officeDocument/2006/relationships/image" Target="../media/narration_poster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e9e6ce085776bf7b.jpg"/>
  <Relationship Id="rId4" Type="http://schemas.openxmlformats.org/officeDocument/2006/relationships/notesSlide" Target="../notesSlides/notesSlide6.xml"/>
  <Relationship Id="rId5" Type="http://schemas.microsoft.com/office/2007/relationships/media" Target="../media/narration6.mp3"/>
  <Relationship Id="rId6" Type="http://schemas.openxmlformats.org/officeDocument/2006/relationships/audio" Target="../media/narration6.mp3"/>
  <Relationship Id="rId7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notesSlide" Target="../notesSlides/notesSlide7.xml"/>
  <Relationship Id="rId4" Type="http://schemas.microsoft.com/office/2007/relationships/media" Target="../media/narration7.mp3"/>
  <Relationship Id="rId5" Type="http://schemas.openxmlformats.org/officeDocument/2006/relationships/audio" Target="../media/narration7.mp3"/>
  <Relationship Id="rId6" Type="http://schemas.openxmlformats.org/officeDocument/2006/relationships/image" Target="../media/narration_poster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6c36e00f88891c6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8.xml"/>
  <Relationship Id="rId6" Type="http://schemas.microsoft.com/office/2007/relationships/media" Target="../media/narration8.mp3"/>
  <Relationship Id="rId7" Type="http://schemas.openxmlformats.org/officeDocument/2006/relationships/audio" Target="../media/narration8.mp3"/>
  <Relationship Id="rId8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9.xml"/>
  <Relationship Id="rId4" Type="http://schemas.microsoft.com/office/2007/relationships/media" Target="../media/narration9.mp3"/>
  <Relationship Id="rId5" Type="http://schemas.openxmlformats.org/officeDocument/2006/relationships/audio" Target="../media/narration9.mp3"/>
  <Relationship Id="rId6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image" Target="../media/image_2222c98a7936cd44.jpg"/>
  <Relationship Id="rId4" Type="http://schemas.openxmlformats.org/officeDocument/2006/relationships/notesSlide" Target="../notesSlides/notesSlide10.xml"/>
  <Relationship Id="rId5" Type="http://schemas.microsoft.com/office/2007/relationships/media" Target="../media/narration10.mp3"/>
  <Relationship Id="rId6" Type="http://schemas.openxmlformats.org/officeDocument/2006/relationships/audio" Target="../media/narration10.mp3"/>
  <Relationship Id="rId7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notesSlide" Target="../notesSlides/notesSlide11.xml"/>
  <Relationship Id="rId4" Type="http://schemas.microsoft.com/office/2007/relationships/media" Target="../media/narration11.mp3"/>
  <Relationship Id="rId5" Type="http://schemas.openxmlformats.org/officeDocument/2006/relationships/audio" Target="../media/narration11.mp3"/>
  <Relationship Id="rId6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e0a04665911cb4d.jpg"/>
  <Relationship Id="rId3" Type="http://schemas.openxmlformats.org/officeDocument/2006/relationships/notesSlide" Target="../notesSlides/notesSlide12.xml"/>
  <Relationship Id="rId4" Type="http://schemas.microsoft.com/office/2007/relationships/media" Target="../media/narration12.mp3"/>
  <Relationship Id="rId5" Type="http://schemas.openxmlformats.org/officeDocument/2006/relationships/audio" Target="../media/narration12.mp3"/>
  <Relationship Id="rId6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4.xml"/>
  <Relationship Id="rId4" Type="http://schemas.microsoft.com/office/2007/relationships/media" Target="../media/narration14.mp3"/>
  <Relationship Id="rId5" Type="http://schemas.openxmlformats.org/officeDocument/2006/relationships/audio" Target="../media/narration14.mp3"/>
  <Relationship Id="rId6" Type="http://schemas.openxmlformats.org/officeDocument/2006/relationships/image" Target="../media/narration_poster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image" Target="../media/image_24e0dca5fc560e17.svg"/>
  <Relationship Id="rId4" Type="http://schemas.openxmlformats.org/officeDocument/2006/relationships/notesSlide" Target="../notesSlides/notesSlide15.xml"/>
  <Relationship Id="rId5" Type="http://schemas.microsoft.com/office/2007/relationships/media" Target="../media/narration15.mp3"/>
  <Relationship Id="rId6" Type="http://schemas.openxmlformats.org/officeDocument/2006/relationships/audio" Target="../media/narration15.mp3"/>
  <Relationship Id="rId7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6000"/>
                </a:srgbClr>
              </a:gs>
              <a:gs pos="100000">
                <a:srgbClr val="F5E6D3">
                  <a:alpha val="86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cover-orb"/>
          <p:cNvSpPr/>
          <p:nvPr/>
        </p:nvSpPr>
        <p:spPr>
          <a:xfrm>
            <a:off x="8096250" y="2762250"/>
            <a:ext cx="4381500" cy="43815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5" name="cover-orb-2"/>
          <p:cNvSpPr/>
          <p:nvPr/>
        </p:nvSpPr>
        <p:spPr>
          <a:xfrm>
            <a:off x="95250" y="-476250"/>
            <a:ext cx="3238500" cy="3238500"/>
          </a:xfrm>
          <a:prstGeom prst="ellipse">
            <a:avLst/>
          </a:prstGeom>
          <a:solidFill>
            <a:srgbClr val="27AE60">
              <a:alpha val="8000"/>
            </a:srgbClr>
          </a:solidFill>
          <a:ln>
            <a:noFill/>
          </a:ln>
        </p:spPr>
      </p:sp>
      <p:sp>
        <p:nvSpPr>
          <p:cNvPr id="6" name="cover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9" name="cover-header"/>
          <p:cNvGrpSpPr/>
          <p:nvPr/>
        </p:nvGrpSpPr>
        <p:grpSpPr>
          <a:xfrm>
            <a:off x="743712" y="1130300"/>
            <a:ext cx="7984017" cy="2367788"/>
            <a:chOff x="743712" y="1130300"/>
            <a:chExt cx="7984017" cy="2367788"/>
          </a:xfrm>
        </p:grpSpPr>
        <p:sp>
          <p:nvSpPr>
            <p:cNvPr id="7" name="TextBox 7"/>
            <p:cNvSpPr txBox="1"/>
            <p:nvPr/>
          </p:nvSpPr>
          <p:spPr>
            <a:xfrm>
              <a:off x="753618" y="1130300"/>
              <a:ext cx="79741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712" y="1612900"/>
              <a:ext cx="7374819" cy="18851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650"/>
                </a:lnSpc>
              </a:pPr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  <a:b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  <a:b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7" name="cover-logo"/>
          <p:cNvGrpSpPr/>
          <p:nvPr/>
        </p:nvGrpSpPr>
        <p:grpSpPr>
          <a:xfrm>
            <a:off x="9852666" y="800100"/>
            <a:ext cx="1535419" cy="2081657"/>
            <a:chOff x="9852666" y="800100"/>
            <a:chExt cx="1535419" cy="2081657"/>
          </a:xfrm>
        </p:grpSpPr>
        <p:sp>
          <p:nvSpPr>
            <p:cNvPr id="10" name="Ellipse 10"/>
            <p:cNvSpPr/>
            <p:nvPr/>
          </p:nvSpPr>
          <p:spPr>
            <a:xfrm>
              <a:off x="9991725" y="800100"/>
              <a:ext cx="1257300" cy="12573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10086975" y="895350"/>
              <a:ext cx="1066800" cy="10668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414000" y="1284288"/>
              <a:ext cx="412751" cy="288925"/>
              <a:chOff x="10414000" y="1284288"/>
              <a:chExt cx="412751" cy="288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0414000" y="1284288"/>
                <a:ext cx="412751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412751" h="206375">
                    <a:moveTo>
                      <a:pt x="412751" y="82550"/>
                    </a:moveTo>
                    <a:lnTo>
                      <a:pt x="206375" y="0"/>
                    </a:lnTo>
                    <a:lnTo>
                      <a:pt x="0" y="82550"/>
                    </a:lnTo>
                    <a:lnTo>
                      <a:pt x="206375" y="165100"/>
                    </a:lnTo>
                    <a:lnTo>
                      <a:pt x="412751" y="82550"/>
                    </a:lnTo>
                    <a:lnTo>
                      <a:pt x="412751" y="206375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96550" y="1399858"/>
                <a:ext cx="247650" cy="17335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73355">
                    <a:moveTo>
                      <a:pt x="0" y="0"/>
                    </a:moveTo>
                    <a:lnTo>
                      <a:pt x="0" y="111443"/>
                    </a:lnTo>
                    <a:cubicBezTo>
                      <a:pt x="0" y="145636"/>
                      <a:pt x="55438" y="173355"/>
                      <a:pt x="123825" y="173355"/>
                    </a:cubicBezTo>
                    <a:cubicBezTo>
                      <a:pt x="192212" y="173355"/>
                      <a:pt x="247650" y="145636"/>
                      <a:pt x="247650" y="111443"/>
                    </a:cubicBezTo>
                    <a:lnTo>
                      <a:pt x="247650" y="0"/>
                    </a:lnTo>
                  </a:path>
                </a:pathLst>
              </a:custGeom>
              <a:noFill/>
              <a:ln w="41275">
                <a:solidFill>
                  <a:srgbClr val="FFFFFF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144185" y="2146300"/>
              <a:ext cx="95238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52666" y="2559050"/>
              <a:ext cx="15354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21" name="cover-author"/>
          <p:cNvGrpSpPr/>
          <p:nvPr/>
        </p:nvGrpSpPr>
        <p:grpSpPr>
          <a:xfrm>
            <a:off x="762000" y="3905250"/>
            <a:ext cx="4749125" cy="1440307"/>
            <a:chOff x="762000" y="3905250"/>
            <a:chExt cx="4749125" cy="1440307"/>
          </a:xfrm>
        </p:grpSpPr>
        <p:sp>
          <p:nvSpPr>
            <p:cNvPr id="18" name="Rectangle 18"/>
            <p:cNvSpPr/>
            <p:nvPr/>
          </p:nvSpPr>
          <p:spPr>
            <a:xfrm>
              <a:off x="762000" y="3905250"/>
              <a:ext cx="57150" cy="142875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4608" y="3956050"/>
              <a:ext cx="445651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375150"/>
              <a:ext cx="3502356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  <a:b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sabadaspaha@gmail.com</a:t>
              </a:r>
              <a:br>
                <a:rPr lang="en-US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23" name="cover-question"/>
          <p:cNvGrpSpPr/>
          <p:nvPr/>
        </p:nvGrpSpPr>
        <p:grpSpPr>
          <a:xfrm>
            <a:off x="749808" y="5975350"/>
            <a:ext cx="6581046" cy="469392"/>
            <a:chOff x="749808" y="5975350"/>
            <a:chExt cx="6581046" cy="469392"/>
          </a:xfrm>
        </p:grpSpPr>
        <p:sp>
          <p:nvSpPr>
            <p:cNvPr id="22" name="TextBox 22"/>
            <p:cNvSpPr txBox="1"/>
            <p:nvPr/>
          </p:nvSpPr>
          <p:spPr>
            <a:xfrm>
              <a:off x="749808" y="5975350"/>
              <a:ext cx="65810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4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pic>
        <p:nvPicPr>
          <p:cNvPr id="24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800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6648072" cy="704088"/>
            <a:chOff x="743712" y="565150"/>
            <a:chExt cx="664807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664807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Зачем мы об этом говорим</a:t>
              </a:r>
            </a:p>
          </p:txBody>
        </p:sp>
      </p:grpSp>
      <p:grpSp>
        <p:nvGrpSpPr>
          <p:cNvPr id="14" name="goal"/>
          <p:cNvGrpSpPr/>
          <p:nvPr/>
        </p:nvGrpSpPr>
        <p:grpSpPr>
          <a:xfrm>
            <a:off x="762000" y="1619250"/>
            <a:ext cx="4953000" cy="4095750"/>
            <a:chOff x="762000" y="1619250"/>
            <a:chExt cx="4953000" cy="409575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4953000" cy="4095750"/>
            </a:xfrm>
            <a:prstGeom prst="roundRect">
              <a:avLst>
                <a:gd name="adj" fmla="val 4186"/>
              </a:avLst>
            </a:prstGeom>
            <a:solidFill>
              <a:srgbClr val="E67E22">
                <a:alpha val="12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223962" y="2100262"/>
              <a:ext cx="485774" cy="485774"/>
              <a:chOff x="1223962" y="2100262"/>
              <a:chExt cx="485774" cy="4857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439862" y="231616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331912" y="2208212"/>
                <a:ext cx="26987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269875" h="269875">
                    <a:moveTo>
                      <a:pt x="0" y="134937"/>
                    </a:moveTo>
                    <a:cubicBezTo>
                      <a:pt x="0" y="209461"/>
                      <a:pt x="60414" y="269875"/>
                      <a:pt x="134937" y="269875"/>
                    </a:cubicBezTo>
                    <a:cubicBezTo>
                      <a:pt x="209461" y="269875"/>
                      <a:pt x="269875" y="209461"/>
                      <a:pt x="269875" y="134937"/>
                    </a:cubicBezTo>
                    <a:cubicBezTo>
                      <a:pt x="269875" y="60414"/>
                      <a:pt x="209461" y="0"/>
                      <a:pt x="134937" y="0"/>
                    </a:cubicBezTo>
                    <a:cubicBezTo>
                      <a:pt x="60414" y="0"/>
                      <a:pt x="0" y="60414"/>
                      <a:pt x="0" y="13493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23962" y="2100262"/>
                <a:ext cx="485774" cy="485774"/>
              </a:xfrm>
              <a:custGeom>
                <a:avLst/>
                <a:gdLst/>
                <a:ahLst/>
                <a:cxnLst/>
                <a:rect l="l" t="t" r="r" b="b"/>
                <a:pathLst>
                  <a:path w="485774" h="485774">
                    <a:moveTo>
                      <a:pt x="0" y="242887"/>
                    </a:moveTo>
                    <a:cubicBezTo>
                      <a:pt x="0" y="377030"/>
                      <a:pt x="108744" y="485774"/>
                      <a:pt x="242887" y="485774"/>
                    </a:cubicBezTo>
                    <a:cubicBezTo>
                      <a:pt x="377030" y="485774"/>
                      <a:pt x="485774" y="377030"/>
                      <a:pt x="485774" y="242887"/>
                    </a:cubicBezTo>
                    <a:cubicBezTo>
                      <a:pt x="485774" y="108744"/>
                      <a:pt x="377030" y="0"/>
                      <a:pt x="242887" y="0"/>
                    </a:cubicBezTo>
                    <a:cubicBezTo>
                      <a:pt x="108744" y="0"/>
                      <a:pt x="0" y="108744"/>
                      <a:pt x="0" y="242887"/>
                    </a:cubicBezTo>
                  </a:path>
                </a:pathLst>
              </a:custGeom>
              <a:noFill/>
              <a:ln w="53975">
                <a:solidFill>
                  <a:srgbClr val="E67E22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2004060" y="2127250"/>
              <a:ext cx="123297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111500"/>
              <a:ext cx="4038356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 людей</a:t>
              </a:r>
              <a:b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счастливыми в современном мире</a:t>
              </a:r>
            </a:p>
          </p:txBody>
        </p:sp>
      </p:grpSp>
      <p:grpSp>
        <p:nvGrpSpPr>
          <p:cNvPr id="24" name="tasks"/>
          <p:cNvGrpSpPr/>
          <p:nvPr/>
        </p:nvGrpSpPr>
        <p:grpSpPr>
          <a:xfrm>
            <a:off x="6096000" y="1619250"/>
            <a:ext cx="5334000" cy="3867150"/>
            <a:chOff x="6096000" y="1619250"/>
            <a:chExt cx="5334000" cy="3867150"/>
          </a:xfrm>
        </p:grpSpPr>
        <p:sp>
          <p:nvSpPr>
            <p:cNvPr id="15" name="Rectangle 15"/>
            <p:cNvSpPr/>
            <p:nvPr/>
          </p:nvSpPr>
          <p:spPr>
            <a:xfrm>
              <a:off x="6096000" y="16192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182868" y="19113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2106" y="2305050"/>
              <a:ext cx="38603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Рассмотреть научные подходы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96000" y="297180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182868" y="326390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82106" y="3657600"/>
              <a:ext cx="3589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Выявить ключевые факторы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0" y="4324350"/>
              <a:ext cx="5334000" cy="1162050"/>
            </a:xfrm>
            <a:prstGeom prst="roundRect">
              <a:avLst>
                <a:gd name="adj" fmla="val 13115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82868" y="4616450"/>
              <a:ext cx="9908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Задача 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182106" y="5010150"/>
              <a:ext cx="4117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Дать практические рекомендации</a:t>
              </a:r>
            </a:p>
          </p:txBody>
        </p:sp>
      </p:grpSp>
      <p:pic>
        <p:nvPicPr>
          <p:cNvPr id="25" name="PPT Master narration: narration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4269967" cy="704088"/>
            <a:chOff x="743712" y="565150"/>
            <a:chExt cx="426996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42699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66" name="toc"/>
          <p:cNvGrpSpPr/>
          <p:nvPr/>
        </p:nvGrpSpPr>
        <p:grpSpPr>
          <a:xfrm>
            <a:off x="762000" y="1809750"/>
            <a:ext cx="10791825" cy="3409950"/>
            <a:chOff x="762000" y="1809750"/>
            <a:chExt cx="10791825" cy="3409950"/>
          </a:xfrm>
        </p:grpSpPr>
        <p:sp>
          <p:nvSpPr>
            <p:cNvPr id="7" name="Rectangle 7"/>
            <p:cNvSpPr/>
            <p:nvPr/>
          </p:nvSpPr>
          <p:spPr>
            <a:xfrm>
              <a:off x="76200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26319" y="2092325"/>
              <a:ext cx="328613" cy="292101"/>
            </a:xfrm>
            <a:custGeom>
              <a:avLst/>
              <a:gdLst/>
              <a:ahLst/>
              <a:cxnLst/>
              <a:rect l="l" t="t" r="r" b="b"/>
              <a:pathLst>
                <a:path w="328613" h="292101">
                  <a:moveTo>
                    <a:pt x="0" y="146050"/>
                  </a:moveTo>
                  <a:lnTo>
                    <a:pt x="73025" y="146050"/>
                  </a:lnTo>
                  <a:lnTo>
                    <a:pt x="127794" y="292101"/>
                  </a:lnTo>
                  <a:lnTo>
                    <a:pt x="200819" y="0"/>
                  </a:lnTo>
                  <a:lnTo>
                    <a:pt x="255588" y="146050"/>
                  </a:lnTo>
                  <a:lnTo>
                    <a:pt x="328613" y="146050"/>
                  </a:lnTo>
                </a:path>
              </a:pathLst>
            </a:custGeom>
            <a:noFill/>
            <a:ln w="36513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60882" y="2584450"/>
              <a:ext cx="20796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Зачем изучать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63168" y="2978150"/>
              <a:ext cx="2136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данные о депрессии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49567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3759994" y="2074069"/>
              <a:ext cx="328613" cy="319882"/>
              <a:chOff x="3759994" y="2074069"/>
              <a:chExt cx="328613" cy="31988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3833019" y="2384426"/>
                <a:ext cx="1825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563" h="9525">
                    <a:moveTo>
                      <a:pt x="0" y="0"/>
                    </a:moveTo>
                    <a:lnTo>
                      <a:pt x="182563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814763" y="2110581"/>
                <a:ext cx="219075" cy="18256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8256">
                    <a:moveTo>
                      <a:pt x="0" y="18256"/>
                    </a:moveTo>
                    <a:lnTo>
                      <a:pt x="109538" y="0"/>
                    </a:lnTo>
                    <a:lnTo>
                      <a:pt x="219075" y="18256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24300" y="2074069"/>
                <a:ext cx="9525" cy="31035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0357">
                    <a:moveTo>
                      <a:pt x="0" y="0"/>
                    </a:moveTo>
                    <a:lnTo>
                      <a:pt x="0" y="310357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759994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979069" y="2128838"/>
                <a:ext cx="109538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64307">
                    <a:moveTo>
                      <a:pt x="109538" y="109538"/>
                    </a:moveTo>
                    <a:lnTo>
                      <a:pt x="54769" y="0"/>
                    </a:lnTo>
                    <a:lnTo>
                      <a:pt x="0" y="109538"/>
                    </a:lnTo>
                    <a:cubicBezTo>
                      <a:pt x="0" y="139786"/>
                      <a:pt x="24521" y="164307"/>
                      <a:pt x="54769" y="164307"/>
                    </a:cubicBezTo>
                    <a:cubicBezTo>
                      <a:pt x="85017" y="164307"/>
                      <a:pt x="109538" y="139786"/>
                      <a:pt x="109538" y="109538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3694557" y="2584450"/>
              <a:ext cx="24112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Научный подход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96843" y="2978150"/>
              <a:ext cx="15804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что такое SWB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29350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493669" y="2074069"/>
              <a:ext cx="328613" cy="328613"/>
              <a:chOff x="6493669" y="2074069"/>
              <a:chExt cx="328613" cy="32861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657975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28608" y="0"/>
                      <a:pt x="0" y="28608"/>
                      <a:pt x="0" y="63897"/>
                    </a:cubicBezTo>
                    <a:lnTo>
                      <a:pt x="0" y="82153"/>
                    </a:lnTo>
                    <a:cubicBezTo>
                      <a:pt x="0" y="117443"/>
                      <a:pt x="28608" y="146050"/>
                      <a:pt x="63897" y="146050"/>
                    </a:cubicBezTo>
                    <a:cubicBezTo>
                      <a:pt x="99186" y="146050"/>
                      <a:pt x="127794" y="117443"/>
                      <a:pt x="127794" y="82153"/>
                    </a:cubicBezTo>
                    <a:lnTo>
                      <a:pt x="127794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530181" y="2256632"/>
                <a:ext cx="127794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46050">
                    <a:moveTo>
                      <a:pt x="63897" y="0"/>
                    </a:move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82153"/>
                    </a:lnTo>
                    <a:cubicBezTo>
                      <a:pt x="127794" y="117443"/>
                      <a:pt x="99186" y="146050"/>
                      <a:pt x="63897" y="146050"/>
                    </a:cubicBezTo>
                    <a:cubicBezTo>
                      <a:pt x="28608" y="146050"/>
                      <a:pt x="0" y="117443"/>
                      <a:pt x="0" y="82153"/>
                    </a:cubicBezTo>
                    <a:lnTo>
                      <a:pt x="0" y="49292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9257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9128" y="127794"/>
                    </a:moveTo>
                    <a:cubicBezTo>
                      <a:pt x="44417" y="127794"/>
                      <a:pt x="73025" y="99186"/>
                      <a:pt x="73025" y="63897"/>
                    </a:cubicBezTo>
                    <a:cubicBezTo>
                      <a:pt x="73025" y="28608"/>
                      <a:pt x="44417" y="0"/>
                      <a:pt x="912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57975" y="2074069"/>
                <a:ext cx="127794" cy="115015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115015">
                    <a:moveTo>
                      <a:pt x="127794" y="115015"/>
                    </a:moveTo>
                    <a:lnTo>
                      <a:pt x="127794" y="63897"/>
                    </a:lnTo>
                    <a:cubicBezTo>
                      <a:pt x="127794" y="28608"/>
                      <a:pt x="99186" y="0"/>
                      <a:pt x="63897" y="0"/>
                    </a:cubicBezTo>
                    <a:cubicBezTo>
                      <a:pt x="28608" y="0"/>
                      <a:pt x="0" y="28608"/>
                      <a:pt x="0" y="63897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493669" y="2183607"/>
                <a:ext cx="73025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127794">
                    <a:moveTo>
                      <a:pt x="63897" y="127794"/>
                    </a:moveTo>
                    <a:cubicBezTo>
                      <a:pt x="28608" y="127794"/>
                      <a:pt x="0" y="99186"/>
                      <a:pt x="0" y="63897"/>
                    </a:cubicBezTo>
                    <a:cubicBezTo>
                      <a:pt x="0" y="28608"/>
                      <a:pt x="28608" y="0"/>
                      <a:pt x="63897" y="0"/>
                    </a:cubicBezTo>
                    <a:lnTo>
                      <a:pt x="73025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530181" y="2074069"/>
                <a:ext cx="127794" cy="246460"/>
              </a:xfrm>
              <a:custGeom>
                <a:avLst/>
                <a:gdLst/>
                <a:ahLst/>
                <a:cxnLst/>
                <a:rect l="l" t="t" r="r" b="b"/>
                <a:pathLst>
                  <a:path w="127794" h="246460">
                    <a:moveTo>
                      <a:pt x="0" y="115015"/>
                    </a:moveTo>
                    <a:lnTo>
                      <a:pt x="0" y="63897"/>
                    </a:lnTo>
                    <a:cubicBezTo>
                      <a:pt x="0" y="28608"/>
                      <a:pt x="28608" y="0"/>
                      <a:pt x="63897" y="0"/>
                    </a:cubicBezTo>
                    <a:cubicBezTo>
                      <a:pt x="99186" y="0"/>
                      <a:pt x="127794" y="28608"/>
                      <a:pt x="127794" y="63897"/>
                    </a:cubicBezTo>
                    <a:lnTo>
                      <a:pt x="127794" y="24646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428232" y="2584450"/>
              <a:ext cx="17418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Физиология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0518" y="2978150"/>
              <a:ext cx="17961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нейромедиаторы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963025" y="180975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227344" y="2147094"/>
              <a:ext cx="328613" cy="182563"/>
              <a:chOff x="9227344" y="2147094"/>
              <a:chExt cx="328613" cy="182563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245600" y="2165350"/>
                <a:ext cx="292101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46050">
                    <a:moveTo>
                      <a:pt x="0" y="146050"/>
                    </a:moveTo>
                    <a:lnTo>
                      <a:pt x="109538" y="18256"/>
                    </a:lnTo>
                    <a:lnTo>
                      <a:pt x="200819" y="109538"/>
                    </a:ln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428163" y="2256632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336882" y="2165350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9227344" y="229314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19444" y="2147094"/>
                <a:ext cx="36513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6513" h="36513">
                    <a:moveTo>
                      <a:pt x="0" y="18256"/>
                    </a:moveTo>
                    <a:cubicBezTo>
                      <a:pt x="0" y="28339"/>
                      <a:pt x="8174" y="36513"/>
                      <a:pt x="18256" y="36513"/>
                    </a:cubicBezTo>
                    <a:cubicBezTo>
                      <a:pt x="28339" y="36513"/>
                      <a:pt x="36513" y="28339"/>
                      <a:pt x="36513" y="18256"/>
                    </a:cubicBezTo>
                    <a:cubicBezTo>
                      <a:pt x="36513" y="8174"/>
                      <a:pt x="28339" y="0"/>
                      <a:pt x="18256" y="0"/>
                    </a:cubicBezTo>
                    <a:cubicBezTo>
                      <a:pt x="8174" y="0"/>
                      <a:pt x="0" y="8174"/>
                      <a:pt x="0" y="18256"/>
                    </a:cubicBezTo>
                  </a:path>
                </a:pathLst>
              </a:custGeom>
              <a:noFill/>
              <a:ln w="36513">
                <a:solidFill>
                  <a:srgbClr val="27AE60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161907" y="2584450"/>
              <a:ext cx="12139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История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64193" y="2978150"/>
              <a:ext cx="15180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от Аристотеля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26319" y="3883819"/>
              <a:ext cx="328613" cy="328613"/>
              <a:chOff x="1026319" y="3883819"/>
              <a:chExt cx="328613" cy="32861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26319" y="3883819"/>
                <a:ext cx="328613" cy="328613"/>
              </a:xfrm>
              <a:custGeom>
                <a:avLst/>
                <a:gdLst/>
                <a:ahLst/>
                <a:cxnLst/>
                <a:rect l="l" t="t" r="r" b="b"/>
                <a:pathLst>
                  <a:path w="328613" h="328613">
                    <a:moveTo>
                      <a:pt x="0" y="164307"/>
                    </a:moveTo>
                    <a:cubicBezTo>
                      <a:pt x="0" y="255051"/>
                      <a:pt x="73563" y="328613"/>
                      <a:pt x="164307" y="328613"/>
                    </a:cubicBezTo>
                    <a:cubicBezTo>
                      <a:pt x="255051" y="328613"/>
                      <a:pt x="328613" y="255051"/>
                      <a:pt x="328613" y="164307"/>
                    </a:cubicBezTo>
                    <a:cubicBezTo>
                      <a:pt x="328613" y="73563"/>
                      <a:pt x="255051" y="0"/>
                      <a:pt x="164307" y="0"/>
                    </a:cubicBezTo>
                    <a:cubicBezTo>
                      <a:pt x="73563" y="0"/>
                      <a:pt x="0" y="73563"/>
                      <a:pt x="0" y="164307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5857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245394" y="40116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83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144985" y="4102894"/>
                <a:ext cx="91281" cy="19178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19178">
                    <a:moveTo>
                      <a:pt x="0" y="0"/>
                    </a:moveTo>
                    <a:cubicBezTo>
                      <a:pt x="12018" y="12266"/>
                      <a:pt x="28468" y="19178"/>
                      <a:pt x="45641" y="19178"/>
                    </a:cubicBezTo>
                    <a:cubicBezTo>
                      <a:pt x="62813" y="19178"/>
                      <a:pt x="79263" y="12266"/>
                      <a:pt x="91281" y="0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960882" y="43942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63168" y="4787900"/>
              <a:ext cx="133031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эвдемония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49567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3754905" y="3886958"/>
              <a:ext cx="330051" cy="330563"/>
              <a:chOff x="3754905" y="3886958"/>
              <a:chExt cx="330051" cy="33056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754905" y="3886958"/>
                <a:ext cx="330051" cy="330563"/>
              </a:xfrm>
              <a:custGeom>
                <a:avLst/>
                <a:gdLst/>
                <a:ahLst/>
                <a:cxnLst/>
                <a:rect l="l" t="t" r="r" b="b"/>
                <a:pathLst>
                  <a:path w="330051" h="330563">
                    <a:moveTo>
                      <a:pt x="132883" y="512"/>
                    </a:moveTo>
                    <a:cubicBezTo>
                      <a:pt x="53833" y="18838"/>
                      <a:pt x="0" y="92126"/>
                      <a:pt x="6156" y="173038"/>
                    </a:cubicBezTo>
                    <a:cubicBezTo>
                      <a:pt x="12311" y="253950"/>
                      <a:pt x="76613" y="318251"/>
                      <a:pt x="157524" y="324407"/>
                    </a:cubicBezTo>
                    <a:cubicBezTo>
                      <a:pt x="238436" y="330563"/>
                      <a:pt x="311725" y="276729"/>
                      <a:pt x="330051" y="197680"/>
                    </a:cubicBezTo>
                    <a:cubicBezTo>
                      <a:pt x="330051" y="187597"/>
                      <a:pt x="321877" y="179424"/>
                      <a:pt x="311794" y="179424"/>
                    </a:cubicBezTo>
                    <a:lnTo>
                      <a:pt x="187652" y="179424"/>
                    </a:lnTo>
                    <a:cubicBezTo>
                      <a:pt x="167486" y="179424"/>
                      <a:pt x="151139" y="163076"/>
                      <a:pt x="151139" y="142911"/>
                    </a:cubicBezTo>
                    <a:lnTo>
                      <a:pt x="151139" y="15117"/>
                    </a:lnTo>
                    <a:cubicBezTo>
                      <a:pt x="150681" y="10748"/>
                      <a:pt x="148492" y="6745"/>
                      <a:pt x="145062" y="4001"/>
                    </a:cubicBezTo>
                    <a:cubicBezTo>
                      <a:pt x="141632" y="1256"/>
                      <a:pt x="137246" y="0"/>
                      <a:pt x="132883" y="512"/>
                    </a:cubicBez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979069" y="3892947"/>
                <a:ext cx="100410" cy="100410"/>
              </a:xfrm>
              <a:custGeom>
                <a:avLst/>
                <a:gdLst/>
                <a:ahLst/>
                <a:cxnLst/>
                <a:rect l="l" t="t" r="r" b="b"/>
                <a:pathLst>
                  <a:path w="100410" h="100410">
                    <a:moveTo>
                      <a:pt x="0" y="0"/>
                    </a:moveTo>
                    <a:cubicBezTo>
                      <a:pt x="46952" y="16532"/>
                      <a:pt x="83877" y="53458"/>
                      <a:pt x="100410" y="100410"/>
                    </a:cubicBezTo>
                    <a:lnTo>
                      <a:pt x="18256" y="100410"/>
                    </a:lnTo>
                    <a:cubicBezTo>
                      <a:pt x="8174" y="100410"/>
                      <a:pt x="0" y="92236"/>
                      <a:pt x="0" y="82153"/>
                    </a:cubicBezTo>
                    <a:lnTo>
                      <a:pt x="0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3694557" y="4394200"/>
              <a:ext cx="132159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96843" y="47879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50/40/10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6229350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11925" y="3938588"/>
              <a:ext cx="292101" cy="246856"/>
              <a:chOff x="6511925" y="3938588"/>
              <a:chExt cx="292101" cy="246856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511925" y="4175919"/>
                <a:ext cx="2921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9525">
                    <a:moveTo>
                      <a:pt x="0" y="0"/>
                    </a:moveTo>
                    <a:lnTo>
                      <a:pt x="292101" y="0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511925" y="3938588"/>
                <a:ext cx="292101" cy="164307"/>
              </a:xfrm>
              <a:custGeom>
                <a:avLst/>
                <a:gdLst/>
                <a:ahLst/>
                <a:cxnLst/>
                <a:rect l="l" t="t" r="r" b="b"/>
                <a:pathLst>
                  <a:path w="292101" h="164307">
                    <a:moveTo>
                      <a:pt x="0" y="164307"/>
                    </a:moveTo>
                    <a:lnTo>
                      <a:pt x="73025" y="54769"/>
                    </a:lnTo>
                    <a:lnTo>
                      <a:pt x="146050" y="91281"/>
                    </a:lnTo>
                    <a:lnTo>
                      <a:pt x="219075" y="0"/>
                    </a:lnTo>
                    <a:lnTo>
                      <a:pt x="292101" y="73025"/>
                    </a:lnTo>
                  </a:path>
                </a:pathLst>
              </a:custGeom>
              <a:noFill/>
              <a:ln w="36513">
                <a:solidFill>
                  <a:srgbClr val="E67E22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428232" y="4394200"/>
              <a:ext cx="113050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Данные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30518" y="4787900"/>
              <a:ext cx="15337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доход и школа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8963025" y="3619500"/>
              <a:ext cx="2590800" cy="1600200"/>
            </a:xfrm>
            <a:prstGeom prst="roundRect">
              <a:avLst>
                <a:gd name="adj" fmla="val 952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9234683" y="3883819"/>
              <a:ext cx="313898" cy="326604"/>
              <a:chOff x="9234683" y="3883819"/>
              <a:chExt cx="313898" cy="326604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9282113" y="3883819"/>
                <a:ext cx="219075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219075">
                    <a:moveTo>
                      <a:pt x="0" y="109538"/>
                    </a:moveTo>
                    <a:cubicBezTo>
                      <a:pt x="0" y="170034"/>
                      <a:pt x="49042" y="219075"/>
                      <a:pt x="109538" y="219075"/>
                    </a:cubicBezTo>
                    <a:cubicBezTo>
                      <a:pt x="170034" y="219075"/>
                      <a:pt x="219075" y="170034"/>
                      <a:pt x="219075" y="109538"/>
                    </a:cubicBezTo>
                    <a:cubicBezTo>
                      <a:pt x="219075" y="49042"/>
                      <a:pt x="170034" y="0"/>
                      <a:pt x="109538" y="0"/>
                    </a:cubicBezTo>
                    <a:cubicBezTo>
                      <a:pt x="49042" y="0"/>
                      <a:pt x="0" y="49042"/>
                      <a:pt x="0" y="109538"/>
                    </a:cubicBez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391650" y="4048125"/>
                <a:ext cx="156931" cy="162298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98">
                    <a:moveTo>
                      <a:pt x="0" y="54769"/>
                    </a:moveTo>
                    <a:lnTo>
                      <a:pt x="62071" y="162298"/>
                    </a:lnTo>
                    <a:lnTo>
                      <a:pt x="91245" y="103276"/>
                    </a:lnTo>
                    <a:lnTo>
                      <a:pt x="156931" y="107511"/>
                    </a:lnTo>
                    <a:lnTo>
                      <a:pt x="94860" y="0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234683" y="4048125"/>
                <a:ext cx="156931" cy="162280"/>
              </a:xfrm>
              <a:custGeom>
                <a:avLst/>
                <a:gdLst/>
                <a:ahLst/>
                <a:cxnLst/>
                <a:rect l="l" t="t" r="r" b="b"/>
                <a:pathLst>
                  <a:path w="156931" h="162280">
                    <a:moveTo>
                      <a:pt x="62071" y="0"/>
                    </a:moveTo>
                    <a:lnTo>
                      <a:pt x="0" y="107529"/>
                    </a:lnTo>
                    <a:lnTo>
                      <a:pt x="65686" y="103276"/>
                    </a:lnTo>
                    <a:lnTo>
                      <a:pt x="94860" y="162280"/>
                    </a:lnTo>
                    <a:lnTo>
                      <a:pt x="156931" y="54769"/>
                    </a:lnTo>
                  </a:path>
                </a:pathLst>
              </a:custGeom>
              <a:noFill/>
              <a:ln w="36513">
                <a:solidFill>
                  <a:srgbClr val="E74C3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161907" y="4394200"/>
              <a:ext cx="124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164193" y="4787900"/>
              <a:ext cx="9400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и советы</a:t>
              </a:r>
            </a:p>
          </p:txBody>
        </p:sp>
      </p:grpSp>
      <p:pic>
        <p:nvPicPr>
          <p:cNvPr id="67" name="PPT Master narration: 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6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10257629" cy="704088"/>
            <a:chOff x="743712" y="565150"/>
            <a:chExt cx="10257629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102576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Литературы много — счастливых меньше</a:t>
              </a:r>
            </a:p>
          </p:txBody>
        </p:sp>
      </p:grpSp>
      <p:grpSp>
        <p:nvGrpSpPr>
          <p:cNvPr id="18" name="chart-dep"/>
          <p:cNvGrpSpPr/>
          <p:nvPr/>
        </p:nvGrpSpPr>
        <p:grpSpPr>
          <a:xfrm>
            <a:off x="762000" y="1762125"/>
            <a:ext cx="5238750" cy="3810000"/>
            <a:chOff x="762000" y="1762125"/>
            <a:chExt cx="523875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523875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81200"/>
              <a:ext cx="20810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590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Polyline 11"/>
            <p:cNvSpPr/>
            <p:nvPr/>
          </p:nvSpPr>
          <p:spPr>
            <a:xfrm>
              <a:off x="1428750" y="2705100"/>
              <a:ext cx="4191000" cy="1924050"/>
            </a:xfrm>
            <a:custGeom>
              <a:avLst/>
              <a:gdLst/>
              <a:ahLst/>
              <a:cxnLst/>
              <a:rect l="l" t="t" r="r" b="b"/>
              <a:pathLst>
                <a:path w="4191000" h="1924050">
                  <a:moveTo>
                    <a:pt x="0" y="1924050"/>
                  </a:moveTo>
                  <a:lnTo>
                    <a:pt x="857250" y="1657350"/>
                  </a:lnTo>
                  <a:lnTo>
                    <a:pt x="1714500" y="1276350"/>
                  </a:lnTo>
                  <a:lnTo>
                    <a:pt x="2571750" y="838200"/>
                  </a:lnTo>
                  <a:lnTo>
                    <a:pt x="3429000" y="323850"/>
                  </a:lnTo>
                  <a:lnTo>
                    <a:pt x="4191000" y="0"/>
                  </a:lnTo>
                </a:path>
              </a:pathLst>
            </a:custGeom>
            <a:noFill/>
            <a:ln w="57150">
              <a:solidFill>
                <a:srgbClr val="E74C3C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5534025" y="2619375"/>
              <a:ext cx="171450" cy="1714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48918" y="2578100"/>
              <a:ext cx="461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48918" y="4673600"/>
              <a:ext cx="337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5618" y="49403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135118" y="49403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9368" y="5245100"/>
              <a:ext cx="25109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8,2% → 13,1% за 10 лет</a:t>
              </a:r>
            </a:p>
          </p:txBody>
        </p:sp>
      </p:grpSp>
      <p:grpSp>
        <p:nvGrpSpPr>
          <p:cNvPr id="30" name="chart-hap"/>
          <p:cNvGrpSpPr/>
          <p:nvPr/>
        </p:nvGrpSpPr>
        <p:grpSpPr>
          <a:xfrm>
            <a:off x="6286500" y="1762125"/>
            <a:ext cx="5143500" cy="3810000"/>
            <a:chOff x="6286500" y="1762125"/>
            <a:chExt cx="5143500" cy="38100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63106" y="1981200"/>
              <a:ext cx="1913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6953250" y="2590800"/>
              <a:ext cx="9525" cy="2247900"/>
            </a:xfrm>
            <a:custGeom>
              <a:avLst/>
              <a:gdLst/>
              <a:ahLst/>
              <a:cxnLst/>
              <a:rect l="l" t="t" r="r" b="b"/>
              <a:pathLst>
                <a:path w="9525" h="2247900">
                  <a:moveTo>
                    <a:pt x="0" y="0"/>
                  </a:moveTo>
                  <a:lnTo>
                    <a:pt x="0" y="22479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953250" y="48387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3" name="Polyline 23"/>
            <p:cNvSpPr/>
            <p:nvPr/>
          </p:nvSpPr>
          <p:spPr>
            <a:xfrm>
              <a:off x="6953250" y="3619500"/>
              <a:ext cx="3714750" cy="95250"/>
            </a:xfrm>
            <a:custGeom>
              <a:avLst/>
              <a:gdLst/>
              <a:ahLst/>
              <a:cxnLst/>
              <a:rect l="l" t="t" r="r" b="b"/>
              <a:pathLst>
                <a:path w="3714750" h="95250">
                  <a:moveTo>
                    <a:pt x="0" y="76200"/>
                  </a:moveTo>
                  <a:lnTo>
                    <a:pt x="742950" y="0"/>
                  </a:lnTo>
                  <a:lnTo>
                    <a:pt x="1485900" y="95250"/>
                  </a:lnTo>
                  <a:lnTo>
                    <a:pt x="2228850" y="19050"/>
                  </a:lnTo>
                  <a:lnTo>
                    <a:pt x="2971800" y="76200"/>
                  </a:lnTo>
                  <a:lnTo>
                    <a:pt x="3714750" y="381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10582275" y="357187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4368" y="257810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4368" y="4673600"/>
              <a:ext cx="1403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40118" y="49403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88118" y="4940300"/>
              <a:ext cx="5109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3868" y="5245100"/>
              <a:ext cx="18635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плато с 2005 года</a:t>
              </a:r>
            </a:p>
          </p:txBody>
        </p:sp>
      </p:grpSp>
      <p:grpSp>
        <p:nvGrpSpPr>
          <p:cNvPr id="35" name="quote"/>
          <p:cNvGrpSpPr/>
          <p:nvPr/>
        </p:nvGrpSpPr>
        <p:grpSpPr>
          <a:xfrm>
            <a:off x="993775" y="5886450"/>
            <a:ext cx="7316317" cy="352044"/>
            <a:chOff x="993775" y="5886450"/>
            <a:chExt cx="7316317" cy="352044"/>
          </a:xfrm>
        </p:grpSpPr>
        <p:grpSp>
          <p:nvGrpSpPr>
            <p:cNvPr id="33" name="Group 33"/>
            <p:cNvGrpSpPr/>
            <p:nvPr/>
          </p:nvGrpSpPr>
          <p:grpSpPr>
            <a:xfrm>
              <a:off x="993775" y="5905500"/>
              <a:ext cx="222250" cy="190500"/>
              <a:chOff x="993775" y="5905500"/>
              <a:chExt cx="222250" cy="1905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993775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36650" y="59055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1438656" y="5886450"/>
              <a:ext cx="6871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Парадокс: литературы больше, счастливых людей — нет</a:t>
              </a:r>
            </a:p>
          </p:txBody>
        </p:sp>
      </p:grpSp>
      <p:pic>
        <p:nvPicPr>
          <p:cNvPr id="36" name="PPT Master narration: narration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-photo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8227957" cy="704088"/>
            <a:chOff x="743712" y="565150"/>
            <a:chExt cx="822795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822795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swb"/>
          <p:cNvGrpSpPr/>
          <p:nvPr/>
        </p:nvGrpSpPr>
        <p:grpSpPr>
          <a:xfrm>
            <a:off x="762000" y="1600200"/>
            <a:ext cx="10668000" cy="2000250"/>
            <a:chOff x="762000" y="1600200"/>
            <a:chExt cx="10668000" cy="2000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2209800" y="1924050"/>
              <a:ext cx="342900" cy="333375"/>
              <a:chOff x="2209800" y="1924050"/>
              <a:chExt cx="342900" cy="3333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286000" y="2247900"/>
                <a:ext cx="19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">
                    <a:moveTo>
                      <a:pt x="0" y="0"/>
                    </a:moveTo>
                    <a:lnTo>
                      <a:pt x="190500" y="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266950" y="1962150"/>
                <a:ext cx="22860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9050">
                    <a:moveTo>
                      <a:pt x="0" y="19050"/>
                    </a:moveTo>
                    <a:lnTo>
                      <a:pt x="114300" y="0"/>
                    </a:lnTo>
                    <a:lnTo>
                      <a:pt x="22860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381250" y="1924050"/>
                <a:ext cx="952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23850">
                    <a:moveTo>
                      <a:pt x="0" y="0"/>
                    </a:moveTo>
                    <a:lnTo>
                      <a:pt x="0" y="3238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2098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2438400" y="1981200"/>
                <a:ext cx="1143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71450">
                    <a:moveTo>
                      <a:pt x="114300" y="114300"/>
                    </a:moveTo>
                    <a:lnTo>
                      <a:pt x="57150" y="0"/>
                    </a:lnTo>
                    <a:lnTo>
                      <a:pt x="0" y="114300"/>
                    </a:lnTo>
                    <a:cubicBezTo>
                      <a:pt x="0" y="145863"/>
                      <a:pt x="25587" y="171450"/>
                      <a:pt x="57150" y="171450"/>
                    </a:cubicBezTo>
                    <a:cubicBezTo>
                      <a:pt x="88713" y="171450"/>
                      <a:pt x="114300" y="145863"/>
                      <a:pt x="114300" y="1143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57466" y="2540000"/>
              <a:ext cx="184756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8704" y="2940050"/>
              <a:ext cx="2465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когнитивный компонент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286250" y="1600200"/>
              <a:ext cx="3619500" cy="2000250"/>
            </a:xfrm>
            <a:prstGeom prst="roundRect">
              <a:avLst>
                <a:gd name="adj" fmla="val 7619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140270" y="1949450"/>
              <a:ext cx="191146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68074" y="2273300"/>
              <a:ext cx="18558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26064" y="2692400"/>
              <a:ext cx="2539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 = оценка + эмоции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800793" y="3073400"/>
              <a:ext cx="2590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сумма двух компонентов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191500" y="1666875"/>
              <a:ext cx="3238500" cy="1857375"/>
            </a:xfrm>
            <a:prstGeom prst="roundRect">
              <a:avLst>
                <a:gd name="adj" fmla="val 820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632704" y="1938213"/>
              <a:ext cx="355748" cy="309687"/>
            </a:xfrm>
            <a:custGeom>
              <a:avLst/>
              <a:gdLst/>
              <a:ahLst/>
              <a:cxnLst/>
              <a:rect l="l" t="t" r="r" b="b"/>
              <a:pathLst>
                <a:path w="355748" h="309687">
                  <a:moveTo>
                    <a:pt x="320921" y="168184"/>
                  </a:moveTo>
                  <a:lnTo>
                    <a:pt x="178046" y="309687"/>
                  </a:lnTo>
                  <a:lnTo>
                    <a:pt x="35171" y="168184"/>
                  </a:lnTo>
                  <a:cubicBezTo>
                    <a:pt x="9479" y="143182"/>
                    <a:pt x="0" y="105872"/>
                    <a:pt x="10644" y="71639"/>
                  </a:cubicBezTo>
                  <a:cubicBezTo>
                    <a:pt x="21288" y="37406"/>
                    <a:pt x="50252" y="12049"/>
                    <a:pt x="85592" y="6024"/>
                  </a:cubicBezTo>
                  <a:cubicBezTo>
                    <a:pt x="120932" y="0"/>
                    <a:pt x="156661" y="14329"/>
                    <a:pt x="178046" y="43101"/>
                  </a:cubicBezTo>
                  <a:cubicBezTo>
                    <a:pt x="199521" y="14541"/>
                    <a:pt x="235174" y="403"/>
                    <a:pt x="270386" y="6484"/>
                  </a:cubicBezTo>
                  <a:cubicBezTo>
                    <a:pt x="305597" y="12565"/>
                    <a:pt x="334444" y="37842"/>
                    <a:pt x="345096" y="71950"/>
                  </a:cubicBezTo>
                  <a:cubicBezTo>
                    <a:pt x="355748" y="106058"/>
                    <a:pt x="346414" y="143259"/>
                    <a:pt x="320921" y="168298"/>
                  </a:cubicBezTo>
                </a:path>
              </a:pathLst>
            </a:custGeom>
            <a:noFill/>
            <a:ln w="38100">
              <a:solidFill>
                <a:srgbClr val="E74C3C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83274" y="2540000"/>
              <a:ext cx="10549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96374" y="2940050"/>
              <a:ext cx="28287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эмоциональный компонент</a:t>
              </a:r>
            </a:p>
          </p:txBody>
        </p:sp>
      </p:grpSp>
      <p:grpSp>
        <p:nvGrpSpPr>
          <p:cNvPr id="38" name="approaches"/>
          <p:cNvGrpSpPr/>
          <p:nvPr/>
        </p:nvGrpSpPr>
        <p:grpSpPr>
          <a:xfrm>
            <a:off x="762000" y="3810000"/>
            <a:ext cx="10791825" cy="1123950"/>
            <a:chOff x="762000" y="3810000"/>
            <a:chExt cx="10791825" cy="1123950"/>
          </a:xfrm>
        </p:grpSpPr>
        <p:sp>
          <p:nvSpPr>
            <p:cNvPr id="26" name="Rectangle 26"/>
            <p:cNvSpPr/>
            <p:nvPr/>
          </p:nvSpPr>
          <p:spPr>
            <a:xfrm>
              <a:off x="76200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21137" y="4102100"/>
              <a:ext cx="14725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30919" y="4425950"/>
              <a:ext cx="452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9567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40479" y="4102100"/>
              <a:ext cx="15011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961271" y="4425950"/>
              <a:ext cx="1659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мысли и оценки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229350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20125" y="4102100"/>
              <a:ext cx="14092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09451" y="4425950"/>
              <a:ext cx="1830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сильные стороны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963025" y="3810000"/>
              <a:ext cx="2590800" cy="1123950"/>
            </a:xfrm>
            <a:prstGeom prst="roundRect">
              <a:avLst>
                <a:gd name="adj" fmla="val 13559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00293" y="4102100"/>
              <a:ext cx="17162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Био-психо-соц.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581431" y="4425950"/>
              <a:ext cx="13539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среда и тело</a:t>
              </a:r>
            </a:p>
          </p:txBody>
        </p:sp>
      </p:grpSp>
      <p:grpSp>
        <p:nvGrpSpPr>
          <p:cNvPr id="45" name="note"/>
          <p:cNvGrpSpPr/>
          <p:nvPr/>
        </p:nvGrpSpPr>
        <p:grpSpPr>
          <a:xfrm>
            <a:off x="762000" y="5162550"/>
            <a:ext cx="10668000" cy="914400"/>
            <a:chOff x="762000" y="5162550"/>
            <a:chExt cx="10668000" cy="914400"/>
          </a:xfrm>
        </p:grpSpPr>
        <p:sp>
          <p:nvSpPr>
            <p:cNvPr id="39" name="Rectangle 39"/>
            <p:cNvSpPr/>
            <p:nvPr/>
          </p:nvSpPr>
          <p:spPr>
            <a:xfrm>
              <a:off x="762000" y="516255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076325" y="5438775"/>
              <a:ext cx="285751" cy="285750"/>
              <a:chOff x="1076325" y="5438775"/>
              <a:chExt cx="285751" cy="285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1076325" y="5438775"/>
                <a:ext cx="285751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142875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33094" y="5502275"/>
                <a:ext cx="172212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172212" h="222250">
                    <a:moveTo>
                      <a:pt x="38481" y="142875"/>
                    </a:moveTo>
                    <a:cubicBezTo>
                      <a:pt x="11148" y="122376"/>
                      <a:pt x="0" y="86687"/>
                      <a:pt x="10804" y="54275"/>
                    </a:cubicBezTo>
                    <a:cubicBezTo>
                      <a:pt x="21608" y="21862"/>
                      <a:pt x="51940" y="0"/>
                      <a:pt x="86106" y="0"/>
                    </a:cubicBezTo>
                    <a:cubicBezTo>
                      <a:pt x="120271" y="0"/>
                      <a:pt x="150604" y="21862"/>
                      <a:pt x="161408" y="54275"/>
                    </a:cubicBezTo>
                    <a:cubicBezTo>
                      <a:pt x="172212" y="86687"/>
                      <a:pt x="161063" y="122376"/>
                      <a:pt x="133731" y="142875"/>
                    </a:cubicBezTo>
                    <a:cubicBezTo>
                      <a:pt x="121161" y="155319"/>
                      <a:pt x="115266" y="173003"/>
                      <a:pt x="117856" y="190500"/>
                    </a:cubicBezTo>
                    <a:cubicBezTo>
                      <a:pt x="117856" y="208035"/>
                      <a:pt x="103641" y="222250"/>
                      <a:pt x="86106" y="222250"/>
                    </a:cubicBezTo>
                    <a:cubicBezTo>
                      <a:pt x="68571" y="222250"/>
                      <a:pt x="54356" y="208035"/>
                      <a:pt x="54356" y="190500"/>
                    </a:cubicBezTo>
                    <a:cubicBezTo>
                      <a:pt x="56946" y="173003"/>
                      <a:pt x="51051" y="155319"/>
                      <a:pt x="38481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82688" y="5661026"/>
                <a:ext cx="730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9525">
                    <a:moveTo>
                      <a:pt x="0" y="0"/>
                    </a:moveTo>
                    <a:lnTo>
                      <a:pt x="73025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553718" y="5384800"/>
              <a:ext cx="8312346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Теория broaden-and-build: позитивные эмоции расширяют мышление и накапливают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ресурсы</a:t>
              </a:r>
            </a:p>
          </p:txBody>
        </p:sp>
      </p:grpSp>
      <p:pic>
        <p:nvPicPr>
          <p:cNvPr id="46" name="PPT Master narration: narration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8809367" cy="704088"/>
            <a:chOff x="743712" y="565150"/>
            <a:chExt cx="880936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880936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мозг создаёт ощущение счастья</a:t>
              </a:r>
            </a:p>
          </p:txBody>
        </p:sp>
      </p:grpSp>
      <p:grpSp>
        <p:nvGrpSpPr>
          <p:cNvPr id="11" name="video"/>
          <p:cNvGrpSpPr/>
          <p:nvPr/>
        </p:nvGrpSpPr>
        <p:grpSpPr>
          <a:xfrm>
            <a:off x="4476750" y="2000250"/>
            <a:ext cx="3238500" cy="2381250"/>
            <a:chOff x="4476750" y="2000250"/>
            <a:chExt cx="3238500" cy="2381250"/>
          </a:xfrm>
        </p:grpSpPr>
        <p:sp>
          <p:nvSpPr>
            <p:cNvPr id="7" name="Rectangle 7"/>
            <p:cNvSpPr/>
            <p:nvPr/>
          </p:nvSpPr>
          <p:spPr>
            <a:xfrm>
              <a:off x="4476750" y="2000250"/>
              <a:ext cx="3238500" cy="2381250"/>
            </a:xfrm>
            <a:prstGeom prst="roundRect">
              <a:avLst>
                <a:gd name="adj" fmla="val 6400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10870" t="0" r="10869" b="0"/>
            <a:stretch>
              <a:fillRect/>
            </a:stretch>
          </p:blipFill>
          <p:spPr>
            <a:xfrm>
              <a:off x="4572000" y="2095500"/>
              <a:ext cx="3048000" cy="2190750"/>
            </a:xfrm>
            <a:prstGeom prst="rect">
              <a:avLst/>
            </a:prstGeom>
          </p:spPr>
        </p:pic>
        <p:sp>
          <p:nvSpPr>
            <p:cNvPr id="9" name="Ellipse 9"/>
            <p:cNvSpPr/>
            <p:nvPr/>
          </p:nvSpPr>
          <p:spPr>
            <a:xfrm>
              <a:off x="5753100" y="2847975"/>
              <a:ext cx="685800" cy="685800"/>
            </a:xfrm>
            <a:prstGeom prst="ellipse">
              <a:avLst/>
            </a:prstGeom>
            <a:solidFill>
              <a:srgbClr val="FFFFFF">
                <a:alpha val="88000"/>
              </a:srgbClr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5981700" y="3019425"/>
              <a:ext cx="304800" cy="342900"/>
            </a:xfrm>
            <a:custGeom>
              <a:avLst/>
              <a:gdLst/>
              <a:ahLst/>
              <a:cxnLst/>
              <a:rect l="l" t="t" r="r" b="b"/>
              <a:pathLst>
                <a:path w="304800" h="342900">
                  <a:moveTo>
                    <a:pt x="0" y="0"/>
                  </a:moveTo>
                  <a:lnTo>
                    <a:pt x="304800" y="171450"/>
                  </a:lnTo>
                  <a:lnTo>
                    <a:pt x="0" y="342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6" name="video-note"/>
          <p:cNvGrpSpPr/>
          <p:nvPr/>
        </p:nvGrpSpPr>
        <p:grpSpPr>
          <a:xfrm>
            <a:off x="4345781" y="4559300"/>
            <a:ext cx="3055047" cy="322707"/>
            <a:chOff x="4345781" y="4559300"/>
            <a:chExt cx="3055047" cy="322707"/>
          </a:xfrm>
        </p:grpSpPr>
        <p:grpSp>
          <p:nvGrpSpPr>
            <p:cNvPr id="14" name="Group 14"/>
            <p:cNvGrpSpPr/>
            <p:nvPr/>
          </p:nvGrpSpPr>
          <p:grpSpPr>
            <a:xfrm>
              <a:off x="4345781" y="4595813"/>
              <a:ext cx="242889" cy="161925"/>
              <a:chOff x="4345781" y="4595813"/>
              <a:chExt cx="242889" cy="1619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507707" y="4616986"/>
                <a:ext cx="80963" cy="119578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19578">
                    <a:moveTo>
                      <a:pt x="0" y="32801"/>
                    </a:moveTo>
                    <a:lnTo>
                      <a:pt x="61437" y="2090"/>
                    </a:lnTo>
                    <a:cubicBezTo>
                      <a:pt x="65619" y="0"/>
                      <a:pt x="70584" y="224"/>
                      <a:pt x="74561" y="2681"/>
                    </a:cubicBezTo>
                    <a:cubicBezTo>
                      <a:pt x="78538" y="5138"/>
                      <a:pt x="80960" y="9478"/>
                      <a:pt x="80963" y="14153"/>
                    </a:cubicBezTo>
                    <a:lnTo>
                      <a:pt x="80963" y="105425"/>
                    </a:lnTo>
                    <a:cubicBezTo>
                      <a:pt x="80960" y="110100"/>
                      <a:pt x="78538" y="114440"/>
                      <a:pt x="74561" y="116897"/>
                    </a:cubicBezTo>
                    <a:cubicBezTo>
                      <a:pt x="70584" y="119354"/>
                      <a:pt x="65619" y="119578"/>
                      <a:pt x="61437" y="117488"/>
                    </a:cubicBezTo>
                    <a:lnTo>
                      <a:pt x="0" y="86777"/>
                    </a:lnTo>
                    <a:lnTo>
                      <a:pt x="0" y="3280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345781" y="4595813"/>
                <a:ext cx="161925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61925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134938"/>
                    </a:lnTo>
                    <a:cubicBezTo>
                      <a:pt x="161925" y="149843"/>
                      <a:pt x="149843" y="161925"/>
                      <a:pt x="134938" y="161925"/>
                    </a:cubicBezTo>
                    <a:lnTo>
                      <a:pt x="26988" y="161925"/>
                    </a:lnTo>
                    <a:cubicBezTo>
                      <a:pt x="12083" y="161925"/>
                      <a:pt x="0" y="149843"/>
                      <a:pt x="0" y="134938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4696968" y="4559300"/>
              <a:ext cx="27038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Видео: нейросети мозга</a:t>
              </a:r>
            </a:p>
          </p:txBody>
        </p:sp>
      </p:grpSp>
      <p:grpSp>
        <p:nvGrpSpPr>
          <p:cNvPr id="21" name="dopamine"/>
          <p:cNvGrpSpPr/>
          <p:nvPr/>
        </p:nvGrpSpPr>
        <p:grpSpPr>
          <a:xfrm>
            <a:off x="762000" y="1714500"/>
            <a:ext cx="3238500" cy="1143000"/>
            <a:chOff x="762000" y="1714500"/>
            <a:chExt cx="3238500" cy="1143000"/>
          </a:xfrm>
        </p:grpSpPr>
        <p:sp>
          <p:nvSpPr>
            <p:cNvPr id="17" name="Rectangle 17"/>
            <p:cNvSpPr/>
            <p:nvPr/>
          </p:nvSpPr>
          <p:spPr>
            <a:xfrm>
              <a:off x="7620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023937" y="212725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33144" y="2120900"/>
              <a:ext cx="12670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63168" y="2501900"/>
              <a:ext cx="2874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предвкушение</a:t>
              </a:r>
            </a:p>
          </p:txBody>
        </p:sp>
      </p:grpSp>
      <p:grpSp>
        <p:nvGrpSpPr>
          <p:cNvPr id="30" name="serotonin"/>
          <p:cNvGrpSpPr/>
          <p:nvPr/>
        </p:nvGrpSpPr>
        <p:grpSpPr>
          <a:xfrm>
            <a:off x="8191500" y="1714500"/>
            <a:ext cx="3238500" cy="1143000"/>
            <a:chOff x="8191500" y="1714500"/>
            <a:chExt cx="3238500" cy="1143000"/>
          </a:xfrm>
        </p:grpSpPr>
        <p:sp>
          <p:nvSpPr>
            <p:cNvPr id="22" name="Rectangle 22"/>
            <p:cNvSpPr/>
            <p:nvPr/>
          </p:nvSpPr>
          <p:spPr>
            <a:xfrm>
              <a:off x="8191500" y="17145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53437" y="2109787"/>
              <a:ext cx="314324" cy="314324"/>
              <a:chOff x="8453437" y="21097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453437" y="21097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58212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62987" y="2232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66943" y="2319337"/>
                <a:ext cx="87312" cy="18345"/>
              </a:xfrm>
              <a:custGeom>
                <a:avLst/>
                <a:gdLst/>
                <a:ahLst/>
                <a:cxnLst/>
                <a:rect l="l" t="t" r="r" b="b"/>
                <a:pathLst>
                  <a:path w="87312" h="18345">
                    <a:moveTo>
                      <a:pt x="0" y="0"/>
                    </a:moveTo>
                    <a:cubicBezTo>
                      <a:pt x="11496" y="11733"/>
                      <a:pt x="27230" y="18345"/>
                      <a:pt x="43656" y="18345"/>
                    </a:cubicBezTo>
                    <a:cubicBezTo>
                      <a:pt x="60082" y="18345"/>
                      <a:pt x="75817" y="11733"/>
                      <a:pt x="87312" y="0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962644" y="2120900"/>
              <a:ext cx="14524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92668" y="2501900"/>
              <a:ext cx="18214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</p:grpSp>
      <p:grpSp>
        <p:nvGrpSpPr>
          <p:cNvPr id="39" name="endorphins"/>
          <p:cNvGrpSpPr/>
          <p:nvPr/>
        </p:nvGrpSpPr>
        <p:grpSpPr>
          <a:xfrm>
            <a:off x="762000" y="3810000"/>
            <a:ext cx="3238500" cy="1143000"/>
            <a:chOff x="762000" y="3810000"/>
            <a:chExt cx="3238500" cy="1143000"/>
          </a:xfrm>
        </p:grpSpPr>
        <p:sp>
          <p:nvSpPr>
            <p:cNvPr id="31" name="Rectangle 31"/>
            <p:cNvSpPr/>
            <p:nvPr/>
          </p:nvSpPr>
          <p:spPr>
            <a:xfrm>
              <a:off x="7620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1041400" y="4205287"/>
              <a:ext cx="244474" cy="314325"/>
              <a:chOff x="1041400" y="4205287"/>
              <a:chExt cx="244474" cy="3143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163759" y="4205287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3"/>
                      <a:pt x="15636" y="69850"/>
                      <a:pt x="34925" y="69850"/>
                    </a:cubicBezTo>
                    <a:cubicBezTo>
                      <a:pt x="54213" y="69850"/>
                      <a:pt x="69850" y="54213"/>
                      <a:pt x="69850" y="34925"/>
                    </a:cubicBezTo>
                    <a:cubicBezTo>
                      <a:pt x="69850" y="15636"/>
                      <a:pt x="54213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1400" y="4441031"/>
                <a:ext cx="100409" cy="26194"/>
              </a:xfrm>
              <a:custGeom>
                <a:avLst/>
                <a:gdLst/>
                <a:ahLst/>
                <a:cxnLst/>
                <a:rect l="l" t="t" r="r" b="b"/>
                <a:pathLst>
                  <a:path w="100409" h="26194">
                    <a:moveTo>
                      <a:pt x="0" y="8731"/>
                    </a:moveTo>
                    <a:lnTo>
                      <a:pt x="87312" y="26194"/>
                    </a:lnTo>
                    <a:lnTo>
                      <a:pt x="100409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63637" y="4292600"/>
                <a:ext cx="69850" cy="227012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227012">
                    <a:moveTo>
                      <a:pt x="69850" y="227012"/>
                    </a:moveTo>
                    <a:lnTo>
                      <a:pt x="69850" y="157162"/>
                    </a:lnTo>
                    <a:lnTo>
                      <a:pt x="0" y="104775"/>
                    </a:lnTo>
                    <a:lnTo>
                      <a:pt x="17462" y="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93787" y="4292600"/>
                <a:ext cx="19208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92087" h="69850">
                    <a:moveTo>
                      <a:pt x="0" y="69850"/>
                    </a:moveTo>
                    <a:lnTo>
                      <a:pt x="0" y="17462"/>
                    </a:lnTo>
                    <a:lnTo>
                      <a:pt x="87312" y="0"/>
                    </a:lnTo>
                    <a:lnTo>
                      <a:pt x="139700" y="52387"/>
                    </a:lnTo>
                    <a:lnTo>
                      <a:pt x="192087" y="69850"/>
                    </a:lnTo>
                  </a:path>
                </a:pathLst>
              </a:custGeom>
              <a:noFill/>
              <a:ln w="34925">
                <a:solidFill>
                  <a:srgbClr val="B9631B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533144" y="4216400"/>
              <a:ext cx="16363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63168" y="4597400"/>
              <a:ext cx="2059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</p:grpSp>
      <p:grpSp>
        <p:nvGrpSpPr>
          <p:cNvPr id="44" name="oxytocin"/>
          <p:cNvGrpSpPr/>
          <p:nvPr/>
        </p:nvGrpSpPr>
        <p:grpSpPr>
          <a:xfrm>
            <a:off x="8191500" y="3810000"/>
            <a:ext cx="3238500" cy="1143000"/>
            <a:chOff x="8191500" y="3810000"/>
            <a:chExt cx="3238500" cy="1143000"/>
          </a:xfrm>
        </p:grpSpPr>
        <p:sp>
          <p:nvSpPr>
            <p:cNvPr id="40" name="Rectangle 40"/>
            <p:cNvSpPr/>
            <p:nvPr/>
          </p:nvSpPr>
          <p:spPr>
            <a:xfrm>
              <a:off x="8191500" y="3810000"/>
              <a:ext cx="3238500" cy="1143000"/>
            </a:xfrm>
            <a:prstGeom prst="roundRect">
              <a:avLst>
                <a:gd name="adj" fmla="val 13333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447391" y="421827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C0392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962644" y="4216400"/>
              <a:ext cx="144191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95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92668" y="4597400"/>
              <a:ext cx="2064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</p:grpSp>
      <p:grpSp>
        <p:nvGrpSpPr>
          <p:cNvPr id="51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45" name="Rectangle 45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E74C3C">
                <a:alpha val="10000"/>
              </a:srgbClr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122397" y="5419725"/>
              <a:ext cx="193606" cy="285751"/>
              <a:chOff x="1122397" y="5419725"/>
              <a:chExt cx="193606" cy="28575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71575" y="541972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87450" y="5514975"/>
                <a:ext cx="63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9525">
                    <a:moveTo>
                      <a:pt x="0" y="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22397" y="5419725"/>
                <a:ext cx="193606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193606" h="285751">
                    <a:moveTo>
                      <a:pt x="65053" y="0"/>
                    </a:moveTo>
                    <a:lnTo>
                      <a:pt x="65053" y="95250"/>
                    </a:lnTo>
                    <a:lnTo>
                      <a:pt x="1553" y="269876"/>
                    </a:lnTo>
                    <a:cubicBezTo>
                      <a:pt x="0" y="272999"/>
                      <a:pt x="4" y="276671"/>
                      <a:pt x="1564" y="279792"/>
                    </a:cubicBezTo>
                    <a:cubicBezTo>
                      <a:pt x="3125" y="282912"/>
                      <a:pt x="6060" y="285118"/>
                      <a:pt x="9490" y="285751"/>
                    </a:cubicBezTo>
                    <a:lnTo>
                      <a:pt x="184116" y="285751"/>
                    </a:lnTo>
                    <a:cubicBezTo>
                      <a:pt x="187547" y="285118"/>
                      <a:pt x="190481" y="282912"/>
                      <a:pt x="192042" y="279792"/>
                    </a:cubicBezTo>
                    <a:cubicBezTo>
                      <a:pt x="193602" y="276671"/>
                      <a:pt x="193606" y="272999"/>
                      <a:pt x="192053" y="269876"/>
                    </a:cubicBezTo>
                    <a:lnTo>
                      <a:pt x="128553" y="95250"/>
                    </a:lnTo>
                    <a:lnTo>
                      <a:pt x="128553" y="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1553718" y="5384800"/>
              <a:ext cx="7780592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Упрощённая модель. Дофамин — нейромедиатор предвкушения, а не «гормон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удовольствия» (Berridge, 1998: liking vs wanting)</a:t>
              </a:r>
            </a:p>
          </p:txBody>
        </p:sp>
      </p:grpSp>
      <p:pic>
        <p:nvPicPr>
          <p:cNvPr id="52" name="PPT Master narration: narration6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8216297" cy="704088"/>
            <a:chOff x="743712" y="565150"/>
            <a:chExt cx="821629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821629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Как менялось понимание счастья</a:t>
              </a:r>
            </a:p>
          </p:txBody>
        </p:sp>
      </p:grpSp>
      <p:grpSp>
        <p:nvGrpSpPr>
          <p:cNvPr id="63" name="timeline"/>
          <p:cNvGrpSpPr/>
          <p:nvPr/>
        </p:nvGrpSpPr>
        <p:grpSpPr>
          <a:xfrm>
            <a:off x="666079" y="2235200"/>
            <a:ext cx="11063118" cy="2018157"/>
            <a:chOff x="666079" y="2235200"/>
            <a:chExt cx="11063118" cy="2018157"/>
          </a:xfrm>
        </p:grpSpPr>
        <p:sp>
          <p:nvSpPr>
            <p:cNvPr id="7" name="Line 7"/>
            <p:cNvSpPr/>
            <p:nvPr/>
          </p:nvSpPr>
          <p:spPr>
            <a:xfrm>
              <a:off x="1333500" y="31432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28575">
              <a:solidFill>
                <a:srgbClr val="95A5A6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00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190625" y="3022478"/>
              <a:ext cx="295276" cy="231897"/>
              <a:chOff x="1190625" y="3022478"/>
              <a:chExt cx="295276" cy="23189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90625" y="3228853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90625" y="3022478"/>
                <a:ext cx="285751" cy="25522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5522">
                    <a:moveTo>
                      <a:pt x="0" y="25522"/>
                    </a:moveTo>
                    <a:cubicBezTo>
                      <a:pt x="44206" y="0"/>
                      <a:pt x="98670" y="0"/>
                      <a:pt x="142875" y="25522"/>
                    </a:cubicBezTo>
                    <a:cubicBezTo>
                      <a:pt x="187081" y="0"/>
                      <a:pt x="241545" y="0"/>
                      <a:pt x="285751" y="25522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90625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33500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76376" y="30480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67598" y="2235200"/>
              <a:ext cx="133180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Античность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6079" y="3644900"/>
              <a:ext cx="13348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237" y="3930650"/>
              <a:ext cx="11445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291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3095625" y="3000375"/>
              <a:ext cx="285751" cy="285751"/>
              <a:chOff x="3095625" y="3000375"/>
              <a:chExt cx="285751" cy="28575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175000" y="307975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095625" y="30003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lnTo>
                      <a:pt x="15875" y="142875"/>
                    </a:lnTo>
                    <a:moveTo>
                      <a:pt x="142875" y="0"/>
                    </a:moveTo>
                    <a:lnTo>
                      <a:pt x="142875" y="15875"/>
                    </a:lnTo>
                    <a:moveTo>
                      <a:pt x="269876" y="142875"/>
                    </a:moveTo>
                    <a:lnTo>
                      <a:pt x="285751" y="142875"/>
                    </a:lnTo>
                    <a:moveTo>
                      <a:pt x="142875" y="269876"/>
                    </a:moveTo>
                    <a:lnTo>
                      <a:pt x="142875" y="285751"/>
                    </a:lnTo>
                    <a:moveTo>
                      <a:pt x="41275" y="41275"/>
                    </a:moveTo>
                    <a:lnTo>
                      <a:pt x="52388" y="52388"/>
                    </a:lnTo>
                    <a:moveTo>
                      <a:pt x="244475" y="41275"/>
                    </a:moveTo>
                    <a:lnTo>
                      <a:pt x="233363" y="52388"/>
                    </a:lnTo>
                    <a:moveTo>
                      <a:pt x="233363" y="233363"/>
                    </a:moveTo>
                    <a:lnTo>
                      <a:pt x="244475" y="244475"/>
                    </a:lnTo>
                    <a:moveTo>
                      <a:pt x="52388" y="233363"/>
                    </a:moveTo>
                    <a:lnTo>
                      <a:pt x="41275" y="2444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2831805" y="2235200"/>
              <a:ext cx="8133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Стоики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38263" y="3644900"/>
              <a:ext cx="80047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Сенека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71535" y="3930650"/>
              <a:ext cx="1733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душевный покой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481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000625" y="3000375"/>
              <a:ext cx="285751" cy="295276"/>
              <a:chOff x="5000625" y="3000375"/>
              <a:chExt cx="285751" cy="295276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5000625" y="3286126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000625" y="3111500"/>
                <a:ext cx="28575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9525">
                    <a:moveTo>
                      <a:pt x="0" y="0"/>
                    </a:moveTo>
                    <a:lnTo>
                      <a:pt x="285751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032375" y="3000375"/>
                <a:ext cx="222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47625">
                    <a:moveTo>
                      <a:pt x="0" y="47625"/>
                    </a:moveTo>
                    <a:lnTo>
                      <a:pt x="111125" y="0"/>
                    </a:lnTo>
                    <a:lnTo>
                      <a:pt x="22225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016500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70501" y="3111500"/>
                <a:ext cx="9525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4625">
                    <a:moveTo>
                      <a:pt x="0" y="0"/>
                    </a:moveTo>
                    <a:lnTo>
                      <a:pt x="0" y="174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0800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143500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07001" y="3175000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4270387" y="2235200"/>
              <a:ext cx="1746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Средневековье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38029" y="3644900"/>
              <a:ext cx="12109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Аквинский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78980" y="3930650"/>
              <a:ext cx="11290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дар Божий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72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902714" y="2997464"/>
              <a:ext cx="291932" cy="298187"/>
              <a:chOff x="6902714" y="2997464"/>
              <a:chExt cx="291932" cy="298187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016750" y="3111500"/>
                <a:ext cx="177896" cy="177859"/>
              </a:xfrm>
              <a:custGeom>
                <a:avLst/>
                <a:gdLst/>
                <a:ahLst/>
                <a:cxnLst/>
                <a:rect l="l" t="t" r="r" b="b"/>
                <a:pathLst>
                  <a:path w="177896" h="177859">
                    <a:moveTo>
                      <a:pt x="47625" y="0"/>
                    </a:moveTo>
                    <a:lnTo>
                      <a:pt x="164830" y="117761"/>
                    </a:lnTo>
                    <a:cubicBezTo>
                      <a:pt x="177896" y="130779"/>
                      <a:pt x="177896" y="151861"/>
                      <a:pt x="164830" y="164862"/>
                    </a:cubicBezTo>
                    <a:cubicBezTo>
                      <a:pt x="151764" y="177859"/>
                      <a:pt x="130653" y="177859"/>
                      <a:pt x="117586" y="164862"/>
                    </a:cubicBez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953250" y="30956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00875" y="3048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63500" y="6350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05625" y="3286126"/>
                <a:ext cx="111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9525">
                    <a:moveTo>
                      <a:pt x="0" y="0"/>
                    </a:moveTo>
                    <a:lnTo>
                      <a:pt x="111125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02714" y="2997464"/>
                <a:ext cx="212198" cy="212198"/>
              </a:xfrm>
              <a:custGeom>
                <a:avLst/>
                <a:gdLst/>
                <a:ahLst/>
                <a:cxnLst/>
                <a:rect l="l" t="t" r="r" b="b"/>
                <a:pathLst>
                  <a:path w="212198" h="212198">
                    <a:moveTo>
                      <a:pt x="63125" y="206000"/>
                    </a:moveTo>
                    <a:lnTo>
                      <a:pt x="6197" y="149073"/>
                    </a:lnTo>
                    <a:cubicBezTo>
                      <a:pt x="0" y="142873"/>
                      <a:pt x="0" y="132825"/>
                      <a:pt x="6197" y="126625"/>
                    </a:cubicBezTo>
                    <a:lnTo>
                      <a:pt x="42599" y="90224"/>
                    </a:lnTo>
                    <a:lnTo>
                      <a:pt x="50536" y="98161"/>
                    </a:lnTo>
                    <a:lnTo>
                      <a:pt x="98161" y="50536"/>
                    </a:lnTo>
                    <a:lnTo>
                      <a:pt x="90224" y="42599"/>
                    </a:lnTo>
                    <a:lnTo>
                      <a:pt x="126625" y="6197"/>
                    </a:lnTo>
                    <a:cubicBezTo>
                      <a:pt x="132825" y="0"/>
                      <a:pt x="142873" y="0"/>
                      <a:pt x="149073" y="6197"/>
                    </a:cubicBezTo>
                    <a:lnTo>
                      <a:pt x="206000" y="63125"/>
                    </a:lnTo>
                    <a:cubicBezTo>
                      <a:pt x="212198" y="69324"/>
                      <a:pt x="212198" y="79373"/>
                      <a:pt x="206000" y="85572"/>
                    </a:cubicBezTo>
                    <a:lnTo>
                      <a:pt x="169599" y="121974"/>
                    </a:lnTo>
                    <a:lnTo>
                      <a:pt x="161662" y="114036"/>
                    </a:lnTo>
                    <a:lnTo>
                      <a:pt x="114036" y="161662"/>
                    </a:lnTo>
                    <a:lnTo>
                      <a:pt x="121974" y="169599"/>
                    </a:lnTo>
                    <a:lnTo>
                      <a:pt x="85572" y="206000"/>
                    </a:lnTo>
                    <a:cubicBezTo>
                      <a:pt x="79373" y="212198"/>
                      <a:pt x="69324" y="212198"/>
                      <a:pt x="63125" y="20600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276258" y="2235200"/>
              <a:ext cx="15444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Просвещение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95636" y="3644900"/>
              <a:ext cx="1505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Джефферсон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149649" y="3930650"/>
              <a:ext cx="17977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право на счастье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629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8810625" y="3000375"/>
              <a:ext cx="285750" cy="279401"/>
              <a:chOff x="8810625" y="3000375"/>
              <a:chExt cx="285750" cy="27940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4125" y="3270251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58250" y="3032125"/>
                <a:ext cx="190500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5875">
                    <a:moveTo>
                      <a:pt x="0" y="15875"/>
                    </a:moveTo>
                    <a:lnTo>
                      <a:pt x="95250" y="0"/>
                    </a:lnTo>
                    <a:lnTo>
                      <a:pt x="190500" y="15875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3500" y="3000375"/>
                <a:ext cx="9525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6">
                    <a:moveTo>
                      <a:pt x="0" y="0"/>
                    </a:moveTo>
                    <a:lnTo>
                      <a:pt x="0" y="269876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06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9001125" y="3048000"/>
                <a:ext cx="9525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42875">
                    <a:moveTo>
                      <a:pt x="95250" y="95250"/>
                    </a:moveTo>
                    <a:lnTo>
                      <a:pt x="47625" y="0"/>
                    </a:lnTo>
                    <a:lnTo>
                      <a:pt x="0" y="95250"/>
                    </a:lnTo>
                    <a:cubicBezTo>
                      <a:pt x="0" y="121553"/>
                      <a:pt x="21322" y="142875"/>
                      <a:pt x="47625" y="142875"/>
                    </a:cubicBezTo>
                    <a:cubicBezTo>
                      <a:pt x="73928" y="142875"/>
                      <a:pt x="95250" y="121553"/>
                      <a:pt x="95250" y="95250"/>
                    </a:cubicBez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334172" y="2235200"/>
              <a:ext cx="12386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XIX–XX вв.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029387" y="3644900"/>
              <a:ext cx="18482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Бентам и Милль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026406" y="3930650"/>
              <a:ext cx="18541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максимум пользы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10534650" y="2819400"/>
              <a:ext cx="647700" cy="647700"/>
            </a:xfrm>
            <a:prstGeom prst="ellipse">
              <a:avLst/>
            </a:prstGeom>
            <a:solidFill>
              <a:srgbClr val="FFFFFF">
                <a:alpha val="95000"/>
              </a:srgbClr>
            </a:solidFill>
            <a:ln w="28575">
              <a:solidFill>
                <a:srgbClr val="E67E2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10715612" y="3074755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0443423" y="2235200"/>
              <a:ext cx="8301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XXI век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987803" y="3644900"/>
              <a:ext cx="17413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многомерность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006728" y="3930650"/>
              <a:ext cx="17035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гены и действия</a:t>
              </a:r>
            </a:p>
          </p:txBody>
        </p:sp>
      </p:grpSp>
      <p:grpSp>
        <p:nvGrpSpPr>
          <p:cNvPr id="70" name="note"/>
          <p:cNvGrpSpPr/>
          <p:nvPr/>
        </p:nvGrpSpPr>
        <p:grpSpPr>
          <a:xfrm>
            <a:off x="762000" y="5143500"/>
            <a:ext cx="10668000" cy="914400"/>
            <a:chOff x="762000" y="5143500"/>
            <a:chExt cx="10668000" cy="914400"/>
          </a:xfrm>
        </p:grpSpPr>
        <p:sp>
          <p:nvSpPr>
            <p:cNvPr id="64" name="Rectangle 64"/>
            <p:cNvSpPr/>
            <p:nvPr/>
          </p:nvSpPr>
          <p:spPr>
            <a:xfrm>
              <a:off x="762000" y="5143500"/>
              <a:ext cx="10668000" cy="914400"/>
            </a:xfrm>
            <a:prstGeom prst="roundRect">
              <a:avLst>
                <a:gd name="adj" fmla="val 1666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1076325" y="5419725"/>
              <a:ext cx="285751" cy="285751"/>
              <a:chOff x="1076325" y="5419725"/>
              <a:chExt cx="285751" cy="285751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1076325" y="56419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1298576" y="54197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1108075" y="5451475"/>
                <a:ext cx="23812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222250">
                    <a:moveTo>
                      <a:pt x="95250" y="222250"/>
                    </a:moveTo>
                    <a:lnTo>
                      <a:pt x="182563" y="222250"/>
                    </a:lnTo>
                    <a:cubicBezTo>
                      <a:pt x="213249" y="222250"/>
                      <a:pt x="238125" y="197374"/>
                      <a:pt x="238125" y="166688"/>
                    </a:cubicBezTo>
                    <a:cubicBezTo>
                      <a:pt x="238125" y="136001"/>
                      <a:pt x="213249" y="111125"/>
                      <a:pt x="182563" y="111125"/>
                    </a:cubicBezTo>
                    <a:lnTo>
                      <a:pt x="55563" y="111125"/>
                    </a:ln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553718" y="5384800"/>
              <a:ext cx="8569673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От «хорошего удела» Аристотеля до многомерной модели XXI века: счастье понимали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по-разному, но искали всегда</a:t>
              </a:r>
            </a:p>
          </p:txBody>
        </p:sp>
      </p:grpSp>
      <p:pic>
        <p:nvPicPr>
          <p:cNvPr id="71" name="PPT Master narration: narration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8911179" cy="704088"/>
            <a:chOff x="743712" y="565150"/>
            <a:chExt cx="8911179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891117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8" name="compare"/>
          <p:cNvGrpSpPr/>
          <p:nvPr/>
        </p:nvGrpSpPr>
        <p:grpSpPr>
          <a:xfrm>
            <a:off x="762000" y="1666875"/>
            <a:ext cx="10668000" cy="3810000"/>
            <a:chOff x="762000" y="1666875"/>
            <a:chExt cx="106680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rcRect l="0" t="18792" r="0" b="18791"/>
            <a:stretch>
              <a:fillRect/>
            </a:stretch>
          </p:blipFill>
          <p:spPr>
            <a:xfrm>
              <a:off x="952500" y="1857375"/>
              <a:ext cx="4572000" cy="1905000"/>
            </a:xfrm>
            <a:prstGeom prst="rect">
              <a:avLst/>
            </a:prstGeom>
          </p:spPr>
        </p:pic>
        <p:sp>
          <p:nvSpPr>
            <p:cNvPr id="9" name="TextBox 9"/>
            <p:cNvSpPr txBox="1"/>
            <p:nvPr/>
          </p:nvSpPr>
          <p:spPr>
            <a:xfrm>
              <a:off x="979932" y="3975100"/>
              <a:ext cx="13948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2218" y="4387850"/>
              <a:ext cx="3083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Удовольствие здесь и сейчас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82218" y="4692650"/>
              <a:ext cx="27967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1666875"/>
              <a:ext cx="49530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rcRect l="0" t="22222" r="0" b="22222"/>
            <a:stretch>
              <a:fillRect/>
            </a:stretch>
          </p:blipFill>
          <p:spPr>
            <a:xfrm>
              <a:off x="6667500" y="1857375"/>
              <a:ext cx="4572000" cy="19050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6694932" y="3975100"/>
              <a:ext cx="16343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97218" y="4387850"/>
              <a:ext cx="23450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97218" y="4692650"/>
              <a:ext cx="23608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Устойчивый результат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096000" y="1857375"/>
              <a:ext cx="9525" cy="3429000"/>
            </a:xfrm>
            <a:custGeom>
              <a:avLst/>
              <a:gdLst/>
              <a:ahLst/>
              <a:cxnLst/>
              <a:rect l="l" t="t" r="r" b="b"/>
              <a:pathLst>
                <a:path w="9525" h="3429000">
                  <a:moveTo>
                    <a:pt x="0" y="0"/>
                  </a:moveTo>
                  <a:lnTo>
                    <a:pt x="0" y="3429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</p:grpSp>
      <p:grpSp>
        <p:nvGrpSpPr>
          <p:cNvPr id="23" name="note"/>
          <p:cNvGrpSpPr/>
          <p:nvPr/>
        </p:nvGrpSpPr>
        <p:grpSpPr>
          <a:xfrm>
            <a:off x="993775" y="5848350"/>
            <a:ext cx="6325565" cy="352044"/>
            <a:chOff x="993775" y="5848350"/>
            <a:chExt cx="6325565" cy="352044"/>
          </a:xfrm>
        </p:grpSpPr>
        <p:grpSp>
          <p:nvGrpSpPr>
            <p:cNvPr id="21" name="Group 21"/>
            <p:cNvGrpSpPr/>
            <p:nvPr/>
          </p:nvGrpSpPr>
          <p:grpSpPr>
            <a:xfrm>
              <a:off x="993775" y="5867400"/>
              <a:ext cx="222250" cy="190500"/>
              <a:chOff x="993775" y="5867400"/>
              <a:chExt cx="222250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993775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36650" y="586740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438656" y="5848350"/>
              <a:ext cx="5880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счастье находится по ту сторону слёз</a:t>
              </a:r>
            </a:p>
          </p:txBody>
        </p:sp>
      </p:grpSp>
      <p:pic>
        <p:nvPicPr>
          <p:cNvPr id="24" name="PPT Master narration: narration8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6760" y="641350"/>
            <a:ext cx="10351647" cy="586740"/>
            <a:chOff x="746760" y="641350"/>
            <a:chExt cx="10351647" cy="586740"/>
          </a:xfrm>
        </p:grpSpPr>
        <p:sp>
          <p:nvSpPr>
            <p:cNvPr id="5" name="TextBox 5"/>
            <p:cNvSpPr txBox="1"/>
            <p:nvPr/>
          </p:nvSpPr>
          <p:spPr>
            <a:xfrm>
              <a:off x="746760" y="641350"/>
              <a:ext cx="1035164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генетика · 40% действия · 10% обстоятельства</a:t>
              </a:r>
            </a:p>
          </p:txBody>
        </p:sp>
      </p:grpSp>
      <p:grpSp>
        <p:nvGrpSpPr>
          <p:cNvPr id="12" name="donut"/>
          <p:cNvGrpSpPr/>
          <p:nvPr/>
        </p:nvGrpSpPr>
        <p:grpSpPr>
          <a:xfrm>
            <a:off x="1592120" y="2114354"/>
            <a:ext cx="2979880" cy="2858099"/>
            <a:chOff x="1592120" y="2114354"/>
            <a:chExt cx="2979880" cy="2858099"/>
          </a:xfrm>
        </p:grpSpPr>
        <p:sp>
          <p:nvSpPr>
            <p:cNvPr id="7" name="Freeform 7"/>
            <p:cNvSpPr/>
            <p:nvPr/>
          </p:nvSpPr>
          <p:spPr>
            <a:xfrm>
              <a:off x="3143250" y="211455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0"/>
                  </a:move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lnTo>
                    <a:pt x="0" y="2343150"/>
                  </a:lnTo>
                  <a:cubicBezTo>
                    <a:pt x="505009" y="2343150"/>
                    <a:pt x="914400" y="1933759"/>
                    <a:pt x="914400" y="1428750"/>
                  </a:cubicBezTo>
                  <a:cubicBezTo>
                    <a:pt x="914400" y="923741"/>
                    <a:pt x="505009" y="514350"/>
                    <a:pt x="0" y="51435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592120" y="238696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2585085"/>
                  </a:move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lnTo>
                    <a:pt x="1013920" y="416242"/>
                  </a:lnTo>
                  <a:cubicBezTo>
                    <a:pt x="693181" y="648975"/>
                    <a:pt x="558855" y="1061817"/>
                    <a:pt x="681237" y="1438726"/>
                  </a:cubicBezTo>
                  <a:cubicBezTo>
                    <a:pt x="803618" y="1815635"/>
                    <a:pt x="1154850" y="2070817"/>
                    <a:pt x="1551130" y="2070735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2303145" y="2114354"/>
              <a:ext cx="840105" cy="688854"/>
            </a:xfrm>
            <a:custGeom>
              <a:avLst/>
              <a:gdLst/>
              <a:ahLst/>
              <a:cxnLst/>
              <a:rect l="l" t="t" r="r" b="b"/>
              <a:pathLst>
                <a:path w="840105" h="688854">
                  <a:moveTo>
                    <a:pt x="0" y="272611"/>
                  </a:moveTo>
                  <a:cubicBezTo>
                    <a:pt x="244238" y="95362"/>
                    <a:pt x="538328" y="0"/>
                    <a:pt x="840105" y="196"/>
                  </a:cubicBezTo>
                  <a:lnTo>
                    <a:pt x="840105" y="514546"/>
                  </a:lnTo>
                  <a:cubicBezTo>
                    <a:pt x="647128" y="514506"/>
                    <a:pt x="459086" y="575520"/>
                    <a:pt x="302895" y="688854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182225" y="3251200"/>
              <a:ext cx="192204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31072" y="3625850"/>
              <a:ext cx="18243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5" name="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3" name="Rectangle 13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81700" y="230505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391656" y="2095500"/>
              <a:ext cx="19208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463800"/>
              <a:ext cx="408370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981700" y="354330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91656" y="3333750"/>
              <a:ext cx="2010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40% — действия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2418" y="3702050"/>
              <a:ext cx="20967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усилия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4545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981700" y="478155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91656" y="4572000"/>
              <a:ext cx="2814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95A5A6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2418" y="4940300"/>
              <a:ext cx="2511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1" name="note"/>
          <p:cNvGrpSpPr/>
          <p:nvPr/>
        </p:nvGrpSpPr>
        <p:grpSpPr>
          <a:xfrm>
            <a:off x="998727" y="5899150"/>
            <a:ext cx="9262868" cy="617982"/>
            <a:chOff x="998727" y="5899150"/>
            <a:chExt cx="9262868" cy="617982"/>
          </a:xfrm>
        </p:grpSpPr>
        <p:grpSp>
          <p:nvGrpSpPr>
            <p:cNvPr id="29" name="Group 29"/>
            <p:cNvGrpSpPr/>
            <p:nvPr/>
          </p:nvGrpSpPr>
          <p:grpSpPr>
            <a:xfrm>
              <a:off x="998727" y="5929312"/>
              <a:ext cx="174245" cy="257175"/>
              <a:chOff x="998727" y="5929312"/>
              <a:chExt cx="174245" cy="257175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1042988" y="5929312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1057275" y="6015038"/>
                <a:ext cx="571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9525">
                    <a:moveTo>
                      <a:pt x="0" y="0"/>
                    </a:move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98727" y="5929312"/>
                <a:ext cx="17424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74245" h="257175">
                    <a:moveTo>
                      <a:pt x="58548" y="0"/>
                    </a:moveTo>
                    <a:lnTo>
                      <a:pt x="58548" y="85725"/>
                    </a:lnTo>
                    <a:lnTo>
                      <a:pt x="1398" y="242888"/>
                    </a:lnTo>
                    <a:cubicBezTo>
                      <a:pt x="0" y="245699"/>
                      <a:pt x="4" y="249004"/>
                      <a:pt x="1408" y="251812"/>
                    </a:cubicBezTo>
                    <a:cubicBezTo>
                      <a:pt x="2812" y="254620"/>
                      <a:pt x="5454" y="256606"/>
                      <a:pt x="8541" y="257175"/>
                    </a:cubicBezTo>
                    <a:lnTo>
                      <a:pt x="165704" y="257175"/>
                    </a:lnTo>
                    <a:cubicBezTo>
                      <a:pt x="168792" y="256606"/>
                      <a:pt x="171433" y="254620"/>
                      <a:pt x="172837" y="251812"/>
                    </a:cubicBezTo>
                    <a:cubicBezTo>
                      <a:pt x="174241" y="249004"/>
                      <a:pt x="174245" y="245699"/>
                      <a:pt x="172848" y="242888"/>
                    </a:cubicBezTo>
                    <a:lnTo>
                      <a:pt x="115698" y="85725"/>
                    </a:lnTo>
                    <a:lnTo>
                      <a:pt x="115698" y="0"/>
                    </a:lnTo>
                  </a:path>
                </a:pathLst>
              </a:custGeom>
              <a:noFill/>
              <a:ln w="28575">
                <a:solidFill>
                  <a:srgbClr val="1E8449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1401318" y="5899150"/>
              <a:ext cx="8860277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Формула предложена в 2000-х. Мета-анализы (Rohrer &amp; Schmukle, 2018) уточняют: гены и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среда взаимодействуют, а не суммируются</a:t>
              </a:r>
            </a:p>
          </p:txBody>
        </p:sp>
      </p:grpSp>
      <p:pic>
        <p:nvPicPr>
          <p:cNvPr id="32" name="PPT Master narration: narration9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8443098" cy="704088"/>
            <a:chOff x="743712" y="565150"/>
            <a:chExt cx="8443098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844309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8" name="photo"/>
          <p:cNvGrpSpPr/>
          <p:nvPr/>
        </p:nvGrpSpPr>
        <p:grpSpPr>
          <a:xfrm>
            <a:off x="762000" y="1666875"/>
            <a:ext cx="4953000" cy="3810000"/>
            <a:chOff x="762000" y="1666875"/>
            <a:chExt cx="4953000" cy="3810000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rcRect l="6768" t="0" r="6768" b="0"/>
            <a:stretch>
              <a:fillRect/>
            </a:stretch>
          </p:blipFill>
          <p:spPr>
            <a:xfrm>
              <a:off x="762000" y="1666875"/>
              <a:ext cx="4953000" cy="3810000"/>
            </a:xfrm>
            <a:prstGeom prst="rect">
              <a:avLst/>
            </a:prstGeom>
          </p:spPr>
        </p:pic>
      </p:grpSp>
      <p:grpSp>
        <p:nvGrpSpPr>
          <p:cNvPr id="31" name="factors"/>
          <p:cNvGrpSpPr/>
          <p:nvPr/>
        </p:nvGrpSpPr>
        <p:grpSpPr>
          <a:xfrm>
            <a:off x="6201021" y="1790700"/>
            <a:ext cx="4706924" cy="3758057"/>
            <a:chOff x="6201021" y="1790700"/>
            <a:chExt cx="4706924" cy="3758057"/>
          </a:xfrm>
        </p:grpSpPr>
        <p:sp>
          <p:nvSpPr>
            <p:cNvPr id="9" name="Freeform 9"/>
            <p:cNvSpPr/>
            <p:nvPr/>
          </p:nvSpPr>
          <p:spPr>
            <a:xfrm>
              <a:off x="6218541" y="17989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734556" y="1790700"/>
              <a:ext cx="14019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35318" y="2101850"/>
              <a:ext cx="41674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№1 предиктор (Harvard Study, Waldinger)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6201021" y="2566987"/>
              <a:ext cx="341011" cy="314325"/>
              <a:chOff x="6201021" y="2566987"/>
              <a:chExt cx="341011" cy="3143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6201021" y="2566987"/>
                <a:ext cx="341011" cy="311635"/>
              </a:xfrm>
              <a:custGeom>
                <a:avLst/>
                <a:gdLst/>
                <a:ahLst/>
                <a:cxnLst/>
                <a:rect l="l" t="t" r="r" b="b"/>
                <a:pathLst>
                  <a:path w="341011" h="311635">
                    <a:moveTo>
                      <a:pt x="171299" y="311635"/>
                    </a:moveTo>
                    <a:cubicBezTo>
                      <a:pt x="61905" y="277725"/>
                      <a:pt x="0" y="162269"/>
                      <a:pt x="32298" y="52387"/>
                    </a:cubicBezTo>
                    <a:cubicBezTo>
                      <a:pt x="86703" y="54877"/>
                      <a:pt x="139939" y="36088"/>
                      <a:pt x="180729" y="0"/>
                    </a:cubicBezTo>
                    <a:cubicBezTo>
                      <a:pt x="221518" y="36088"/>
                      <a:pt x="274755" y="54877"/>
                      <a:pt x="329160" y="52387"/>
                    </a:cubicBezTo>
                    <a:cubicBezTo>
                      <a:pt x="341011" y="92710"/>
                      <a:pt x="340463" y="135665"/>
                      <a:pt x="327588" y="17567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6434137" y="2811462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6734556" y="2571750"/>
              <a:ext cx="12090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735318" y="2882900"/>
              <a:ext cx="19841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база благополучия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6224587" y="3348037"/>
              <a:ext cx="314324" cy="314325"/>
              <a:chOff x="6224587" y="3348037"/>
              <a:chExt cx="314324" cy="31432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224587" y="3348037"/>
                <a:ext cx="314324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157162">
                    <a:moveTo>
                      <a:pt x="0" y="157162"/>
                    </a:moveTo>
                    <a:lnTo>
                      <a:pt x="17462" y="157162"/>
                    </a:lnTo>
                    <a:moveTo>
                      <a:pt x="157162" y="0"/>
                    </a:moveTo>
                    <a:lnTo>
                      <a:pt x="157162" y="17462"/>
                    </a:lnTo>
                    <a:moveTo>
                      <a:pt x="296862" y="157162"/>
                    </a:moveTo>
                    <a:lnTo>
                      <a:pt x="314324" y="157162"/>
                    </a:lnTo>
                    <a:moveTo>
                      <a:pt x="45402" y="45402"/>
                    </a:moveTo>
                    <a:lnTo>
                      <a:pt x="57626" y="57626"/>
                    </a:lnTo>
                    <a:moveTo>
                      <a:pt x="268922" y="45402"/>
                    </a:moveTo>
                    <a:lnTo>
                      <a:pt x="256698" y="57626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287033" y="3417887"/>
                <a:ext cx="189432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89432" h="244475">
                    <a:moveTo>
                      <a:pt x="42329" y="157162"/>
                    </a:moveTo>
                    <a:cubicBezTo>
                      <a:pt x="12263" y="134613"/>
                      <a:pt x="0" y="95355"/>
                      <a:pt x="11884" y="59702"/>
                    </a:cubicBezTo>
                    <a:cubicBezTo>
                      <a:pt x="23769" y="24048"/>
                      <a:pt x="57134" y="0"/>
                      <a:pt x="94716" y="0"/>
                    </a:cubicBezTo>
                    <a:cubicBezTo>
                      <a:pt x="132298" y="0"/>
                      <a:pt x="165664" y="24048"/>
                      <a:pt x="177548" y="59702"/>
                    </a:cubicBezTo>
                    <a:cubicBezTo>
                      <a:pt x="189432" y="95355"/>
                      <a:pt x="177169" y="134613"/>
                      <a:pt x="147104" y="157162"/>
                    </a:cubicBezTo>
                    <a:cubicBezTo>
                      <a:pt x="133276" y="170850"/>
                      <a:pt x="126792" y="190303"/>
                      <a:pt x="129641" y="209550"/>
                    </a:cubicBezTo>
                    <a:cubicBezTo>
                      <a:pt x="129641" y="228838"/>
                      <a:pt x="114005" y="244475"/>
                      <a:pt x="94716" y="244475"/>
                    </a:cubicBezTo>
                    <a:cubicBezTo>
                      <a:pt x="75428" y="244475"/>
                      <a:pt x="59791" y="228838"/>
                      <a:pt x="59791" y="209550"/>
                    </a:cubicBezTo>
                    <a:cubicBezTo>
                      <a:pt x="62641" y="190303"/>
                      <a:pt x="56156" y="170850"/>
                      <a:pt x="42329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6341586" y="3592512"/>
                <a:ext cx="8032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327" h="9525">
                    <a:moveTo>
                      <a:pt x="0" y="0"/>
                    </a:moveTo>
                    <a:lnTo>
                      <a:pt x="80327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6734556" y="3352800"/>
              <a:ext cx="2002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35318" y="3663950"/>
              <a:ext cx="29904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важнее удовольствия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224587" y="4129087"/>
              <a:ext cx="314324" cy="314324"/>
              <a:chOff x="6224587" y="4129087"/>
              <a:chExt cx="314324" cy="31432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224587" y="412908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329362" y="425132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6734556" y="413385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735318" y="4445000"/>
              <a:ext cx="22455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ежедневная практика</a:t>
              </a: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224587" y="4927600"/>
              <a:ext cx="314324" cy="279399"/>
            </a:xfrm>
            <a:custGeom>
              <a:avLst/>
              <a:gdLst/>
              <a:ahLst/>
              <a:cxnLst/>
              <a:rect l="l" t="t" r="r" b="b"/>
              <a:pathLst>
                <a:path w="314324" h="279399">
                  <a:moveTo>
                    <a:pt x="0" y="139700"/>
                  </a:moveTo>
                  <a:lnTo>
                    <a:pt x="69850" y="139700"/>
                  </a:lnTo>
                  <a:lnTo>
                    <a:pt x="122237" y="279399"/>
                  </a:lnTo>
                  <a:lnTo>
                    <a:pt x="192087" y="0"/>
                  </a:lnTo>
                  <a:lnTo>
                    <a:pt x="244475" y="139700"/>
                  </a:lnTo>
                  <a:lnTo>
                    <a:pt x="314324" y="139700"/>
                  </a:lnTo>
                </a:path>
              </a:pathLst>
            </a:custGeom>
            <a:noFill/>
            <a:ln w="34925">
              <a:solidFill>
                <a:schemeClr val="accent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34556" y="4914900"/>
              <a:ext cx="736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Поток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35318" y="5226050"/>
              <a:ext cx="41726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полная вовлечённость (Чиксентмихайи)</a:t>
              </a:r>
            </a:p>
          </p:txBody>
        </p:sp>
      </p:grpSp>
      <p:grpSp>
        <p:nvGrpSpPr>
          <p:cNvPr id="41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32" name="Rectangle 32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8225" y="5873750"/>
              <a:ext cx="285751" cy="279401"/>
              <a:chOff x="1038225" y="5873750"/>
              <a:chExt cx="285751" cy="279401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117600" y="6143626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181100" y="6080126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01725" y="5873750"/>
                <a:ext cx="158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9525">
                    <a:moveTo>
                      <a:pt x="0" y="0"/>
                    </a:moveTo>
                    <a:lnTo>
                      <a:pt x="1587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01725" y="5873750"/>
                <a:ext cx="158750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206375">
                    <a:moveTo>
                      <a:pt x="158750" y="0"/>
                    </a:moveTo>
                    <a:lnTo>
                      <a:pt x="158750" y="127000"/>
                    </a:lnTo>
                    <a:cubicBezTo>
                      <a:pt x="158750" y="170838"/>
                      <a:pt x="123213" y="206375"/>
                      <a:pt x="79375" y="206375"/>
                    </a:cubicBezTo>
                    <a:cubicBezTo>
                      <a:pt x="35537" y="206375"/>
                      <a:pt x="0" y="170838"/>
                      <a:pt x="0" y="12700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38225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260476" y="59213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514856" y="5867400"/>
              <a:ext cx="90306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Гарвардское исследование: качество связей — сильнейший предиктор счастья</a:t>
              </a:r>
            </a:p>
          </p:txBody>
        </p:sp>
      </p:grpSp>
      <p:pic>
        <p:nvPicPr>
          <p:cNvPr id="42" name="PPT Master narration: narration10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6036262" cy="704088"/>
            <a:chOff x="743712" y="565150"/>
            <a:chExt cx="603626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603626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75 000 $ — плато?</a:t>
              </a:r>
            </a:p>
          </p:txBody>
        </p:sp>
      </p:grpSp>
      <p:grpSp>
        <p:nvGrpSpPr>
          <p:cNvPr id="19" name="chart"/>
          <p:cNvGrpSpPr/>
          <p:nvPr/>
        </p:nvGrpSpPr>
        <p:grpSpPr>
          <a:xfrm>
            <a:off x="762000" y="1666875"/>
            <a:ext cx="7429500" cy="3905250"/>
            <a:chOff x="762000" y="1666875"/>
            <a:chExt cx="7429500" cy="390525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74295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8606" y="1905000"/>
              <a:ext cx="20367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428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428750" y="4953000"/>
              <a:ext cx="6381750" cy="9525"/>
            </a:xfrm>
            <a:custGeom>
              <a:avLst/>
              <a:gdLst/>
              <a:ahLst/>
              <a:cxnLst/>
              <a:rect l="l" t="t" r="r" b="b"/>
              <a:pathLst>
                <a:path w="6381750" h="9525">
                  <a:moveTo>
                    <a:pt x="0" y="0"/>
                  </a:moveTo>
                  <a:lnTo>
                    <a:pt x="63817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Polyline 11"/>
            <p:cNvSpPr/>
            <p:nvPr/>
          </p:nvSpPr>
          <p:spPr>
            <a:xfrm>
              <a:off x="1428750" y="2647950"/>
              <a:ext cx="6191250" cy="2114550"/>
            </a:xfrm>
            <a:custGeom>
              <a:avLst/>
              <a:gdLst/>
              <a:ahLst/>
              <a:cxnLst/>
              <a:rect l="l" t="t" r="r" b="b"/>
              <a:pathLst>
                <a:path w="6191250" h="2114550">
                  <a:moveTo>
                    <a:pt x="0" y="2114550"/>
                  </a:moveTo>
                  <a:lnTo>
                    <a:pt x="857250" y="1752600"/>
                  </a:lnTo>
                  <a:lnTo>
                    <a:pt x="1714500" y="1257300"/>
                  </a:lnTo>
                  <a:lnTo>
                    <a:pt x="2571750" y="800100"/>
                  </a:lnTo>
                  <a:lnTo>
                    <a:pt x="3429000" y="457200"/>
                  </a:lnTo>
                  <a:lnTo>
                    <a:pt x="4286250" y="209550"/>
                  </a:lnTo>
                  <a:lnTo>
                    <a:pt x="5143500" y="76200"/>
                  </a:lnTo>
                  <a:lnTo>
                    <a:pt x="619125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619750" y="2495550"/>
              <a:ext cx="9525" cy="2457450"/>
            </a:xfrm>
            <a:custGeom>
              <a:avLst/>
              <a:gdLst/>
              <a:ahLst/>
              <a:cxnLst/>
              <a:rect l="l" t="t" r="r" b="b"/>
              <a:pathLst>
                <a:path w="9525" h="2457450">
                  <a:moveTo>
                    <a:pt x="0" y="0"/>
                  </a:moveTo>
                  <a:lnTo>
                    <a:pt x="0" y="245745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400000" sp="300000"/>
              </a:custDash>
            </a:ln>
          </p:spPr>
        </p:sp>
        <p:sp>
          <p:nvSpPr>
            <p:cNvPr id="13" name="Ellipse 13"/>
            <p:cNvSpPr/>
            <p:nvPr/>
          </p:nvSpPr>
          <p:spPr>
            <a:xfrm>
              <a:off x="5524500" y="27813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179028" y="2197100"/>
              <a:ext cx="8814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48918" y="2501900"/>
              <a:ext cx="8732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48918" y="4787900"/>
              <a:ext cx="7096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10868" y="5054600"/>
              <a:ext cx="13897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низкий доход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78118" y="5054600"/>
              <a:ext cx="15534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высокий доход</a:t>
              </a:r>
            </a:p>
          </p:txBody>
        </p:sp>
      </p:grpSp>
      <p:grpSp>
        <p:nvGrpSpPr>
          <p:cNvPr id="26" name="theses"/>
          <p:cNvGrpSpPr/>
          <p:nvPr/>
        </p:nvGrpSpPr>
        <p:grpSpPr>
          <a:xfrm>
            <a:off x="8572500" y="1666875"/>
            <a:ext cx="3429000" cy="3905250"/>
            <a:chOff x="8572500" y="1666875"/>
            <a:chExt cx="3429000" cy="3905250"/>
          </a:xfrm>
        </p:grpSpPr>
        <p:sp>
          <p:nvSpPr>
            <p:cNvPr id="20" name="Rectangle 20"/>
            <p:cNvSpPr/>
            <p:nvPr/>
          </p:nvSpPr>
          <p:spPr>
            <a:xfrm>
              <a:off x="8572500" y="1666875"/>
              <a:ext cx="3429000" cy="1857375"/>
            </a:xfrm>
            <a:prstGeom prst="roundRect">
              <a:avLst>
                <a:gd name="adj" fmla="val 8205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30818" y="1958975"/>
              <a:ext cx="24794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Канеман–Дитон (2010)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30818" y="2327275"/>
              <a:ext cx="2336001" cy="6179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после 75 000 $ влияние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дохода прекращается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72500" y="3714750"/>
              <a:ext cx="3429000" cy="1857375"/>
            </a:xfrm>
            <a:prstGeom prst="roundRect">
              <a:avLst>
                <a:gd name="adj" fmla="val 8205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830818" y="4006850"/>
              <a:ext cx="29152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Killingsworth (2021, PNAS)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30818" y="4375150"/>
              <a:ext cx="2524973" cy="913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растёт и дальше;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плато — у 20% самых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несчастных</a:t>
              </a:r>
            </a:p>
          </p:txBody>
        </p:sp>
      </p:grpSp>
      <p:pic>
        <p:nvPicPr>
          <p:cNvPr id="27" name="PPT Master narration: narration1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6195212" cy="704088"/>
            <a:chOff x="743712" y="565150"/>
            <a:chExt cx="6195212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619521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</p:grpSp>
      <p:grpSp>
        <p:nvGrpSpPr>
          <p:cNvPr id="18" name="chart"/>
          <p:cNvGrpSpPr/>
          <p:nvPr/>
        </p:nvGrpSpPr>
        <p:grpSpPr>
          <a:xfrm>
            <a:off x="952500" y="1762125"/>
            <a:ext cx="6477000" cy="4476750"/>
            <a:chOff x="952500" y="1762125"/>
            <a:chExt cx="6477000" cy="4476750"/>
          </a:xfrm>
        </p:grpSpPr>
        <p:sp>
          <p:nvSpPr>
            <p:cNvPr id="7" name="Rectangle 7"/>
            <p:cNvSpPr/>
            <p:nvPr/>
          </p:nvSpPr>
          <p:spPr>
            <a:xfrm>
              <a:off x="952500" y="1762125"/>
              <a:ext cx="64770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1714500" y="2495550"/>
              <a:ext cx="9525" cy="2838450"/>
            </a:xfrm>
            <a:custGeom>
              <a:avLst/>
              <a:gdLst/>
              <a:ahLst/>
              <a:cxnLst/>
              <a:rect l="l" t="t" r="r" b="b"/>
              <a:pathLst>
                <a:path w="9525" h="2838450">
                  <a:moveTo>
                    <a:pt x="0" y="0"/>
                  </a:moveTo>
                  <a:lnTo>
                    <a:pt x="0" y="28384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5334000"/>
              <a:ext cx="5429250" cy="9525"/>
            </a:xfrm>
            <a:custGeom>
              <a:avLst/>
              <a:gdLst/>
              <a:ahLst/>
              <a:cxnLst/>
              <a:rect l="l" t="t" r="r" b="b"/>
              <a:pathLst>
                <a:path w="5429250" h="9525">
                  <a:moveTo>
                    <a:pt x="0" y="0"/>
                  </a:moveTo>
                  <a:lnTo>
                    <a:pt x="5429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0" name="Polyline 10"/>
            <p:cNvSpPr/>
            <p:nvPr/>
          </p:nvSpPr>
          <p:spPr>
            <a:xfrm>
              <a:off x="1714500" y="2857500"/>
              <a:ext cx="5334000" cy="1905000"/>
            </a:xfrm>
            <a:custGeom>
              <a:avLst/>
              <a:gdLst/>
              <a:ahLst/>
              <a:cxnLst/>
              <a:rect l="l" t="t" r="r" b="b"/>
              <a:pathLst>
                <a:path w="5334000" h="1905000">
                  <a:moveTo>
                    <a:pt x="0" y="190500"/>
                  </a:moveTo>
                  <a:lnTo>
                    <a:pt x="1143000" y="952500"/>
                  </a:lnTo>
                  <a:lnTo>
                    <a:pt x="2286000" y="1905000"/>
                  </a:lnTo>
                  <a:lnTo>
                    <a:pt x="3429000" y="1619250"/>
                  </a:lnTo>
                  <a:lnTo>
                    <a:pt x="4572000" y="571500"/>
                  </a:lnTo>
                  <a:lnTo>
                    <a:pt x="5334000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895725" y="4657725"/>
              <a:ext cx="209550" cy="209550"/>
            </a:xfrm>
            <a:prstGeom prst="ellipse">
              <a:avLst/>
            </a:prstGeom>
            <a:solidFill>
              <a:srgbClr val="E67E2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588765" y="4940300"/>
              <a:ext cx="82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91818" y="2501900"/>
              <a:ext cx="8700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высокая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91818" y="5168900"/>
              <a:ext cx="706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низкая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96618" y="5473700"/>
              <a:ext cx="8742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87618" y="5473700"/>
              <a:ext cx="8307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134868" y="5778500"/>
              <a:ext cx="22483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</a:t>
              </a:r>
            </a:p>
          </p:txBody>
        </p:sp>
      </p:grpSp>
      <p:grpSp>
        <p:nvGrpSpPr>
          <p:cNvPr id="27" name="list"/>
          <p:cNvGrpSpPr/>
          <p:nvPr/>
        </p:nvGrpSpPr>
        <p:grpSpPr>
          <a:xfrm>
            <a:off x="7810500" y="2000250"/>
            <a:ext cx="3619500" cy="4114800"/>
            <a:chOff x="7810500" y="2000250"/>
            <a:chExt cx="3619500" cy="4114800"/>
          </a:xfrm>
        </p:grpSpPr>
        <p:sp>
          <p:nvSpPr>
            <p:cNvPr id="19" name="Rectangle 19"/>
            <p:cNvSpPr/>
            <p:nvPr/>
          </p:nvSpPr>
          <p:spPr>
            <a:xfrm>
              <a:off x="7810500" y="20002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68818" y="2197100"/>
              <a:ext cx="22597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810500" y="30670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68818" y="3251200"/>
              <a:ext cx="2676540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 образования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810500" y="41338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068818" y="4318000"/>
              <a:ext cx="2432352" cy="6084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 статус,</a:t>
              </a:r>
              <a:b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навыки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810500" y="5200650"/>
              <a:ext cx="3619500" cy="914400"/>
            </a:xfrm>
            <a:prstGeom prst="roundRect">
              <a:avLst>
                <a:gd name="adj" fmla="val 16667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68818" y="5397500"/>
              <a:ext cx="24682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pic>
        <p:nvPicPr>
          <p:cNvPr id="28" name="PPT Master narration: narration1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28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9490893" cy="704088"/>
            <a:chOff x="743712" y="565150"/>
            <a:chExt cx="9490893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94908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соцсети делают с нашим счастьем</a:t>
              </a:r>
            </a:p>
          </p:txBody>
        </p:sp>
      </p:grpSp>
      <p:grpSp>
        <p:nvGrpSpPr>
          <p:cNvPr id="16" name="plus"/>
          <p:cNvGrpSpPr/>
          <p:nvPr/>
        </p:nvGrpSpPr>
        <p:grpSpPr>
          <a:xfrm>
            <a:off x="762000" y="1762125"/>
            <a:ext cx="4762500" cy="3810000"/>
            <a:chOff x="762000" y="1762125"/>
            <a:chExt cx="4762500" cy="3810000"/>
          </a:xfrm>
        </p:grpSpPr>
        <p:sp>
          <p:nvSpPr>
            <p:cNvPr id="7" name="Rectangle 7"/>
            <p:cNvSpPr/>
            <p:nvPr/>
          </p:nvSpPr>
          <p:spPr>
            <a:xfrm>
              <a:off x="7620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2000"/>
              </a:srgbClr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1119187" y="2090737"/>
              <a:ext cx="314324" cy="314324"/>
              <a:chOff x="1119187" y="2090737"/>
              <a:chExt cx="314324" cy="3143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191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3962" y="2212975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0" y="34925"/>
                    </a:moveTo>
                    <a:lnTo>
                      <a:pt x="34925" y="69850"/>
                    </a:ln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1E8449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589532" y="2108200"/>
              <a:ext cx="105578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3856" y="2686050"/>
              <a:ext cx="2024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3856" y="3314700"/>
              <a:ext cx="25725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общение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3856" y="3943350"/>
              <a:ext cx="19970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4572000"/>
              <a:ext cx="18878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26" name="minus"/>
          <p:cNvGrpSpPr/>
          <p:nvPr/>
        </p:nvGrpSpPr>
        <p:grpSpPr>
          <a:xfrm>
            <a:off x="6667500" y="1762125"/>
            <a:ext cx="4762500" cy="3810000"/>
            <a:chOff x="6667500" y="1762125"/>
            <a:chExt cx="4762500" cy="3810000"/>
          </a:xfrm>
        </p:grpSpPr>
        <p:sp>
          <p:nvSpPr>
            <p:cNvPr id="17" name="Rectangle 17"/>
            <p:cNvSpPr/>
            <p:nvPr/>
          </p:nvSpPr>
          <p:spPr>
            <a:xfrm>
              <a:off x="6667500" y="1762125"/>
              <a:ext cx="47625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2000"/>
              </a:srgbClr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024687" y="2090737"/>
              <a:ext cx="314324" cy="314324"/>
              <a:chOff x="7024687" y="2090737"/>
              <a:chExt cx="314324" cy="31432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024687" y="2090737"/>
                <a:ext cx="314324" cy="314324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314324">
                    <a:moveTo>
                      <a:pt x="0" y="157162"/>
                    </a:moveTo>
                    <a:cubicBezTo>
                      <a:pt x="0" y="243961"/>
                      <a:pt x="70364" y="314324"/>
                      <a:pt x="157162" y="314324"/>
                    </a:cubicBezTo>
                    <a:cubicBezTo>
                      <a:pt x="243961" y="314324"/>
                      <a:pt x="314324" y="243961"/>
                      <a:pt x="314324" y="157162"/>
                    </a:cubicBezTo>
                    <a:cubicBezTo>
                      <a:pt x="314324" y="70364"/>
                      <a:pt x="243961" y="0"/>
                      <a:pt x="157162" y="0"/>
                    </a:cubicBezTo>
                    <a:cubicBezTo>
                      <a:pt x="70364" y="0"/>
                      <a:pt x="0" y="70364"/>
                      <a:pt x="0" y="157162"/>
                    </a:cubicBez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146925" y="22129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0"/>
                    </a:moveTo>
                    <a:lnTo>
                      <a:pt x="69850" y="69850"/>
                    </a:lnTo>
                    <a:moveTo>
                      <a:pt x="6985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34925">
                <a:solidFill>
                  <a:srgbClr val="C0392B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7495032" y="2108200"/>
              <a:ext cx="116800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21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9356" y="2686050"/>
              <a:ext cx="2451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9356" y="3314700"/>
              <a:ext cx="28273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FOMO — страх упустить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9356" y="3943350"/>
              <a:ext cx="24235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Падение самооценки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4572000"/>
              <a:ext cx="1325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</a:t>
              </a:r>
            </a:p>
          </p:txBody>
        </p:sp>
      </p:grpSp>
      <p:grpSp>
        <p:nvGrpSpPr>
          <p:cNvPr id="33" name="note"/>
          <p:cNvGrpSpPr/>
          <p:nvPr/>
        </p:nvGrpSpPr>
        <p:grpSpPr>
          <a:xfrm>
            <a:off x="762000" y="5676900"/>
            <a:ext cx="10668000" cy="666750"/>
            <a:chOff x="762000" y="5676900"/>
            <a:chExt cx="10668000" cy="666750"/>
          </a:xfrm>
        </p:grpSpPr>
        <p:sp>
          <p:nvSpPr>
            <p:cNvPr id="27" name="Rectangle 27"/>
            <p:cNvSpPr/>
            <p:nvPr/>
          </p:nvSpPr>
          <p:spPr>
            <a:xfrm>
              <a:off x="762000" y="5676900"/>
              <a:ext cx="10668000" cy="666750"/>
            </a:xfrm>
            <a:prstGeom prst="roundRect">
              <a:avLst>
                <a:gd name="adj" fmla="val 22857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69975" y="5873750"/>
              <a:ext cx="222250" cy="285751"/>
              <a:chOff x="1069975" y="5873750"/>
              <a:chExt cx="222250" cy="28575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69975" y="5873750"/>
                <a:ext cx="222250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85751">
                    <a:moveTo>
                      <a:pt x="15875" y="0"/>
                    </a:moveTo>
                    <a:lnTo>
                      <a:pt x="190500" y="0"/>
                    </a:lnTo>
                    <a:cubicBezTo>
                      <a:pt x="208035" y="0"/>
                      <a:pt x="222250" y="14215"/>
                      <a:pt x="222250" y="31750"/>
                    </a:cubicBezTo>
                    <a:lnTo>
                      <a:pt x="222250" y="222250"/>
                    </a:lnTo>
                    <a:cubicBezTo>
                      <a:pt x="222250" y="239786"/>
                      <a:pt x="208035" y="254001"/>
                      <a:pt x="190500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moveTo>
                      <a:pt x="63500" y="0"/>
                    </a:moveTo>
                    <a:lnTo>
                      <a:pt x="63500" y="285751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196975" y="5937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196975" y="6000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514856" y="5867400"/>
              <a:ext cx="80372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и цифровой детокс повышают благополучие</a:t>
              </a:r>
            </a:p>
          </p:txBody>
        </p:sp>
      </p:grpSp>
      <p:pic>
        <p:nvPicPr>
          <p:cNvPr id="34" name="PPT Master narration: 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4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5351817" cy="704088"/>
            <a:chOff x="743712" y="565150"/>
            <a:chExt cx="5351817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535181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делать конкретно</a:t>
              </a:r>
            </a:p>
          </p:txBody>
        </p:sp>
      </p:grpSp>
      <p:grpSp>
        <p:nvGrpSpPr>
          <p:cNvPr id="48" name="recs"/>
          <p:cNvGrpSpPr/>
          <p:nvPr/>
        </p:nvGrpSpPr>
        <p:grpSpPr>
          <a:xfrm>
            <a:off x="762000" y="1714500"/>
            <a:ext cx="10668000" cy="4286250"/>
            <a:chOff x="762000" y="1714500"/>
            <a:chExt cx="10668000" cy="4286250"/>
          </a:xfrm>
        </p:grpSpPr>
        <p:sp>
          <p:nvSpPr>
            <p:cNvPr id="7" name="Rectangle 7"/>
            <p:cNvSpPr/>
            <p:nvPr/>
          </p:nvSpPr>
          <p:spPr>
            <a:xfrm>
              <a:off x="762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83466" y="20965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27AE6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2705100"/>
              <a:ext cx="233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Будьте с близкими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0318" y="3282950"/>
              <a:ext cx="28663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время с семьёй и друзьями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3815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751388" y="2101850"/>
              <a:ext cx="288925" cy="371476"/>
              <a:chOff x="4751388" y="2101850"/>
              <a:chExt cx="288925" cy="37147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4751388" y="2101850"/>
                <a:ext cx="288925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371476">
                    <a:moveTo>
                      <a:pt x="20638" y="0"/>
                    </a:moveTo>
                    <a:lnTo>
                      <a:pt x="247650" y="0"/>
                    </a:lnTo>
                    <a:cubicBezTo>
                      <a:pt x="270446" y="0"/>
                      <a:pt x="288925" y="18479"/>
                      <a:pt x="288925" y="41275"/>
                    </a:cubicBezTo>
                    <a:lnTo>
                      <a:pt x="288925" y="288925"/>
                    </a:lnTo>
                    <a:cubicBezTo>
                      <a:pt x="288925" y="311721"/>
                      <a:pt x="270446" y="330201"/>
                      <a:pt x="247650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  <a:cubicBezTo>
                      <a:pt x="0" y="9240"/>
                      <a:pt x="9240" y="0"/>
                      <a:pt x="20638" y="0"/>
                    </a:cubicBezTo>
                    <a:moveTo>
                      <a:pt x="82550" y="0"/>
                    </a:moveTo>
                    <a:lnTo>
                      <a:pt x="82550" y="37147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916488" y="21844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6488" y="226695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4639056" y="2705100"/>
              <a:ext cx="18715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39818" y="3282950"/>
              <a:ext cx="24000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 добрых факта в день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0" y="1714500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350250" y="2081213"/>
              <a:ext cx="288926" cy="371475"/>
              <a:chOff x="8350250" y="2081213"/>
              <a:chExt cx="288926" cy="37147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494857" y="20812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50250" y="2359819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94713" y="2184400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12163" y="2184400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8258556" y="2705100"/>
              <a:ext cx="1418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Двигайтесь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59318" y="3282950"/>
              <a:ext cx="19945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спорт каждый день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90613" y="4319588"/>
              <a:ext cx="371476" cy="371476"/>
              <a:chOff x="1090613" y="4319588"/>
              <a:chExt cx="371476" cy="3714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906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14438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38263" y="4464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206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224757" y="4567238"/>
                <a:ext cx="103188" cy="21680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21680">
                    <a:moveTo>
                      <a:pt x="0" y="0"/>
                    </a:moveTo>
                    <a:cubicBezTo>
                      <a:pt x="13586" y="13866"/>
                      <a:pt x="32181" y="21680"/>
                      <a:pt x="51594" y="21680"/>
                    </a:cubicBezTo>
                    <a:cubicBezTo>
                      <a:pt x="71006" y="21680"/>
                      <a:pt x="89602" y="13866"/>
                      <a:pt x="103188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19556" y="4943475"/>
              <a:ext cx="16187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Медитируйте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0318" y="5521325"/>
              <a:ext cx="24115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 минут осознанности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3815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4710113" y="4319588"/>
              <a:ext cx="371476" cy="371476"/>
              <a:chOff x="4710113" y="4319588"/>
              <a:chExt cx="371476" cy="3714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875213" y="4484688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8"/>
                    </a:moveTo>
                    <a:cubicBezTo>
                      <a:pt x="0" y="32035"/>
                      <a:pt x="9240" y="41275"/>
                      <a:pt x="20638" y="41275"/>
                    </a:cubicBezTo>
                    <a:cubicBezTo>
                      <a:pt x="32035" y="41275"/>
                      <a:pt x="41275" y="32035"/>
                      <a:pt x="41275" y="20638"/>
                    </a:cubicBezTo>
                    <a:cubicBezTo>
                      <a:pt x="41275" y="9240"/>
                      <a:pt x="32035" y="0"/>
                      <a:pt x="20638" y="0"/>
                    </a:cubicBezTo>
                    <a:cubicBezTo>
                      <a:pt x="9240" y="0"/>
                      <a:pt x="0" y="9240"/>
                      <a:pt x="0" y="206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792663" y="4402138"/>
                <a:ext cx="20637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206375" h="206375">
                    <a:moveTo>
                      <a:pt x="0" y="103188"/>
                    </a:moveTo>
                    <a:cubicBezTo>
                      <a:pt x="0" y="160177"/>
                      <a:pt x="46199" y="206375"/>
                      <a:pt x="103188" y="206375"/>
                    </a:cubicBezTo>
                    <a:cubicBezTo>
                      <a:pt x="160177" y="206375"/>
                      <a:pt x="206375" y="160177"/>
                      <a:pt x="206375" y="103188"/>
                    </a:cubicBezTo>
                    <a:cubicBezTo>
                      <a:pt x="206375" y="46199"/>
                      <a:pt x="160177" y="0"/>
                      <a:pt x="103188" y="0"/>
                    </a:cubicBezTo>
                    <a:cubicBezTo>
                      <a:pt x="46199" y="0"/>
                      <a:pt x="0" y="46199"/>
                      <a:pt x="0" y="10318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710113" y="4319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cubicBezTo>
                      <a:pt x="0" y="288318"/>
                      <a:pt x="83158" y="371476"/>
                      <a:pt x="185738" y="371476"/>
                    </a:cubicBezTo>
                    <a:cubicBezTo>
                      <a:pt x="288318" y="371476"/>
                      <a:pt x="371476" y="288318"/>
                      <a:pt x="371476" y="185738"/>
                    </a:cubicBezTo>
                    <a:cubicBezTo>
                      <a:pt x="371476" y="83158"/>
                      <a:pt x="288318" y="0"/>
                      <a:pt x="185738" y="0"/>
                    </a:cubicBezTo>
                    <a:cubicBezTo>
                      <a:pt x="83158" y="0"/>
                      <a:pt x="0" y="83158"/>
                      <a:pt x="0" y="185738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4639056" y="4943475"/>
              <a:ext cx="16605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Ставьте цели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39818" y="5521325"/>
              <a:ext cx="2230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смысл вместо погони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001000" y="3952875"/>
              <a:ext cx="3429000" cy="2047875"/>
            </a:xfrm>
            <a:prstGeom prst="roundRect">
              <a:avLst>
                <a:gd name="adj" fmla="val 7442"/>
              </a:avLst>
            </a:prstGeom>
            <a:solidFill>
              <a:srgbClr val="FFFFFF">
                <a:alpha val="86000"/>
              </a:srgbClr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391525" y="4319588"/>
              <a:ext cx="247650" cy="371476"/>
              <a:chOff x="8391525" y="4319588"/>
              <a:chExt cx="247650" cy="37147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391525" y="4319588"/>
                <a:ext cx="247650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371476">
                    <a:moveTo>
                      <a:pt x="0" y="41275"/>
                    </a:moveTo>
                    <a:cubicBezTo>
                      <a:pt x="0" y="18479"/>
                      <a:pt x="18479" y="0"/>
                      <a:pt x="41275" y="0"/>
                    </a:cubicBezTo>
                    <a:lnTo>
                      <a:pt x="206375" y="0"/>
                    </a:lnTo>
                    <a:cubicBezTo>
                      <a:pt x="229171" y="0"/>
                      <a:pt x="247650" y="18479"/>
                      <a:pt x="247650" y="41275"/>
                    </a:cubicBezTo>
                    <a:lnTo>
                      <a:pt x="247650" y="330201"/>
                    </a:lnTo>
                    <a:cubicBezTo>
                      <a:pt x="247650" y="352996"/>
                      <a:pt x="229171" y="371476"/>
                      <a:pt x="206375" y="371476"/>
                    </a:cubicBezTo>
                    <a:lnTo>
                      <a:pt x="41275" y="371476"/>
                    </a:lnTo>
                    <a:cubicBezTo>
                      <a:pt x="18479" y="371476"/>
                      <a:pt x="0" y="352996"/>
                      <a:pt x="0" y="330201"/>
                    </a:cubicBezTo>
                    <a:lnTo>
                      <a:pt x="0" y="4127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494713" y="4340225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15350" y="46085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06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8258556" y="4943475"/>
              <a:ext cx="2027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Детокс соцсетей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59318" y="5521325"/>
              <a:ext cx="288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ограничьте экранное время</a:t>
              </a:r>
            </a:p>
          </p:txBody>
        </p:sp>
      </p:grpSp>
      <p:pic>
        <p:nvPicPr>
          <p:cNvPr id="49" name="PPT Master narration: narration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49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5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title"/>
          <p:cNvGrpSpPr/>
          <p:nvPr/>
        </p:nvGrpSpPr>
        <p:grpSpPr>
          <a:xfrm>
            <a:off x="743712" y="565150"/>
            <a:ext cx="7376124" cy="704088"/>
            <a:chOff x="743712" y="565150"/>
            <a:chExt cx="7376124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65150"/>
              <a:ext cx="737612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18" name="conclusions"/>
          <p:cNvGrpSpPr/>
          <p:nvPr/>
        </p:nvGrpSpPr>
        <p:grpSpPr>
          <a:xfrm>
            <a:off x="762000" y="1238250"/>
            <a:ext cx="10668000" cy="2114550"/>
            <a:chOff x="762000" y="1238250"/>
            <a:chExt cx="10668000" cy="2114550"/>
          </a:xfrm>
        </p:grpSpPr>
        <p:sp>
          <p:nvSpPr>
            <p:cNvPr id="7" name="Rectangle 7"/>
            <p:cNvSpPr/>
            <p:nvPr/>
          </p:nvSpPr>
          <p:spPr>
            <a:xfrm>
              <a:off x="762000" y="1238250"/>
              <a:ext cx="10668000" cy="2114550"/>
            </a:xfrm>
            <a:prstGeom prst="roundRect">
              <a:avLst>
                <a:gd name="adj" fmla="val 7207"/>
              </a:avLst>
            </a:prstGeom>
            <a:solidFill>
              <a:srgbClr val="FFFFFF">
                <a:alpha val="88000"/>
              </a:srgbClr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82707" y="1438275"/>
              <a:ext cx="272955" cy="284004"/>
              <a:chOff x="1082707" y="1438275"/>
              <a:chExt cx="272955" cy="28400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23950" y="14382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19200" y="1581150"/>
                <a:ext cx="136462" cy="141129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29">
                    <a:moveTo>
                      <a:pt x="0" y="47625"/>
                    </a:moveTo>
                    <a:lnTo>
                      <a:pt x="53975" y="141129"/>
                    </a:lnTo>
                    <a:lnTo>
                      <a:pt x="79343" y="89805"/>
                    </a:lnTo>
                    <a:lnTo>
                      <a:pt x="136462" y="93488"/>
                    </a:lnTo>
                    <a:lnTo>
                      <a:pt x="82487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82707" y="1581150"/>
                <a:ext cx="136462" cy="141113"/>
              </a:xfrm>
              <a:custGeom>
                <a:avLst/>
                <a:gdLst/>
                <a:ahLst/>
                <a:cxnLst/>
                <a:rect l="l" t="t" r="r" b="b"/>
                <a:pathLst>
                  <a:path w="136462" h="141113">
                    <a:moveTo>
                      <a:pt x="53975" y="0"/>
                    </a:moveTo>
                    <a:lnTo>
                      <a:pt x="0" y="93504"/>
                    </a:lnTo>
                    <a:lnTo>
                      <a:pt x="57118" y="89805"/>
                    </a:lnTo>
                    <a:lnTo>
                      <a:pt x="82487" y="141113"/>
                    </a:lnTo>
                    <a:lnTo>
                      <a:pt x="136462" y="47625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52956" y="1447800"/>
              <a:ext cx="10677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Выводы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1911350"/>
              <a:ext cx="3552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Счастье: гены, среда и действия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92418" y="1911350"/>
              <a:ext cx="44663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Качество отношений — ключевой фактор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2273300"/>
              <a:ext cx="433548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Деньги важны до определённого уровня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92418" y="2273300"/>
              <a:ext cx="35950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устойчивее удовольствия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2635250"/>
              <a:ext cx="42707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31576" indent="-131576">
                <a:buClr>
                  <a:schemeClr val="dk1"/>
                </a:buClr>
                <a:buSzTx/>
                <a:buFontTx/>
                <a:buChar char="•"/>
              </a:pPr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Счастье — навык, его можно развивать</a:t>
              </a:r>
            </a:p>
          </p:txBody>
        </p:sp>
      </p:grpSp>
      <p:grpSp>
        <p:nvGrpSpPr>
          <p:cNvPr id="26" name="sources"/>
          <p:cNvGrpSpPr/>
          <p:nvPr/>
        </p:nvGrpSpPr>
        <p:grpSpPr>
          <a:xfrm>
            <a:off x="981456" y="3638550"/>
            <a:ext cx="3692903" cy="2310257"/>
            <a:chOff x="981456" y="3638550"/>
            <a:chExt cx="3692903" cy="2310257"/>
          </a:xfrm>
        </p:grpSpPr>
        <p:sp>
          <p:nvSpPr>
            <p:cNvPr id="19" name="TextBox 19"/>
            <p:cNvSpPr txBox="1"/>
            <p:nvPr/>
          </p:nvSpPr>
          <p:spPr>
            <a:xfrm>
              <a:off x="981456" y="3638550"/>
              <a:ext cx="13082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2218" y="4006850"/>
              <a:ext cx="27061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1. World Happiness Report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82218" y="4330700"/>
              <a:ext cx="29914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2. Killingsworth, PNAS (2021)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82218" y="4654550"/>
              <a:ext cx="33822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3. Канеман и Дитон (2010, 2023)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2218" y="4978400"/>
              <a:ext cx="3692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4. Селигман, «Подлинное счастье»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82218" y="5302250"/>
              <a:ext cx="22276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5. Рувики, «Счастье»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2218" y="5626100"/>
              <a:ext cx="32843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6. Skillbox, «Что такое счастье»</a:t>
              </a:r>
            </a:p>
          </p:txBody>
        </p:sp>
      </p:grpSp>
      <p:grpSp>
        <p:nvGrpSpPr>
          <p:cNvPr id="30" name="qr"/>
          <p:cNvGrpSpPr/>
          <p:nvPr/>
        </p:nvGrpSpPr>
        <p:grpSpPr>
          <a:xfrm>
            <a:off x="8095241" y="3676650"/>
            <a:ext cx="1907019" cy="2538857"/>
            <a:chOff x="8095241" y="3676650"/>
            <a:chExt cx="1907019" cy="2538857"/>
          </a:xfrm>
        </p:grpSpPr>
        <p:sp>
          <p:nvSpPr>
            <p:cNvPr id="27" name="TextBox 27"/>
            <p:cNvSpPr txBox="1"/>
            <p:nvPr/>
          </p:nvSpPr>
          <p:spPr>
            <a:xfrm>
              <a:off x="8095241" y="3676650"/>
              <a:ext cx="19070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Полный список</a:t>
              </a:r>
            </a:p>
          </p:txBody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1500" y="4095750"/>
              <a:ext cx="1714500" cy="17145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137857" y="5892800"/>
              <a:ext cx="18217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Наведите камеру</a:t>
              </a:r>
            </a:p>
          </p:txBody>
        </p:sp>
      </p:grpSp>
      <p:pic>
        <p:nvPicPr>
          <p:cNvPr id="31" name="PPT Master narration: narration15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2026-10-08T11:14:40Z</dcterms:created>
  <dcterms:modified xsi:type="dcterms:W3CDTF">2026-10-08T11:14:40Z</dcterms:modified>
  <cp:category/>
  <cp:contentStatus/>
</cp:coreProperties>
</file>