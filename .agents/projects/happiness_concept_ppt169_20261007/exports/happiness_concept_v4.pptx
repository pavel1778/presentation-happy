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Default Extension="mp3" ContentType="audio/m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16x9"/>
  <p:notesSz cx="6858000" cy="9144000"/>
  <p:defaultTextStyle>
    <a:defPPr>
      <a:defRPr lang="ru"/>
    </a:defPPr>
    <a:lvl1pPr marL="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ru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  <Relationship Id="rId2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ru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Здравствуйте. Тема моего доклада — концепция счастья: что делает людей счастливыми в современном мире. За последние десятилетия учёные выяснили: деньги, успех и даже образование не гарантируют счастья. Почему так? И что действительно важно? Об этом мы поговорим.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Цель нашей презентации — выяснить, что делает людей счастливыми. Мы рассмотрим научные подходы к счастью, выявим ключевые факторы и дадим практические рекомендации.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Мы рассмотрим счастье с точки зрения философии, психологии, нейробиологии и экономики. Узнаем формулу Селигмана, парадокс Истерлина, влияние образования и цифровых технологий.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Кратко о том, что вас ждёт. Тема — что делает людей счастливыми в современном мире. Подход — научные данные и честная критика позитивной психологии. Вы узнаете главные факторы счастья и получите практические шаги к благополучию. Презентация рассчитана на преподавателей колледжа и аттестационную комиссию.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одна из главных целей человеческой жизни. Аристотель считал его деятельностью души в полноте добродетели. Но Всемирная организация здравоохранения регистрирует рост депрессии: по данным Центров по контролю заболеваний США, доля людей с депрессией выросла с восьми целых двух десятых процента до тринадцати целых одной десятой процента за десять лет. При этом уровень счастья в мире не растёт. Парадокс: литературы по позитивной психологии много, а счастливых людей меньше.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состояние внутреннего благополучия. В психологии это субъективное благополучие. Оно включает когнитивный компонент — оценку жизни, и эмоциональный — положительные и отрицательные эмоции. Барбара Фредриксон доказала: для благополучия положительные эмоции должны преобладать над отрицательными примерно в соотношении три к одному. В психологии счастье рассматривают по-разному: психоанализ, когнитивное направление, позитивная психология и био-психо-социальный подход.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Физиология счастья связана с гормонами. Дофамин — система поощрения, мотивация, обучение, любовь. Серотонин — фон долговременной удовлетворённости, сон, подавление отрицательных эмоций. Эндорфины — кратковременная эйфория, обезболивание. Окситоцин — привязанность, доверие, эмпатия. Здоровый образ жизни, спорт и общение поддерживают баланс этих веществ.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Аристотель определял счастье как деятельность души в полноте добродетели. Стоики, Сенека и Марк Аврелий, — как внутреннее спокойствие. Индийская философия — как освобождение от страданий. Просвещение провозгласило счастье естественным правом: Джефферсон писал о стремлении к счастью. Утилитаризм Бентама и Милля — это максимизация удовольствия. В двадцать первом веке счастье понимают как многомерный феномен.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Гедонизм: счастье — это максимум удовольствия и минимум страданий. Он связан с потребительской культурой. Риск — гедонистическая адаптация и давление пропаганды счастья. Эвдемония: счастье — это реализация потенциала, смысл и добродетели. Канадский психолог Гордон Ньюфелд говорит: «Счастье находится по ту сторону слёз».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Мартин Селигман вывел формулу: счастье равно наследственности плюс волевая деятельность плюс обстоятельства. Пятьдесят процентов — генетика, десять процентов — внешние обстоятельства, сорок процентов — намеренные действия. Соня Любомирски назвала это теорией сорока процентов: фокус на себе эффективнее изменения обстоятельств. Но есть критика: Барбара Эренрейх, Стивенсон и Вольферс напоминают, что игнорировать социальное неравенство и доход нельзя.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Сильнейший предиктор счастья — качество отношений. Одиночество сильно снижает счастье. Дэниел Хейброн выделяет источники благополучия: безопасность, самостоятельность, отношения и реализацию в профессии. Внутренние факторы — это осмысленность, самореализация, здоровье и благодарность. Внешние — материальная стабильность, справедливость и интересная деятельность.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Парадокс Истерлина: рост дохода не всегда ведёт к росту счастья. Канеман и Дитон в две тысячи десятом году выявили порог — семьдесят пять тысяч долларов в год. После него влияние дохода на эмоциональное благополучие прекращается. На макроуровне богатые страны счастливее бедных. Причина в гедонистической адаптации: люди быстро привыкают к улучшениям.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Связь счастья и образования сложна. На индивидуальном уровне прямая связь слабая. Есть нелинейность: самая низкая удовлетворённость — у людей со средним специальным образованием. Косвенные эффекты — доход, социальный статус, когнитивные навыки. И ещё один парадокс: рост образования повышает требования к жизни, что может снижать удовлетворённость.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Социальные сети дают связь с близкими, поддержку и доступ к знаниям. Но есть и риски: сравнение с другими, страх упустить важное, снижение самооценки. Цифровой детокс и осознанное потребление контента повышают счастье. Онлайн-терапия и приложения для медитации — инструменты улучшения благополучия. Баланс онлайн и офлайн критически важен.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Шесть шагов к счастью. Инвестируйте в отношения. Практикуйте благодарность. Занимайтесь физической активностью. Медитируйте. Ограничьте соцсети. Спите достаточно. Эти простые привычки, подтверждённые наукой, доступны каждому.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Счастье — многомерный феномен. На него влияют генетика, обстоятельства и намеренные действия. Качество отношений — сильнейший предиктор. Деньги важны лишь до определённого уровня. Цифровые технологии амбивалентны. И главное: счастье можно развивать через осознанные усилия.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ru" dirty="0"/>
              <a:t>В работе использованы материалы научных и образовательных источников: исследования НИУ ВШЭ и УрФУ, публикации на Cyberleninka, а также научные работы Селигмана, Канемана и Дитона. Отдельно рассмотрена критика позитивной психологии — работы Эренрейх, Стивенсона и Вольферса. Все выводы опираются на перечисленные источники.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happiness_concep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happiness_concep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ru" smtClean="0"/>
              <a:t>1/27/13</a:t>
            </a:fld>
            <a:endParaRPr lang="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ru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ru" smtClean="0"/>
              <a:t>‹#›</a:t>
            </a:fld>
            <a:endParaRPr lang="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 lang="ru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"/>
      </a:defPPr>
      <a:lvl1pPr marL="0" algn="l" defTabSz="457200" rtl="0" eaLnBrk="1" latinLnBrk="0" hangingPunct="1">
        <a:defRPr sz="1800" kern="1200" lang="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ru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18ade41bd9de0e7.jpg"/>
  <Relationship Id="rId3" Type="http://schemas.openxmlformats.org/officeDocument/2006/relationships/notesSlide" Target="../notesSlides/notesSlide1.xml"/>
  <Relationship Id="rId4" Type="http://schemas.microsoft.com/office/2007/relationships/media" Target="../media/narration1.mp3"/>
  <Relationship Id="rId5" Type="http://schemas.openxmlformats.org/officeDocument/2006/relationships/audio" Target="../media/narration1.mp3"/>
  <Relationship Id="rId6" Type="http://schemas.openxmlformats.org/officeDocument/2006/relationships/image" Target="../media/narration_poster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d4a9df1376ac73e.jpg"/>
  <Relationship Id="rId3" Type="http://schemas.openxmlformats.org/officeDocument/2006/relationships/notesSlide" Target="../notesSlides/notesSlide2.xml"/>
  <Relationship Id="rId4" Type="http://schemas.microsoft.com/office/2007/relationships/media" Target="../media/narration2.mp3"/>
  <Relationship Id="rId5" Type="http://schemas.openxmlformats.org/officeDocument/2006/relationships/audio" Target="../media/narration2.mp3"/>
  <Relationship Id="rId6" Type="http://schemas.openxmlformats.org/officeDocument/2006/relationships/image" Target="../media/narration_poster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3.xml"/>
  <Relationship Id="rId4" Type="http://schemas.microsoft.com/office/2007/relationships/media" Target="../media/narration3.mp3"/>
  <Relationship Id="rId5" Type="http://schemas.openxmlformats.org/officeDocument/2006/relationships/audio" Target="../media/narration3.mp3"/>
  <Relationship Id="rId6" Type="http://schemas.openxmlformats.org/officeDocument/2006/relationships/image" Target="../media/narration_poster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4.xml"/>
  <Relationship Id="rId4" Type="http://schemas.microsoft.com/office/2007/relationships/media" Target="../media/narration4.mp3"/>
  <Relationship Id="rId5" Type="http://schemas.openxmlformats.org/officeDocument/2006/relationships/audio" Target="../media/narration4.mp3"/>
  <Relationship Id="rId6" Type="http://schemas.openxmlformats.org/officeDocument/2006/relationships/image" Target="../media/narration_poster.pn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2f55618fceb4ce6.jpg"/>
  <Relationship Id="rId3" Type="http://schemas.openxmlformats.org/officeDocument/2006/relationships/notesSlide" Target="../notesSlides/notesSlide5.xml"/>
  <Relationship Id="rId4" Type="http://schemas.microsoft.com/office/2007/relationships/media" Target="../media/narration5.mp3"/>
  <Relationship Id="rId5" Type="http://schemas.openxmlformats.org/officeDocument/2006/relationships/audio" Target="../media/narration5.mp3"/>
  <Relationship Id="rId6" Type="http://schemas.openxmlformats.org/officeDocument/2006/relationships/image" Target="../media/narration_poster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57e2e7a59c4bea4.jpg"/>
  <Relationship Id="rId3" Type="http://schemas.openxmlformats.org/officeDocument/2006/relationships/notesSlide" Target="../notesSlides/notesSlide6.xml"/>
  <Relationship Id="rId4" Type="http://schemas.microsoft.com/office/2007/relationships/media" Target="../media/narration6.mp3"/>
  <Relationship Id="rId5" Type="http://schemas.openxmlformats.org/officeDocument/2006/relationships/audio" Target="../media/narration6.mp3"/>
  <Relationship Id="rId6" Type="http://schemas.openxmlformats.org/officeDocument/2006/relationships/image" Target="../media/narration_poster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21692c47bf8da53.jpg"/>
  <Relationship Id="rId3" Type="http://schemas.openxmlformats.org/officeDocument/2006/relationships/image" Target="../media/image_fb9a4fe6da9ea8ca.jpg"/>
  <Relationship Id="rId4" Type="http://schemas.openxmlformats.org/officeDocument/2006/relationships/notesSlide" Target="../notesSlides/notesSlide7.xml"/>
  <Relationship Id="rId5" Type="http://schemas.microsoft.com/office/2007/relationships/media" Target="../media/narration7.mp3"/>
  <Relationship Id="rId6" Type="http://schemas.openxmlformats.org/officeDocument/2006/relationships/audio" Target="../media/narration7.mp3"/>
  <Relationship Id="rId7" Type="http://schemas.openxmlformats.org/officeDocument/2006/relationships/image" Target="../media/narration_poster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288d118ee0905d5.jpg"/>
  <Relationship Id="rId3" Type="http://schemas.openxmlformats.org/officeDocument/2006/relationships/image" Target="../media/image_b45662b9cbfa98ee.jpg"/>
  <Relationship Id="rId4" Type="http://schemas.openxmlformats.org/officeDocument/2006/relationships/image" Target="../media/image_57b71a4dc378653d.jpg"/>
  <Relationship Id="rId5" Type="http://schemas.openxmlformats.org/officeDocument/2006/relationships/image" Target="../media/image_b792826eaa622c8f.jpg"/>
  <Relationship Id="rId6" Type="http://schemas.openxmlformats.org/officeDocument/2006/relationships/image" Target="../media/image_afd9db9fff54cca2.jpg"/>
  <Relationship Id="rId7" Type="http://schemas.openxmlformats.org/officeDocument/2006/relationships/notesSlide" Target="../notesSlides/notesSlide8.xml"/>
  <Relationship Id="rId8" Type="http://schemas.microsoft.com/office/2007/relationships/media" Target="../media/narration8.mp3"/>
  <Relationship Id="rId9" Type="http://schemas.openxmlformats.org/officeDocument/2006/relationships/audio" Target="../media/narration8.mp3"/>
  <Relationship Id="rId10" Type="http://schemas.openxmlformats.org/officeDocument/2006/relationships/image" Target="../media/narration_poster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44499b2209e30ac.jpg"/>
  <Relationship Id="rId3" Type="http://schemas.openxmlformats.org/officeDocument/2006/relationships/image" Target="../media/image_a2f711d4eb699204.jpg"/>
  <Relationship Id="rId4" Type="http://schemas.openxmlformats.org/officeDocument/2006/relationships/image" Target="../media/image_852cb707c4f2b7ad.jpg"/>
  <Relationship Id="rId5" Type="http://schemas.openxmlformats.org/officeDocument/2006/relationships/notesSlide" Target="../notesSlides/notesSlide9.xml"/>
  <Relationship Id="rId6" Type="http://schemas.microsoft.com/office/2007/relationships/media" Target="../media/narration9.mp3"/>
  <Relationship Id="rId7" Type="http://schemas.openxmlformats.org/officeDocument/2006/relationships/audio" Target="../media/narration9.mp3"/>
  <Relationship Id="rId8" Type="http://schemas.openxmlformats.org/officeDocument/2006/relationships/image" Target="../media/narration_poster.pn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59ada776e4b6156.jpg"/>
  <Relationship Id="rId3" Type="http://schemas.openxmlformats.org/officeDocument/2006/relationships/notesSlide" Target="../notesSlides/notesSlide10.xml"/>
  <Relationship Id="rId4" Type="http://schemas.microsoft.com/office/2007/relationships/media" Target="../media/narration10.mp3"/>
  <Relationship Id="rId5" Type="http://schemas.openxmlformats.org/officeDocument/2006/relationships/audio" Target="../media/narration10.mp3"/>
  <Relationship Id="rId6" Type="http://schemas.openxmlformats.org/officeDocument/2006/relationships/image" Target="../media/narration_poster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d8daedaf61ee7641.jpg"/>
  <Relationship Id="rId3" Type="http://schemas.openxmlformats.org/officeDocument/2006/relationships/notesSlide" Target="../notesSlides/notesSlide11.xml"/>
  <Relationship Id="rId4" Type="http://schemas.microsoft.com/office/2007/relationships/media" Target="../media/narration11.mp3"/>
  <Relationship Id="rId5" Type="http://schemas.openxmlformats.org/officeDocument/2006/relationships/audio" Target="../media/narration11.mp3"/>
  <Relationship Id="rId6" Type="http://schemas.openxmlformats.org/officeDocument/2006/relationships/image" Target="../media/narration_poster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3b3bfd2e122e64d.jpg"/>
  <Relationship Id="rId3" Type="http://schemas.openxmlformats.org/officeDocument/2006/relationships/image" Target="../media/image_3c78ba75b72158e1.jpg"/>
  <Relationship Id="rId4" Type="http://schemas.openxmlformats.org/officeDocument/2006/relationships/image" Target="../media/image_970dd5afa7fe1255.jpg"/>
  <Relationship Id="rId5" Type="http://schemas.openxmlformats.org/officeDocument/2006/relationships/notesSlide" Target="../notesSlides/notesSlide12.xml"/>
  <Relationship Id="rId6" Type="http://schemas.microsoft.com/office/2007/relationships/media" Target="../media/narration12.mp3"/>
  <Relationship Id="rId7" Type="http://schemas.openxmlformats.org/officeDocument/2006/relationships/audio" Target="../media/narration12.mp3"/>
  <Relationship Id="rId8" Type="http://schemas.openxmlformats.org/officeDocument/2006/relationships/image" Target="../media/narration_poster.png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678ebc45bf979982.jpg"/>
  <Relationship Id="rId3" Type="http://schemas.openxmlformats.org/officeDocument/2006/relationships/notesSlide" Target="../notesSlides/notesSlide13.xml"/>
  <Relationship Id="rId4" Type="http://schemas.microsoft.com/office/2007/relationships/media" Target="../media/narration13.mp3"/>
  <Relationship Id="rId5" Type="http://schemas.openxmlformats.org/officeDocument/2006/relationships/audio" Target="../media/narration13.mp3"/>
  <Relationship Id="rId6" Type="http://schemas.openxmlformats.org/officeDocument/2006/relationships/image" Target="../media/narration_poster.png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73e39d10fae920a.jpg"/>
  <Relationship Id="rId3" Type="http://schemas.openxmlformats.org/officeDocument/2006/relationships/notesSlide" Target="../notesSlides/notesSlide14.xml"/>
  <Relationship Id="rId4" Type="http://schemas.microsoft.com/office/2007/relationships/media" Target="../media/narration14.mp3"/>
  <Relationship Id="rId5" Type="http://schemas.openxmlformats.org/officeDocument/2006/relationships/audio" Target="../media/narration14.mp3"/>
  <Relationship Id="rId6" Type="http://schemas.openxmlformats.org/officeDocument/2006/relationships/image" Target="../media/narration_poster.png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6d3fe47d56c9303.jpg"/>
  <Relationship Id="rId3" Type="http://schemas.openxmlformats.org/officeDocument/2006/relationships/notesSlide" Target="../notesSlides/notesSlide15.xml"/>
  <Relationship Id="rId4" Type="http://schemas.microsoft.com/office/2007/relationships/media" Target="../media/narration15.mp3"/>
  <Relationship Id="rId5" Type="http://schemas.openxmlformats.org/officeDocument/2006/relationships/audio" Target="../media/narration15.mp3"/>
  <Relationship Id="rId6" Type="http://schemas.openxmlformats.org/officeDocument/2006/relationships/image" Target="../media/narration_poster.png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943bc3fa4d211d5.jpg"/>
  <Relationship Id="rId3" Type="http://schemas.openxmlformats.org/officeDocument/2006/relationships/notesSlide" Target="../notesSlides/notesSlide16.xml"/>
  <Relationship Id="rId4" Type="http://schemas.microsoft.com/office/2007/relationships/media" Target="../media/narration16.mp3"/>
  <Relationship Id="rId5" Type="http://schemas.openxmlformats.org/officeDocument/2006/relationships/audio" Target="../media/narration16.mp3"/>
  <Relationship Id="rId6" Type="http://schemas.openxmlformats.org/officeDocument/2006/relationships/image" Target="../media/narration_poster.png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4e7b3384ccf1767.jpg"/>
  <Relationship Id="rId3" Type="http://schemas.openxmlformats.org/officeDocument/2006/relationships/notesSlide" Target="../notesSlides/notesSlide17.xml"/>
  <Relationship Id="rId4" Type="http://schemas.microsoft.com/office/2007/relationships/media" Target="../media/narration17.mp3"/>
  <Relationship Id="rId5" Type="http://schemas.openxmlformats.org/officeDocument/2006/relationships/audio" Target="../media/narration17.mp3"/>
  <Relationship Id="rId6" Type="http://schemas.openxmlformats.org/officeDocument/2006/relationships/image" Target="../media/narration_poster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photo"/>
          <p:cNvPicPr>
            <a:picLocks noChangeAspect="1"/>
          </p:cNvPicPr>
          <p:nvPr/>
        </p:nvPicPr>
        <p:blipFill>
          <a:blip r:embed="rId2"/>
          <a:srcRect l="0" t="5003" r="0" b="500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2000"/>
                </a:srgbClr>
              </a:gs>
              <a:gs pos="100000">
                <a:srgbClr val="F5E6D3">
                  <a:alpha val="82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cover-orb"/>
          <p:cNvSpPr/>
          <p:nvPr/>
        </p:nvSpPr>
        <p:spPr>
          <a:xfrm>
            <a:off x="8382000" y="-762000"/>
            <a:ext cx="4191000" cy="4191000"/>
          </a:xfrm>
          <a:prstGeom prst="ellipse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5" name="cover-orb-2"/>
          <p:cNvSpPr/>
          <p:nvPr/>
        </p:nvSpPr>
        <p:spPr>
          <a:xfrm>
            <a:off x="95250" y="4667250"/>
            <a:ext cx="3048000" cy="3048000"/>
          </a:xfrm>
          <a:prstGeom prst="ellipse">
            <a:avLst/>
          </a:prstGeom>
          <a:solidFill>
            <a:srgbClr val="27AE60">
              <a:alpha val="8000"/>
            </a:srgbClr>
          </a:solidFill>
          <a:ln>
            <a:noFill/>
          </a:ln>
        </p:spPr>
      </p:sp>
      <p:grpSp>
        <p:nvGrpSpPr>
          <p:cNvPr id="10" name="cover-header"/>
          <p:cNvGrpSpPr/>
          <p:nvPr/>
        </p:nvGrpSpPr>
        <p:grpSpPr>
          <a:xfrm>
            <a:off x="743712" y="1104900"/>
            <a:ext cx="7437343" cy="2450338"/>
            <a:chOff x="743712" y="1104900"/>
            <a:chExt cx="7437343" cy="2450338"/>
          </a:xfrm>
        </p:grpSpPr>
        <p:sp>
          <p:nvSpPr>
            <p:cNvPr id="6" name="TextBox 6"/>
            <p:cNvSpPr txBox="1"/>
            <p:nvPr/>
          </p:nvSpPr>
          <p:spPr>
            <a:xfrm>
              <a:off x="752856" y="1104900"/>
              <a:ext cx="7066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spc="1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РОСТОВСКИЙ-НА-ДОНУ КОЛЛЕДЖ СВЯЗИ И ИНФОРМАТИКИ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3712" y="1727200"/>
              <a:ext cx="482747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Концепция счастья: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3712" y="2336800"/>
              <a:ext cx="743734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делает людей счастливыми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3712" y="2851150"/>
              <a:ext cx="507985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 современном мире?</a:t>
              </a:r>
            </a:p>
          </p:txBody>
        </p:sp>
      </p:grpSp>
      <p:grpSp>
        <p:nvGrpSpPr>
          <p:cNvPr id="16" name="cover-author"/>
          <p:cNvGrpSpPr/>
          <p:nvPr/>
        </p:nvGrpSpPr>
        <p:grpSpPr>
          <a:xfrm>
            <a:off x="762000" y="4000500"/>
            <a:ext cx="4330332" cy="1609344"/>
            <a:chOff x="762000" y="4000500"/>
            <a:chExt cx="4330332" cy="1609344"/>
          </a:xfrm>
        </p:grpSpPr>
        <p:sp>
          <p:nvSpPr>
            <p:cNvPr id="11" name="Rectangle 11"/>
            <p:cNvSpPr/>
            <p:nvPr/>
          </p:nvSpPr>
          <p:spPr>
            <a:xfrm>
              <a:off x="762000" y="4000500"/>
              <a:ext cx="57150" cy="1524000"/>
            </a:xfrm>
            <a:prstGeom prst="roundRect">
              <a:avLst>
                <a:gd name="adj" fmla="val 50000"/>
              </a:avLst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4171950"/>
              <a:ext cx="29753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Сабадаш Павел Андреевич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7656" y="4533900"/>
              <a:ext cx="1533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Группа ИС-24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7656" y="4895850"/>
              <a:ext cx="282375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sabadaspaha@gmail.com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7656" y="5257800"/>
              <a:ext cx="40346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Защита учебной презентации, 2026</a:t>
              </a:r>
            </a:p>
          </p:txBody>
        </p:sp>
      </p:grpSp>
      <p:grpSp>
        <p:nvGrpSpPr>
          <p:cNvPr id="34" name="cover-icons"/>
          <p:cNvGrpSpPr/>
          <p:nvPr/>
        </p:nvGrpSpPr>
        <p:grpSpPr>
          <a:xfrm>
            <a:off x="8373618" y="4824413"/>
            <a:ext cx="3174420" cy="838644"/>
            <a:chOff x="8373618" y="4824413"/>
            <a:chExt cx="3174420" cy="838644"/>
          </a:xfrm>
        </p:grpSpPr>
        <p:grpSp>
          <p:nvGrpSpPr>
            <p:cNvPr id="23" name="Group 23"/>
            <p:cNvGrpSpPr/>
            <p:nvPr/>
          </p:nvGrpSpPr>
          <p:grpSpPr>
            <a:xfrm>
              <a:off x="8443913" y="4824413"/>
              <a:ext cx="371475" cy="371475"/>
              <a:chOff x="8443913" y="4824413"/>
              <a:chExt cx="371475" cy="3714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8629650" y="5030788"/>
                <a:ext cx="144463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65100">
                    <a:moveTo>
                      <a:pt x="72231" y="0"/>
                    </a:moveTo>
                    <a:cubicBezTo>
                      <a:pt x="32339" y="0"/>
                      <a:pt x="0" y="32339"/>
                      <a:pt x="0" y="72231"/>
                    </a:cubicBezTo>
                    <a:lnTo>
                      <a:pt x="0" y="92869"/>
                    </a:lnTo>
                    <a:cubicBezTo>
                      <a:pt x="0" y="132761"/>
                      <a:pt x="32339" y="165100"/>
                      <a:pt x="72231" y="165100"/>
                    </a:cubicBezTo>
                    <a:cubicBezTo>
                      <a:pt x="112124" y="165100"/>
                      <a:pt x="144463" y="132761"/>
                      <a:pt x="144463" y="92869"/>
                    </a:cubicBezTo>
                    <a:lnTo>
                      <a:pt x="144463" y="55721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485188" y="5030788"/>
                <a:ext cx="144463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65100">
                    <a:moveTo>
                      <a:pt x="72231" y="0"/>
                    </a:moveTo>
                    <a:cubicBezTo>
                      <a:pt x="112124" y="0"/>
                      <a:pt x="144463" y="32339"/>
                      <a:pt x="144463" y="72231"/>
                    </a:cubicBezTo>
                    <a:lnTo>
                      <a:pt x="144463" y="92869"/>
                    </a:lnTo>
                    <a:cubicBezTo>
                      <a:pt x="144463" y="132761"/>
                      <a:pt x="112124" y="165100"/>
                      <a:pt x="72231" y="165100"/>
                    </a:cubicBezTo>
                    <a:cubicBezTo>
                      <a:pt x="32339" y="165100"/>
                      <a:pt x="0" y="132761"/>
                      <a:pt x="0" y="92869"/>
                    </a:cubicBezTo>
                    <a:lnTo>
                      <a:pt x="0" y="55721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32838" y="4948238"/>
                <a:ext cx="82550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44463">
                    <a:moveTo>
                      <a:pt x="10319" y="144463"/>
                    </a:moveTo>
                    <a:cubicBezTo>
                      <a:pt x="50211" y="144463"/>
                      <a:pt x="82550" y="112124"/>
                      <a:pt x="82550" y="72231"/>
                    </a:cubicBezTo>
                    <a:cubicBezTo>
                      <a:pt x="82550" y="32339"/>
                      <a:pt x="50211" y="0"/>
                      <a:pt x="10319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629650" y="4824413"/>
                <a:ext cx="144463" cy="130016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130016">
                    <a:moveTo>
                      <a:pt x="144463" y="130016"/>
                    </a:moveTo>
                    <a:lnTo>
                      <a:pt x="144463" y="72231"/>
                    </a:lnTo>
                    <a:cubicBezTo>
                      <a:pt x="144463" y="32339"/>
                      <a:pt x="112124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443913" y="4948238"/>
                <a:ext cx="82550" cy="144463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144463">
                    <a:moveTo>
                      <a:pt x="72231" y="144463"/>
                    </a:moveTo>
                    <a:cubicBezTo>
                      <a:pt x="32339" y="144463"/>
                      <a:pt x="0" y="112124"/>
                      <a:pt x="0" y="72231"/>
                    </a:cubicBezTo>
                    <a:cubicBezTo>
                      <a:pt x="0" y="32339"/>
                      <a:pt x="32339" y="0"/>
                      <a:pt x="72231" y="0"/>
                    </a:cubicBezTo>
                    <a:lnTo>
                      <a:pt x="82550" y="0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485188" y="4824413"/>
                <a:ext cx="144463" cy="278607"/>
              </a:xfrm>
              <a:custGeom>
                <a:avLst/>
                <a:gdLst/>
                <a:ahLst/>
                <a:cxnLst/>
                <a:rect l="l" t="t" r="r" b="b"/>
                <a:pathLst>
                  <a:path w="144463" h="278607">
                    <a:moveTo>
                      <a:pt x="0" y="130016"/>
                    </a:moveTo>
                    <a:lnTo>
                      <a:pt x="0" y="72231"/>
                    </a:lnTo>
                    <a:cubicBezTo>
                      <a:pt x="0" y="32339"/>
                      <a:pt x="32339" y="0"/>
                      <a:pt x="72231" y="0"/>
                    </a:cubicBezTo>
                    <a:cubicBezTo>
                      <a:pt x="112124" y="0"/>
                      <a:pt x="144463" y="32339"/>
                      <a:pt x="144463" y="72231"/>
                    </a:cubicBezTo>
                    <a:lnTo>
                      <a:pt x="144463" y="278607"/>
                    </a:ln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24" name="Freeform 24"/>
            <p:cNvSpPr/>
            <p:nvPr/>
          </p:nvSpPr>
          <p:spPr>
            <a:xfrm>
              <a:off x="9198766" y="4839756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E74C3C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9967913" y="4824413"/>
              <a:ext cx="371476" cy="371476"/>
              <a:chOff x="9967913" y="4824413"/>
              <a:chExt cx="371476" cy="37147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10071100" y="4927600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82550"/>
                    </a:moveTo>
                    <a:cubicBezTo>
                      <a:pt x="0" y="128141"/>
                      <a:pt x="36959" y="165100"/>
                      <a:pt x="82550" y="165100"/>
                    </a:cubicBezTo>
                    <a:cubicBezTo>
                      <a:pt x="128141" y="165100"/>
                      <a:pt x="165100" y="128141"/>
                      <a:pt x="165100" y="82550"/>
                    </a:cubicBezTo>
                    <a:cubicBezTo>
                      <a:pt x="165100" y="36959"/>
                      <a:pt x="128141" y="0"/>
                      <a:pt x="82550" y="0"/>
                    </a:cubicBezTo>
                    <a:cubicBezTo>
                      <a:pt x="36959" y="0"/>
                      <a:pt x="0" y="36959"/>
                      <a:pt x="0" y="82550"/>
                    </a:cubicBez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967913" y="4824413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lnTo>
                      <a:pt x="20638" y="185738"/>
                    </a:lnTo>
                    <a:moveTo>
                      <a:pt x="185738" y="0"/>
                    </a:moveTo>
                    <a:lnTo>
                      <a:pt x="185738" y="20638"/>
                    </a:lnTo>
                    <a:moveTo>
                      <a:pt x="350838" y="185738"/>
                    </a:moveTo>
                    <a:lnTo>
                      <a:pt x="371476" y="185738"/>
                    </a:lnTo>
                    <a:moveTo>
                      <a:pt x="185738" y="350838"/>
                    </a:moveTo>
                    <a:lnTo>
                      <a:pt x="185738" y="371476"/>
                    </a:lnTo>
                    <a:moveTo>
                      <a:pt x="53658" y="53658"/>
                    </a:moveTo>
                    <a:lnTo>
                      <a:pt x="68104" y="68104"/>
                    </a:lnTo>
                    <a:moveTo>
                      <a:pt x="317818" y="53658"/>
                    </a:moveTo>
                    <a:lnTo>
                      <a:pt x="303372" y="68104"/>
                    </a:lnTo>
                    <a:moveTo>
                      <a:pt x="303372" y="303372"/>
                    </a:moveTo>
                    <a:lnTo>
                      <a:pt x="317818" y="317818"/>
                    </a:lnTo>
                    <a:moveTo>
                      <a:pt x="68104" y="303372"/>
                    </a:moveTo>
                    <a:lnTo>
                      <a:pt x="53658" y="317818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10729913" y="4824413"/>
              <a:ext cx="371476" cy="371476"/>
              <a:chOff x="10729913" y="4824413"/>
              <a:chExt cx="371476" cy="37147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771188" y="4824413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82550"/>
                    </a:moveTo>
                    <a:cubicBezTo>
                      <a:pt x="0" y="128141"/>
                      <a:pt x="36959" y="165100"/>
                      <a:pt x="82550" y="165100"/>
                    </a:cubicBezTo>
                    <a:cubicBezTo>
                      <a:pt x="128141" y="165100"/>
                      <a:pt x="165100" y="128141"/>
                      <a:pt x="165100" y="82550"/>
                    </a:cubicBezTo>
                    <a:cubicBezTo>
                      <a:pt x="165100" y="36959"/>
                      <a:pt x="128141" y="0"/>
                      <a:pt x="82550" y="0"/>
                    </a:cubicBezTo>
                    <a:cubicBezTo>
                      <a:pt x="36959" y="0"/>
                      <a:pt x="0" y="36959"/>
                      <a:pt x="0" y="8255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729913" y="5072063"/>
                <a:ext cx="247650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123825">
                    <a:moveTo>
                      <a:pt x="0" y="123825"/>
                    </a:moveTo>
                    <a:lnTo>
                      <a:pt x="0" y="82550"/>
                    </a:lnTo>
                    <a:cubicBezTo>
                      <a:pt x="0" y="36959"/>
                      <a:pt x="36959" y="0"/>
                      <a:pt x="82550" y="0"/>
                    </a:cubicBezTo>
                    <a:lnTo>
                      <a:pt x="165100" y="0"/>
                    </a:lnTo>
                    <a:cubicBezTo>
                      <a:pt x="210691" y="0"/>
                      <a:pt x="247650" y="36959"/>
                      <a:pt x="247650" y="82550"/>
                    </a:cubicBezTo>
                    <a:lnTo>
                      <a:pt x="247650" y="123825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998201" y="4827095"/>
                <a:ext cx="62074" cy="159941"/>
              </a:xfrm>
              <a:custGeom>
                <a:avLst/>
                <a:gdLst/>
                <a:ahLst/>
                <a:cxnLst/>
                <a:rect l="l" t="t" r="r" b="b"/>
                <a:pathLst>
                  <a:path w="62074" h="159941">
                    <a:moveTo>
                      <a:pt x="0" y="0"/>
                    </a:moveTo>
                    <a:cubicBezTo>
                      <a:pt x="36527" y="9352"/>
                      <a:pt x="62074" y="42265"/>
                      <a:pt x="62074" y="79970"/>
                    </a:cubicBezTo>
                    <a:cubicBezTo>
                      <a:pt x="62074" y="117675"/>
                      <a:pt x="36527" y="150589"/>
                      <a:pt x="0" y="159941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039476" y="5075159"/>
                <a:ext cx="61913" cy="120730"/>
              </a:xfrm>
              <a:custGeom>
                <a:avLst/>
                <a:gdLst/>
                <a:ahLst/>
                <a:cxnLst/>
                <a:rect l="l" t="t" r="r" b="b"/>
                <a:pathLst>
                  <a:path w="61913" h="120730">
                    <a:moveTo>
                      <a:pt x="61913" y="120730"/>
                    </a:moveTo>
                    <a:lnTo>
                      <a:pt x="61913" y="79454"/>
                    </a:lnTo>
                    <a:cubicBezTo>
                      <a:pt x="61697" y="41989"/>
                      <a:pt x="36277" y="9366"/>
                      <a:pt x="0" y="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373618" y="5340350"/>
              <a:ext cx="31744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мозг · сердце · солнце · семья</a:t>
              </a:r>
            </a:p>
          </p:txBody>
        </p:sp>
      </p:grpSp>
      <p:grpSp>
        <p:nvGrpSpPr>
          <p:cNvPr id="42" name="cover-logo"/>
          <p:cNvGrpSpPr/>
          <p:nvPr/>
        </p:nvGrpSpPr>
        <p:grpSpPr>
          <a:xfrm>
            <a:off x="10086259" y="857250"/>
            <a:ext cx="1544482" cy="1548257"/>
            <a:chOff x="10086259" y="857250"/>
            <a:chExt cx="1544482" cy="1548257"/>
          </a:xfrm>
        </p:grpSpPr>
        <p:sp>
          <p:nvSpPr>
            <p:cNvPr id="35" name="Ellipse 35"/>
            <p:cNvSpPr/>
            <p:nvPr/>
          </p:nvSpPr>
          <p:spPr>
            <a:xfrm>
              <a:off x="10382250" y="857250"/>
              <a:ext cx="952500" cy="952500"/>
            </a:xfrm>
            <a:prstGeom prst="ellipse">
              <a:avLst/>
            </a:prstGeom>
            <a:solidFill>
              <a:schemeClr val="accent1">
                <a:alpha val="92000"/>
              </a:schemeClr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0458450" y="933450"/>
              <a:ext cx="800100" cy="800100"/>
            </a:xfrm>
            <a:prstGeom prst="ellipse">
              <a:avLst/>
            </a:prstGeom>
            <a:noFill/>
            <a:ln w="28575">
              <a:solidFill>
                <a:srgbClr val="FFFFFF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668000" y="1200150"/>
              <a:ext cx="381000" cy="266700"/>
              <a:chOff x="10668000" y="1200150"/>
              <a:chExt cx="381000" cy="2667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10668000" y="1200150"/>
                <a:ext cx="3810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90500">
                    <a:moveTo>
                      <a:pt x="381000" y="76200"/>
                    </a:moveTo>
                    <a:lnTo>
                      <a:pt x="190500" y="0"/>
                    </a:lnTo>
                    <a:lnTo>
                      <a:pt x="0" y="76200"/>
                    </a:lnTo>
                    <a:lnTo>
                      <a:pt x="190500" y="152400"/>
                    </a:lnTo>
                    <a:lnTo>
                      <a:pt x="381000" y="76200"/>
                    </a:lnTo>
                    <a:lnTo>
                      <a:pt x="381000" y="19050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744200" y="1306830"/>
                <a:ext cx="22860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60020">
                    <a:moveTo>
                      <a:pt x="0" y="0"/>
                    </a:moveTo>
                    <a:lnTo>
                      <a:pt x="0" y="102870"/>
                    </a:lnTo>
                    <a:cubicBezTo>
                      <a:pt x="0" y="134433"/>
                      <a:pt x="51174" y="160020"/>
                      <a:pt x="114300" y="160020"/>
                    </a:cubicBezTo>
                    <a:cubicBezTo>
                      <a:pt x="177426" y="160020"/>
                      <a:pt x="228600" y="134433"/>
                      <a:pt x="228600" y="102870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579044" y="1835150"/>
              <a:ext cx="5589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РКСИ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086259" y="2082800"/>
              <a:ext cx="1544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колледж связи</a:t>
              </a:r>
            </a:p>
          </p:txBody>
        </p:sp>
      </p:grpSp>
      <p:grpSp>
        <p:nvGrpSpPr>
          <p:cNvPr id="44" name="cover-question"/>
          <p:cNvGrpSpPr/>
          <p:nvPr/>
        </p:nvGrpSpPr>
        <p:grpSpPr>
          <a:xfrm>
            <a:off x="752856" y="6115050"/>
            <a:ext cx="4695346" cy="352044"/>
            <a:chOff x="752856" y="6115050"/>
            <a:chExt cx="4695346" cy="352044"/>
          </a:xfrm>
        </p:grpSpPr>
        <p:sp>
          <p:nvSpPr>
            <p:cNvPr id="43" name="TextBox 43"/>
            <p:cNvSpPr txBox="1"/>
            <p:nvPr/>
          </p:nvSpPr>
          <p:spPr>
            <a:xfrm>
              <a:off x="752856" y="6115050"/>
              <a:ext cx="46953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rgbClr val="E67E22"/>
                  </a:solidFill>
                  <a:latin typeface="+mn-lt"/>
                  <a:ea typeface="+mn-ea"/>
                  <a:cs typeface="+mn-cs"/>
                </a:rPr>
                <a:t>Почему деньги не гарантируют счастья?</a:t>
              </a:r>
            </a:p>
          </p:txBody>
        </p:sp>
      </p:grpSp>
      <p:grpSp>
        <p:nvGrpSpPr>
          <p:cNvPr id="46" name="cover-credit"/>
          <p:cNvGrpSpPr/>
          <p:nvPr/>
        </p:nvGrpSpPr>
        <p:grpSpPr>
          <a:xfrm>
            <a:off x="753618" y="6578600"/>
            <a:ext cx="5443991" cy="322707"/>
            <a:chOff x="753618" y="6578600"/>
            <a:chExt cx="5443991" cy="322707"/>
          </a:xfrm>
        </p:grpSpPr>
        <p:sp>
          <p:nvSpPr>
            <p:cNvPr id="45" name="credit"/>
            <p:cNvSpPr txBox="1"/>
            <p:nvPr/>
          </p:nvSpPr>
          <p:spPr>
            <a:xfrm>
              <a:off x="753618" y="6578600"/>
              <a:ext cx="54439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Basile Morin / Wikimedia Commons / CC BY-SA 4.0</a:t>
              </a:r>
            </a:p>
          </p:txBody>
        </p:sp>
      </p:grpSp>
      <p:pic>
        <p:nvPicPr>
          <p:cNvPr id="47" name="PPT Master narration: narration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800"/>
                  </p:stCondLst>
                </p:cTn>
                <p:tgtEl>
                  <p:spTgt spid="4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2-photo"/>
          <p:cNvPicPr>
            <a:picLocks noChangeAspect="1"/>
          </p:cNvPicPr>
          <p:nvPr/>
        </p:nvPicPr>
        <p:blipFill>
          <a:blip r:embed="rId2"/>
          <a:srcRect l="0" t="7858" r="0" b="785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2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2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2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grpSp>
        <p:nvGrpSpPr>
          <p:cNvPr id="8" name="p02-title"/>
          <p:cNvGrpSpPr/>
          <p:nvPr/>
        </p:nvGrpSpPr>
        <p:grpSpPr>
          <a:xfrm>
            <a:off x="743712" y="565150"/>
            <a:ext cx="4376193" cy="704088"/>
            <a:chOff x="743712" y="565150"/>
            <a:chExt cx="4376193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437619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Цель и три задачи</a:t>
              </a:r>
            </a:p>
          </p:txBody>
        </p:sp>
      </p:grpSp>
      <p:grpSp>
        <p:nvGrpSpPr>
          <p:cNvPr id="21" name="p02-goal"/>
          <p:cNvGrpSpPr/>
          <p:nvPr/>
        </p:nvGrpSpPr>
        <p:grpSpPr>
          <a:xfrm>
            <a:off x="762000" y="1619250"/>
            <a:ext cx="4000500" cy="4095750"/>
            <a:chOff x="762000" y="1619250"/>
            <a:chExt cx="4000500" cy="4095750"/>
          </a:xfrm>
        </p:grpSpPr>
        <p:sp>
          <p:nvSpPr>
            <p:cNvPr id="9" name="Rectangle 9"/>
            <p:cNvSpPr/>
            <p:nvPr/>
          </p:nvSpPr>
          <p:spPr>
            <a:xfrm>
              <a:off x="762000" y="1619250"/>
              <a:ext cx="4000500" cy="4095750"/>
            </a:xfrm>
            <a:prstGeom prst="roundRect">
              <a:avLst>
                <a:gd name="adj" fmla="val 4286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219200" y="2076450"/>
              <a:ext cx="457201" cy="457201"/>
              <a:chOff x="1219200" y="2076450"/>
              <a:chExt cx="457201" cy="45720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422400" y="22796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50800">
                <a:solidFill>
                  <a:srgbClr val="27AE60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320800" y="2178050"/>
                <a:ext cx="25400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54000" h="254000">
                    <a:moveTo>
                      <a:pt x="0" y="127000"/>
                    </a:moveTo>
                    <a:cubicBezTo>
                      <a:pt x="0" y="197140"/>
                      <a:pt x="56860" y="254000"/>
                      <a:pt x="127000" y="254000"/>
                    </a:cubicBezTo>
                    <a:cubicBezTo>
                      <a:pt x="197140" y="254000"/>
                      <a:pt x="254000" y="197140"/>
                      <a:pt x="254000" y="127000"/>
                    </a:cubicBezTo>
                    <a:cubicBezTo>
                      <a:pt x="254000" y="56860"/>
                      <a:pt x="197140" y="0"/>
                      <a:pt x="127000" y="0"/>
                    </a:cubicBezTo>
                    <a:cubicBezTo>
                      <a:pt x="56860" y="0"/>
                      <a:pt x="0" y="56860"/>
                      <a:pt x="0" y="127000"/>
                    </a:cubicBezTo>
                  </a:path>
                </a:pathLst>
              </a:custGeom>
              <a:noFill/>
              <a:ln w="50800">
                <a:solidFill>
                  <a:srgbClr val="27AE6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19200" y="2076450"/>
                <a:ext cx="457201" cy="457201"/>
              </a:xfrm>
              <a:custGeom>
                <a:avLst/>
                <a:gdLst/>
                <a:ahLst/>
                <a:cxnLst/>
                <a:rect l="l" t="t" r="r" b="b"/>
                <a:pathLst>
                  <a:path w="457201" h="457201">
                    <a:moveTo>
                      <a:pt x="0" y="228600"/>
                    </a:moveTo>
                    <a:cubicBezTo>
                      <a:pt x="0" y="354853"/>
                      <a:pt x="102348" y="457201"/>
                      <a:pt x="228600" y="457201"/>
                    </a:cubicBezTo>
                    <a:cubicBezTo>
                      <a:pt x="354853" y="457201"/>
                      <a:pt x="457201" y="354853"/>
                      <a:pt x="457201" y="228600"/>
                    </a:cubicBezTo>
                    <a:cubicBezTo>
                      <a:pt x="457201" y="102348"/>
                      <a:pt x="354853" y="0"/>
                      <a:pt x="228600" y="0"/>
                    </a:cubicBezTo>
                    <a:cubicBezTo>
                      <a:pt x="102348" y="0"/>
                      <a:pt x="0" y="102348"/>
                      <a:pt x="0" y="228600"/>
                    </a:cubicBezTo>
                  </a:path>
                </a:pathLst>
              </a:custGeom>
              <a:noFill/>
              <a:ln w="50800">
                <a:solidFill>
                  <a:srgbClr val="27AE60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895856" y="2209800"/>
              <a:ext cx="609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27AE60"/>
                  </a:solidFill>
                  <a:latin typeface="+mn-lt"/>
                  <a:ea typeface="+mn-ea"/>
                  <a:cs typeface="+mn-cs"/>
                </a:rPr>
                <a:t>ЦЕЛЬ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3856" y="2971800"/>
              <a:ext cx="24941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Выяснить, что делает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3856" y="3295650"/>
              <a:ext cx="22179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людей счастливыми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3856" y="3619500"/>
              <a:ext cx="2285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 современном мире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1143000" y="419100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3856" y="4438650"/>
              <a:ext cx="249228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Учебная презентация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3856" y="4762500"/>
              <a:ext cx="2285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для защиты проекта</a:t>
              </a:r>
            </a:p>
          </p:txBody>
        </p:sp>
      </p:grpSp>
      <p:grpSp>
        <p:nvGrpSpPr>
          <p:cNvPr id="46" name="p02-tasks"/>
          <p:cNvGrpSpPr/>
          <p:nvPr/>
        </p:nvGrpSpPr>
        <p:grpSpPr>
          <a:xfrm>
            <a:off x="5143500" y="1619250"/>
            <a:ext cx="6286500" cy="4095750"/>
            <a:chOff x="5143500" y="1619250"/>
            <a:chExt cx="6286500" cy="4095750"/>
          </a:xfrm>
        </p:grpSpPr>
        <p:grpSp>
          <p:nvGrpSpPr>
            <p:cNvPr id="29" name="p02-task1"/>
            <p:cNvGrpSpPr/>
            <p:nvPr/>
          </p:nvGrpSpPr>
          <p:grpSpPr>
            <a:xfrm>
              <a:off x="5143500" y="1619250"/>
              <a:ext cx="6286500" cy="1238250"/>
              <a:chOff x="5143500" y="1619250"/>
              <a:chExt cx="6286500" cy="1238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143500" y="1619250"/>
                <a:ext cx="6286500" cy="1238250"/>
              </a:xfrm>
              <a:prstGeom prst="roundRect">
                <a:avLst>
                  <a:gd name="adj" fmla="val 12308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5429250" y="1952625"/>
                <a:ext cx="571500" cy="57150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5553075" y="2076450"/>
                <a:ext cx="323850" cy="32385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5667375" y="2190750"/>
                <a:ext cx="95250" cy="95250"/>
              </a:xfrm>
              <a:prstGeom prst="ellipse">
                <a:avLst/>
              </a:pr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5638468" y="2095500"/>
                <a:ext cx="1530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277356" y="1943100"/>
                <a:ext cx="26126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Рассмотреть подходы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277356" y="2266950"/>
                <a:ext cx="281839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научные теории счастья</a:t>
                </a:r>
              </a:p>
            </p:txBody>
          </p:sp>
        </p:grpSp>
        <p:grpSp>
          <p:nvGrpSpPr>
            <p:cNvPr id="37" name="p02-task2"/>
            <p:cNvGrpSpPr/>
            <p:nvPr/>
          </p:nvGrpSpPr>
          <p:grpSpPr>
            <a:xfrm>
              <a:off x="5143500" y="3048000"/>
              <a:ext cx="6286500" cy="1238250"/>
              <a:chOff x="5143500" y="3048000"/>
              <a:chExt cx="6286500" cy="12382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143500" y="3048000"/>
                <a:ext cx="6286500" cy="1238250"/>
              </a:xfrm>
              <a:prstGeom prst="roundRect">
                <a:avLst>
                  <a:gd name="adj" fmla="val 12308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5429250" y="3381375"/>
                <a:ext cx="571500" cy="57150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5553075" y="3505200"/>
                <a:ext cx="323850" cy="32385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5667375" y="3619500"/>
                <a:ext cx="95250" cy="95250"/>
              </a:xfrm>
              <a:prstGeom prst="ellipse">
                <a:avLst/>
              </a:pr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638468" y="3524250"/>
                <a:ext cx="1530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277356" y="3371850"/>
                <a:ext cx="20529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Выявить факторы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277356" y="3695700"/>
                <a:ext cx="30849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что действительно влияет</a:t>
                </a:r>
              </a:p>
            </p:txBody>
          </p:sp>
        </p:grpSp>
        <p:grpSp>
          <p:nvGrpSpPr>
            <p:cNvPr id="45" name="p02-task3"/>
            <p:cNvGrpSpPr/>
            <p:nvPr/>
          </p:nvGrpSpPr>
          <p:grpSpPr>
            <a:xfrm>
              <a:off x="5143500" y="4476750"/>
              <a:ext cx="6286500" cy="1238250"/>
              <a:chOff x="5143500" y="4476750"/>
              <a:chExt cx="6286500" cy="12382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5143500" y="4476750"/>
                <a:ext cx="6286500" cy="1238250"/>
              </a:xfrm>
              <a:prstGeom prst="roundRect">
                <a:avLst>
                  <a:gd name="adj" fmla="val 12308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5429250" y="4810125"/>
                <a:ext cx="571500" cy="57150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5553075" y="4933950"/>
                <a:ext cx="323850" cy="323850"/>
              </a:xfrm>
              <a:prstGeom prst="ellipse">
                <a:avLst/>
              </a:prstGeom>
              <a:noFill/>
              <a:ln w="38100">
                <a:solidFill>
                  <a:srgbClr val="E67E22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5667375" y="5048250"/>
                <a:ext cx="95250" cy="95250"/>
              </a:xfrm>
              <a:prstGeom prst="ellipse">
                <a:avLst/>
              </a:prstGeom>
              <a:solidFill>
                <a:srgbClr val="E67E2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5638468" y="4953000"/>
                <a:ext cx="15306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80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277356" y="4800600"/>
                <a:ext cx="23327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Дать рекомендации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77356" y="5124450"/>
                <a:ext cx="22179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практические шаги</a:t>
                </a:r>
              </a:p>
            </p:txBody>
          </p:sp>
        </p:grpSp>
      </p:grpSp>
      <p:sp>
        <p:nvSpPr>
          <p:cNvPr id="47" name="credit"/>
          <p:cNvSpPr txBox="1"/>
          <p:nvPr/>
        </p:nvSpPr>
        <p:spPr>
          <a:xfrm>
            <a:off x="753618" y="6578600"/>
            <a:ext cx="431207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Wacky1976 / Wikimedia / CC BY-SA 4.0</a:t>
            </a:r>
          </a:p>
        </p:txBody>
      </p:sp>
      <p:pic>
        <p:nvPicPr>
          <p:cNvPr id="48" name="PPT Master narration: narration2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48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3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3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3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3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grpSp>
        <p:nvGrpSpPr>
          <p:cNvPr id="8" name="p03-title"/>
          <p:cNvGrpSpPr/>
          <p:nvPr/>
        </p:nvGrpSpPr>
        <p:grpSpPr>
          <a:xfrm>
            <a:off x="743712" y="565150"/>
            <a:ext cx="3961227" cy="704088"/>
            <a:chOff x="743712" y="565150"/>
            <a:chExt cx="3961227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3961227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мы разберём</a:t>
              </a:r>
            </a:p>
          </p:txBody>
        </p:sp>
      </p:grpSp>
      <p:grpSp>
        <p:nvGrpSpPr>
          <p:cNvPr id="78" name="p03-grid"/>
          <p:cNvGrpSpPr/>
          <p:nvPr/>
        </p:nvGrpSpPr>
        <p:grpSpPr>
          <a:xfrm>
            <a:off x="762000" y="1905000"/>
            <a:ext cx="10715625" cy="3333750"/>
            <a:chOff x="762000" y="1905000"/>
            <a:chExt cx="10715625" cy="3333750"/>
          </a:xfrm>
        </p:grpSpPr>
        <p:grpSp>
          <p:nvGrpSpPr>
            <p:cNvPr id="13" name="p03-t01"/>
            <p:cNvGrpSpPr/>
            <p:nvPr/>
          </p:nvGrpSpPr>
          <p:grpSpPr>
            <a:xfrm>
              <a:off x="762000" y="1905000"/>
              <a:ext cx="2571750" cy="1428750"/>
              <a:chOff x="762000" y="1905000"/>
              <a:chExt cx="2571750" cy="1428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42987" y="2203450"/>
                <a:ext cx="314324" cy="279399"/>
              </a:xfrm>
              <a:custGeom>
                <a:avLst/>
                <a:gdLst/>
                <a:ahLst/>
                <a:cxnLst/>
                <a:rect l="l" t="t" r="r" b="b"/>
                <a:pathLst>
                  <a:path w="314324" h="279399">
                    <a:moveTo>
                      <a:pt x="0" y="139700"/>
                    </a:moveTo>
                    <a:lnTo>
                      <a:pt x="69850" y="139700"/>
                    </a:lnTo>
                    <a:lnTo>
                      <a:pt x="122237" y="279399"/>
                    </a:lnTo>
                    <a:lnTo>
                      <a:pt x="192087" y="0"/>
                    </a:lnTo>
                    <a:lnTo>
                      <a:pt x="244475" y="139700"/>
                    </a:lnTo>
                    <a:lnTo>
                      <a:pt x="314324" y="139700"/>
                    </a:lnTo>
                  </a:path>
                </a:pathLst>
              </a:custGeom>
              <a:noFill/>
              <a:ln w="34925">
                <a:solidFill>
                  <a:srgbClr val="27AE60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514856" y="2228850"/>
                <a:ext cx="177309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Зачем изучать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218" y="2806700"/>
                <a:ext cx="871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счастье</a:t>
                </a:r>
              </a:p>
            </p:txBody>
          </p:sp>
        </p:grpSp>
        <p:grpSp>
          <p:nvGrpSpPr>
            <p:cNvPr id="23" name="p03-t02"/>
            <p:cNvGrpSpPr/>
            <p:nvPr/>
          </p:nvGrpSpPr>
          <p:grpSpPr>
            <a:xfrm>
              <a:off x="3476625" y="1905000"/>
              <a:ext cx="2571750" cy="1428750"/>
              <a:chOff x="3476625" y="1905000"/>
              <a:chExt cx="2571750" cy="14287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476625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20" name="Group 20"/>
              <p:cNvGrpSpPr/>
              <p:nvPr/>
            </p:nvGrpSpPr>
            <p:grpSpPr>
              <a:xfrm>
                <a:off x="3757612" y="2185987"/>
                <a:ext cx="314325" cy="306387"/>
                <a:chOff x="3757612" y="2185987"/>
                <a:chExt cx="314325" cy="306387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3827462" y="2482849"/>
                  <a:ext cx="1746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5" h="9525">
                      <a:moveTo>
                        <a:pt x="0" y="0"/>
                      </a:moveTo>
                      <a:lnTo>
                        <a:pt x="174625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3810000" y="2220912"/>
                  <a:ext cx="209550" cy="17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17462">
                      <a:moveTo>
                        <a:pt x="0" y="17462"/>
                      </a:moveTo>
                      <a:lnTo>
                        <a:pt x="104775" y="0"/>
                      </a:lnTo>
                      <a:lnTo>
                        <a:pt x="209550" y="17462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3914775" y="2185987"/>
                  <a:ext cx="9525" cy="296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96862">
                      <a:moveTo>
                        <a:pt x="0" y="0"/>
                      </a:moveTo>
                      <a:lnTo>
                        <a:pt x="0" y="296862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3757612" y="2238375"/>
                  <a:ext cx="10477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57162">
                      <a:moveTo>
                        <a:pt x="104775" y="104775"/>
                      </a:moveTo>
                      <a:lnTo>
                        <a:pt x="52387" y="0"/>
                      </a:lnTo>
                      <a:lnTo>
                        <a:pt x="0" y="104775"/>
                      </a:lnTo>
                      <a:cubicBezTo>
                        <a:pt x="0" y="133708"/>
                        <a:pt x="23455" y="157162"/>
                        <a:pt x="52387" y="157162"/>
                      </a:cubicBezTo>
                      <a:cubicBezTo>
                        <a:pt x="81320" y="157162"/>
                        <a:pt x="104775" y="133708"/>
                        <a:pt x="104775" y="104775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967162" y="2238375"/>
                  <a:ext cx="10477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57162">
                      <a:moveTo>
                        <a:pt x="104775" y="104775"/>
                      </a:moveTo>
                      <a:lnTo>
                        <a:pt x="52387" y="0"/>
                      </a:lnTo>
                      <a:lnTo>
                        <a:pt x="0" y="104775"/>
                      </a:lnTo>
                      <a:cubicBezTo>
                        <a:pt x="0" y="133708"/>
                        <a:pt x="23455" y="157162"/>
                        <a:pt x="52387" y="157162"/>
                      </a:cubicBezTo>
                      <a:cubicBezTo>
                        <a:pt x="81320" y="157162"/>
                        <a:pt x="104775" y="133708"/>
                        <a:pt x="104775" y="104775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21" name="TextBox 21"/>
              <p:cNvSpPr txBox="1"/>
              <p:nvPr/>
            </p:nvSpPr>
            <p:spPr>
              <a:xfrm>
                <a:off x="4229481" y="2228850"/>
                <a:ext cx="1005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Научный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696843" y="2806700"/>
                <a:ext cx="74977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подход</a:t>
                </a:r>
              </a:p>
            </p:txBody>
          </p:sp>
        </p:grpSp>
        <p:grpSp>
          <p:nvGrpSpPr>
            <p:cNvPr id="34" name="p03-t03"/>
            <p:cNvGrpSpPr/>
            <p:nvPr/>
          </p:nvGrpSpPr>
          <p:grpSpPr>
            <a:xfrm>
              <a:off x="6191250" y="1905000"/>
              <a:ext cx="2571750" cy="1428750"/>
              <a:chOff x="6191250" y="1905000"/>
              <a:chExt cx="2571750" cy="14287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6191250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6472237" y="2185987"/>
                <a:ext cx="314325" cy="314325"/>
                <a:chOff x="6472237" y="2185987"/>
                <a:chExt cx="314325" cy="314325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6629400" y="2360612"/>
                  <a:ext cx="122237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39700">
                      <a:moveTo>
                        <a:pt x="61119" y="0"/>
                      </a:moveTo>
                      <a:cubicBezTo>
                        <a:pt x="27364" y="0"/>
                        <a:pt x="0" y="27364"/>
                        <a:pt x="0" y="61119"/>
                      </a:cubicBezTo>
                      <a:lnTo>
                        <a:pt x="0" y="78581"/>
                      </a:lnTo>
                      <a:cubicBezTo>
                        <a:pt x="0" y="112336"/>
                        <a:pt x="27364" y="139700"/>
                        <a:pt x="61119" y="139700"/>
                      </a:cubicBezTo>
                      <a:cubicBezTo>
                        <a:pt x="94874" y="139700"/>
                        <a:pt x="122237" y="112336"/>
                        <a:pt x="122237" y="78581"/>
                      </a:cubicBezTo>
                      <a:lnTo>
                        <a:pt x="122237" y="47149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6507162" y="2360612"/>
                  <a:ext cx="122237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39700">
                      <a:moveTo>
                        <a:pt x="61119" y="0"/>
                      </a:moveTo>
                      <a:cubicBezTo>
                        <a:pt x="94874" y="0"/>
                        <a:pt x="122237" y="27364"/>
                        <a:pt x="122237" y="61119"/>
                      </a:cubicBezTo>
                      <a:lnTo>
                        <a:pt x="122237" y="78581"/>
                      </a:lnTo>
                      <a:cubicBezTo>
                        <a:pt x="122237" y="112336"/>
                        <a:pt x="94874" y="139700"/>
                        <a:pt x="61119" y="139700"/>
                      </a:cubicBezTo>
                      <a:cubicBezTo>
                        <a:pt x="27364" y="139700"/>
                        <a:pt x="0" y="112336"/>
                        <a:pt x="0" y="78581"/>
                      </a:cubicBezTo>
                      <a:lnTo>
                        <a:pt x="0" y="47149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6716712" y="2290762"/>
                  <a:ext cx="69850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122237">
                      <a:moveTo>
                        <a:pt x="8731" y="122237"/>
                      </a:moveTo>
                      <a:cubicBezTo>
                        <a:pt x="42486" y="122237"/>
                        <a:pt x="69850" y="94874"/>
                        <a:pt x="69850" y="61119"/>
                      </a:cubicBezTo>
                      <a:cubicBezTo>
                        <a:pt x="69850" y="27364"/>
                        <a:pt x="42486" y="0"/>
                        <a:pt x="8731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629400" y="2185987"/>
                  <a:ext cx="122237" cy="1100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110014">
                      <a:moveTo>
                        <a:pt x="122237" y="110014"/>
                      </a:moveTo>
                      <a:lnTo>
                        <a:pt x="122237" y="61119"/>
                      </a:lnTo>
                      <a:cubicBezTo>
                        <a:pt x="122237" y="27364"/>
                        <a:pt x="94874" y="0"/>
                        <a:pt x="61119" y="0"/>
                      </a:cubicBezTo>
                      <a:cubicBezTo>
                        <a:pt x="27364" y="0"/>
                        <a:pt x="0" y="27364"/>
                        <a:pt x="0" y="61119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472237" y="2290762"/>
                  <a:ext cx="69850" cy="122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122237">
                      <a:moveTo>
                        <a:pt x="61119" y="122237"/>
                      </a:moveTo>
                      <a:cubicBezTo>
                        <a:pt x="27364" y="122237"/>
                        <a:pt x="0" y="94874"/>
                        <a:pt x="0" y="61119"/>
                      </a:cubicBezTo>
                      <a:cubicBezTo>
                        <a:pt x="0" y="27364"/>
                        <a:pt x="27364" y="0"/>
                        <a:pt x="61119" y="0"/>
                      </a:cubicBezTo>
                      <a:lnTo>
                        <a:pt x="69850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507162" y="2185987"/>
                  <a:ext cx="122237" cy="2357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237" h="235743">
                      <a:moveTo>
                        <a:pt x="0" y="110014"/>
                      </a:moveTo>
                      <a:lnTo>
                        <a:pt x="0" y="61119"/>
                      </a:lnTo>
                      <a:cubicBezTo>
                        <a:pt x="0" y="27364"/>
                        <a:pt x="27364" y="0"/>
                        <a:pt x="61119" y="0"/>
                      </a:cubicBezTo>
                      <a:cubicBezTo>
                        <a:pt x="94874" y="0"/>
                        <a:pt x="122237" y="27364"/>
                        <a:pt x="122237" y="61119"/>
                      </a:cubicBezTo>
                      <a:lnTo>
                        <a:pt x="122237" y="235743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6944106" y="2228850"/>
                <a:ext cx="14255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Физиология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11468" y="2806700"/>
                <a:ext cx="105581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гормоны</a:t>
                </a:r>
              </a:p>
            </p:txBody>
          </p:sp>
        </p:grpSp>
        <p:grpSp>
          <p:nvGrpSpPr>
            <p:cNvPr id="44" name="p03-t04"/>
            <p:cNvGrpSpPr/>
            <p:nvPr/>
          </p:nvGrpSpPr>
          <p:grpSpPr>
            <a:xfrm>
              <a:off x="8905875" y="1905000"/>
              <a:ext cx="2571750" cy="1428750"/>
              <a:chOff x="8905875" y="1905000"/>
              <a:chExt cx="2571750" cy="14287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8905875" y="1905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9186862" y="2255837"/>
                <a:ext cx="314325" cy="174625"/>
                <a:chOff x="9186862" y="2255837"/>
                <a:chExt cx="314325" cy="174625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9204325" y="2273300"/>
                  <a:ext cx="279399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399" h="139700">
                      <a:moveTo>
                        <a:pt x="0" y="139700"/>
                      </a:moveTo>
                      <a:lnTo>
                        <a:pt x="104775" y="17462"/>
                      </a:lnTo>
                      <a:lnTo>
                        <a:pt x="192087" y="104775"/>
                      </a:lnTo>
                      <a:lnTo>
                        <a:pt x="279399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9378950" y="2360612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9291637" y="2273300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9186862" y="2395537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9466262" y="2255837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17462"/>
                      </a:moveTo>
                      <a:cubicBezTo>
                        <a:pt x="0" y="27107"/>
                        <a:pt x="7818" y="34925"/>
                        <a:pt x="17462" y="34925"/>
                      </a:cubicBezTo>
                      <a:cubicBezTo>
                        <a:pt x="27107" y="34925"/>
                        <a:pt x="34925" y="27107"/>
                        <a:pt x="34925" y="17462"/>
                      </a:cubicBezTo>
                      <a:cubicBezTo>
                        <a:pt x="34925" y="7818"/>
                        <a:pt x="27107" y="0"/>
                        <a:pt x="17462" y="0"/>
                      </a:cubicBezTo>
                      <a:cubicBezTo>
                        <a:pt x="7818" y="0"/>
                        <a:pt x="0" y="7818"/>
                        <a:pt x="0" y="17462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9658731" y="2228850"/>
                <a:ext cx="1005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История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126093" y="2806700"/>
                <a:ext cx="99410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взглядов</a:t>
                </a:r>
              </a:p>
            </p:txBody>
          </p:sp>
        </p:grpSp>
        <p:grpSp>
          <p:nvGrpSpPr>
            <p:cNvPr id="53" name="p03-t05"/>
            <p:cNvGrpSpPr/>
            <p:nvPr/>
          </p:nvGrpSpPr>
          <p:grpSpPr>
            <a:xfrm>
              <a:off x="762000" y="3810000"/>
              <a:ext cx="2571750" cy="1428750"/>
              <a:chOff x="762000" y="3810000"/>
              <a:chExt cx="2571750" cy="1428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762000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50" name="Group 50"/>
              <p:cNvGrpSpPr/>
              <p:nvPr/>
            </p:nvGrpSpPr>
            <p:grpSpPr>
              <a:xfrm>
                <a:off x="1042987" y="4090987"/>
                <a:ext cx="314324" cy="314324"/>
                <a:chOff x="1042987" y="4090987"/>
                <a:chExt cx="314324" cy="314324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1042987" y="4090987"/>
                  <a:ext cx="314324" cy="314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4" h="314324">
                      <a:moveTo>
                        <a:pt x="0" y="157162"/>
                      </a:moveTo>
                      <a:cubicBezTo>
                        <a:pt x="0" y="243961"/>
                        <a:pt x="70364" y="314324"/>
                        <a:pt x="157162" y="314324"/>
                      </a:cubicBezTo>
                      <a:cubicBezTo>
                        <a:pt x="243961" y="314324"/>
                        <a:pt x="314324" y="243961"/>
                        <a:pt x="314324" y="157162"/>
                      </a:cubicBezTo>
                      <a:cubicBezTo>
                        <a:pt x="314324" y="70364"/>
                        <a:pt x="243961" y="0"/>
                        <a:pt x="157162" y="0"/>
                      </a:cubicBezTo>
                      <a:cubicBezTo>
                        <a:pt x="70364" y="0"/>
                        <a:pt x="0" y="70364"/>
                        <a:pt x="0" y="157162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1147762" y="42132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1252537" y="4213225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175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1156493" y="4300537"/>
                  <a:ext cx="87312" cy="183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312" h="18345">
                      <a:moveTo>
                        <a:pt x="0" y="0"/>
                      </a:moveTo>
                      <a:cubicBezTo>
                        <a:pt x="11496" y="11733"/>
                        <a:pt x="27230" y="18345"/>
                        <a:pt x="43656" y="18345"/>
                      </a:cubicBezTo>
                      <a:cubicBezTo>
                        <a:pt x="60082" y="18345"/>
                        <a:pt x="75817" y="11733"/>
                        <a:pt x="87312" y="0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1514856" y="4133850"/>
                <a:ext cx="11457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Гедонизм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982218" y="4711700"/>
                <a:ext cx="130014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эвдемония</a:t>
                </a:r>
              </a:p>
            </p:txBody>
          </p:sp>
        </p:grpSp>
        <p:grpSp>
          <p:nvGrpSpPr>
            <p:cNvPr id="60" name="p03-t06"/>
            <p:cNvGrpSpPr/>
            <p:nvPr/>
          </p:nvGrpSpPr>
          <p:grpSpPr>
            <a:xfrm>
              <a:off x="3476625" y="3810000"/>
              <a:ext cx="2571750" cy="1428750"/>
              <a:chOff x="3476625" y="3810000"/>
              <a:chExt cx="2571750" cy="14287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3476625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57" name="Group 57"/>
              <p:cNvGrpSpPr/>
              <p:nvPr/>
            </p:nvGrpSpPr>
            <p:grpSpPr>
              <a:xfrm>
                <a:off x="3752745" y="4093990"/>
                <a:ext cx="315699" cy="316189"/>
                <a:chOff x="3752745" y="4093990"/>
                <a:chExt cx="315699" cy="316189"/>
              </a:xfrm>
            </p:grpSpPr>
            <p:sp>
              <p:nvSpPr>
                <p:cNvPr id="55" name="Freeform 55"/>
                <p:cNvSpPr/>
                <p:nvPr/>
              </p:nvSpPr>
              <p:spPr>
                <a:xfrm>
                  <a:off x="3752745" y="4093990"/>
                  <a:ext cx="315699" cy="3161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5699" h="316189">
                      <a:moveTo>
                        <a:pt x="127105" y="490"/>
                      </a:moveTo>
                      <a:cubicBezTo>
                        <a:pt x="51493" y="18018"/>
                        <a:pt x="0" y="88120"/>
                        <a:pt x="5888" y="165514"/>
                      </a:cubicBezTo>
                      <a:cubicBezTo>
                        <a:pt x="11776" y="242908"/>
                        <a:pt x="73281" y="304413"/>
                        <a:pt x="150675" y="310301"/>
                      </a:cubicBezTo>
                      <a:cubicBezTo>
                        <a:pt x="228069" y="316189"/>
                        <a:pt x="298171" y="264697"/>
                        <a:pt x="315699" y="189084"/>
                      </a:cubicBezTo>
                      <a:cubicBezTo>
                        <a:pt x="315699" y="179440"/>
                        <a:pt x="307881" y="171622"/>
                        <a:pt x="298237" y="171622"/>
                      </a:cubicBezTo>
                      <a:lnTo>
                        <a:pt x="179492" y="171622"/>
                      </a:lnTo>
                      <a:cubicBezTo>
                        <a:pt x="160204" y="171622"/>
                        <a:pt x="144567" y="155986"/>
                        <a:pt x="144567" y="136697"/>
                      </a:cubicBezTo>
                      <a:lnTo>
                        <a:pt x="144567" y="14460"/>
                      </a:lnTo>
                      <a:cubicBezTo>
                        <a:pt x="144129" y="10281"/>
                        <a:pt x="142036" y="6451"/>
                        <a:pt x="138755" y="3827"/>
                      </a:cubicBezTo>
                      <a:cubicBezTo>
                        <a:pt x="135474" y="1202"/>
                        <a:pt x="131278" y="0"/>
                        <a:pt x="127105" y="490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3967162" y="4099719"/>
                  <a:ext cx="96044" cy="960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044" h="96044">
                      <a:moveTo>
                        <a:pt x="0" y="0"/>
                      </a:moveTo>
                      <a:cubicBezTo>
                        <a:pt x="44910" y="15813"/>
                        <a:pt x="80230" y="51133"/>
                        <a:pt x="96044" y="96044"/>
                      </a:cubicBezTo>
                      <a:lnTo>
                        <a:pt x="17462" y="96044"/>
                      </a:lnTo>
                      <a:cubicBezTo>
                        <a:pt x="7818" y="96044"/>
                        <a:pt x="0" y="88225"/>
                        <a:pt x="0" y="78581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58" name="TextBox 58"/>
              <p:cNvSpPr txBox="1"/>
              <p:nvPr/>
            </p:nvSpPr>
            <p:spPr>
              <a:xfrm>
                <a:off x="4229481" y="4133850"/>
                <a:ext cx="1005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Формула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3696843" y="4711700"/>
                <a:ext cx="871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счастья</a:t>
                </a:r>
              </a:p>
            </p:txBody>
          </p:sp>
        </p:grpSp>
        <p:grpSp>
          <p:nvGrpSpPr>
            <p:cNvPr id="69" name="p03-t07"/>
            <p:cNvGrpSpPr/>
            <p:nvPr/>
          </p:nvGrpSpPr>
          <p:grpSpPr>
            <a:xfrm>
              <a:off x="6191250" y="3810000"/>
              <a:ext cx="2571750" cy="1428750"/>
              <a:chOff x="6191250" y="3810000"/>
              <a:chExt cx="2571750" cy="1428750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6191250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66" name="Group 66"/>
              <p:cNvGrpSpPr/>
              <p:nvPr/>
            </p:nvGrpSpPr>
            <p:grpSpPr>
              <a:xfrm>
                <a:off x="6523693" y="4086575"/>
                <a:ext cx="211409" cy="318737"/>
                <a:chOff x="6523693" y="4086575"/>
                <a:chExt cx="211409" cy="318737"/>
              </a:xfrm>
            </p:grpSpPr>
            <p:sp>
              <p:nvSpPr>
                <p:cNvPr id="62" name="Freeform 62"/>
                <p:cNvSpPr/>
                <p:nvPr/>
              </p:nvSpPr>
              <p:spPr>
                <a:xfrm>
                  <a:off x="6594475" y="4230687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34925" y="349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63" name="Freeform 63"/>
                <p:cNvSpPr/>
                <p:nvPr/>
              </p:nvSpPr>
              <p:spPr>
                <a:xfrm>
                  <a:off x="6629400" y="4213225"/>
                  <a:ext cx="349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34925">
                      <a:moveTo>
                        <a:pt x="0" y="34925"/>
                      </a:moveTo>
                      <a:lnTo>
                        <a:pt x="34925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64" name="Freeform 64"/>
                <p:cNvSpPr/>
                <p:nvPr/>
              </p:nvSpPr>
              <p:spPr>
                <a:xfrm>
                  <a:off x="6629400" y="4178300"/>
                  <a:ext cx="9525" cy="227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7012">
                      <a:moveTo>
                        <a:pt x="0" y="227012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65" name="Freeform 65"/>
                <p:cNvSpPr/>
                <p:nvPr/>
              </p:nvSpPr>
              <p:spPr>
                <a:xfrm>
                  <a:off x="6523693" y="4086575"/>
                  <a:ext cx="211409" cy="2315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409" h="231515">
                      <a:moveTo>
                        <a:pt x="67708" y="231424"/>
                      </a:moveTo>
                      <a:cubicBezTo>
                        <a:pt x="52242" y="230518"/>
                        <a:pt x="37970" y="222814"/>
                        <a:pt x="28727" y="210380"/>
                      </a:cubicBezTo>
                      <a:cubicBezTo>
                        <a:pt x="19484" y="197946"/>
                        <a:pt x="16219" y="182059"/>
                        <a:pt x="19809" y="166988"/>
                      </a:cubicBezTo>
                      <a:cubicBezTo>
                        <a:pt x="6969" y="156295"/>
                        <a:pt x="0" y="140119"/>
                        <a:pt x="1049" y="123443"/>
                      </a:cubicBezTo>
                      <a:cubicBezTo>
                        <a:pt x="2098" y="106766"/>
                        <a:pt x="11039" y="91591"/>
                        <a:pt x="25117" y="82591"/>
                      </a:cubicBezTo>
                      <a:cubicBezTo>
                        <a:pt x="12545" y="60256"/>
                        <a:pt x="17979" y="32103"/>
                        <a:pt x="37962" y="16051"/>
                      </a:cubicBezTo>
                      <a:cubicBezTo>
                        <a:pt x="57945" y="0"/>
                        <a:pt x="86608" y="764"/>
                        <a:pt x="105707" y="17858"/>
                      </a:cubicBezTo>
                      <a:cubicBezTo>
                        <a:pt x="124809" y="792"/>
                        <a:pt x="153452" y="43"/>
                        <a:pt x="173420" y="16086"/>
                      </a:cubicBezTo>
                      <a:cubicBezTo>
                        <a:pt x="193389" y="32130"/>
                        <a:pt x="198828" y="60261"/>
                        <a:pt x="186279" y="82591"/>
                      </a:cubicBezTo>
                      <a:cubicBezTo>
                        <a:pt x="200359" y="91588"/>
                        <a:pt x="209304" y="106762"/>
                        <a:pt x="210356" y="123438"/>
                      </a:cubicBezTo>
                      <a:cubicBezTo>
                        <a:pt x="211409" y="140114"/>
                        <a:pt x="204443" y="156292"/>
                        <a:pt x="191605" y="166988"/>
                      </a:cubicBezTo>
                      <a:cubicBezTo>
                        <a:pt x="195318" y="182582"/>
                        <a:pt x="191688" y="199019"/>
                        <a:pt x="181750" y="211599"/>
                      </a:cubicBezTo>
                      <a:cubicBezTo>
                        <a:pt x="171813" y="224178"/>
                        <a:pt x="156663" y="231515"/>
                        <a:pt x="140632" y="231511"/>
                      </a:cubicBezTo>
                      <a:lnTo>
                        <a:pt x="70782" y="231511"/>
                      </a:lnTo>
                      <a:lnTo>
                        <a:pt x="67708" y="231424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67" name="TextBox 67"/>
              <p:cNvSpPr txBox="1"/>
              <p:nvPr/>
            </p:nvSpPr>
            <p:spPr>
              <a:xfrm>
                <a:off x="6944106" y="4133850"/>
                <a:ext cx="100577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Факторы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6411468" y="4711700"/>
                <a:ext cx="871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счастья</a:t>
                </a:r>
              </a:p>
            </p:txBody>
          </p:sp>
        </p:grpSp>
        <p:grpSp>
          <p:nvGrpSpPr>
            <p:cNvPr id="77" name="p03-t08"/>
            <p:cNvGrpSpPr/>
            <p:nvPr/>
          </p:nvGrpSpPr>
          <p:grpSpPr>
            <a:xfrm>
              <a:off x="8905875" y="3810000"/>
              <a:ext cx="2571750" cy="1428750"/>
              <a:chOff x="8905875" y="3810000"/>
              <a:chExt cx="2571750" cy="1428750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8905875" y="3810000"/>
                <a:ext cx="2571750" cy="1428750"/>
              </a:xfrm>
              <a:prstGeom prst="roundRect">
                <a:avLst>
                  <a:gd name="adj" fmla="val 10667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74" name="Group 74"/>
              <p:cNvGrpSpPr/>
              <p:nvPr/>
            </p:nvGrpSpPr>
            <p:grpSpPr>
              <a:xfrm>
                <a:off x="9193882" y="4090987"/>
                <a:ext cx="300250" cy="312404"/>
                <a:chOff x="9193882" y="4090987"/>
                <a:chExt cx="300250" cy="312404"/>
              </a:xfrm>
            </p:grpSpPr>
            <p:sp>
              <p:nvSpPr>
                <p:cNvPr id="71" name="Freeform 71"/>
                <p:cNvSpPr/>
                <p:nvPr/>
              </p:nvSpPr>
              <p:spPr>
                <a:xfrm>
                  <a:off x="9239250" y="4090987"/>
                  <a:ext cx="209550" cy="209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209550">
                      <a:moveTo>
                        <a:pt x="0" y="104775"/>
                      </a:moveTo>
                      <a:cubicBezTo>
                        <a:pt x="0" y="162640"/>
                        <a:pt x="46909" y="209550"/>
                        <a:pt x="104775" y="209550"/>
                      </a:cubicBezTo>
                      <a:cubicBezTo>
                        <a:pt x="162640" y="209550"/>
                        <a:pt x="209550" y="162640"/>
                        <a:pt x="209550" y="104775"/>
                      </a:cubicBezTo>
                      <a:cubicBezTo>
                        <a:pt x="209550" y="46909"/>
                        <a:pt x="162640" y="0"/>
                        <a:pt x="104775" y="0"/>
                      </a:cubicBezTo>
                      <a:cubicBezTo>
                        <a:pt x="46909" y="0"/>
                        <a:pt x="0" y="46909"/>
                        <a:pt x="0" y="104775"/>
                      </a:cubicBezTo>
                    </a:path>
                  </a:pathLst>
                </a:custGeom>
                <a:noFill/>
                <a:ln w="34925">
                  <a:solidFill>
                    <a:srgbClr val="E74C3C"/>
                  </a:solidFill>
                </a:ln>
              </p:spPr>
            </p:sp>
            <p:sp>
              <p:nvSpPr>
                <p:cNvPr id="72" name="Freeform 72"/>
                <p:cNvSpPr/>
                <p:nvPr/>
              </p:nvSpPr>
              <p:spPr>
                <a:xfrm>
                  <a:off x="9344025" y="4248150"/>
                  <a:ext cx="150107" cy="155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07" h="155241">
                      <a:moveTo>
                        <a:pt x="0" y="52387"/>
                      </a:moveTo>
                      <a:lnTo>
                        <a:pt x="59372" y="155241"/>
                      </a:lnTo>
                      <a:lnTo>
                        <a:pt x="87277" y="98785"/>
                      </a:lnTo>
                      <a:lnTo>
                        <a:pt x="150107" y="102836"/>
                      </a:lnTo>
                      <a:lnTo>
                        <a:pt x="90735" y="0"/>
                      </a:lnTo>
                    </a:path>
                  </a:pathLst>
                </a:custGeom>
                <a:noFill/>
                <a:ln w="34925">
                  <a:solidFill>
                    <a:srgbClr val="E74C3C"/>
                  </a:solidFill>
                </a:ln>
              </p:spPr>
            </p:sp>
            <p:sp>
              <p:nvSpPr>
                <p:cNvPr id="73" name="Freeform 73"/>
                <p:cNvSpPr/>
                <p:nvPr/>
              </p:nvSpPr>
              <p:spPr>
                <a:xfrm>
                  <a:off x="9193882" y="4248150"/>
                  <a:ext cx="150107" cy="1552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107" h="155224">
                      <a:moveTo>
                        <a:pt x="59372" y="0"/>
                      </a:moveTo>
                      <a:lnTo>
                        <a:pt x="0" y="102854"/>
                      </a:lnTo>
                      <a:lnTo>
                        <a:pt x="62830" y="98785"/>
                      </a:lnTo>
                      <a:lnTo>
                        <a:pt x="90735" y="155224"/>
                      </a:lnTo>
                      <a:lnTo>
                        <a:pt x="150107" y="52387"/>
                      </a:lnTo>
                    </a:path>
                  </a:pathLst>
                </a:custGeom>
                <a:noFill/>
                <a:ln w="34925">
                  <a:solidFill>
                    <a:srgbClr val="E74C3C"/>
                  </a:solidFill>
                </a:ln>
              </p:spPr>
            </p:sp>
          </p:grpSp>
          <p:sp>
            <p:nvSpPr>
              <p:cNvPr id="75" name="TextBox 75"/>
              <p:cNvSpPr txBox="1"/>
              <p:nvPr/>
            </p:nvSpPr>
            <p:spPr>
              <a:xfrm>
                <a:off x="9658731" y="4133850"/>
                <a:ext cx="86583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Выводы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9126093" y="4711700"/>
                <a:ext cx="166664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рекомендации</a:t>
                </a:r>
              </a:p>
            </p:txBody>
          </p:sp>
        </p:grpSp>
      </p:grpSp>
      <p:sp>
        <p:nvSpPr>
          <p:cNvPr id="79" name="credit"/>
          <p:cNvSpPr txBox="1"/>
          <p:nvPr/>
        </p:nvSpPr>
        <p:spPr>
          <a:xfrm>
            <a:off x="753618" y="6578600"/>
            <a:ext cx="39371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Shixart1985 / Wikimedia / CC BY 2.0</a:t>
            </a:r>
          </a:p>
        </p:txBody>
      </p:sp>
      <p:pic>
        <p:nvPicPr>
          <p:cNvPr id="80" name="PPT Master narration: narration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80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4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p04-foot"/>
          <p:cNvSpPr txBox="1"/>
          <p:nvPr/>
        </p:nvSpPr>
        <p:spPr>
          <a:xfrm>
            <a:off x="753618" y="6369050"/>
            <a:ext cx="282214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4-num"/>
          <p:cNvSpPr txBox="1"/>
          <p:nvPr/>
        </p:nvSpPr>
        <p:spPr>
          <a:xfrm>
            <a:off x="11174528" y="636905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grpSp>
        <p:nvGrpSpPr>
          <p:cNvPr id="8" name="p04-title"/>
          <p:cNvGrpSpPr/>
          <p:nvPr/>
        </p:nvGrpSpPr>
        <p:grpSpPr>
          <a:xfrm>
            <a:off x="743712" y="565150"/>
            <a:ext cx="5495330" cy="704088"/>
            <a:chOff x="743712" y="565150"/>
            <a:chExt cx="5495330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549533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О чём эта презентация</a:t>
              </a:r>
            </a:p>
          </p:txBody>
        </p:sp>
      </p:grpSp>
      <p:grpSp>
        <p:nvGrpSpPr>
          <p:cNvPr id="53" name="p04-abstract"/>
          <p:cNvGrpSpPr/>
          <p:nvPr/>
        </p:nvGrpSpPr>
        <p:grpSpPr>
          <a:xfrm>
            <a:off x="762000" y="1714500"/>
            <a:ext cx="10858500" cy="4196207"/>
            <a:chOff x="762000" y="1714500"/>
            <a:chExt cx="10858500" cy="4196207"/>
          </a:xfrm>
        </p:grpSpPr>
        <p:grpSp>
          <p:nvGrpSpPr>
            <p:cNvPr id="21" name="p04-a1"/>
            <p:cNvGrpSpPr/>
            <p:nvPr/>
          </p:nvGrpSpPr>
          <p:grpSpPr>
            <a:xfrm>
              <a:off x="762000" y="1714500"/>
              <a:ext cx="3429000" cy="2190750"/>
              <a:chOff x="762000" y="1714500"/>
              <a:chExt cx="3429000" cy="2190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714500"/>
                <a:ext cx="3429000" cy="2190750"/>
              </a:xfrm>
              <a:prstGeom prst="roundRect">
                <a:avLst>
                  <a:gd name="adj" fmla="val 7826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1047750" y="2038350"/>
                <a:ext cx="342900" cy="342900"/>
                <a:chOff x="1047750" y="2038350"/>
                <a:chExt cx="342900" cy="3429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1219200" y="2228850"/>
                  <a:ext cx="13335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52400">
                      <a:moveTo>
                        <a:pt x="66675" y="0"/>
                      </a:moveTo>
                      <a:cubicBezTo>
                        <a:pt x="29851" y="0"/>
                        <a:pt x="0" y="29851"/>
                        <a:pt x="0" y="66675"/>
                      </a:cubicBezTo>
                      <a:lnTo>
                        <a:pt x="0" y="85725"/>
                      </a:lnTo>
                      <a:cubicBezTo>
                        <a:pt x="0" y="122549"/>
                        <a:pt x="29851" y="152400"/>
                        <a:pt x="66675" y="152400"/>
                      </a:cubicBezTo>
                      <a:cubicBezTo>
                        <a:pt x="103499" y="152400"/>
                        <a:pt x="133350" y="122549"/>
                        <a:pt x="133350" y="85725"/>
                      </a:cubicBezTo>
                      <a:lnTo>
                        <a:pt x="133350" y="51435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85850" y="2228850"/>
                  <a:ext cx="13335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52400">
                      <a:moveTo>
                        <a:pt x="66675" y="0"/>
                      </a:moveTo>
                      <a:cubicBezTo>
                        <a:pt x="103499" y="0"/>
                        <a:pt x="133350" y="29851"/>
                        <a:pt x="133350" y="66675"/>
                      </a:cubicBezTo>
                      <a:lnTo>
                        <a:pt x="133350" y="85725"/>
                      </a:lnTo>
                      <a:cubicBezTo>
                        <a:pt x="133350" y="122549"/>
                        <a:pt x="103499" y="152400"/>
                        <a:pt x="66675" y="152400"/>
                      </a:cubicBezTo>
                      <a:cubicBezTo>
                        <a:pt x="29851" y="152400"/>
                        <a:pt x="0" y="122549"/>
                        <a:pt x="0" y="85725"/>
                      </a:cubicBezTo>
                      <a:lnTo>
                        <a:pt x="0" y="51435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314450" y="2152650"/>
                  <a:ext cx="7620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33350">
                      <a:moveTo>
                        <a:pt x="9525" y="133350"/>
                      </a:moveTo>
                      <a:cubicBezTo>
                        <a:pt x="46349" y="133350"/>
                        <a:pt x="76200" y="103499"/>
                        <a:pt x="76200" y="66675"/>
                      </a:cubicBezTo>
                      <a:cubicBezTo>
                        <a:pt x="76200" y="29851"/>
                        <a:pt x="46349" y="0"/>
                        <a:pt x="9525" y="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19200" y="2038350"/>
                  <a:ext cx="133350" cy="1200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120015">
                      <a:moveTo>
                        <a:pt x="133350" y="120015"/>
                      </a:moveTo>
                      <a:lnTo>
                        <a:pt x="133350" y="66675"/>
                      </a:lnTo>
                      <a:cubicBezTo>
                        <a:pt x="133350" y="29851"/>
                        <a:pt x="103499" y="0"/>
                        <a:pt x="66675" y="0"/>
                      </a:cubicBezTo>
                      <a:cubicBezTo>
                        <a:pt x="29851" y="0"/>
                        <a:pt x="0" y="29851"/>
                        <a:pt x="0" y="66675"/>
                      </a:cubicBez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1047750" y="2152650"/>
                  <a:ext cx="76200" cy="13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00" h="133350">
                      <a:moveTo>
                        <a:pt x="66675" y="133350"/>
                      </a:moveTo>
                      <a:cubicBezTo>
                        <a:pt x="29851" y="133350"/>
                        <a:pt x="0" y="103499"/>
                        <a:pt x="0" y="66675"/>
                      </a:cubicBezTo>
                      <a:cubicBezTo>
                        <a:pt x="0" y="29851"/>
                        <a:pt x="29851" y="0"/>
                        <a:pt x="66675" y="0"/>
                      </a:cubicBezTo>
                      <a:lnTo>
                        <a:pt x="76200" y="0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1085850" y="2038350"/>
                  <a:ext cx="133350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257175">
                      <a:moveTo>
                        <a:pt x="0" y="120015"/>
                      </a:moveTo>
                      <a:lnTo>
                        <a:pt x="0" y="66675"/>
                      </a:lnTo>
                      <a:cubicBezTo>
                        <a:pt x="0" y="29851"/>
                        <a:pt x="29851" y="0"/>
                        <a:pt x="66675" y="0"/>
                      </a:cubicBezTo>
                      <a:cubicBezTo>
                        <a:pt x="103499" y="0"/>
                        <a:pt x="133350" y="29851"/>
                        <a:pt x="133350" y="66675"/>
                      </a:cubicBezTo>
                      <a:lnTo>
                        <a:pt x="133350" y="257175"/>
                      </a:lnTo>
                    </a:path>
                  </a:pathLst>
                </a:custGeom>
                <a:noFill/>
                <a:ln w="38100">
                  <a:solidFill>
                    <a:schemeClr val="accent1"/>
                  </a:solidFill>
                </a:ln>
              </p:spPr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1591056" y="2095500"/>
                <a:ext cx="58595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Тема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82218" y="2654300"/>
                <a:ext cx="18505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что делает людей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982218" y="2959100"/>
                <a:ext cx="154448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счастливыми в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982218" y="3263900"/>
                <a:ext cx="19109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современном мире</a:t>
                </a:r>
              </a:p>
            </p:txBody>
          </p:sp>
        </p:grpSp>
        <p:grpSp>
          <p:nvGrpSpPr>
            <p:cNvPr id="28" name="p04-a2"/>
            <p:cNvGrpSpPr/>
            <p:nvPr/>
          </p:nvGrpSpPr>
          <p:grpSpPr>
            <a:xfrm>
              <a:off x="4476750" y="1714500"/>
              <a:ext cx="3429000" cy="2190750"/>
              <a:chOff x="4476750" y="1714500"/>
              <a:chExt cx="3429000" cy="2190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476750" y="1714500"/>
                <a:ext cx="3429000" cy="2190750"/>
              </a:xfrm>
              <a:prstGeom prst="roundRect">
                <a:avLst>
                  <a:gd name="adj" fmla="val 7826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755904" y="2052513"/>
                <a:ext cx="355748" cy="309687"/>
              </a:xfrm>
              <a:custGeom>
                <a:avLst/>
                <a:gdLst/>
                <a:ahLst/>
                <a:cxnLst/>
                <a:rect l="l" t="t" r="r" b="b"/>
                <a:pathLst>
                  <a:path w="355748" h="309687">
                    <a:moveTo>
                      <a:pt x="320921" y="168184"/>
                    </a:moveTo>
                    <a:lnTo>
                      <a:pt x="178046" y="309687"/>
                    </a:lnTo>
                    <a:lnTo>
                      <a:pt x="35171" y="168184"/>
                    </a:lnTo>
                    <a:cubicBezTo>
                      <a:pt x="9479" y="143182"/>
                      <a:pt x="0" y="105872"/>
                      <a:pt x="10644" y="71639"/>
                    </a:cubicBezTo>
                    <a:cubicBezTo>
                      <a:pt x="21288" y="37406"/>
                      <a:pt x="50252" y="12049"/>
                      <a:pt x="85592" y="6024"/>
                    </a:cubicBezTo>
                    <a:cubicBezTo>
                      <a:pt x="120932" y="0"/>
                      <a:pt x="156661" y="14329"/>
                      <a:pt x="178046" y="43101"/>
                    </a:cubicBezTo>
                    <a:cubicBezTo>
                      <a:pt x="199521" y="14541"/>
                      <a:pt x="235174" y="403"/>
                      <a:pt x="270386" y="6484"/>
                    </a:cubicBezTo>
                    <a:cubicBezTo>
                      <a:pt x="305597" y="12565"/>
                      <a:pt x="334444" y="37842"/>
                      <a:pt x="345096" y="71950"/>
                    </a:cubicBezTo>
                    <a:cubicBezTo>
                      <a:pt x="355748" y="106058"/>
                      <a:pt x="346414" y="143259"/>
                      <a:pt x="320921" y="168298"/>
                    </a:cubicBezTo>
                  </a:path>
                </a:pathLst>
              </a:custGeom>
              <a:noFill/>
              <a:ln w="38100">
                <a:solidFill>
                  <a:srgbClr val="E74C3C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305806" y="2095500"/>
                <a:ext cx="86583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Подход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696968" y="2654300"/>
                <a:ext cx="166664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научные данные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696968" y="2959100"/>
                <a:ext cx="105581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и критика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696968" y="3263900"/>
                <a:ext cx="25218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позитивной психологии</a:t>
                </a:r>
              </a:p>
            </p:txBody>
          </p:sp>
        </p:grpSp>
        <p:grpSp>
          <p:nvGrpSpPr>
            <p:cNvPr id="40" name="p04-a3"/>
            <p:cNvGrpSpPr/>
            <p:nvPr/>
          </p:nvGrpSpPr>
          <p:grpSpPr>
            <a:xfrm>
              <a:off x="8191500" y="1714500"/>
              <a:ext cx="3429000" cy="2190750"/>
              <a:chOff x="8191500" y="1714500"/>
              <a:chExt cx="3429000" cy="21907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8191500" y="1714500"/>
                <a:ext cx="3429000" cy="2190750"/>
              </a:xfrm>
              <a:prstGeom prst="roundRect">
                <a:avLst>
                  <a:gd name="adj" fmla="val 7826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35" name="Group 35"/>
              <p:cNvGrpSpPr/>
              <p:nvPr/>
            </p:nvGrpSpPr>
            <p:grpSpPr>
              <a:xfrm>
                <a:off x="8477250" y="2064873"/>
                <a:ext cx="352425" cy="278277"/>
                <a:chOff x="8477250" y="2064873"/>
                <a:chExt cx="352425" cy="278277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8477250" y="2312523"/>
                  <a:ext cx="342900" cy="30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0627">
                      <a:moveTo>
                        <a:pt x="0" y="30627"/>
                      </a:moveTo>
                      <a:cubicBezTo>
                        <a:pt x="53047" y="0"/>
                        <a:pt x="118403" y="0"/>
                        <a:pt x="171450" y="30627"/>
                      </a:cubicBezTo>
                      <a:cubicBezTo>
                        <a:pt x="224497" y="0"/>
                        <a:pt x="289853" y="0"/>
                        <a:pt x="342900" y="30627"/>
                      </a:cubicBezTo>
                    </a:path>
                  </a:pathLst>
                </a:custGeom>
                <a:noFill/>
                <a:ln w="38100">
                  <a:solidFill>
                    <a:srgbClr val="27AE60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8477250" y="2064873"/>
                  <a:ext cx="342900" cy="306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" h="30627">
                      <a:moveTo>
                        <a:pt x="0" y="30627"/>
                      </a:moveTo>
                      <a:cubicBezTo>
                        <a:pt x="53047" y="0"/>
                        <a:pt x="118403" y="0"/>
                        <a:pt x="171450" y="30627"/>
                      </a:cubicBezTo>
                      <a:cubicBezTo>
                        <a:pt x="224497" y="0"/>
                        <a:pt x="289853" y="0"/>
                        <a:pt x="342900" y="30627"/>
                      </a:cubicBezTo>
                    </a:path>
                  </a:pathLst>
                </a:custGeom>
                <a:noFill/>
                <a:ln w="38100">
                  <a:solidFill>
                    <a:srgbClr val="27AE60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8477250" y="2095500"/>
                  <a:ext cx="9525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7650">
                      <a:moveTo>
                        <a:pt x="0" y="0"/>
                      </a:moveTo>
                      <a:lnTo>
                        <a:pt x="0" y="247650"/>
                      </a:lnTo>
                    </a:path>
                  </a:pathLst>
                </a:custGeom>
                <a:noFill/>
                <a:ln w="38100">
                  <a:solidFill>
                    <a:srgbClr val="27AE60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8648700" y="2095500"/>
                  <a:ext cx="9525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7650">
                      <a:moveTo>
                        <a:pt x="0" y="0"/>
                      </a:moveTo>
                      <a:lnTo>
                        <a:pt x="0" y="247650"/>
                      </a:lnTo>
                    </a:path>
                  </a:pathLst>
                </a:custGeom>
                <a:noFill/>
                <a:ln w="38100">
                  <a:solidFill>
                    <a:srgbClr val="27AE60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8820150" y="2095500"/>
                  <a:ext cx="9525" cy="247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47650">
                      <a:moveTo>
                        <a:pt x="0" y="0"/>
                      </a:moveTo>
                      <a:lnTo>
                        <a:pt x="0" y="247650"/>
                      </a:lnTo>
                    </a:path>
                  </a:pathLst>
                </a:custGeom>
                <a:noFill/>
                <a:ln w="38100">
                  <a:solidFill>
                    <a:srgbClr val="27AE60"/>
                  </a:solidFill>
                </a:ln>
              </p:spPr>
            </p:sp>
          </p:grpSp>
          <p:sp>
            <p:nvSpPr>
              <p:cNvPr id="36" name="TextBox 36"/>
              <p:cNvSpPr txBox="1"/>
              <p:nvPr/>
            </p:nvSpPr>
            <p:spPr>
              <a:xfrm>
                <a:off x="9020556" y="2095500"/>
                <a:ext cx="149328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Что узнаете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411718" y="2654300"/>
                <a:ext cx="17888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факторы счастья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411718" y="2959100"/>
                <a:ext cx="160618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и восемь шагов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411718" y="3263900"/>
                <a:ext cx="166664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к благополучию</a:t>
                </a:r>
              </a:p>
            </p:txBody>
          </p:sp>
        </p:grpSp>
        <p:grpSp>
          <p:nvGrpSpPr>
            <p:cNvPr id="52" name="p04-audience"/>
            <p:cNvGrpSpPr/>
            <p:nvPr/>
          </p:nvGrpSpPr>
          <p:grpSpPr>
            <a:xfrm>
              <a:off x="762000" y="4286250"/>
              <a:ext cx="10858500" cy="1624457"/>
              <a:chOff x="762000" y="4286250"/>
              <a:chExt cx="10858500" cy="1624457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762000" y="4286250"/>
                <a:ext cx="10858500" cy="1619250"/>
              </a:xfrm>
              <a:prstGeom prst="roundRect">
                <a:avLst>
                  <a:gd name="adj" fmla="val 10588"/>
                </a:avLst>
              </a:prstGeom>
              <a:solidFill>
                <a:schemeClr val="accent1">
                  <a:alpha val="12000"/>
                </a:schemeClr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1128713" y="4672013"/>
                <a:ext cx="371475" cy="371476"/>
                <a:chOff x="1128713" y="4672013"/>
                <a:chExt cx="371475" cy="371476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1273175" y="4837113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1"/>
                        <a:pt x="18479" y="82550"/>
                        <a:pt x="41275" y="82550"/>
                      </a:cubicBezTo>
                      <a:cubicBezTo>
                        <a:pt x="64071" y="82550"/>
                        <a:pt x="82550" y="64071"/>
                        <a:pt x="82550" y="41275"/>
                      </a:cubicBezTo>
                      <a:cubicBezTo>
                        <a:pt x="82550" y="18479"/>
                        <a:pt x="64071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231900" y="4981576"/>
                  <a:ext cx="165100" cy="6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0" h="61913">
                      <a:moveTo>
                        <a:pt x="0" y="61913"/>
                      </a:moveTo>
                      <a:lnTo>
                        <a:pt x="0" y="41275"/>
                      </a:lnTo>
                      <a:cubicBezTo>
                        <a:pt x="0" y="18479"/>
                        <a:pt x="18479" y="0"/>
                        <a:pt x="41275" y="0"/>
                      </a:cubicBezTo>
                      <a:lnTo>
                        <a:pt x="123825" y="0"/>
                      </a:lnTo>
                      <a:cubicBezTo>
                        <a:pt x="146621" y="0"/>
                        <a:pt x="165100" y="18479"/>
                        <a:pt x="165100" y="41275"/>
                      </a:cubicBezTo>
                      <a:lnTo>
                        <a:pt x="165100" y="61913"/>
                      </a:ln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1376363" y="4672013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1"/>
                        <a:pt x="18479" y="82550"/>
                        <a:pt x="41275" y="82550"/>
                      </a:cubicBezTo>
                      <a:cubicBezTo>
                        <a:pt x="64071" y="82550"/>
                        <a:pt x="82550" y="64071"/>
                        <a:pt x="82550" y="41275"/>
                      </a:cubicBezTo>
                      <a:cubicBezTo>
                        <a:pt x="82550" y="18479"/>
                        <a:pt x="64071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1417638" y="4816475"/>
                  <a:ext cx="82550" cy="6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61913">
                      <a:moveTo>
                        <a:pt x="0" y="0"/>
                      </a:moveTo>
                      <a:lnTo>
                        <a:pt x="41275" y="0"/>
                      </a:lnTo>
                      <a:cubicBezTo>
                        <a:pt x="64071" y="0"/>
                        <a:pt x="82550" y="18479"/>
                        <a:pt x="82550" y="41275"/>
                      </a:cubicBezTo>
                      <a:lnTo>
                        <a:pt x="82550" y="61913"/>
                      </a:ln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1169988" y="4672013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41275"/>
                      </a:moveTo>
                      <a:cubicBezTo>
                        <a:pt x="0" y="64071"/>
                        <a:pt x="18479" y="82550"/>
                        <a:pt x="41275" y="82550"/>
                      </a:cubicBezTo>
                      <a:cubicBezTo>
                        <a:pt x="64071" y="82550"/>
                        <a:pt x="82550" y="64071"/>
                        <a:pt x="82550" y="41275"/>
                      </a:cubicBezTo>
                      <a:cubicBezTo>
                        <a:pt x="82550" y="18479"/>
                        <a:pt x="64071" y="0"/>
                        <a:pt x="41275" y="0"/>
                      </a:cubicBezTo>
                      <a:cubicBezTo>
                        <a:pt x="18479" y="0"/>
                        <a:pt x="0" y="18479"/>
                        <a:pt x="0" y="41275"/>
                      </a:cubicBez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1128713" y="4816475"/>
                  <a:ext cx="82550" cy="619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61913">
                      <a:moveTo>
                        <a:pt x="0" y="61913"/>
                      </a:moveTo>
                      <a:lnTo>
                        <a:pt x="0" y="41275"/>
                      </a:lnTo>
                      <a:cubicBezTo>
                        <a:pt x="0" y="18479"/>
                        <a:pt x="18479" y="0"/>
                        <a:pt x="41275" y="0"/>
                      </a:cubicBezTo>
                      <a:lnTo>
                        <a:pt x="82550" y="0"/>
                      </a:lnTo>
                    </a:path>
                  </a:pathLst>
                </a:custGeom>
                <a:noFill/>
                <a:ln w="41275">
                  <a:solidFill>
                    <a:schemeClr val="accent1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1743456" y="4743450"/>
                <a:ext cx="107363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Для кого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58418" y="5283200"/>
                <a:ext cx="858081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Учебная презентация для преподавателей колледжа и аттестационной комиссии.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058418" y="5588000"/>
                <a:ext cx="1001911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Основана на исследованиях Селигмана, Канемана, Истерлина и Всемирного доклада о счастье.</a:t>
                </a:r>
              </a:p>
            </p:txBody>
          </p:sp>
        </p:grpSp>
      </p:grpSp>
      <p:sp>
        <p:nvSpPr>
          <p:cNvPr id="54" name="credit"/>
          <p:cNvSpPr txBox="1"/>
          <p:nvPr/>
        </p:nvSpPr>
        <p:spPr>
          <a:xfrm>
            <a:off x="753618" y="6578600"/>
            <a:ext cx="393712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Shixart1985 / Wikimedia / CC BY 2.0</a:t>
            </a:r>
          </a:p>
        </p:txBody>
      </p:sp>
      <p:pic>
        <p:nvPicPr>
          <p:cNvPr id="55" name="PPT Master narration: narration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5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4"/>
          <p:cNvPicPr>
            <a:picLocks noChangeAspect="1"/>
          </p:cNvPicPr>
          <p:nvPr/>
        </p:nvPicPr>
        <p:blipFill>
          <a:blip r:embed="rId2"/>
          <a:srcRect l="0" t="14932" r="0" b="1493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4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sp>
        <p:nvSpPr>
          <p:cNvPr id="5" name="p04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4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grpSp>
        <p:nvGrpSpPr>
          <p:cNvPr id="9" name="p04-title"/>
          <p:cNvGrpSpPr/>
          <p:nvPr/>
        </p:nvGrpSpPr>
        <p:grpSpPr>
          <a:xfrm>
            <a:off x="743712" y="527050"/>
            <a:ext cx="8074764" cy="967994"/>
            <a:chOff x="743712" y="527050"/>
            <a:chExt cx="8074764" cy="967994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27050"/>
              <a:ext cx="80747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Депрессия растёт — счастье нет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1143000"/>
              <a:ext cx="6948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Литературы о счастье всё больше. Счастливых людей — нет.</a:t>
              </a:r>
            </a:p>
          </p:txBody>
        </p:sp>
      </p:grpSp>
      <p:grpSp>
        <p:nvGrpSpPr>
          <p:cNvPr id="21" name="p04-depression"/>
          <p:cNvGrpSpPr/>
          <p:nvPr/>
        </p:nvGrpSpPr>
        <p:grpSpPr>
          <a:xfrm>
            <a:off x="762000" y="1762125"/>
            <a:ext cx="5143500" cy="3810000"/>
            <a:chOff x="762000" y="1762125"/>
            <a:chExt cx="5143500" cy="3810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762125"/>
              <a:ext cx="51435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8606" y="1962150"/>
              <a:ext cx="36640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Депрессия, США: 8,2% → 13,1%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333500" y="25527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333500" y="48387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4" name="Polyline 14"/>
            <p:cNvSpPr/>
            <p:nvPr/>
          </p:nvSpPr>
          <p:spPr>
            <a:xfrm>
              <a:off x="1333500" y="2705100"/>
              <a:ext cx="4191000" cy="1924050"/>
            </a:xfrm>
            <a:custGeom>
              <a:avLst/>
              <a:gdLst/>
              <a:ahLst/>
              <a:cxnLst/>
              <a:rect l="l" t="t" r="r" b="b"/>
              <a:pathLst>
                <a:path w="4191000" h="1924050">
                  <a:moveTo>
                    <a:pt x="0" y="1924050"/>
                  </a:moveTo>
                  <a:lnTo>
                    <a:pt x="857250" y="1657350"/>
                  </a:lnTo>
                  <a:lnTo>
                    <a:pt x="1714500" y="1276350"/>
                  </a:lnTo>
                  <a:lnTo>
                    <a:pt x="2571750" y="838200"/>
                  </a:lnTo>
                  <a:lnTo>
                    <a:pt x="3429000" y="323850"/>
                  </a:lnTo>
                  <a:lnTo>
                    <a:pt x="4191000" y="0"/>
                  </a:lnTo>
                </a:path>
              </a:pathLst>
            </a:custGeom>
            <a:noFill/>
            <a:ln w="57150">
              <a:solidFill>
                <a:srgbClr val="E74C3C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5438775" y="2619375"/>
              <a:ext cx="171450" cy="17145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210056" y="2514600"/>
              <a:ext cx="5033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15%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10056" y="4610100"/>
              <a:ext cx="368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1960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2013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3435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38606" y="5200650"/>
              <a:ext cx="29510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Ось Y: доля населения, %</a:t>
              </a:r>
            </a:p>
          </p:txBody>
        </p:sp>
      </p:grpSp>
      <p:grpSp>
        <p:nvGrpSpPr>
          <p:cNvPr id="33" name="p04-happiness"/>
          <p:cNvGrpSpPr/>
          <p:nvPr/>
        </p:nvGrpSpPr>
        <p:grpSpPr>
          <a:xfrm>
            <a:off x="6286500" y="1762125"/>
            <a:ext cx="5143500" cy="3810000"/>
            <a:chOff x="6286500" y="1762125"/>
            <a:chExt cx="5143500" cy="3810000"/>
          </a:xfrm>
        </p:grpSpPr>
        <p:sp>
          <p:nvSpPr>
            <p:cNvPr id="22" name="Rectangle 22"/>
            <p:cNvSpPr/>
            <p:nvPr/>
          </p:nvSpPr>
          <p:spPr>
            <a:xfrm>
              <a:off x="6286500" y="1762125"/>
              <a:ext cx="5143500" cy="3810000"/>
            </a:xfrm>
            <a:prstGeom prst="roundRect">
              <a:avLst>
                <a:gd name="adj" fmla="val 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63106" y="1962150"/>
              <a:ext cx="29907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Индекс счастья — плато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858000" y="25527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858000" y="4838700"/>
              <a:ext cx="4286250" cy="9525"/>
            </a:xfrm>
            <a:custGeom>
              <a:avLst/>
              <a:gdLst/>
              <a:ahLst/>
              <a:cxnLst/>
              <a:rect l="l" t="t" r="r" b="b"/>
              <a:pathLst>
                <a:path w="4286250" h="9525">
                  <a:moveTo>
                    <a:pt x="0" y="0"/>
                  </a:moveTo>
                  <a:lnTo>
                    <a:pt x="428625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26" name="Polyline 26"/>
            <p:cNvSpPr/>
            <p:nvPr/>
          </p:nvSpPr>
          <p:spPr>
            <a:xfrm>
              <a:off x="6858000" y="3524250"/>
              <a:ext cx="4191000" cy="95250"/>
            </a:xfrm>
            <a:custGeom>
              <a:avLst/>
              <a:gdLst/>
              <a:ahLst/>
              <a:cxnLst/>
              <a:rect l="l" t="t" r="r" b="b"/>
              <a:pathLst>
                <a:path w="4191000" h="95250">
                  <a:moveTo>
                    <a:pt x="0" y="76200"/>
                  </a:moveTo>
                  <a:lnTo>
                    <a:pt x="857250" y="0"/>
                  </a:lnTo>
                  <a:lnTo>
                    <a:pt x="1714500" y="95250"/>
                  </a:lnTo>
                  <a:lnTo>
                    <a:pt x="2571750" y="19050"/>
                  </a:lnTo>
                  <a:lnTo>
                    <a:pt x="3429000" y="76200"/>
                  </a:lnTo>
                  <a:lnTo>
                    <a:pt x="4191000" y="3810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0963275" y="3476625"/>
              <a:ext cx="171450" cy="171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34556" y="2514600"/>
              <a:ext cx="153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34556" y="4610100"/>
              <a:ext cx="1530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4410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2005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68356" y="4876800"/>
              <a:ext cx="5573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2025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563106" y="5200650"/>
              <a:ext cx="314397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Ось Y: баллы индекса, 0–10</a:t>
              </a:r>
            </a:p>
          </p:txBody>
        </p:sp>
      </p:grpSp>
      <p:grpSp>
        <p:nvGrpSpPr>
          <p:cNvPr id="38" name="p04-quote"/>
          <p:cNvGrpSpPr/>
          <p:nvPr/>
        </p:nvGrpSpPr>
        <p:grpSpPr>
          <a:xfrm>
            <a:off x="993775" y="5905500"/>
            <a:ext cx="7654547" cy="352044"/>
            <a:chOff x="993775" y="5905500"/>
            <a:chExt cx="7654547" cy="352044"/>
          </a:xfrm>
        </p:grpSpPr>
        <p:grpSp>
          <p:nvGrpSpPr>
            <p:cNvPr id="36" name="Group 36"/>
            <p:cNvGrpSpPr/>
            <p:nvPr/>
          </p:nvGrpSpPr>
          <p:grpSpPr>
            <a:xfrm>
              <a:off x="993775" y="5924550"/>
              <a:ext cx="222250" cy="190500"/>
              <a:chOff x="993775" y="5924550"/>
              <a:chExt cx="222250" cy="1905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93775" y="59245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136650" y="5924550"/>
                <a:ext cx="793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90500">
                    <a:moveTo>
                      <a:pt x="79375" y="79375"/>
                    </a:moveTo>
                    <a:lnTo>
                      <a:pt x="15875" y="79375"/>
                    </a:lnTo>
                    <a:cubicBezTo>
                      <a:pt x="7107" y="79375"/>
                      <a:pt x="0" y="72268"/>
                      <a:pt x="0" y="63500"/>
                    </a:cubicBezTo>
                    <a:lnTo>
                      <a:pt x="0" y="15875"/>
                    </a:lnTo>
                    <a:cubicBezTo>
                      <a:pt x="0" y="7107"/>
                      <a:pt x="7107" y="0"/>
                      <a:pt x="15875" y="0"/>
                    </a:cubicBezTo>
                    <a:lnTo>
                      <a:pt x="63500" y="0"/>
                    </a:lnTo>
                    <a:cubicBezTo>
                      <a:pt x="72268" y="0"/>
                      <a:pt x="79375" y="7107"/>
                      <a:pt x="79375" y="15875"/>
                    </a:cubicBezTo>
                    <a:lnTo>
                      <a:pt x="79375" y="111125"/>
                    </a:lnTo>
                    <a:cubicBezTo>
                      <a:pt x="79375" y="153464"/>
                      <a:pt x="58214" y="179912"/>
                      <a:pt x="15875" y="190500"/>
                    </a:cubicBezTo>
                  </a:path>
                </a:pathLst>
              </a:custGeom>
              <a:noFill/>
              <a:ln w="31750">
                <a:solidFill>
                  <a:srgbClr val="E67E22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1438656" y="5905500"/>
              <a:ext cx="72096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Аристотель: счастье — «хороший удел», а не случайная удача</a:t>
              </a:r>
            </a:p>
          </p:txBody>
        </p:sp>
      </p:grpSp>
      <p:pic>
        <p:nvPicPr>
          <p:cNvPr id="39" name="PPT Master narration: narration5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5"/>
          <p:cNvPicPr>
            <a:picLocks noChangeAspect="1"/>
          </p:cNvPicPr>
          <p:nvPr/>
        </p:nvPicPr>
        <p:blipFill>
          <a:blip r:embed="rId2"/>
          <a:srcRect l="0" t="17056" r="0" b="170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5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5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5-foot"/>
          <p:cNvSpPr txBox="1"/>
          <p:nvPr/>
        </p:nvSpPr>
        <p:spPr>
          <a:xfrm>
            <a:off x="753618" y="6578600"/>
            <a:ext cx="282214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5-num"/>
          <p:cNvSpPr txBox="1"/>
          <p:nvPr/>
        </p:nvSpPr>
        <p:spPr>
          <a:xfrm>
            <a:off x="11174528" y="65786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06</a:t>
            </a:r>
          </a:p>
        </p:txBody>
      </p:sp>
      <p:grpSp>
        <p:nvGrpSpPr>
          <p:cNvPr id="8" name="p05-title"/>
          <p:cNvGrpSpPr/>
          <p:nvPr/>
        </p:nvGrpSpPr>
        <p:grpSpPr>
          <a:xfrm>
            <a:off x="743712" y="565150"/>
            <a:ext cx="8011544" cy="704088"/>
            <a:chOff x="743712" y="565150"/>
            <a:chExt cx="8011544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801154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оценка жизни + эмоции</a:t>
              </a:r>
            </a:p>
          </p:txBody>
        </p:sp>
      </p:grpSp>
      <p:grpSp>
        <p:nvGrpSpPr>
          <p:cNvPr id="25" name="p05-venn"/>
          <p:cNvGrpSpPr/>
          <p:nvPr/>
        </p:nvGrpSpPr>
        <p:grpSpPr>
          <a:xfrm>
            <a:off x="3095625" y="1952625"/>
            <a:ext cx="6676465" cy="2762250"/>
            <a:chOff x="3095625" y="1952625"/>
            <a:chExt cx="6676465" cy="2762250"/>
          </a:xfrm>
        </p:grpSpPr>
        <p:sp>
          <p:nvSpPr>
            <p:cNvPr id="9" name="Ellipse 9"/>
            <p:cNvSpPr/>
            <p:nvPr/>
          </p:nvSpPr>
          <p:spPr>
            <a:xfrm>
              <a:off x="3095625" y="1952625"/>
              <a:ext cx="2762250" cy="2762250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 w="28575">
              <a:solidFill>
                <a:schemeClr val="accent1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6334125" y="1952625"/>
              <a:ext cx="2762250" cy="2762250"/>
            </a:xfrm>
            <a:prstGeom prst="ellipse">
              <a:avLst/>
            </a:prstGeom>
            <a:solidFill>
              <a:srgbClr val="E67E22">
                <a:alpha val="16000"/>
              </a:srgbClr>
            </a:solidFill>
            <a:ln w="28575">
              <a:solidFill>
                <a:srgbClr val="E67E22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195637" y="2319337"/>
              <a:ext cx="314325" cy="306387"/>
              <a:chOff x="3195637" y="2319337"/>
              <a:chExt cx="314325" cy="3063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3265487" y="2616199"/>
                <a:ext cx="174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9525">
                    <a:moveTo>
                      <a:pt x="0" y="0"/>
                    </a:moveTo>
                    <a:lnTo>
                      <a:pt x="17462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248025" y="2354262"/>
                <a:ext cx="209550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7462">
                    <a:moveTo>
                      <a:pt x="0" y="17462"/>
                    </a:moveTo>
                    <a:lnTo>
                      <a:pt x="104775" y="0"/>
                    </a:lnTo>
                    <a:lnTo>
                      <a:pt x="209550" y="174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352800" y="2319337"/>
                <a:ext cx="9525" cy="296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6862">
                    <a:moveTo>
                      <a:pt x="0" y="0"/>
                    </a:moveTo>
                    <a:lnTo>
                      <a:pt x="0" y="2968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195637" y="2371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405187" y="2371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3667506" y="2343150"/>
              <a:ext cx="15655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Когнитивный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29356" y="2705100"/>
              <a:ext cx="15516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оценка жизни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8428341" y="2332320"/>
              <a:ext cx="326102" cy="283879"/>
            </a:xfrm>
            <a:custGeom>
              <a:avLst/>
              <a:gdLst/>
              <a:ahLst/>
              <a:cxnLst/>
              <a:rect l="l" t="t" r="r" b="b"/>
              <a:pathLst>
                <a:path w="326102" h="283879">
                  <a:moveTo>
                    <a:pt x="294177" y="154168"/>
                  </a:moveTo>
                  <a:lnTo>
                    <a:pt x="163209" y="283879"/>
                  </a:lnTo>
                  <a:lnTo>
                    <a:pt x="32240" y="154168"/>
                  </a:lnTo>
                  <a:cubicBezTo>
                    <a:pt x="8689" y="131250"/>
                    <a:pt x="0" y="97049"/>
                    <a:pt x="9757" y="65669"/>
                  </a:cubicBezTo>
                  <a:cubicBezTo>
                    <a:pt x="19514" y="34289"/>
                    <a:pt x="46065" y="11045"/>
                    <a:pt x="78459" y="5522"/>
                  </a:cubicBezTo>
                  <a:cubicBezTo>
                    <a:pt x="110854" y="0"/>
                    <a:pt x="143606" y="13135"/>
                    <a:pt x="163209" y="39510"/>
                  </a:cubicBezTo>
                  <a:cubicBezTo>
                    <a:pt x="182894" y="13330"/>
                    <a:pt x="215576" y="369"/>
                    <a:pt x="247853" y="5944"/>
                  </a:cubicBezTo>
                  <a:cubicBezTo>
                    <a:pt x="280130" y="11518"/>
                    <a:pt x="306573" y="34688"/>
                    <a:pt x="316337" y="65954"/>
                  </a:cubicBezTo>
                  <a:cubicBezTo>
                    <a:pt x="326102" y="97220"/>
                    <a:pt x="317546" y="131320"/>
                    <a:pt x="294177" y="154273"/>
                  </a:cubicBezTo>
                </a:path>
              </a:pathLst>
            </a:custGeom>
            <a:noFill/>
            <a:ln w="34925">
              <a:solidFill>
                <a:srgbClr val="E67E2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06256" y="2343150"/>
              <a:ext cx="865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Эмоции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87106" y="2705100"/>
              <a:ext cx="1484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переживания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88195" y="3124200"/>
              <a:ext cx="6156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SWB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87213" y="3429000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субъективное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87213" y="3714750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благополучие</a:t>
              </a:r>
            </a:p>
          </p:txBody>
        </p:sp>
      </p:grpSp>
      <p:grpSp>
        <p:nvGrpSpPr>
          <p:cNvPr id="55" name="p05-approaches"/>
          <p:cNvGrpSpPr/>
          <p:nvPr/>
        </p:nvGrpSpPr>
        <p:grpSpPr>
          <a:xfrm>
            <a:off x="1143000" y="5286375"/>
            <a:ext cx="9906000" cy="952500"/>
            <a:chOff x="1143000" y="5286375"/>
            <a:chExt cx="9906000" cy="952500"/>
          </a:xfrm>
        </p:grpSpPr>
        <p:sp>
          <p:nvSpPr>
            <p:cNvPr id="26" name="Rectangle 26"/>
            <p:cNvSpPr/>
            <p:nvPr/>
          </p:nvSpPr>
          <p:spPr>
            <a:xfrm>
              <a:off x="1143000" y="5286375"/>
              <a:ext cx="22860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376362" y="5548312"/>
              <a:ext cx="257175" cy="257176"/>
              <a:chOff x="1376362" y="5548312"/>
              <a:chExt cx="257175" cy="25717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404938" y="554831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376362" y="5719762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lnTo>
                      <a:pt x="114300" y="0"/>
                    </a:lnTo>
                    <a:cubicBezTo>
                      <a:pt x="145863" y="0"/>
                      <a:pt x="171450" y="25587"/>
                      <a:pt x="171450" y="57150"/>
                    </a:cubicBezTo>
                    <a:lnTo>
                      <a:pt x="171450" y="8572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562100" y="5550170"/>
                <a:ext cx="42975" cy="110728"/>
              </a:xfrm>
              <a:custGeom>
                <a:avLst/>
                <a:gdLst/>
                <a:ahLst/>
                <a:cxnLst/>
                <a:rect l="l" t="t" r="r" b="b"/>
                <a:pathLst>
                  <a:path w="42975" h="110728">
                    <a:moveTo>
                      <a:pt x="0" y="0"/>
                    </a:moveTo>
                    <a:cubicBezTo>
                      <a:pt x="25288" y="6475"/>
                      <a:pt x="42975" y="29261"/>
                      <a:pt x="42975" y="55364"/>
                    </a:cubicBezTo>
                    <a:cubicBezTo>
                      <a:pt x="42975" y="81467"/>
                      <a:pt x="25288" y="104253"/>
                      <a:pt x="0" y="110728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590675" y="5721906"/>
                <a:ext cx="42862" cy="83582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83582">
                    <a:moveTo>
                      <a:pt x="42862" y="83582"/>
                    </a:moveTo>
                    <a:lnTo>
                      <a:pt x="42862" y="55007"/>
                    </a:lnTo>
                    <a:cubicBezTo>
                      <a:pt x="42713" y="29069"/>
                      <a:pt x="25115" y="6484"/>
                      <a:pt x="0" y="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762506" y="5534025"/>
              <a:ext cx="4256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Юнг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24356" y="5848350"/>
              <a:ext cx="1484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психоанализ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3619500" y="5286375"/>
              <a:ext cx="22860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3852862" y="5548312"/>
              <a:ext cx="257176" cy="257176"/>
              <a:chOff x="3852862" y="5548312"/>
              <a:chExt cx="257176" cy="25717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3981450" y="569118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22389" y="0"/>
                      <a:pt x="0" y="22389"/>
                      <a:pt x="0" y="50006"/>
                    </a:cubicBezTo>
                    <a:lnTo>
                      <a:pt x="0" y="64294"/>
                    </a:lnTo>
                    <a:cubicBezTo>
                      <a:pt x="0" y="91911"/>
                      <a:pt x="22389" y="114300"/>
                      <a:pt x="50006" y="114300"/>
                    </a:cubicBezTo>
                    <a:cubicBezTo>
                      <a:pt x="77624" y="114300"/>
                      <a:pt x="100012" y="91911"/>
                      <a:pt x="100012" y="64294"/>
                    </a:cubicBezTo>
                    <a:lnTo>
                      <a:pt x="100012" y="38576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881438" y="5691188"/>
                <a:ext cx="100012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14300">
                    <a:moveTo>
                      <a:pt x="50006" y="0"/>
                    </a:move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64294"/>
                    </a:lnTo>
                    <a:cubicBezTo>
                      <a:pt x="100012" y="91911"/>
                      <a:pt x="77624" y="114300"/>
                      <a:pt x="50006" y="114300"/>
                    </a:cubicBezTo>
                    <a:cubicBezTo>
                      <a:pt x="22389" y="114300"/>
                      <a:pt x="0" y="91911"/>
                      <a:pt x="0" y="64294"/>
                    </a:cubicBezTo>
                    <a:lnTo>
                      <a:pt x="0" y="38576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052888" y="563403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7144" y="100012"/>
                    </a:moveTo>
                    <a:cubicBezTo>
                      <a:pt x="34761" y="100012"/>
                      <a:pt x="57150" y="77624"/>
                      <a:pt x="57150" y="50006"/>
                    </a:cubicBezTo>
                    <a:cubicBezTo>
                      <a:pt x="57150" y="22389"/>
                      <a:pt x="34761" y="0"/>
                      <a:pt x="7144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981450" y="5548312"/>
                <a:ext cx="100012" cy="9001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0011">
                    <a:moveTo>
                      <a:pt x="100012" y="90011"/>
                    </a:moveTo>
                    <a:lnTo>
                      <a:pt x="100012" y="50006"/>
                    </a:lnTo>
                    <a:cubicBezTo>
                      <a:pt x="100012" y="22389"/>
                      <a:pt x="77624" y="0"/>
                      <a:pt x="50006" y="0"/>
                    </a:cubicBezTo>
                    <a:cubicBezTo>
                      <a:pt x="22389" y="0"/>
                      <a:pt x="0" y="22389"/>
                      <a:pt x="0" y="50006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3852862" y="5634038"/>
                <a:ext cx="5715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100012">
                    <a:moveTo>
                      <a:pt x="50006" y="100012"/>
                    </a:move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lnTo>
                      <a:pt x="57150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3881438" y="5548312"/>
                <a:ext cx="100012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192881">
                    <a:moveTo>
                      <a:pt x="0" y="90011"/>
                    </a:moveTo>
                    <a:lnTo>
                      <a:pt x="0" y="50006"/>
                    </a:lnTo>
                    <a:cubicBezTo>
                      <a:pt x="0" y="22389"/>
                      <a:pt x="22389" y="0"/>
                      <a:pt x="50006" y="0"/>
                    </a:cubicBezTo>
                    <a:cubicBezTo>
                      <a:pt x="77624" y="0"/>
                      <a:pt x="100012" y="22389"/>
                      <a:pt x="100012" y="50006"/>
                    </a:cubicBezTo>
                    <a:lnTo>
                      <a:pt x="100012" y="192881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4239006" y="5534025"/>
              <a:ext cx="14918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Когнитивный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96000" y="5286375"/>
              <a:ext cx="22860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329362" y="5548312"/>
              <a:ext cx="257175" cy="257175"/>
              <a:chOff x="6329362" y="5548312"/>
              <a:chExt cx="257175" cy="25717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400800" y="56197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329362" y="55483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lnTo>
                      <a:pt x="14288" y="128588"/>
                    </a:lnTo>
                    <a:moveTo>
                      <a:pt x="128588" y="0"/>
                    </a:moveTo>
                    <a:lnTo>
                      <a:pt x="128588" y="14288"/>
                    </a:lnTo>
                    <a:moveTo>
                      <a:pt x="242888" y="128588"/>
                    </a:moveTo>
                    <a:lnTo>
                      <a:pt x="257175" y="128588"/>
                    </a:lnTo>
                    <a:moveTo>
                      <a:pt x="128588" y="242888"/>
                    </a:moveTo>
                    <a:lnTo>
                      <a:pt x="128588" y="257175"/>
                    </a:lnTo>
                    <a:moveTo>
                      <a:pt x="37147" y="37147"/>
                    </a:moveTo>
                    <a:lnTo>
                      <a:pt x="47149" y="47149"/>
                    </a:lnTo>
                    <a:moveTo>
                      <a:pt x="220028" y="37147"/>
                    </a:moveTo>
                    <a:lnTo>
                      <a:pt x="210026" y="47149"/>
                    </a:lnTo>
                    <a:moveTo>
                      <a:pt x="210026" y="210026"/>
                    </a:moveTo>
                    <a:lnTo>
                      <a:pt x="220028" y="220028"/>
                    </a:lnTo>
                    <a:moveTo>
                      <a:pt x="47149" y="210026"/>
                    </a:moveTo>
                    <a:lnTo>
                      <a:pt x="37147" y="22002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6715506" y="5534025"/>
              <a:ext cx="13585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Позитивный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572500" y="5286375"/>
              <a:ext cx="2476500" cy="952500"/>
            </a:xfrm>
            <a:prstGeom prst="roundRect">
              <a:avLst>
                <a:gd name="adj" fmla="val 14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8813221" y="5555671"/>
              <a:ext cx="242458" cy="242458"/>
              <a:chOff x="8813221" y="5555671"/>
              <a:chExt cx="242458" cy="24245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8872387" y="5615680"/>
                <a:ext cx="123283" cy="123283"/>
              </a:xfrm>
              <a:custGeom>
                <a:avLst/>
                <a:gdLst/>
                <a:ahLst/>
                <a:cxnLst/>
                <a:rect l="l" t="t" r="r" b="b"/>
                <a:pathLst>
                  <a:path w="123283" h="123283">
                    <a:moveTo>
                      <a:pt x="102468" y="101625"/>
                    </a:moveTo>
                    <a:cubicBezTo>
                      <a:pt x="117325" y="87276"/>
                      <a:pt x="123283" y="66027"/>
                      <a:pt x="118053" y="46046"/>
                    </a:cubicBezTo>
                    <a:cubicBezTo>
                      <a:pt x="112823" y="26065"/>
                      <a:pt x="97218" y="10460"/>
                      <a:pt x="77237" y="5230"/>
                    </a:cubicBezTo>
                    <a:cubicBezTo>
                      <a:pt x="57256" y="0"/>
                      <a:pt x="36007" y="5958"/>
                      <a:pt x="21658" y="20815"/>
                    </a:cubicBezTo>
                    <a:cubicBezTo>
                      <a:pt x="0" y="43239"/>
                      <a:pt x="310" y="78884"/>
                      <a:pt x="22354" y="100929"/>
                    </a:cubicBezTo>
                    <a:cubicBezTo>
                      <a:pt x="44399" y="122973"/>
                      <a:pt x="80044" y="123283"/>
                      <a:pt x="102468" y="10162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813221" y="5694986"/>
                <a:ext cx="103143" cy="103143"/>
              </a:xfrm>
              <a:custGeom>
                <a:avLst/>
                <a:gdLst/>
                <a:ahLst/>
                <a:cxnLst/>
                <a:rect l="l" t="t" r="r" b="b"/>
                <a:pathLst>
                  <a:path w="103143" h="103143">
                    <a:moveTo>
                      <a:pt x="80824" y="103143"/>
                    </a:moveTo>
                    <a:cubicBezTo>
                      <a:pt x="103143" y="80824"/>
                      <a:pt x="103143" y="44638"/>
                      <a:pt x="80824" y="22319"/>
                    </a:cubicBezTo>
                    <a:cubicBezTo>
                      <a:pt x="58505" y="0"/>
                      <a:pt x="22319" y="0"/>
                      <a:pt x="0" y="22319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952536" y="5555671"/>
                <a:ext cx="103143" cy="103143"/>
              </a:xfrm>
              <a:custGeom>
                <a:avLst/>
                <a:gdLst/>
                <a:ahLst/>
                <a:cxnLst/>
                <a:rect l="l" t="t" r="r" b="b"/>
                <a:pathLst>
                  <a:path w="103143" h="103143">
                    <a:moveTo>
                      <a:pt x="22319" y="0"/>
                    </a:moveTo>
                    <a:cubicBezTo>
                      <a:pt x="0" y="22319"/>
                      <a:pt x="0" y="58505"/>
                      <a:pt x="22319" y="80824"/>
                    </a:cubicBezTo>
                    <a:cubicBezTo>
                      <a:pt x="44638" y="103143"/>
                      <a:pt x="80824" y="103143"/>
                      <a:pt x="103143" y="80824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9192006" y="5534025"/>
              <a:ext cx="12545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Био-психо-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753856" y="5848350"/>
              <a:ext cx="1351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социальный</a:t>
              </a:r>
            </a:p>
          </p:txBody>
        </p:sp>
      </p:grpSp>
      <p:grpSp>
        <p:nvGrpSpPr>
          <p:cNvPr id="58" name="p05-note"/>
          <p:cNvGrpSpPr/>
          <p:nvPr/>
        </p:nvGrpSpPr>
        <p:grpSpPr>
          <a:xfrm>
            <a:off x="753618" y="6311900"/>
            <a:ext cx="7229641" cy="475107"/>
            <a:chOff x="753618" y="6311900"/>
            <a:chExt cx="7229641" cy="475107"/>
          </a:xfrm>
        </p:grpSpPr>
        <p:sp>
          <p:nvSpPr>
            <p:cNvPr id="56" name="TextBox 56"/>
            <p:cNvSpPr txBox="1"/>
            <p:nvPr/>
          </p:nvSpPr>
          <p:spPr>
            <a:xfrm>
              <a:off x="1134618" y="6311900"/>
              <a:ext cx="68486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Фредриксон: на одно негативное переживание — три позитивных</a:t>
              </a:r>
            </a:p>
          </p:txBody>
        </p:sp>
        <p:sp>
          <p:nvSpPr>
            <p:cNvPr id="57" name="credit"/>
            <p:cNvSpPr txBox="1"/>
            <p:nvPr/>
          </p:nvSpPr>
          <p:spPr>
            <a:xfrm>
              <a:off x="753618" y="6464300"/>
              <a:ext cx="52435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YVC Biology Department / Wikimedia / CC BY 2.0</a:t>
              </a:r>
            </a:p>
          </p:txBody>
        </p:sp>
      </p:grpSp>
      <p:pic>
        <p:nvPicPr>
          <p:cNvPr id="59" name="PPT Master narration: narration6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59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6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6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6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grpSp>
        <p:nvGrpSpPr>
          <p:cNvPr id="6" name="p06-title"/>
          <p:cNvGrpSpPr/>
          <p:nvPr/>
        </p:nvGrpSpPr>
        <p:grpSpPr>
          <a:xfrm>
            <a:off x="743712" y="527050"/>
            <a:ext cx="5919941" cy="704088"/>
            <a:chOff x="743712" y="527050"/>
            <a:chExt cx="5919941" cy="704088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27050"/>
              <a:ext cx="591994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Четыре гормона счастья</a:t>
              </a:r>
            </a:p>
          </p:txBody>
        </p:sp>
      </p:grpSp>
      <p:grpSp>
        <p:nvGrpSpPr>
          <p:cNvPr id="11" name="p06-dopamine"/>
          <p:cNvGrpSpPr/>
          <p:nvPr/>
        </p:nvGrpSpPr>
        <p:grpSpPr>
          <a:xfrm>
            <a:off x="762000" y="1666875"/>
            <a:ext cx="3429000" cy="1143000"/>
            <a:chOff x="762000" y="1666875"/>
            <a:chExt cx="3429000" cy="1143000"/>
          </a:xfrm>
        </p:grpSpPr>
        <p:sp>
          <p:nvSpPr>
            <p:cNvPr id="7" name="Rectangle 7"/>
            <p:cNvSpPr/>
            <p:nvPr/>
          </p:nvSpPr>
          <p:spPr>
            <a:xfrm>
              <a:off x="762000" y="166687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1052513" y="2054225"/>
              <a:ext cx="350838" cy="330201"/>
            </a:xfrm>
            <a:custGeom>
              <a:avLst/>
              <a:gdLst/>
              <a:ahLst/>
              <a:cxnLst/>
              <a:rect l="l" t="t" r="r" b="b"/>
              <a:pathLst>
                <a:path w="350838" h="330201">
                  <a:moveTo>
                    <a:pt x="268288" y="288925"/>
                  </a:moveTo>
                  <a:cubicBezTo>
                    <a:pt x="291084" y="288925"/>
                    <a:pt x="309563" y="307405"/>
                    <a:pt x="309563" y="330201"/>
                  </a:cubicBezTo>
                  <a:cubicBezTo>
                    <a:pt x="309563" y="307405"/>
                    <a:pt x="328042" y="288925"/>
                    <a:pt x="350838" y="288925"/>
                  </a:cubicBezTo>
                  <a:cubicBezTo>
                    <a:pt x="328042" y="288925"/>
                    <a:pt x="309563" y="270446"/>
                    <a:pt x="309563" y="247650"/>
                  </a:cubicBezTo>
                  <a:cubicBezTo>
                    <a:pt x="309563" y="270446"/>
                    <a:pt x="291084" y="288925"/>
                    <a:pt x="268288" y="288925"/>
                  </a:cubicBezTo>
                  <a:moveTo>
                    <a:pt x="268288" y="41275"/>
                  </a:moveTo>
                  <a:cubicBezTo>
                    <a:pt x="291084" y="41275"/>
                    <a:pt x="309563" y="59755"/>
                    <a:pt x="309563" y="82550"/>
                  </a:cubicBezTo>
                  <a:cubicBezTo>
                    <a:pt x="309563" y="59755"/>
                    <a:pt x="328042" y="41275"/>
                    <a:pt x="350838" y="41275"/>
                  </a:cubicBezTo>
                  <a:cubicBezTo>
                    <a:pt x="328042" y="41275"/>
                    <a:pt x="309563" y="22796"/>
                    <a:pt x="309563" y="0"/>
                  </a:cubicBezTo>
                  <a:cubicBezTo>
                    <a:pt x="309563" y="22796"/>
                    <a:pt x="291084" y="41275"/>
                    <a:pt x="268288" y="41275"/>
                  </a:cubicBezTo>
                  <a:moveTo>
                    <a:pt x="123825" y="288925"/>
                  </a:moveTo>
                  <a:cubicBezTo>
                    <a:pt x="123825" y="220539"/>
                    <a:pt x="179264" y="165100"/>
                    <a:pt x="247650" y="165100"/>
                  </a:cubicBezTo>
                  <a:cubicBezTo>
                    <a:pt x="179264" y="165100"/>
                    <a:pt x="123825" y="109662"/>
                    <a:pt x="123825" y="41275"/>
                  </a:cubicBezTo>
                  <a:cubicBezTo>
                    <a:pt x="123825" y="109662"/>
                    <a:pt x="68387" y="165100"/>
                    <a:pt x="0" y="165100"/>
                  </a:cubicBezTo>
                  <a:cubicBezTo>
                    <a:pt x="68387" y="165100"/>
                    <a:pt x="123825" y="220539"/>
                    <a:pt x="123825" y="288925"/>
                  </a:cubicBezTo>
                </a:path>
              </a:pathLst>
            </a:custGeom>
            <a:noFill/>
            <a:ln w="41275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7256" y="1914525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Дофамин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7256" y="2276475"/>
              <a:ext cx="2418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мотивация и награда</a:t>
              </a:r>
            </a:p>
          </p:txBody>
        </p:sp>
      </p:grpSp>
      <p:grpSp>
        <p:nvGrpSpPr>
          <p:cNvPr id="18" name="p06-serotonin"/>
          <p:cNvGrpSpPr/>
          <p:nvPr/>
        </p:nvGrpSpPr>
        <p:grpSpPr>
          <a:xfrm>
            <a:off x="8001000" y="1666875"/>
            <a:ext cx="3429000" cy="1143000"/>
            <a:chOff x="8001000" y="1666875"/>
            <a:chExt cx="3429000" cy="1143000"/>
          </a:xfrm>
        </p:grpSpPr>
        <p:sp>
          <p:nvSpPr>
            <p:cNvPr id="12" name="Rectangle 12"/>
            <p:cNvSpPr/>
            <p:nvPr/>
          </p:nvSpPr>
          <p:spPr>
            <a:xfrm>
              <a:off x="8001000" y="166687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291513" y="2033588"/>
              <a:ext cx="371476" cy="371476"/>
              <a:chOff x="8291513" y="2033588"/>
              <a:chExt cx="371476" cy="371476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8394700" y="2136775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82550"/>
                    </a:moveTo>
                    <a:cubicBezTo>
                      <a:pt x="0" y="128141"/>
                      <a:pt x="36959" y="165100"/>
                      <a:pt x="82550" y="165100"/>
                    </a:cubicBezTo>
                    <a:cubicBezTo>
                      <a:pt x="128141" y="165100"/>
                      <a:pt x="165100" y="128141"/>
                      <a:pt x="165100" y="82550"/>
                    </a:cubicBezTo>
                    <a:cubicBezTo>
                      <a:pt x="165100" y="36959"/>
                      <a:pt x="128141" y="0"/>
                      <a:pt x="82550" y="0"/>
                    </a:cubicBezTo>
                    <a:cubicBezTo>
                      <a:pt x="36959" y="0"/>
                      <a:pt x="0" y="36959"/>
                      <a:pt x="0" y="82550"/>
                    </a:cubicBez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91513" y="2033588"/>
                <a:ext cx="371476" cy="371476"/>
              </a:xfrm>
              <a:custGeom>
                <a:avLst/>
                <a:gdLst/>
                <a:ahLst/>
                <a:cxnLst/>
                <a:rect l="l" t="t" r="r" b="b"/>
                <a:pathLst>
                  <a:path w="371476" h="371476">
                    <a:moveTo>
                      <a:pt x="0" y="185738"/>
                    </a:moveTo>
                    <a:lnTo>
                      <a:pt x="20638" y="185738"/>
                    </a:lnTo>
                    <a:moveTo>
                      <a:pt x="185738" y="0"/>
                    </a:moveTo>
                    <a:lnTo>
                      <a:pt x="185738" y="20638"/>
                    </a:lnTo>
                    <a:moveTo>
                      <a:pt x="350838" y="185738"/>
                    </a:moveTo>
                    <a:lnTo>
                      <a:pt x="371476" y="185738"/>
                    </a:lnTo>
                    <a:moveTo>
                      <a:pt x="185738" y="350838"/>
                    </a:moveTo>
                    <a:lnTo>
                      <a:pt x="185738" y="371476"/>
                    </a:lnTo>
                    <a:moveTo>
                      <a:pt x="53658" y="53658"/>
                    </a:moveTo>
                    <a:lnTo>
                      <a:pt x="68104" y="68104"/>
                    </a:lnTo>
                    <a:moveTo>
                      <a:pt x="317818" y="53658"/>
                    </a:moveTo>
                    <a:lnTo>
                      <a:pt x="303372" y="68104"/>
                    </a:lnTo>
                    <a:moveTo>
                      <a:pt x="303372" y="303372"/>
                    </a:moveTo>
                    <a:lnTo>
                      <a:pt x="317818" y="317818"/>
                    </a:lnTo>
                    <a:moveTo>
                      <a:pt x="68104" y="303372"/>
                    </a:moveTo>
                    <a:lnTo>
                      <a:pt x="53658" y="317818"/>
                    </a:lnTo>
                  </a:path>
                </a:pathLst>
              </a:custGeom>
              <a:noFill/>
              <a:ln w="41275">
                <a:solidFill>
                  <a:srgbClr val="27AE60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906256" y="1914525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Серотонин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06256" y="2276475"/>
              <a:ext cx="2018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настроение и сон</a:t>
              </a:r>
            </a:p>
          </p:txBody>
        </p:sp>
      </p:grpSp>
      <p:grpSp>
        <p:nvGrpSpPr>
          <p:cNvPr id="27" name="p06-endorphins"/>
          <p:cNvGrpSpPr/>
          <p:nvPr/>
        </p:nvGrpSpPr>
        <p:grpSpPr>
          <a:xfrm>
            <a:off x="762000" y="3095625"/>
            <a:ext cx="3429000" cy="1143000"/>
            <a:chOff x="762000" y="3095625"/>
            <a:chExt cx="3429000" cy="1143000"/>
          </a:xfrm>
        </p:grpSpPr>
        <p:sp>
          <p:nvSpPr>
            <p:cNvPr id="19" name="Rectangle 19"/>
            <p:cNvSpPr/>
            <p:nvPr/>
          </p:nvSpPr>
          <p:spPr>
            <a:xfrm>
              <a:off x="762000" y="309562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73150" y="3462338"/>
              <a:ext cx="288926" cy="371475"/>
              <a:chOff x="1073150" y="3462338"/>
              <a:chExt cx="288926" cy="371475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217757" y="3462338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73150" y="3740944"/>
                <a:ext cx="118666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118666" h="30956">
                    <a:moveTo>
                      <a:pt x="0" y="10319"/>
                    </a:moveTo>
                    <a:lnTo>
                      <a:pt x="103188" y="30956"/>
                    </a:lnTo>
                    <a:lnTo>
                      <a:pt x="118666" y="0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217613" y="3565525"/>
                <a:ext cx="82550" cy="268288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68288">
                    <a:moveTo>
                      <a:pt x="82550" y="268288"/>
                    </a:moveTo>
                    <a:lnTo>
                      <a:pt x="82550" y="185738"/>
                    </a:lnTo>
                    <a:lnTo>
                      <a:pt x="0" y="123825"/>
                    </a:lnTo>
                    <a:lnTo>
                      <a:pt x="20638" y="0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135063" y="3565525"/>
                <a:ext cx="227013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82550">
                    <a:moveTo>
                      <a:pt x="0" y="82550"/>
                    </a:moveTo>
                    <a:lnTo>
                      <a:pt x="0" y="20638"/>
                    </a:lnTo>
                    <a:lnTo>
                      <a:pt x="103188" y="0"/>
                    </a:lnTo>
                    <a:lnTo>
                      <a:pt x="165100" y="61913"/>
                    </a:lnTo>
                    <a:lnTo>
                      <a:pt x="227013" y="82550"/>
                    </a:lnTo>
                  </a:path>
                </a:pathLst>
              </a:custGeom>
              <a:noFill/>
              <a:ln w="41275">
                <a:solidFill>
                  <a:srgbClr val="E67E22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667256" y="3343275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Эндорфины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67256" y="3705225"/>
              <a:ext cx="2285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эйфория и лёгкость</a:t>
              </a:r>
            </a:p>
          </p:txBody>
        </p:sp>
      </p:grpSp>
      <p:grpSp>
        <p:nvGrpSpPr>
          <p:cNvPr id="32" name="p06-oxytocin"/>
          <p:cNvGrpSpPr/>
          <p:nvPr/>
        </p:nvGrpSpPr>
        <p:grpSpPr>
          <a:xfrm>
            <a:off x="8001000" y="3095625"/>
            <a:ext cx="3429000" cy="1143000"/>
            <a:chOff x="8001000" y="3095625"/>
            <a:chExt cx="3429000" cy="1143000"/>
          </a:xfrm>
        </p:grpSpPr>
        <p:sp>
          <p:nvSpPr>
            <p:cNvPr id="28" name="Rectangle 28"/>
            <p:cNvSpPr/>
            <p:nvPr/>
          </p:nvSpPr>
          <p:spPr>
            <a:xfrm>
              <a:off x="8001000" y="3095625"/>
              <a:ext cx="3429000" cy="1143000"/>
            </a:xfrm>
            <a:prstGeom prst="roundRect">
              <a:avLst>
                <a:gd name="adj" fmla="val 1166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284366" y="3477681"/>
              <a:ext cx="385394" cy="335495"/>
            </a:xfrm>
            <a:custGeom>
              <a:avLst/>
              <a:gdLst/>
              <a:ahLst/>
              <a:cxnLst/>
              <a:rect l="l" t="t" r="r" b="b"/>
              <a:pathLst>
                <a:path w="385394" h="335495">
                  <a:moveTo>
                    <a:pt x="347665" y="182199"/>
                  </a:moveTo>
                  <a:lnTo>
                    <a:pt x="192884" y="335495"/>
                  </a:lnTo>
                  <a:lnTo>
                    <a:pt x="38102" y="182199"/>
                  </a:lnTo>
                  <a:cubicBezTo>
                    <a:pt x="10269" y="155114"/>
                    <a:pt x="0" y="114695"/>
                    <a:pt x="11531" y="77609"/>
                  </a:cubicBezTo>
                  <a:cubicBezTo>
                    <a:pt x="23062" y="40523"/>
                    <a:pt x="54440" y="13053"/>
                    <a:pt x="92725" y="6527"/>
                  </a:cubicBezTo>
                  <a:cubicBezTo>
                    <a:pt x="131010" y="0"/>
                    <a:pt x="169717" y="15523"/>
                    <a:pt x="192884" y="46693"/>
                  </a:cubicBezTo>
                  <a:cubicBezTo>
                    <a:pt x="216148" y="15753"/>
                    <a:pt x="254772" y="437"/>
                    <a:pt x="292918" y="7024"/>
                  </a:cubicBezTo>
                  <a:cubicBezTo>
                    <a:pt x="331064" y="13612"/>
                    <a:pt x="362314" y="40995"/>
                    <a:pt x="373854" y="77946"/>
                  </a:cubicBezTo>
                  <a:cubicBezTo>
                    <a:pt x="385394" y="114896"/>
                    <a:pt x="375282" y="155197"/>
                    <a:pt x="347665" y="182323"/>
                  </a:cubicBezTo>
                </a:path>
              </a:pathLst>
            </a:custGeom>
            <a:noFill/>
            <a:ln w="41275">
              <a:solidFill>
                <a:srgbClr val="E74C3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06256" y="3343275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Окситоцин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06256" y="3705225"/>
              <a:ext cx="2285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доверие и близость</a:t>
              </a:r>
            </a:p>
          </p:txBody>
        </p:sp>
      </p:grpSp>
      <p:grpSp>
        <p:nvGrpSpPr>
          <p:cNvPr id="37" name="p06-video"/>
          <p:cNvGrpSpPr/>
          <p:nvPr/>
        </p:nvGrpSpPr>
        <p:grpSpPr>
          <a:xfrm>
            <a:off x="4333875" y="1619250"/>
            <a:ext cx="3524250" cy="2019300"/>
            <a:chOff x="4333875" y="1619250"/>
            <a:chExt cx="3524250" cy="2019300"/>
          </a:xfrm>
        </p:grpSpPr>
        <p:sp>
          <p:nvSpPr>
            <p:cNvPr id="33" name="Rectangle 33"/>
            <p:cNvSpPr/>
            <p:nvPr/>
          </p:nvSpPr>
          <p:spPr>
            <a:xfrm>
              <a:off x="4333875" y="1619250"/>
              <a:ext cx="3524250" cy="2019300"/>
            </a:xfrm>
            <a:prstGeom prst="roundRect">
              <a:avLst>
                <a:gd name="adj" fmla="val 6604"/>
              </a:avLst>
            </a:prstGeom>
            <a:solidFill>
              <a:srgbClr val="FFFFFF">
                <a:alpha val="90000"/>
              </a:srgbClr>
            </a:solidFill>
            <a:ln w="19050">
              <a:solidFill>
                <a:schemeClr val="accent1"/>
              </a:solidFill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rcRect l="0" t="93" r="0" b="93"/>
            <a:stretch>
              <a:fillRect/>
            </a:stretch>
          </p:blipFill>
          <p:spPr>
            <a:xfrm>
              <a:off x="4391025" y="1676400"/>
              <a:ext cx="3409950" cy="1914525"/>
            </a:xfrm>
            <a:prstGeom prst="rect">
              <a:avLst/>
            </a:prstGeom>
          </p:spPr>
        </p:pic>
        <p:sp>
          <p:nvSpPr>
            <p:cNvPr id="35" name="Ellipse 35"/>
            <p:cNvSpPr/>
            <p:nvPr/>
          </p:nvSpPr>
          <p:spPr>
            <a:xfrm>
              <a:off x="5772150" y="2305050"/>
              <a:ext cx="647700" cy="647700"/>
            </a:xfrm>
            <a:prstGeom prst="ellipse">
              <a:avLst/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6000750" y="2476500"/>
              <a:ext cx="266700" cy="304800"/>
            </a:xfrm>
            <a:custGeom>
              <a:avLst/>
              <a:gdLst/>
              <a:ahLst/>
              <a:cxnLst/>
              <a:rect l="l" t="t" r="r" b="b"/>
              <a:pathLst>
                <a:path w="266700" h="304800">
                  <a:moveTo>
                    <a:pt x="0" y="0"/>
                  </a:moveTo>
                  <a:lnTo>
                    <a:pt x="266700" y="152400"/>
                  </a:lnTo>
                  <a:lnTo>
                    <a:pt x="0" y="304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43" name="p06-video-note"/>
          <p:cNvGrpSpPr/>
          <p:nvPr/>
        </p:nvGrpSpPr>
        <p:grpSpPr>
          <a:xfrm>
            <a:off x="4514850" y="3886200"/>
            <a:ext cx="3272841" cy="675894"/>
            <a:chOff x="4514850" y="3886200"/>
            <a:chExt cx="3272841" cy="675894"/>
          </a:xfrm>
        </p:grpSpPr>
        <p:grpSp>
          <p:nvGrpSpPr>
            <p:cNvPr id="40" name="Group 40"/>
            <p:cNvGrpSpPr/>
            <p:nvPr/>
          </p:nvGrpSpPr>
          <p:grpSpPr>
            <a:xfrm>
              <a:off x="4514850" y="4019550"/>
              <a:ext cx="228600" cy="152400"/>
              <a:chOff x="4514850" y="4019550"/>
              <a:chExt cx="228600" cy="1524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4667250" y="4039478"/>
                <a:ext cx="76200" cy="112544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2544">
                    <a:moveTo>
                      <a:pt x="0" y="30872"/>
                    </a:moveTo>
                    <a:lnTo>
                      <a:pt x="57823" y="1967"/>
                    </a:lnTo>
                    <a:cubicBezTo>
                      <a:pt x="61759" y="0"/>
                      <a:pt x="66432" y="210"/>
                      <a:pt x="70175" y="2523"/>
                    </a:cubicBezTo>
                    <a:cubicBezTo>
                      <a:pt x="73918" y="4836"/>
                      <a:pt x="76197" y="8921"/>
                      <a:pt x="76200" y="13320"/>
                    </a:cubicBezTo>
                    <a:lnTo>
                      <a:pt x="76200" y="99223"/>
                    </a:lnTo>
                    <a:cubicBezTo>
                      <a:pt x="76197" y="103623"/>
                      <a:pt x="73918" y="107708"/>
                      <a:pt x="70175" y="110021"/>
                    </a:cubicBezTo>
                    <a:cubicBezTo>
                      <a:pt x="66432" y="112333"/>
                      <a:pt x="61759" y="112544"/>
                      <a:pt x="57823" y="110577"/>
                    </a:cubicBezTo>
                    <a:lnTo>
                      <a:pt x="0" y="81672"/>
                    </a:lnTo>
                    <a:lnTo>
                      <a:pt x="0" y="30872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514850" y="40195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  <a:cubicBezTo>
                      <a:pt x="152400" y="141028"/>
                      <a:pt x="141028" y="152400"/>
                      <a:pt x="127000" y="152400"/>
                    </a:cubicBezTo>
                    <a:lnTo>
                      <a:pt x="25400" y="152400"/>
                    </a:lnTo>
                    <a:cubicBezTo>
                      <a:pt x="11372" y="152400"/>
                      <a:pt x="0" y="141028"/>
                      <a:pt x="0" y="1270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chemeClr val="accent1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4886706" y="3886200"/>
              <a:ext cx="29009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Видео: нейросети мозга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86706" y="4210050"/>
              <a:ext cx="11547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12 секунд</a:t>
              </a:r>
            </a:p>
          </p:txBody>
        </p:sp>
      </p:grpSp>
      <p:grpSp>
        <p:nvGrpSpPr>
          <p:cNvPr id="65" name="p06-summary"/>
          <p:cNvGrpSpPr/>
          <p:nvPr/>
        </p:nvGrpSpPr>
        <p:grpSpPr>
          <a:xfrm>
            <a:off x="762000" y="4667250"/>
            <a:ext cx="10668000" cy="1333500"/>
            <a:chOff x="762000" y="4667250"/>
            <a:chExt cx="10668000" cy="1333500"/>
          </a:xfrm>
        </p:grpSpPr>
        <p:sp>
          <p:nvSpPr>
            <p:cNvPr id="44" name="Rectangle 44"/>
            <p:cNvSpPr/>
            <p:nvPr/>
          </p:nvSpPr>
          <p:spPr>
            <a:xfrm>
              <a:off x="762000" y="4667250"/>
              <a:ext cx="10668000" cy="1333500"/>
            </a:xfrm>
            <a:prstGeom prst="roundRect">
              <a:avLst>
                <a:gd name="adj" fmla="val 11429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57656" y="4838700"/>
              <a:ext cx="3880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Баланс гормонов поддерживают: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1114425" y="5331619"/>
              <a:ext cx="166688" cy="214312"/>
              <a:chOff x="1114425" y="5331619"/>
              <a:chExt cx="166688" cy="21431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197852" y="53316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114425" y="5492353"/>
                <a:ext cx="68461" cy="17859"/>
              </a:xfrm>
              <a:custGeom>
                <a:avLst/>
                <a:gdLst/>
                <a:ahLst/>
                <a:cxnLst/>
                <a:rect l="l" t="t" r="r" b="b"/>
                <a:pathLst>
                  <a:path w="68461" h="17859">
                    <a:moveTo>
                      <a:pt x="0" y="5953"/>
                    </a:moveTo>
                    <a:lnTo>
                      <a:pt x="59531" y="17859"/>
                    </a:lnTo>
                    <a:lnTo>
                      <a:pt x="68461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1197769" y="5391150"/>
                <a:ext cx="476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54781">
                    <a:moveTo>
                      <a:pt x="47625" y="154781"/>
                    </a:moveTo>
                    <a:lnTo>
                      <a:pt x="47625" y="107156"/>
                    </a:lnTo>
                    <a:lnTo>
                      <a:pt x="0" y="71438"/>
                    </a:lnTo>
                    <a:lnTo>
                      <a:pt x="11906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150144" y="5391150"/>
                <a:ext cx="130969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30969" h="47625">
                    <a:moveTo>
                      <a:pt x="0" y="47625"/>
                    </a:moveTo>
                    <a:lnTo>
                      <a:pt x="0" y="11906"/>
                    </a:lnTo>
                    <a:lnTo>
                      <a:pt x="59531" y="0"/>
                    </a:lnTo>
                    <a:lnTo>
                      <a:pt x="95250" y="35719"/>
                    </a:lnTo>
                    <a:lnTo>
                      <a:pt x="130969" y="47625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1457706" y="5295900"/>
              <a:ext cx="6846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спорт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3172886" y="5331524"/>
              <a:ext cx="212216" cy="224591"/>
            </a:xfrm>
            <a:custGeom>
              <a:avLst/>
              <a:gdLst/>
              <a:ahLst/>
              <a:cxnLst/>
              <a:rect l="l" t="t" r="r" b="b"/>
              <a:pathLst>
                <a:path w="212216" h="224591">
                  <a:moveTo>
                    <a:pt x="113239" y="95"/>
                  </a:moveTo>
                  <a:cubicBezTo>
                    <a:pt x="114811" y="95"/>
                    <a:pt x="116371" y="95"/>
                    <a:pt x="117918" y="95"/>
                  </a:cubicBezTo>
                  <a:cubicBezTo>
                    <a:pt x="86357" y="29422"/>
                    <a:pt x="80236" y="77103"/>
                    <a:pt x="103366" y="113451"/>
                  </a:cubicBezTo>
                  <a:cubicBezTo>
                    <a:pt x="126496" y="149800"/>
                    <a:pt x="172281" y="164450"/>
                    <a:pt x="212216" y="148280"/>
                  </a:cubicBezTo>
                  <a:cubicBezTo>
                    <a:pt x="191586" y="197919"/>
                    <a:pt x="137371" y="224591"/>
                    <a:pt x="85458" y="210642"/>
                  </a:cubicBezTo>
                  <a:cubicBezTo>
                    <a:pt x="33544" y="196692"/>
                    <a:pt x="0" y="146438"/>
                    <a:pt x="7029" y="93145"/>
                  </a:cubicBezTo>
                  <a:cubicBezTo>
                    <a:pt x="14058" y="39851"/>
                    <a:pt x="59484" y="13"/>
                    <a:pt x="113239" y="0"/>
                  </a:cubicBezTo>
                  <a:lnTo>
                    <a:pt x="113239" y="95"/>
                  </a:lnTo>
                </a:path>
              </a:pathLst>
            </a:custGeom>
            <a:noFill/>
            <a:ln w="23812">
              <a:solidFill>
                <a:srgbClr val="27AE60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534156" y="5295900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сон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5095875" y="5331619"/>
              <a:ext cx="202406" cy="226219"/>
              <a:chOff x="5095875" y="5331619"/>
              <a:chExt cx="202406" cy="226219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5107781" y="53316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5095875" y="5426869"/>
                <a:ext cx="71438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30969">
                    <a:moveTo>
                      <a:pt x="11906" y="130969"/>
                    </a:moveTo>
                    <a:lnTo>
                      <a:pt x="11906" y="71438"/>
                    </a:lnTo>
                    <a:lnTo>
                      <a:pt x="0" y="59531"/>
                    </a:ln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59531"/>
                    </a:lnTo>
                    <a:lnTo>
                      <a:pt x="59531" y="71438"/>
                    </a:lnTo>
                    <a:lnTo>
                      <a:pt x="59531" y="130969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5226844" y="53316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5203031" y="5426869"/>
                <a:ext cx="95250" cy="130969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30969">
                    <a:moveTo>
                      <a:pt x="23812" y="130969"/>
                    </a:moveTo>
                    <a:lnTo>
                      <a:pt x="23812" y="83344"/>
                    </a:lnTo>
                    <a:lnTo>
                      <a:pt x="0" y="83344"/>
                    </a:lnTo>
                    <a:lnTo>
                      <a:pt x="23812" y="11906"/>
                    </a:lnTo>
                    <a:cubicBezTo>
                      <a:pt x="23812" y="5331"/>
                      <a:pt x="29143" y="0"/>
                      <a:pt x="35719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95250" y="83344"/>
                    </a:lnTo>
                    <a:lnTo>
                      <a:pt x="71438" y="83344"/>
                    </a:lnTo>
                    <a:lnTo>
                      <a:pt x="71438" y="130969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5439156" y="529590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общение</a:t>
              </a:r>
            </a:p>
          </p:txBody>
        </p:sp>
        <p:grpSp>
          <p:nvGrpSpPr>
            <p:cNvPr id="63" name="Group 63"/>
            <p:cNvGrpSpPr/>
            <p:nvPr/>
          </p:nvGrpSpPr>
          <p:grpSpPr>
            <a:xfrm>
              <a:off x="7489031" y="5343525"/>
              <a:ext cx="166688" cy="214312"/>
              <a:chOff x="7489031" y="5343525"/>
              <a:chExt cx="166688" cy="214312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489031" y="5343525"/>
                <a:ext cx="166688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4312">
                    <a:moveTo>
                      <a:pt x="11906" y="0"/>
                    </a:moveTo>
                    <a:lnTo>
                      <a:pt x="142875" y="0"/>
                    </a:lnTo>
                    <a:cubicBezTo>
                      <a:pt x="156026" y="0"/>
                      <a:pt x="166688" y="10661"/>
                      <a:pt x="166688" y="23812"/>
                    </a:cubicBezTo>
                    <a:lnTo>
                      <a:pt x="166688" y="166688"/>
                    </a:lnTo>
                    <a:cubicBezTo>
                      <a:pt x="166688" y="179839"/>
                      <a:pt x="156026" y="190500"/>
                      <a:pt x="142875" y="190500"/>
                    </a:cubicBezTo>
                    <a:lnTo>
                      <a:pt x="11906" y="190500"/>
                    </a:lnTo>
                    <a:cubicBezTo>
                      <a:pt x="5331" y="190500"/>
                      <a:pt x="0" y="185169"/>
                      <a:pt x="0" y="178594"/>
                    </a:cubicBezTo>
                    <a:lnTo>
                      <a:pt x="0" y="11906"/>
                    </a:lnTo>
                    <a:cubicBezTo>
                      <a:pt x="0" y="5331"/>
                      <a:pt x="5331" y="0"/>
                      <a:pt x="11906" y="0"/>
                    </a:cubicBezTo>
                    <a:moveTo>
                      <a:pt x="47625" y="0"/>
                    </a:moveTo>
                    <a:lnTo>
                      <a:pt x="47625" y="214312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7584281" y="5391150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584281" y="5438775"/>
                <a:ext cx="238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9525">
                    <a:moveTo>
                      <a:pt x="0" y="0"/>
                    </a:moveTo>
                    <a:lnTo>
                      <a:pt x="23812" y="0"/>
                    </a:lnTo>
                  </a:path>
                </a:pathLst>
              </a:custGeom>
              <a:noFill/>
              <a:ln w="23812">
                <a:solidFill>
                  <a:srgbClr val="27AE60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820406" y="5295900"/>
              <a:ext cx="2551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здоровый образ жизни</a:t>
              </a:r>
            </a:p>
          </p:txBody>
        </p:sp>
      </p:grpSp>
      <p:grpSp>
        <p:nvGrpSpPr>
          <p:cNvPr id="68" name="p06-credits"/>
          <p:cNvGrpSpPr/>
          <p:nvPr/>
        </p:nvGrpSpPr>
        <p:grpSpPr>
          <a:xfrm>
            <a:off x="753618" y="6197600"/>
            <a:ext cx="11024999" cy="551307"/>
            <a:chOff x="753618" y="6197600"/>
            <a:chExt cx="11024999" cy="551307"/>
          </a:xfrm>
        </p:grpSpPr>
        <p:sp>
          <p:nvSpPr>
            <p:cNvPr id="66" name="TextBox 66"/>
            <p:cNvSpPr txBox="1"/>
            <p:nvPr/>
          </p:nvSpPr>
          <p:spPr>
            <a:xfrm>
              <a:off x="753618" y="6197600"/>
              <a:ext cx="11024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Katherine Stember / Wikimedia / CC BY 4.0; видео — © JOGOS Public Assets / Wikimedia / CC BY-SA 4.0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3618" y="6426200"/>
              <a:ext cx="28221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Концепция счастья · ИС-24</a:t>
              </a:r>
            </a:p>
          </p:txBody>
        </p:sp>
      </p:grpSp>
      <p:sp>
        <p:nvSpPr>
          <p:cNvPr id="69" name="p06-num"/>
          <p:cNvSpPr txBox="1"/>
          <p:nvPr/>
        </p:nvSpPr>
        <p:spPr>
          <a:xfrm>
            <a:off x="11174528" y="64262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07</a:t>
            </a:r>
          </a:p>
        </p:txBody>
      </p:sp>
      <p:pic>
        <p:nvPicPr>
          <p:cNvPr id="70" name="PPT Master narration: narration7.mp3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7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7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7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7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5" name="08_history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7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08</a:t>
            </a:r>
          </a:p>
        </p:txBody>
      </p:sp>
      <p:grpSp>
        <p:nvGrpSpPr>
          <p:cNvPr id="8" name="p07-title"/>
          <p:cNvGrpSpPr/>
          <p:nvPr/>
        </p:nvGrpSpPr>
        <p:grpSpPr>
          <a:xfrm>
            <a:off x="743712" y="565150"/>
            <a:ext cx="7589035" cy="704088"/>
            <a:chOff x="743712" y="565150"/>
            <a:chExt cx="7589035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758903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Шесть вех в понимании счастья</a:t>
              </a:r>
            </a:p>
          </p:txBody>
        </p:sp>
      </p:grpSp>
      <p:grpSp>
        <p:nvGrpSpPr>
          <p:cNvPr id="34" name="p07-timeline"/>
          <p:cNvGrpSpPr/>
          <p:nvPr/>
        </p:nvGrpSpPr>
        <p:grpSpPr>
          <a:xfrm>
            <a:off x="870607" y="2019300"/>
            <a:ext cx="10790364" cy="1548257"/>
            <a:chOff x="870607" y="2019300"/>
            <a:chExt cx="10790364" cy="1548257"/>
          </a:xfrm>
        </p:grpSpPr>
        <p:sp>
          <p:nvSpPr>
            <p:cNvPr id="9" name="Line 9"/>
            <p:cNvSpPr/>
            <p:nvPr/>
          </p:nvSpPr>
          <p:spPr>
            <a:xfrm>
              <a:off x="1238250" y="2857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grpSp>
          <p:nvGrpSpPr>
            <p:cNvPr id="13" name="p07-p140"/>
            <p:cNvGrpSpPr/>
            <p:nvPr/>
          </p:nvGrpSpPr>
          <p:grpSpPr>
            <a:xfrm>
              <a:off x="870607" y="2019300"/>
              <a:ext cx="1306785" cy="1548257"/>
              <a:chOff x="870607" y="2019300"/>
              <a:chExt cx="1306785" cy="1548257"/>
            </a:xfrm>
          </p:grpSpPr>
          <p:pic>
            <p:nvPicPr>
              <p:cNvPr id="10" name="Image 10"/>
              <p:cNvPicPr>
                <a:picLocks noChangeAspect="1"/>
              </p:cNvPicPr>
              <p:nvPr/>
            </p:nvPicPr>
            <p:blipFill>
              <a:blip r:embed="rId3"/>
              <a:srcRect l="0" t="15806" r="0" b="15807"/>
              <a:stretch>
                <a:fillRect/>
              </a:stretch>
            </p:blipFill>
            <p:spPr>
              <a:xfrm>
                <a:off x="1162050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11" name="TextBox 11"/>
              <p:cNvSpPr txBox="1"/>
              <p:nvPr/>
            </p:nvSpPr>
            <p:spPr>
              <a:xfrm>
                <a:off x="870607" y="2940050"/>
                <a:ext cx="13067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Аристотель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65864" y="3244850"/>
                <a:ext cx="111627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эвдемония</a:t>
                </a:r>
              </a:p>
            </p:txBody>
          </p:sp>
        </p:grpSp>
        <p:grpSp>
          <p:nvGrpSpPr>
            <p:cNvPr id="17" name="p07-p300"/>
            <p:cNvGrpSpPr/>
            <p:nvPr/>
          </p:nvGrpSpPr>
          <p:grpSpPr>
            <a:xfrm>
              <a:off x="2748696" y="2019300"/>
              <a:ext cx="1360608" cy="1548257"/>
              <a:chOff x="2748696" y="2019300"/>
              <a:chExt cx="1360608" cy="1548257"/>
            </a:xfrm>
          </p:grpSpPr>
          <p:pic>
            <p:nvPicPr>
              <p:cNvPr id="14" name="Image 14"/>
              <p:cNvPicPr>
                <a:picLocks noChangeAspect="1"/>
              </p:cNvPicPr>
              <p:nvPr/>
            </p:nvPicPr>
            <p:blipFill>
              <a:blip r:embed="rId4"/>
              <a:srcRect l="20099" t="0" r="20099" b="0"/>
              <a:stretch>
                <a:fillRect/>
              </a:stretch>
            </p:blipFill>
            <p:spPr>
              <a:xfrm>
                <a:off x="3067050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15" name="TextBox 15"/>
              <p:cNvSpPr txBox="1"/>
              <p:nvPr/>
            </p:nvSpPr>
            <p:spPr>
              <a:xfrm>
                <a:off x="3032159" y="2940050"/>
                <a:ext cx="793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Стоики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2748696" y="3244850"/>
                <a:ext cx="13606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спокойствие</a:t>
                </a:r>
              </a:p>
            </p:txBody>
          </p:sp>
        </p:grpSp>
        <p:grpSp>
          <p:nvGrpSpPr>
            <p:cNvPr id="21" name="p07-p460"/>
            <p:cNvGrpSpPr/>
            <p:nvPr/>
          </p:nvGrpSpPr>
          <p:grpSpPr>
            <a:xfrm>
              <a:off x="4592612" y="2019300"/>
              <a:ext cx="1482776" cy="1548257"/>
              <a:chOff x="4592612" y="2019300"/>
              <a:chExt cx="1482776" cy="1548257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4972050" y="2019300"/>
                <a:ext cx="723900" cy="723900"/>
              </a:xfrm>
              <a:prstGeom prst="ellipse">
                <a:avLst/>
              </a:prstGeom>
              <a:solidFill>
                <a:schemeClr val="accent1">
                  <a:alpha val="12000"/>
                </a:schemeClr>
              </a:solidFill>
              <a:ln w="28575">
                <a:solidFill>
                  <a:schemeClr val="accent1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001297" y="2940050"/>
                <a:ext cx="66540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Индия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592612" y="3244850"/>
                <a:ext cx="14827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освобождение</a:t>
                </a:r>
              </a:p>
            </p:txBody>
          </p:sp>
        </p:grpSp>
        <p:grpSp>
          <p:nvGrpSpPr>
            <p:cNvPr id="25" name="p07-p780"/>
            <p:cNvGrpSpPr/>
            <p:nvPr/>
          </p:nvGrpSpPr>
          <p:grpSpPr>
            <a:xfrm>
              <a:off x="6313739" y="2019300"/>
              <a:ext cx="1850523" cy="1548257"/>
              <a:chOff x="6313739" y="2019300"/>
              <a:chExt cx="1850523" cy="1548257"/>
            </a:xfrm>
          </p:grpSpPr>
          <p:pic>
            <p:nvPicPr>
              <p:cNvPr id="22" name="Image 22"/>
              <p:cNvPicPr>
                <a:picLocks noChangeAspect="1"/>
              </p:cNvPicPr>
              <p:nvPr/>
            </p:nvPicPr>
            <p:blipFill>
              <a:blip r:embed="rId5"/>
              <a:srcRect l="271" t="0" r="271" b="0"/>
              <a:stretch>
                <a:fillRect/>
              </a:stretch>
            </p:blipFill>
            <p:spPr>
              <a:xfrm>
                <a:off x="6877050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23" name="TextBox 23"/>
              <p:cNvSpPr txBox="1"/>
              <p:nvPr/>
            </p:nvSpPr>
            <p:spPr>
              <a:xfrm>
                <a:off x="6585607" y="2940050"/>
                <a:ext cx="13067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Джефферсон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313739" y="3244850"/>
                <a:ext cx="18505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право на счастье</a:t>
                </a:r>
              </a:p>
            </p:txBody>
          </p:sp>
        </p:grpSp>
        <p:grpSp>
          <p:nvGrpSpPr>
            <p:cNvPr id="29" name="p07-p940"/>
            <p:cNvGrpSpPr/>
            <p:nvPr/>
          </p:nvGrpSpPr>
          <p:grpSpPr>
            <a:xfrm>
              <a:off x="8296413" y="2019300"/>
              <a:ext cx="1695174" cy="1548257"/>
              <a:chOff x="8296413" y="2019300"/>
              <a:chExt cx="1695174" cy="1548257"/>
            </a:xfrm>
          </p:grpSpPr>
          <p:pic>
            <p:nvPicPr>
              <p:cNvPr id="26" name="Image 26"/>
              <p:cNvPicPr>
                <a:picLocks noChangeAspect="1"/>
              </p:cNvPicPr>
              <p:nvPr/>
            </p:nvPicPr>
            <p:blipFill>
              <a:blip r:embed="rId6"/>
              <a:srcRect l="1267" t="0" r="1267" b="0"/>
              <a:stretch>
                <a:fillRect/>
              </a:stretch>
            </p:blipFill>
            <p:spPr>
              <a:xfrm>
                <a:off x="8782050" y="2019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27" name="TextBox 27"/>
              <p:cNvSpPr txBox="1"/>
              <p:nvPr/>
            </p:nvSpPr>
            <p:spPr>
              <a:xfrm>
                <a:off x="8296413" y="2940050"/>
                <a:ext cx="1695174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Бентам и Милль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402612" y="3244850"/>
                <a:ext cx="14827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удовольствие</a:t>
                </a:r>
              </a:p>
            </p:txBody>
          </p:sp>
        </p:grpSp>
        <p:grpSp>
          <p:nvGrpSpPr>
            <p:cNvPr id="33" name="p07-p1100"/>
            <p:cNvGrpSpPr/>
            <p:nvPr/>
          </p:nvGrpSpPr>
          <p:grpSpPr>
            <a:xfrm>
              <a:off x="10056028" y="2019300"/>
              <a:ext cx="1604943" cy="1548257"/>
              <a:chOff x="10056028" y="2019300"/>
              <a:chExt cx="1604943" cy="1548257"/>
            </a:xfrm>
          </p:grpSpPr>
          <p:sp>
            <p:nvSpPr>
              <p:cNvPr id="30" name="Ellipse 30"/>
              <p:cNvSpPr/>
              <p:nvPr/>
            </p:nvSpPr>
            <p:spPr>
              <a:xfrm>
                <a:off x="10496550" y="2019300"/>
                <a:ext cx="723900" cy="723900"/>
              </a:xfrm>
              <a:prstGeom prst="ellipse">
                <a:avLst/>
              </a:prstGeom>
              <a:solidFill>
                <a:srgbClr val="E67E22">
                  <a:alpha val="12000"/>
                </a:srgbClr>
              </a:solidFill>
              <a:ln w="28575">
                <a:solidFill>
                  <a:srgbClr val="E67E22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0436457" y="2940050"/>
                <a:ext cx="84408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b="1" dirty="0">
                    <a:solidFill>
                      <a:srgbClr val="E67E22"/>
                    </a:solidFill>
                    <a:latin typeface="+mn-lt"/>
                    <a:ea typeface="+mn-ea"/>
                    <a:cs typeface="+mn-cs"/>
                  </a:rPr>
                  <a:t>XXI век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0056028" y="3244850"/>
                <a:ext cx="160494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многомерность</a:t>
                </a:r>
              </a:p>
            </p:txBody>
          </p:sp>
        </p:grpSp>
      </p:grpSp>
      <p:grpSp>
        <p:nvGrpSpPr>
          <p:cNvPr id="39" name="p07-note"/>
          <p:cNvGrpSpPr/>
          <p:nvPr/>
        </p:nvGrpSpPr>
        <p:grpSpPr>
          <a:xfrm>
            <a:off x="762000" y="4286250"/>
            <a:ext cx="10668000" cy="857250"/>
            <a:chOff x="762000" y="4286250"/>
            <a:chExt cx="10668000" cy="857250"/>
          </a:xfrm>
        </p:grpSpPr>
        <p:sp>
          <p:nvSpPr>
            <p:cNvPr id="35" name="Rectangle 35"/>
            <p:cNvSpPr/>
            <p:nvPr/>
          </p:nvSpPr>
          <p:spPr>
            <a:xfrm>
              <a:off x="762000" y="4286250"/>
              <a:ext cx="10668000" cy="857250"/>
            </a:xfrm>
            <a:prstGeom prst="roundRect">
              <a:avLst>
                <a:gd name="adj" fmla="val 15556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1038212" y="4646380"/>
              <a:ext cx="285778" cy="136992"/>
            </a:xfrm>
            <a:custGeom>
              <a:avLst/>
              <a:gdLst/>
              <a:ahLst/>
              <a:cxnLst/>
              <a:rect l="l" t="t" r="r" b="b"/>
              <a:pathLst>
                <a:path w="285778" h="136992">
                  <a:moveTo>
                    <a:pt x="108408" y="23601"/>
                  </a:moveTo>
                  <a:cubicBezTo>
                    <a:pt x="90249" y="5436"/>
                    <a:pt x="62935" y="0"/>
                    <a:pt x="39204" y="9827"/>
                  </a:cubicBezTo>
                  <a:cubicBezTo>
                    <a:pt x="15473" y="19655"/>
                    <a:pt x="0" y="42811"/>
                    <a:pt x="0" y="68496"/>
                  </a:cubicBezTo>
                  <a:cubicBezTo>
                    <a:pt x="0" y="94181"/>
                    <a:pt x="15473" y="117337"/>
                    <a:pt x="39204" y="127164"/>
                  </a:cubicBezTo>
                  <a:cubicBezTo>
                    <a:pt x="62935" y="136992"/>
                    <a:pt x="90249" y="131555"/>
                    <a:pt x="108408" y="113390"/>
                  </a:cubicBezTo>
                  <a:cubicBezTo>
                    <a:pt x="122499" y="100612"/>
                    <a:pt x="134178" y="85406"/>
                    <a:pt x="142889" y="68496"/>
                  </a:cubicBezTo>
                  <a:cubicBezTo>
                    <a:pt x="151600" y="51586"/>
                    <a:pt x="163279" y="36379"/>
                    <a:pt x="177369" y="23601"/>
                  </a:cubicBezTo>
                  <a:cubicBezTo>
                    <a:pt x="195529" y="5436"/>
                    <a:pt x="222843" y="0"/>
                    <a:pt x="246574" y="9827"/>
                  </a:cubicBezTo>
                  <a:cubicBezTo>
                    <a:pt x="270304" y="19655"/>
                    <a:pt x="285778" y="42811"/>
                    <a:pt x="285778" y="68496"/>
                  </a:cubicBezTo>
                  <a:cubicBezTo>
                    <a:pt x="285778" y="94181"/>
                    <a:pt x="270304" y="117337"/>
                    <a:pt x="246574" y="127164"/>
                  </a:cubicBezTo>
                  <a:cubicBezTo>
                    <a:pt x="222843" y="136992"/>
                    <a:pt x="195529" y="131555"/>
                    <a:pt x="177369" y="113390"/>
                  </a:cubicBezTo>
                  <a:cubicBezTo>
                    <a:pt x="163279" y="100612"/>
                    <a:pt x="151600" y="85406"/>
                    <a:pt x="142889" y="68496"/>
                  </a:cubicBezTo>
                  <a:cubicBezTo>
                    <a:pt x="134178" y="51586"/>
                    <a:pt x="122499" y="36379"/>
                    <a:pt x="108408" y="23601"/>
                  </a:cubicBezTo>
                </a:path>
              </a:pathLst>
            </a:custGeom>
            <a:noFill/>
            <a:ln w="31750">
              <a:solidFill>
                <a:srgbClr val="E67E2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514856" y="4419600"/>
              <a:ext cx="84070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Общее: счастье — не удача, а результат усилий и добродетельной жизни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14856" y="4743450"/>
              <a:ext cx="69606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Сегодня наука рассматривает его как многомерный феномен</a:t>
              </a:r>
            </a:p>
          </p:txBody>
        </p:sp>
      </p:grpSp>
      <p:sp>
        <p:nvSpPr>
          <p:cNvPr id="40" name="credit"/>
          <p:cNvSpPr txBox="1"/>
          <p:nvPr/>
        </p:nvSpPr>
        <p:spPr>
          <a:xfrm>
            <a:off x="753618" y="6521450"/>
            <a:ext cx="930761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Портреты: Wikimedia Commons — Public Domain / CC0; © Zde / Wikimedia / CC BY-SA 4.0</a:t>
            </a:r>
          </a:p>
        </p:txBody>
      </p:sp>
      <p:pic>
        <p:nvPicPr>
          <p:cNvPr id="41" name="PPT Master narration: narration8.mp3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41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8-photo"/>
          <p:cNvPicPr>
            <a:picLocks noChangeAspect="1"/>
          </p:cNvPicPr>
          <p:nvPr/>
        </p:nvPicPr>
        <p:blipFill>
          <a:blip r:embed="rId2"/>
          <a:srcRect l="0" t="7728" r="0" b="77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8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8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5" name="09_hedonia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8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09</a:t>
            </a:r>
          </a:p>
        </p:txBody>
      </p:sp>
      <p:grpSp>
        <p:nvGrpSpPr>
          <p:cNvPr id="8" name="p08-title"/>
          <p:cNvGrpSpPr/>
          <p:nvPr/>
        </p:nvGrpSpPr>
        <p:grpSpPr>
          <a:xfrm>
            <a:off x="743712" y="565150"/>
            <a:ext cx="8428529" cy="704088"/>
            <a:chOff x="743712" y="565150"/>
            <a:chExt cx="8428529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8428529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Удовольствие быстро, смысл долог</a:t>
              </a:r>
            </a:p>
          </p:txBody>
        </p:sp>
      </p:grpSp>
      <p:grpSp>
        <p:nvGrpSpPr>
          <p:cNvPr id="19" name="p08-hedonia"/>
          <p:cNvGrpSpPr/>
          <p:nvPr/>
        </p:nvGrpSpPr>
        <p:grpSpPr>
          <a:xfrm>
            <a:off x="762000" y="1714500"/>
            <a:ext cx="4953000" cy="3619500"/>
            <a:chOff x="762000" y="1714500"/>
            <a:chExt cx="4953000" cy="3619500"/>
          </a:xfrm>
        </p:grpSpPr>
        <p:sp>
          <p:nvSpPr>
            <p:cNvPr id="9" name="Rectangle 9"/>
            <p:cNvSpPr/>
            <p:nvPr/>
          </p:nvSpPr>
          <p:spPr>
            <a:xfrm>
              <a:off x="762000" y="1714500"/>
              <a:ext cx="4953000" cy="3619500"/>
            </a:xfrm>
            <a:prstGeom prst="roundRect">
              <a:avLst>
                <a:gd name="adj" fmla="val 4211"/>
              </a:avLst>
            </a:prstGeom>
            <a:solidFill>
              <a:srgbClr val="E67E22">
                <a:alpha val="14000"/>
              </a:srgbClr>
            </a:solidFill>
            <a:ln>
              <a:noFill/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rcRect l="0" t="21912" r="0" b="21913"/>
            <a:stretch>
              <a:fillRect/>
            </a:stretch>
          </p:blipFill>
          <p:spPr>
            <a:xfrm>
              <a:off x="952500" y="1905000"/>
              <a:ext cx="4572000" cy="1714500"/>
            </a:xfrm>
            <a:prstGeom prst="rect">
              <a:avLst/>
            </a:prstGeom>
          </p:spPr>
        </p:pic>
        <p:grpSp>
          <p:nvGrpSpPr>
            <p:cNvPr id="15" name="Group 15"/>
            <p:cNvGrpSpPr/>
            <p:nvPr/>
          </p:nvGrpSpPr>
          <p:grpSpPr>
            <a:xfrm>
              <a:off x="1038225" y="3857625"/>
              <a:ext cx="285751" cy="285751"/>
              <a:chOff x="1038225" y="3857625"/>
              <a:chExt cx="285751" cy="285751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38225" y="38576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33475" y="3968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28725" y="39687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59" y="0"/>
                    </a:ln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41413" y="4048125"/>
                <a:ext cx="79375" cy="16677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16677">
                    <a:moveTo>
                      <a:pt x="0" y="0"/>
                    </a:moveTo>
                    <a:cubicBezTo>
                      <a:pt x="10451" y="10666"/>
                      <a:pt x="24755" y="16677"/>
                      <a:pt x="39688" y="16677"/>
                    </a:cubicBezTo>
                    <a:cubicBezTo>
                      <a:pt x="54620" y="16677"/>
                      <a:pt x="68924" y="10666"/>
                      <a:pt x="79375" y="0"/>
                    </a:cubicBezTo>
                  </a:path>
                </a:pathLst>
              </a:custGeom>
              <a:noFill/>
              <a:ln w="31750">
                <a:solidFill>
                  <a:srgbClr val="B9631B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76756" y="3886200"/>
              <a:ext cx="11457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Гедонизм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1456" y="4362450"/>
              <a:ext cx="27510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максимум удовольствия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1456" y="4686300"/>
              <a:ext cx="30189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риск: быстрое привыкание</a:t>
              </a:r>
            </a:p>
          </p:txBody>
        </p:sp>
      </p:grpSp>
      <p:grpSp>
        <p:nvGrpSpPr>
          <p:cNvPr id="28" name="p08-eudaimonia"/>
          <p:cNvGrpSpPr/>
          <p:nvPr/>
        </p:nvGrpSpPr>
        <p:grpSpPr>
          <a:xfrm>
            <a:off x="6477000" y="1714500"/>
            <a:ext cx="4953000" cy="3619500"/>
            <a:chOff x="6477000" y="1714500"/>
            <a:chExt cx="4953000" cy="3619500"/>
          </a:xfrm>
        </p:grpSpPr>
        <p:sp>
          <p:nvSpPr>
            <p:cNvPr id="20" name="Rectangle 20"/>
            <p:cNvSpPr/>
            <p:nvPr/>
          </p:nvSpPr>
          <p:spPr>
            <a:xfrm>
              <a:off x="6477000" y="1714500"/>
              <a:ext cx="4953000" cy="3619500"/>
            </a:xfrm>
            <a:prstGeom prst="roundRect">
              <a:avLst>
                <a:gd name="adj" fmla="val 4211"/>
              </a:avLst>
            </a:prstGeom>
            <a:solidFill>
              <a:srgbClr val="27AE60">
                <a:alpha val="14000"/>
              </a:srgbClr>
            </a:solidFill>
            <a:ln>
              <a:noFill/>
            </a:ln>
          </p:spPr>
        </p:sp>
        <p:pic>
          <p:nvPicPr>
            <p:cNvPr id="21" name="Image 21"/>
            <p:cNvPicPr>
              <a:picLocks noChangeAspect="1"/>
            </p:cNvPicPr>
            <p:nvPr/>
          </p:nvPicPr>
          <p:blipFill>
            <a:blip r:embed="rId4"/>
            <a:srcRect l="0" t="25000" r="0" b="25000"/>
            <a:stretch>
              <a:fillRect/>
            </a:stretch>
          </p:blipFill>
          <p:spPr>
            <a:xfrm>
              <a:off x="6667500" y="1905000"/>
              <a:ext cx="4572000" cy="1714500"/>
            </a:xfrm>
            <a:prstGeom prst="rect">
              <a:avLst/>
            </a:prstGeom>
          </p:spPr>
        </p:pic>
        <p:grpSp>
          <p:nvGrpSpPr>
            <p:cNvPr id="24" name="Group 24"/>
            <p:cNvGrpSpPr/>
            <p:nvPr/>
          </p:nvGrpSpPr>
          <p:grpSpPr>
            <a:xfrm>
              <a:off x="6746495" y="3841750"/>
              <a:ext cx="299200" cy="317501"/>
              <a:chOff x="6746495" y="3841750"/>
              <a:chExt cx="299200" cy="31750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48475" y="3952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73928"/>
                      <a:pt x="21322" y="95250"/>
                      <a:pt x="47625" y="95250"/>
                    </a:cubicBezTo>
                    <a:cubicBezTo>
                      <a:pt x="73928" y="95250"/>
                      <a:pt x="95250" y="73928"/>
                      <a:pt x="95250" y="47625"/>
                    </a:cubicBezTo>
                    <a:cubicBezTo>
                      <a:pt x="95250" y="21322"/>
                      <a:pt x="73928" y="0"/>
                      <a:pt x="47625" y="0"/>
                    </a:cubicBezTo>
                    <a:cubicBezTo>
                      <a:pt x="21322" y="0"/>
                      <a:pt x="0" y="21322"/>
                      <a:pt x="0" y="47625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46495" y="3841750"/>
                <a:ext cx="299200" cy="317501"/>
              </a:xfrm>
              <a:custGeom>
                <a:avLst/>
                <a:gdLst/>
                <a:ahLst/>
                <a:cxnLst/>
                <a:rect l="l" t="t" r="r" b="b"/>
                <a:pathLst>
                  <a:path w="299200" h="317501">
                    <a:moveTo>
                      <a:pt x="149605" y="0"/>
                    </a:moveTo>
                    <a:cubicBezTo>
                      <a:pt x="175908" y="0"/>
                      <a:pt x="197231" y="21322"/>
                      <a:pt x="197231" y="47625"/>
                    </a:cubicBezTo>
                    <a:cubicBezTo>
                      <a:pt x="197231" y="56547"/>
                      <a:pt x="193119" y="70517"/>
                      <a:pt x="184911" y="89535"/>
                    </a:cubicBezTo>
                    <a:lnTo>
                      <a:pt x="173418" y="111125"/>
                    </a:lnTo>
                    <a:lnTo>
                      <a:pt x="201358" y="81074"/>
                    </a:lnTo>
                    <a:cubicBezTo>
                      <a:pt x="209280" y="71549"/>
                      <a:pt x="215995" y="65199"/>
                      <a:pt x="221519" y="61944"/>
                    </a:cubicBezTo>
                    <a:cubicBezTo>
                      <a:pt x="232388" y="55634"/>
                      <a:pt x="245327" y="53927"/>
                      <a:pt x="257461" y="57203"/>
                    </a:cubicBezTo>
                    <a:cubicBezTo>
                      <a:pt x="269594" y="60479"/>
                      <a:pt x="279916" y="68467"/>
                      <a:pt x="286131" y="79391"/>
                    </a:cubicBezTo>
                    <a:cubicBezTo>
                      <a:pt x="299200" y="102150"/>
                      <a:pt x="291476" y="131189"/>
                      <a:pt x="268827" y="144447"/>
                    </a:cubicBezTo>
                    <a:cubicBezTo>
                      <a:pt x="262890" y="147892"/>
                      <a:pt x="253111" y="150733"/>
                      <a:pt x="239522" y="152940"/>
                    </a:cubicBezTo>
                    <a:lnTo>
                      <a:pt x="197231" y="158750"/>
                    </a:lnTo>
                    <a:lnTo>
                      <a:pt x="235331" y="163926"/>
                    </a:lnTo>
                    <a:cubicBezTo>
                      <a:pt x="251206" y="166227"/>
                      <a:pt x="262286" y="169275"/>
                      <a:pt x="268827" y="173070"/>
                    </a:cubicBezTo>
                    <a:cubicBezTo>
                      <a:pt x="291476" y="186328"/>
                      <a:pt x="299200" y="215367"/>
                      <a:pt x="286131" y="238125"/>
                    </a:cubicBezTo>
                    <a:cubicBezTo>
                      <a:pt x="279913" y="249046"/>
                      <a:pt x="269590" y="257031"/>
                      <a:pt x="257457" y="260304"/>
                    </a:cubicBezTo>
                    <a:cubicBezTo>
                      <a:pt x="245324" y="263578"/>
                      <a:pt x="232386" y="261868"/>
                      <a:pt x="221519" y="255556"/>
                    </a:cubicBezTo>
                    <a:cubicBezTo>
                      <a:pt x="215995" y="252350"/>
                      <a:pt x="209280" y="245968"/>
                      <a:pt x="201358" y="236427"/>
                    </a:cubicBezTo>
                    <a:lnTo>
                      <a:pt x="173418" y="206375"/>
                    </a:lnTo>
                    <a:lnTo>
                      <a:pt x="184911" y="227965"/>
                    </a:lnTo>
                    <a:cubicBezTo>
                      <a:pt x="193103" y="247000"/>
                      <a:pt x="197231" y="260970"/>
                      <a:pt x="197231" y="269876"/>
                    </a:cubicBezTo>
                    <a:cubicBezTo>
                      <a:pt x="197231" y="296178"/>
                      <a:pt x="175908" y="317501"/>
                      <a:pt x="149605" y="317501"/>
                    </a:cubicBezTo>
                    <a:cubicBezTo>
                      <a:pt x="123303" y="317501"/>
                      <a:pt x="101980" y="296178"/>
                      <a:pt x="101980" y="269876"/>
                    </a:cubicBezTo>
                    <a:cubicBezTo>
                      <a:pt x="101980" y="260954"/>
                      <a:pt x="106092" y="246984"/>
                      <a:pt x="114299" y="227965"/>
                    </a:cubicBezTo>
                    <a:lnTo>
                      <a:pt x="125793" y="206375"/>
                    </a:lnTo>
                    <a:lnTo>
                      <a:pt x="97853" y="236427"/>
                    </a:lnTo>
                    <a:cubicBezTo>
                      <a:pt x="89931" y="245968"/>
                      <a:pt x="83216" y="252302"/>
                      <a:pt x="77692" y="255556"/>
                    </a:cubicBezTo>
                    <a:cubicBezTo>
                      <a:pt x="66825" y="261868"/>
                      <a:pt x="53887" y="263578"/>
                      <a:pt x="41754" y="260304"/>
                    </a:cubicBezTo>
                    <a:cubicBezTo>
                      <a:pt x="29621" y="257031"/>
                      <a:pt x="19298" y="249046"/>
                      <a:pt x="13080" y="238125"/>
                    </a:cubicBezTo>
                    <a:cubicBezTo>
                      <a:pt x="11" y="215367"/>
                      <a:pt x="7735" y="186328"/>
                      <a:pt x="30384" y="173070"/>
                    </a:cubicBezTo>
                    <a:cubicBezTo>
                      <a:pt x="36321" y="169609"/>
                      <a:pt x="46100" y="166783"/>
                      <a:pt x="59689" y="164561"/>
                    </a:cubicBezTo>
                    <a:lnTo>
                      <a:pt x="101980" y="158750"/>
                    </a:lnTo>
                    <a:lnTo>
                      <a:pt x="63880" y="153591"/>
                    </a:lnTo>
                    <a:cubicBezTo>
                      <a:pt x="48005" y="151289"/>
                      <a:pt x="36924" y="148241"/>
                      <a:pt x="30384" y="144447"/>
                    </a:cubicBezTo>
                    <a:cubicBezTo>
                      <a:pt x="7725" y="131188"/>
                      <a:pt x="0" y="102137"/>
                      <a:pt x="13080" y="79375"/>
                    </a:cubicBezTo>
                    <a:cubicBezTo>
                      <a:pt x="19295" y="68452"/>
                      <a:pt x="29617" y="60464"/>
                      <a:pt x="41750" y="57187"/>
                    </a:cubicBezTo>
                    <a:cubicBezTo>
                      <a:pt x="53883" y="53911"/>
                      <a:pt x="66823" y="55618"/>
                      <a:pt x="77692" y="61928"/>
                    </a:cubicBezTo>
                    <a:cubicBezTo>
                      <a:pt x="83216" y="65151"/>
                      <a:pt x="89931" y="71517"/>
                      <a:pt x="97853" y="81058"/>
                    </a:cubicBezTo>
                    <a:lnTo>
                      <a:pt x="125793" y="111125"/>
                    </a:lnTo>
                    <a:cubicBezTo>
                      <a:pt x="109918" y="74740"/>
                      <a:pt x="101980" y="53578"/>
                      <a:pt x="101980" y="47625"/>
                    </a:cubicBezTo>
                    <a:cubicBezTo>
                      <a:pt x="101980" y="21322"/>
                      <a:pt x="123303" y="0"/>
                      <a:pt x="149605" y="0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191756" y="3886200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Эвдемония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96456" y="4362450"/>
              <a:ext cx="2418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смысл и добродетели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696456" y="4686300"/>
              <a:ext cx="361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даёт глубокое удовлетворение</a:t>
              </a:r>
            </a:p>
          </p:txBody>
        </p:sp>
      </p:grpSp>
      <p:grpSp>
        <p:nvGrpSpPr>
          <p:cNvPr id="37" name="p08-scale"/>
          <p:cNvGrpSpPr/>
          <p:nvPr/>
        </p:nvGrpSpPr>
        <p:grpSpPr>
          <a:xfrm>
            <a:off x="762000" y="5524500"/>
            <a:ext cx="10668000" cy="762000"/>
            <a:chOff x="762000" y="5524500"/>
            <a:chExt cx="10668000" cy="762000"/>
          </a:xfrm>
        </p:grpSpPr>
        <p:sp>
          <p:nvSpPr>
            <p:cNvPr id="29" name="Rectangle 29"/>
            <p:cNvSpPr/>
            <p:nvPr/>
          </p:nvSpPr>
          <p:spPr>
            <a:xfrm>
              <a:off x="762000" y="5524500"/>
              <a:ext cx="10668000" cy="762000"/>
            </a:xfrm>
            <a:prstGeom prst="roundRect">
              <a:avLst>
                <a:gd name="adj" fmla="val 175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42987" y="5748337"/>
              <a:ext cx="314325" cy="306387"/>
              <a:chOff x="1042987" y="5748337"/>
              <a:chExt cx="314325" cy="30638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112837" y="6045199"/>
                <a:ext cx="174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4625" h="9525">
                    <a:moveTo>
                      <a:pt x="0" y="0"/>
                    </a:moveTo>
                    <a:lnTo>
                      <a:pt x="174625" y="0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095375" y="5783262"/>
                <a:ext cx="209550" cy="17462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7462">
                    <a:moveTo>
                      <a:pt x="0" y="17462"/>
                    </a:moveTo>
                    <a:lnTo>
                      <a:pt x="104775" y="0"/>
                    </a:lnTo>
                    <a:lnTo>
                      <a:pt x="209550" y="174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200150" y="5748337"/>
                <a:ext cx="9525" cy="2968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96862">
                    <a:moveTo>
                      <a:pt x="0" y="0"/>
                    </a:moveTo>
                    <a:lnTo>
                      <a:pt x="0" y="296862"/>
                    </a:ln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042987" y="5800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252537" y="5800725"/>
                <a:ext cx="10477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57162">
                    <a:moveTo>
                      <a:pt x="104775" y="104775"/>
                    </a:moveTo>
                    <a:lnTo>
                      <a:pt x="52387" y="0"/>
                    </a:lnTo>
                    <a:lnTo>
                      <a:pt x="0" y="104775"/>
                    </a:lnTo>
                    <a:cubicBezTo>
                      <a:pt x="0" y="133708"/>
                      <a:pt x="23455" y="157162"/>
                      <a:pt x="52387" y="157162"/>
                    </a:cubicBezTo>
                    <a:cubicBezTo>
                      <a:pt x="81320" y="157162"/>
                      <a:pt x="104775" y="133708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552956" y="5772150"/>
              <a:ext cx="58407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Ньюфелд: «Счастье находится по ту сторону слёз»</a:t>
              </a:r>
            </a:p>
          </p:txBody>
        </p:sp>
      </p:grpSp>
      <p:sp>
        <p:nvSpPr>
          <p:cNvPr id="38" name="credit"/>
          <p:cNvSpPr txBox="1"/>
          <p:nvPr/>
        </p:nvSpPr>
        <p:spPr>
          <a:xfrm>
            <a:off x="753618" y="6521450"/>
            <a:ext cx="928253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PattayaPatrol / CC BY-SA 4.0; © Shixart1985 / CC BY 2.0; фото помощи — Public Domain</a:t>
            </a:r>
          </a:p>
        </p:txBody>
      </p:sp>
      <p:pic>
        <p:nvPicPr>
          <p:cNvPr id="39" name="PPT Master narration: narration9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09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09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09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09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09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  <p:grpSp>
        <p:nvGrpSpPr>
          <p:cNvPr id="8" name="p09-title"/>
          <p:cNvGrpSpPr/>
          <p:nvPr/>
        </p:nvGrpSpPr>
        <p:grpSpPr>
          <a:xfrm>
            <a:off x="743712" y="565150"/>
            <a:ext cx="6615451" cy="704088"/>
            <a:chOff x="743712" y="565150"/>
            <a:chExt cx="6615451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6615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50% + 40% + 10%</a:t>
              </a:r>
            </a:p>
          </p:txBody>
        </p:sp>
      </p:grpSp>
      <p:grpSp>
        <p:nvGrpSpPr>
          <p:cNvPr id="15" name="p09-pie"/>
          <p:cNvGrpSpPr/>
          <p:nvPr/>
        </p:nvGrpSpPr>
        <p:grpSpPr>
          <a:xfrm>
            <a:off x="1592120" y="2285804"/>
            <a:ext cx="2979880" cy="2858099"/>
            <a:chOff x="1592120" y="2285804"/>
            <a:chExt cx="2979880" cy="2858099"/>
          </a:xfrm>
        </p:grpSpPr>
        <p:sp>
          <p:nvSpPr>
            <p:cNvPr id="9" name="Freeform 9"/>
            <p:cNvSpPr/>
            <p:nvPr/>
          </p:nvSpPr>
          <p:spPr>
            <a:xfrm>
              <a:off x="3143250" y="2286000"/>
              <a:ext cx="1428750" cy="2857500"/>
            </a:xfrm>
            <a:custGeom>
              <a:avLst/>
              <a:gdLst/>
              <a:ahLst/>
              <a:cxnLst/>
              <a:rect l="l" t="t" r="r" b="b"/>
              <a:pathLst>
                <a:path w="1428750" h="2857500">
                  <a:moveTo>
                    <a:pt x="0" y="1428750"/>
                  </a:moveTo>
                  <a:lnTo>
                    <a:pt x="0" y="0"/>
                  </a:lnTo>
                  <a:cubicBezTo>
                    <a:pt x="789077" y="0"/>
                    <a:pt x="1428750" y="639673"/>
                    <a:pt x="1428750" y="1428750"/>
                  </a:cubicBezTo>
                  <a:cubicBezTo>
                    <a:pt x="1428750" y="2217827"/>
                    <a:pt x="789077" y="2857500"/>
                    <a:pt x="0" y="28575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1592120" y="2558415"/>
              <a:ext cx="1551130" cy="2585488"/>
            </a:xfrm>
            <a:custGeom>
              <a:avLst/>
              <a:gdLst/>
              <a:ahLst/>
              <a:cxnLst/>
              <a:rect l="l" t="t" r="r" b="b"/>
              <a:pathLst>
                <a:path w="1551130" h="2585488">
                  <a:moveTo>
                    <a:pt x="1551130" y="1156335"/>
                  </a:moveTo>
                  <a:lnTo>
                    <a:pt x="1551130" y="2585085"/>
                  </a:lnTo>
                  <a:cubicBezTo>
                    <a:pt x="931845" y="2585488"/>
                    <a:pt x="382805" y="2186884"/>
                    <a:pt x="191403" y="1597919"/>
                  </a:cubicBezTo>
                  <a:cubicBezTo>
                    <a:pt x="0" y="1008955"/>
                    <a:pt x="209816" y="363737"/>
                    <a:pt x="711025" y="0"/>
                  </a:cubicBezTo>
                  <a:close/>
                </a:path>
              </a:pathLst>
            </a:custGeom>
            <a:solidFill>
              <a:srgbClr val="27AE60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303145" y="2285804"/>
              <a:ext cx="840105" cy="1428946"/>
            </a:xfrm>
            <a:custGeom>
              <a:avLst/>
              <a:gdLst/>
              <a:ahLst/>
              <a:cxnLst/>
              <a:rect l="l" t="t" r="r" b="b"/>
              <a:pathLst>
                <a:path w="840105" h="1428946">
                  <a:moveTo>
                    <a:pt x="840105" y="1428946"/>
                  </a:moveTo>
                  <a:lnTo>
                    <a:pt x="0" y="272611"/>
                  </a:lnTo>
                  <a:cubicBezTo>
                    <a:pt x="244238" y="95362"/>
                    <a:pt x="538328" y="0"/>
                    <a:pt x="840105" y="196"/>
                  </a:cubicBezTo>
                  <a:close/>
                </a:path>
              </a:pathLst>
            </a:custGeom>
            <a:solidFill>
              <a:srgbClr val="95A5A6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2457450" y="3028950"/>
              <a:ext cx="1371600" cy="1371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400728" y="3409950"/>
              <a:ext cx="14850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 = Н + В + 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167532" y="3733800"/>
              <a:ext cx="19514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формула счастья</a:t>
              </a:r>
            </a:p>
          </p:txBody>
        </p:sp>
      </p:grpSp>
      <p:grpSp>
        <p:nvGrpSpPr>
          <p:cNvPr id="28" name="p09-legend"/>
          <p:cNvGrpSpPr/>
          <p:nvPr/>
        </p:nvGrpSpPr>
        <p:grpSpPr>
          <a:xfrm>
            <a:off x="5715000" y="1905000"/>
            <a:ext cx="5715000" cy="3524250"/>
            <a:chOff x="5715000" y="1905000"/>
            <a:chExt cx="5715000" cy="3524250"/>
          </a:xfrm>
        </p:grpSpPr>
        <p:sp>
          <p:nvSpPr>
            <p:cNvPr id="16" name="Rectangle 16"/>
            <p:cNvSpPr/>
            <p:nvPr/>
          </p:nvSpPr>
          <p:spPr>
            <a:xfrm>
              <a:off x="5715000" y="1905000"/>
              <a:ext cx="5715000" cy="1047750"/>
            </a:xfrm>
            <a:prstGeom prst="roundRect">
              <a:avLst>
                <a:gd name="adj" fmla="val 1272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981700" y="2209800"/>
              <a:ext cx="247650" cy="2476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391656" y="2190750"/>
              <a:ext cx="19997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50% — генетика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91656" y="2495550"/>
              <a:ext cx="44836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наследственная предрасположенность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715000" y="3143250"/>
              <a:ext cx="5715000" cy="1047750"/>
            </a:xfrm>
            <a:prstGeom prst="roundRect">
              <a:avLst>
                <a:gd name="adj" fmla="val 1272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981700" y="3448050"/>
              <a:ext cx="247650" cy="247650"/>
            </a:xfrm>
            <a:prstGeom prst="rect">
              <a:avLst/>
            </a:prstGeom>
            <a:solidFill>
              <a:srgbClr val="27AE6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91656" y="3429000"/>
              <a:ext cx="30466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40% — волевой контроль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1656" y="3733800"/>
              <a:ext cx="2484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намеренные действия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715000" y="4381500"/>
              <a:ext cx="5715000" cy="1047750"/>
            </a:xfrm>
            <a:prstGeom prst="roundRect">
              <a:avLst>
                <a:gd name="adj" fmla="val 12727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81700" y="4686300"/>
              <a:ext cx="247650" cy="247650"/>
            </a:xfrm>
            <a:prstGeom prst="rect">
              <a:avLst/>
            </a:prstGeom>
            <a:solidFill>
              <a:srgbClr val="95A5A6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391656" y="4667250"/>
              <a:ext cx="28393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10% — обстоятельства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91656" y="4972050"/>
              <a:ext cx="26851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внешние условия жизни</a:t>
              </a:r>
            </a:p>
          </p:txBody>
        </p:sp>
      </p:grpSp>
      <p:grpSp>
        <p:nvGrpSpPr>
          <p:cNvPr id="30" name="p09-note"/>
          <p:cNvGrpSpPr/>
          <p:nvPr/>
        </p:nvGrpSpPr>
        <p:grpSpPr>
          <a:xfrm>
            <a:off x="1133856" y="6057900"/>
            <a:ext cx="9655090" cy="352044"/>
            <a:chOff x="1133856" y="6057900"/>
            <a:chExt cx="9655090" cy="352044"/>
          </a:xfrm>
        </p:grpSpPr>
        <p:sp>
          <p:nvSpPr>
            <p:cNvPr id="29" name="TextBox 29"/>
            <p:cNvSpPr txBox="1"/>
            <p:nvPr/>
          </p:nvSpPr>
          <p:spPr>
            <a:xfrm>
              <a:off x="1133856" y="6057900"/>
              <a:ext cx="96550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Критика: Эренрейх, Стивенсон и Вольферс напоминают о роли дохода и неравенства</a:t>
              </a:r>
            </a:p>
          </p:txBody>
        </p:sp>
      </p:grpSp>
      <p:pic>
        <p:nvPicPr>
          <p:cNvPr id="31" name="PPT Master narration: narration10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0-photo"/>
          <p:cNvPicPr>
            <a:picLocks noChangeAspect="1"/>
          </p:cNvPicPr>
          <p:nvPr/>
        </p:nvPicPr>
        <p:blipFill>
          <a:blip r:embed="rId2"/>
          <a:srcRect l="0" t="21398" r="0" b="2139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0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0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10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0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  <p:grpSp>
        <p:nvGrpSpPr>
          <p:cNvPr id="8" name="p10-title"/>
          <p:cNvGrpSpPr/>
          <p:nvPr/>
        </p:nvGrpSpPr>
        <p:grpSpPr>
          <a:xfrm>
            <a:off x="743712" y="565150"/>
            <a:ext cx="8293626" cy="704088"/>
            <a:chOff x="743712" y="565150"/>
            <a:chExt cx="8293626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82936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Качество отношений важнее денег</a:t>
              </a:r>
            </a:p>
          </p:txBody>
        </p:sp>
      </p:grpSp>
      <p:grpSp>
        <p:nvGrpSpPr>
          <p:cNvPr id="63" name="p10-tree"/>
          <p:cNvGrpSpPr/>
          <p:nvPr/>
        </p:nvGrpSpPr>
        <p:grpSpPr>
          <a:xfrm>
            <a:off x="762000" y="1600200"/>
            <a:ext cx="6667500" cy="4591050"/>
            <a:chOff x="762000" y="1600200"/>
            <a:chExt cx="6667500" cy="4591050"/>
          </a:xfrm>
        </p:grpSpPr>
        <p:sp>
          <p:nvSpPr>
            <p:cNvPr id="9" name="Rectangle 9"/>
            <p:cNvSpPr/>
            <p:nvPr/>
          </p:nvSpPr>
          <p:spPr>
            <a:xfrm>
              <a:off x="762000" y="1714500"/>
              <a:ext cx="6667500" cy="4476750"/>
            </a:xfrm>
            <a:prstGeom prst="roundRect">
              <a:avLst>
                <a:gd name="adj" fmla="val 3404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981450" y="2571750"/>
              <a:ext cx="228600" cy="2762250"/>
            </a:xfrm>
            <a:prstGeom prst="rect">
              <a:avLst/>
            </a:prstGeom>
            <a:solidFill>
              <a:srgbClr val="8D6E63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762250" y="2286000"/>
              <a:ext cx="2667000" cy="1905000"/>
            </a:xfrm>
            <a:custGeom>
              <a:avLst/>
              <a:gdLst/>
              <a:ahLst/>
              <a:cxnLst/>
              <a:rect l="l" t="t" r="r" b="b"/>
              <a:pathLst>
                <a:path w="2667000" h="1905000">
                  <a:moveTo>
                    <a:pt x="1333500" y="762000"/>
                  </a:moveTo>
                  <a:lnTo>
                    <a:pt x="0" y="0"/>
                  </a:lnTo>
                  <a:moveTo>
                    <a:pt x="1333500" y="1143000"/>
                  </a:moveTo>
                  <a:lnTo>
                    <a:pt x="2667000" y="0"/>
                  </a:lnTo>
                  <a:moveTo>
                    <a:pt x="1333500" y="1524000"/>
                  </a:moveTo>
                  <a:lnTo>
                    <a:pt x="285750" y="857250"/>
                  </a:lnTo>
                  <a:moveTo>
                    <a:pt x="1333500" y="1905000"/>
                  </a:moveTo>
                  <a:lnTo>
                    <a:pt x="2667000" y="952500"/>
                  </a:lnTo>
                </a:path>
              </a:pathLst>
            </a:custGeom>
            <a:solidFill>
              <a:srgbClr val="000000"/>
            </a:solidFill>
            <a:ln w="76200">
              <a:solidFill>
                <a:srgbClr val="8D6E63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095500" y="1600200"/>
              <a:ext cx="4000500" cy="1181100"/>
            </a:xfrm>
            <a:prstGeom prst="ellipse">
              <a:avLst/>
            </a:prstGeom>
            <a:solidFill>
              <a:srgbClr val="27AE60">
                <a:alpha val="3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069289" y="2057400"/>
              <a:ext cx="20529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Внешние факторы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911475" y="1768475"/>
              <a:ext cx="215901" cy="215901"/>
              <a:chOff x="2911475" y="1768475"/>
              <a:chExt cx="215901" cy="215901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2911475" y="1768475"/>
                <a:ext cx="202407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202407" h="215901">
                    <a:moveTo>
                      <a:pt x="175419" y="53975"/>
                    </a:moveTo>
                    <a:lnTo>
                      <a:pt x="175419" y="13494"/>
                    </a:lnTo>
                    <a:cubicBezTo>
                      <a:pt x="175419" y="6041"/>
                      <a:pt x="169378" y="0"/>
                      <a:pt x="161925" y="0"/>
                    </a:cubicBezTo>
                    <a:lnTo>
                      <a:pt x="26988" y="0"/>
                    </a:ln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8" y="53975"/>
                    </a:cubicBezTo>
                    <a:lnTo>
                      <a:pt x="188913" y="53975"/>
                    </a:lnTo>
                    <a:cubicBezTo>
                      <a:pt x="196365" y="53975"/>
                      <a:pt x="202407" y="60016"/>
                      <a:pt x="202407" y="67469"/>
                    </a:cubicBezTo>
                    <a:lnTo>
                      <a:pt x="202407" y="107950"/>
                    </a:lnTo>
                    <a:moveTo>
                      <a:pt x="202407" y="161925"/>
                    </a:moveTo>
                    <a:lnTo>
                      <a:pt x="202407" y="202407"/>
                    </a:lnTo>
                    <a:cubicBezTo>
                      <a:pt x="202407" y="209859"/>
                      <a:pt x="196365" y="215901"/>
                      <a:pt x="188913" y="215901"/>
                    </a:cubicBezTo>
                    <a:lnTo>
                      <a:pt x="26988" y="215901"/>
                    </a:lnTo>
                    <a:cubicBezTo>
                      <a:pt x="12083" y="215901"/>
                      <a:pt x="0" y="203818"/>
                      <a:pt x="0" y="188913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3046413" y="1876425"/>
                <a:ext cx="80963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53975">
                    <a:moveTo>
                      <a:pt x="80963" y="0"/>
                    </a:moveTo>
                    <a:lnTo>
                      <a:pt x="80963" y="53975"/>
                    </a:ln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8"/>
                    </a:cubicBez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3469481" y="1754981"/>
              <a:ext cx="242888" cy="229394"/>
              <a:chOff x="3469481" y="1754981"/>
              <a:chExt cx="242888" cy="22939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3469481" y="1808956"/>
                <a:ext cx="242888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75419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215901" y="0"/>
                    </a:lnTo>
                    <a:cubicBezTo>
                      <a:pt x="230805" y="0"/>
                      <a:pt x="242888" y="12083"/>
                      <a:pt x="242888" y="26988"/>
                    </a:cubicBezTo>
                    <a:lnTo>
                      <a:pt x="242888" y="148432"/>
                    </a:lnTo>
                    <a:cubicBezTo>
                      <a:pt x="242888" y="163336"/>
                      <a:pt x="230805" y="175419"/>
                      <a:pt x="215901" y="175419"/>
                    </a:cubicBezTo>
                    <a:lnTo>
                      <a:pt x="26988" y="175419"/>
                    </a:lnTo>
                    <a:cubicBezTo>
                      <a:pt x="12083" y="175419"/>
                      <a:pt x="0" y="163336"/>
                      <a:pt x="0" y="148432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3536950" y="1754981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53975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590925" y="18764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469481" y="1889919"/>
                <a:ext cx="242888" cy="38492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38492">
                    <a:moveTo>
                      <a:pt x="0" y="0"/>
                    </a:moveTo>
                    <a:cubicBezTo>
                      <a:pt x="76388" y="38492"/>
                      <a:pt x="166500" y="38492"/>
                      <a:pt x="242888" y="0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27" name="Group 27"/>
            <p:cNvGrpSpPr/>
            <p:nvPr/>
          </p:nvGrpSpPr>
          <p:grpSpPr>
            <a:xfrm>
              <a:off x="4038507" y="1752507"/>
              <a:ext cx="248142" cy="254887"/>
              <a:chOff x="4038507" y="1752507"/>
              <a:chExt cx="248142" cy="25488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135438" y="1849438"/>
                <a:ext cx="151211" cy="151180"/>
              </a:xfrm>
              <a:custGeom>
                <a:avLst/>
                <a:gdLst/>
                <a:ahLst/>
                <a:cxnLst/>
                <a:rect l="l" t="t" r="r" b="b"/>
                <a:pathLst>
                  <a:path w="151211" h="151180">
                    <a:moveTo>
                      <a:pt x="40481" y="0"/>
                    </a:moveTo>
                    <a:lnTo>
                      <a:pt x="140106" y="100097"/>
                    </a:lnTo>
                    <a:cubicBezTo>
                      <a:pt x="151211" y="111162"/>
                      <a:pt x="151211" y="129082"/>
                      <a:pt x="140106" y="140133"/>
                    </a:cubicBezTo>
                    <a:cubicBezTo>
                      <a:pt x="128999" y="151180"/>
                      <a:pt x="111055" y="151180"/>
                      <a:pt x="99948" y="140133"/>
                    </a:cubicBez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081463" y="183594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121944" y="1795463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53975"/>
                    </a:moveTo>
                    <a:lnTo>
                      <a:pt x="0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040981" y="1997869"/>
                <a:ext cx="9445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9525">
                    <a:moveTo>
                      <a:pt x="0" y="0"/>
                    </a:moveTo>
                    <a:lnTo>
                      <a:pt x="94456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038507" y="1752507"/>
                <a:ext cx="180368" cy="180368"/>
              </a:xfrm>
              <a:custGeom>
                <a:avLst/>
                <a:gdLst/>
                <a:ahLst/>
                <a:cxnLst/>
                <a:rect l="l" t="t" r="r" b="b"/>
                <a:pathLst>
                  <a:path w="180368" h="180368">
                    <a:moveTo>
                      <a:pt x="53656" y="175100"/>
                    </a:moveTo>
                    <a:lnTo>
                      <a:pt x="5268" y="126712"/>
                    </a:lnTo>
                    <a:cubicBezTo>
                      <a:pt x="0" y="121442"/>
                      <a:pt x="0" y="112901"/>
                      <a:pt x="5268" y="107632"/>
                    </a:cubicBezTo>
                    <a:lnTo>
                      <a:pt x="36209" y="76690"/>
                    </a:lnTo>
                    <a:lnTo>
                      <a:pt x="42956" y="83437"/>
                    </a:lnTo>
                    <a:lnTo>
                      <a:pt x="83437" y="42956"/>
                    </a:lnTo>
                    <a:lnTo>
                      <a:pt x="76690" y="36209"/>
                    </a:lnTo>
                    <a:lnTo>
                      <a:pt x="107632" y="5268"/>
                    </a:lnTo>
                    <a:cubicBezTo>
                      <a:pt x="112901" y="0"/>
                      <a:pt x="121442" y="0"/>
                      <a:pt x="126712" y="5268"/>
                    </a:cubicBezTo>
                    <a:lnTo>
                      <a:pt x="175100" y="53656"/>
                    </a:lnTo>
                    <a:cubicBezTo>
                      <a:pt x="180368" y="58926"/>
                      <a:pt x="180368" y="67467"/>
                      <a:pt x="175100" y="72737"/>
                    </a:cubicBezTo>
                    <a:lnTo>
                      <a:pt x="144159" y="103678"/>
                    </a:lnTo>
                    <a:lnTo>
                      <a:pt x="137412" y="96931"/>
                    </a:lnTo>
                    <a:lnTo>
                      <a:pt x="96931" y="137412"/>
                    </a:lnTo>
                    <a:lnTo>
                      <a:pt x="103678" y="144159"/>
                    </a:lnTo>
                    <a:lnTo>
                      <a:pt x="72737" y="175100"/>
                    </a:lnTo>
                    <a:cubicBezTo>
                      <a:pt x="67467" y="180368"/>
                      <a:pt x="58926" y="180368"/>
                      <a:pt x="53656" y="175100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33" name="Group 33"/>
            <p:cNvGrpSpPr/>
            <p:nvPr/>
          </p:nvGrpSpPr>
          <p:grpSpPr>
            <a:xfrm>
              <a:off x="4612481" y="1754981"/>
              <a:ext cx="242888" cy="242888"/>
              <a:chOff x="4612481" y="1754981"/>
              <a:chExt cx="242888" cy="24288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4612481" y="1754981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0" y="121444"/>
                    </a:moveTo>
                    <a:cubicBezTo>
                      <a:pt x="0" y="188516"/>
                      <a:pt x="54372" y="242888"/>
                      <a:pt x="121444" y="242888"/>
                    </a:cubicBezTo>
                    <a:cubicBezTo>
                      <a:pt x="188516" y="242888"/>
                      <a:pt x="242888" y="188516"/>
                      <a:pt x="242888" y="121444"/>
                    </a:cubicBezTo>
                    <a:cubicBezTo>
                      <a:pt x="242888" y="54372"/>
                      <a:pt x="188516" y="0"/>
                      <a:pt x="121444" y="0"/>
                    </a:cubicBezTo>
                    <a:cubicBezTo>
                      <a:pt x="54372" y="0"/>
                      <a:pt x="0" y="54372"/>
                      <a:pt x="0" y="121444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620578" y="1835944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620578" y="1916907"/>
                <a:ext cx="226696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6696" h="9525">
                    <a:moveTo>
                      <a:pt x="0" y="0"/>
                    </a:moveTo>
                    <a:lnTo>
                      <a:pt x="226696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4680800" y="1754981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46379" y="0"/>
                    </a:moveTo>
                    <a:cubicBezTo>
                      <a:pt x="0" y="74321"/>
                      <a:pt x="0" y="168567"/>
                      <a:pt x="46379" y="2428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4740672" y="1754981"/>
                <a:ext cx="46379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46379" h="242888">
                    <a:moveTo>
                      <a:pt x="0" y="0"/>
                    </a:moveTo>
                    <a:cubicBezTo>
                      <a:pt x="46379" y="74321"/>
                      <a:pt x="46379" y="168567"/>
                      <a:pt x="0" y="2428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grpSp>
          <p:nvGrpSpPr>
            <p:cNvPr id="40" name="Group 40"/>
            <p:cNvGrpSpPr/>
            <p:nvPr/>
          </p:nvGrpSpPr>
          <p:grpSpPr>
            <a:xfrm>
              <a:off x="5183981" y="1754981"/>
              <a:ext cx="242888" cy="242888"/>
              <a:chOff x="5183981" y="1754981"/>
              <a:chExt cx="242888" cy="24288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5278438" y="186293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251450" y="1957388"/>
                <a:ext cx="107950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40481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345907" y="17549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372894" y="18494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0"/>
                    </a:moveTo>
                    <a:lnTo>
                      <a:pt x="26988" y="0"/>
                    </a:lnTo>
                    <a:cubicBezTo>
                      <a:pt x="41892" y="0"/>
                      <a:pt x="53975" y="12083"/>
                      <a:pt x="53975" y="26988"/>
                    </a:cubicBezTo>
                    <a:lnTo>
                      <a:pt x="53975" y="40481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210969" y="17549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5183981" y="18494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rgbClr val="1E8449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3452927" y="3390900"/>
              <a:ext cx="12856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Отношения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59407" y="4724400"/>
              <a:ext cx="24726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Внутренние факторы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2231231" y="5183981"/>
              <a:ext cx="242888" cy="242888"/>
              <a:chOff x="2231231" y="5183981"/>
              <a:chExt cx="242888" cy="24288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2231231" y="5183981"/>
                <a:ext cx="242888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21444">
                    <a:moveTo>
                      <a:pt x="0" y="121444"/>
                    </a:moveTo>
                    <a:lnTo>
                      <a:pt x="13494" y="121444"/>
                    </a:lnTo>
                    <a:moveTo>
                      <a:pt x="121444" y="0"/>
                    </a:moveTo>
                    <a:lnTo>
                      <a:pt x="121444" y="13494"/>
                    </a:lnTo>
                    <a:moveTo>
                      <a:pt x="229394" y="121444"/>
                    </a:moveTo>
                    <a:lnTo>
                      <a:pt x="242888" y="121444"/>
                    </a:lnTo>
                    <a:moveTo>
                      <a:pt x="35084" y="35084"/>
                    </a:moveTo>
                    <a:lnTo>
                      <a:pt x="44529" y="44529"/>
                    </a:lnTo>
                    <a:moveTo>
                      <a:pt x="207804" y="35084"/>
                    </a:moveTo>
                    <a:lnTo>
                      <a:pt x="198359" y="4452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2279485" y="5237956"/>
                <a:ext cx="14638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46380" h="188913">
                    <a:moveTo>
                      <a:pt x="32709" y="121444"/>
                    </a:moveTo>
                    <a:cubicBezTo>
                      <a:pt x="9476" y="104020"/>
                      <a:pt x="0" y="73684"/>
                      <a:pt x="9183" y="46133"/>
                    </a:cubicBezTo>
                    <a:cubicBezTo>
                      <a:pt x="18367" y="18583"/>
                      <a:pt x="44149" y="0"/>
                      <a:pt x="73190" y="0"/>
                    </a:cubicBezTo>
                    <a:cubicBezTo>
                      <a:pt x="102231" y="0"/>
                      <a:pt x="128013" y="18583"/>
                      <a:pt x="137197" y="46133"/>
                    </a:cubicBezTo>
                    <a:cubicBezTo>
                      <a:pt x="146380" y="73684"/>
                      <a:pt x="136904" y="104020"/>
                      <a:pt x="113671" y="121444"/>
                    </a:cubicBezTo>
                    <a:cubicBezTo>
                      <a:pt x="102987" y="132021"/>
                      <a:pt x="97976" y="147053"/>
                      <a:pt x="100178" y="161925"/>
                    </a:cubicBezTo>
                    <a:cubicBezTo>
                      <a:pt x="100178" y="176830"/>
                      <a:pt x="88095" y="188913"/>
                      <a:pt x="73190" y="188913"/>
                    </a:cubicBezTo>
                    <a:cubicBezTo>
                      <a:pt x="58285" y="188913"/>
                      <a:pt x="46203" y="176830"/>
                      <a:pt x="46203" y="161925"/>
                    </a:cubicBezTo>
                    <a:cubicBezTo>
                      <a:pt x="48404" y="147053"/>
                      <a:pt x="43394" y="132021"/>
                      <a:pt x="32709" y="12144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2321640" y="5372894"/>
                <a:ext cx="6207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2071" h="9525">
                    <a:moveTo>
                      <a:pt x="0" y="0"/>
                    </a:moveTo>
                    <a:lnTo>
                      <a:pt x="6207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47" name="Freeform 47"/>
            <p:cNvSpPr/>
            <p:nvPr/>
          </p:nvSpPr>
          <p:spPr>
            <a:xfrm>
              <a:off x="2893309" y="5194013"/>
              <a:ext cx="251989" cy="219362"/>
            </a:xfrm>
            <a:custGeom>
              <a:avLst/>
              <a:gdLst/>
              <a:ahLst/>
              <a:cxnLst/>
              <a:rect l="l" t="t" r="r" b="b"/>
              <a:pathLst>
                <a:path w="251989" h="219362">
                  <a:moveTo>
                    <a:pt x="227320" y="119130"/>
                  </a:moveTo>
                  <a:lnTo>
                    <a:pt x="126117" y="219362"/>
                  </a:lnTo>
                  <a:lnTo>
                    <a:pt x="24913" y="119130"/>
                  </a:lnTo>
                  <a:cubicBezTo>
                    <a:pt x="6714" y="101421"/>
                    <a:pt x="0" y="74993"/>
                    <a:pt x="7540" y="50744"/>
                  </a:cubicBezTo>
                  <a:cubicBezTo>
                    <a:pt x="15079" y="26496"/>
                    <a:pt x="35596" y="8535"/>
                    <a:pt x="60628" y="4267"/>
                  </a:cubicBezTo>
                  <a:cubicBezTo>
                    <a:pt x="85660" y="0"/>
                    <a:pt x="110969" y="10149"/>
                    <a:pt x="126117" y="30530"/>
                  </a:cubicBezTo>
                  <a:cubicBezTo>
                    <a:pt x="141328" y="10300"/>
                    <a:pt x="166582" y="286"/>
                    <a:pt x="191524" y="4593"/>
                  </a:cubicBezTo>
                  <a:cubicBezTo>
                    <a:pt x="216465" y="8900"/>
                    <a:pt x="236898" y="26805"/>
                    <a:pt x="244443" y="50965"/>
                  </a:cubicBezTo>
                  <a:cubicBezTo>
                    <a:pt x="251989" y="75125"/>
                    <a:pt x="245377" y="101475"/>
                    <a:pt x="227320" y="119211"/>
                  </a:cubicBez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3564731" y="5202769"/>
              <a:ext cx="252413" cy="197113"/>
              <a:chOff x="3564731" y="5202769"/>
              <a:chExt cx="252413" cy="197113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3564731" y="5378188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3564731" y="5202769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3564731" y="5224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3686175" y="5224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3807619" y="5224463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grpSp>
          <p:nvGrpSpPr>
            <p:cNvPr id="58" name="Group 58"/>
            <p:cNvGrpSpPr/>
            <p:nvPr/>
          </p:nvGrpSpPr>
          <p:grpSpPr>
            <a:xfrm>
              <a:off x="4244975" y="5183981"/>
              <a:ext cx="188913" cy="242888"/>
              <a:chOff x="4244975" y="5183981"/>
              <a:chExt cx="188913" cy="242888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4339526" y="51839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4244975" y="5366147"/>
                <a:ext cx="77589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77589" h="20241">
                    <a:moveTo>
                      <a:pt x="0" y="6747"/>
                    </a:moveTo>
                    <a:lnTo>
                      <a:pt x="67469" y="20241"/>
                    </a:lnTo>
                    <a:lnTo>
                      <a:pt x="77589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4339432" y="5251450"/>
                <a:ext cx="5397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175419">
                    <a:moveTo>
                      <a:pt x="53975" y="175419"/>
                    </a:moveTo>
                    <a:lnTo>
                      <a:pt x="53975" y="121444"/>
                    </a:lnTo>
                    <a:lnTo>
                      <a:pt x="0" y="80963"/>
                    </a:lnTo>
                    <a:lnTo>
                      <a:pt x="13494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4285456" y="5251450"/>
                <a:ext cx="14843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48432" h="53975">
                    <a:moveTo>
                      <a:pt x="0" y="53975"/>
                    </a:moveTo>
                    <a:lnTo>
                      <a:pt x="0" y="13494"/>
                    </a:lnTo>
                    <a:lnTo>
                      <a:pt x="67469" y="0"/>
                    </a:lnTo>
                    <a:lnTo>
                      <a:pt x="107950" y="40481"/>
                    </a:lnTo>
                    <a:lnTo>
                      <a:pt x="148432" y="53975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grpSp>
          <p:nvGrpSpPr>
            <p:cNvPr id="61" name="Group 61"/>
            <p:cNvGrpSpPr/>
            <p:nvPr/>
          </p:nvGrpSpPr>
          <p:grpSpPr>
            <a:xfrm>
              <a:off x="4892511" y="5170488"/>
              <a:ext cx="254320" cy="269876"/>
              <a:chOff x="4892511" y="5170488"/>
              <a:chExt cx="254320" cy="26987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4979194" y="5264944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40481"/>
                    </a:moveTo>
                    <a:cubicBezTo>
                      <a:pt x="0" y="62839"/>
                      <a:pt x="18124" y="80963"/>
                      <a:pt x="40481" y="80963"/>
                    </a:cubicBezTo>
                    <a:cubicBezTo>
                      <a:pt x="62839" y="80963"/>
                      <a:pt x="80963" y="62839"/>
                      <a:pt x="80963" y="40481"/>
                    </a:cubicBezTo>
                    <a:cubicBezTo>
                      <a:pt x="80963" y="18124"/>
                      <a:pt x="62839" y="0"/>
                      <a:pt x="40481" y="0"/>
                    </a:cubicBezTo>
                    <a:cubicBezTo>
                      <a:pt x="18124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4892511" y="5170488"/>
                <a:ext cx="254320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254320" h="269876">
                    <a:moveTo>
                      <a:pt x="127165" y="0"/>
                    </a:moveTo>
                    <a:cubicBezTo>
                      <a:pt x="149522" y="0"/>
                      <a:pt x="167646" y="18124"/>
                      <a:pt x="167646" y="40481"/>
                    </a:cubicBezTo>
                    <a:cubicBezTo>
                      <a:pt x="167646" y="48065"/>
                      <a:pt x="164151" y="59939"/>
                      <a:pt x="157175" y="76105"/>
                    </a:cubicBezTo>
                    <a:lnTo>
                      <a:pt x="147405" y="94456"/>
                    </a:lnTo>
                    <a:lnTo>
                      <a:pt x="171154" y="68913"/>
                    </a:lnTo>
                    <a:cubicBezTo>
                      <a:pt x="177888" y="60816"/>
                      <a:pt x="183596" y="55419"/>
                      <a:pt x="188291" y="52653"/>
                    </a:cubicBezTo>
                    <a:cubicBezTo>
                      <a:pt x="197530" y="47289"/>
                      <a:pt x="208528" y="45838"/>
                      <a:pt x="218842" y="48623"/>
                    </a:cubicBezTo>
                    <a:cubicBezTo>
                      <a:pt x="229155" y="51408"/>
                      <a:pt x="237928" y="58197"/>
                      <a:pt x="243211" y="67482"/>
                    </a:cubicBezTo>
                    <a:cubicBezTo>
                      <a:pt x="254320" y="86827"/>
                      <a:pt x="247755" y="111511"/>
                      <a:pt x="228503" y="122780"/>
                    </a:cubicBezTo>
                    <a:cubicBezTo>
                      <a:pt x="223456" y="125708"/>
                      <a:pt x="215144" y="128123"/>
                      <a:pt x="203593" y="129999"/>
                    </a:cubicBezTo>
                    <a:lnTo>
                      <a:pt x="167646" y="134938"/>
                    </a:lnTo>
                    <a:lnTo>
                      <a:pt x="200031" y="139337"/>
                    </a:lnTo>
                    <a:cubicBezTo>
                      <a:pt x="213525" y="141293"/>
                      <a:pt x="222944" y="143884"/>
                      <a:pt x="228503" y="147109"/>
                    </a:cubicBezTo>
                    <a:cubicBezTo>
                      <a:pt x="247755" y="158378"/>
                      <a:pt x="254320" y="183062"/>
                      <a:pt x="243211" y="202407"/>
                    </a:cubicBezTo>
                    <a:cubicBezTo>
                      <a:pt x="237926" y="211690"/>
                      <a:pt x="229152" y="218476"/>
                      <a:pt x="218839" y="221259"/>
                    </a:cubicBezTo>
                    <a:cubicBezTo>
                      <a:pt x="208526" y="224041"/>
                      <a:pt x="197528" y="222588"/>
                      <a:pt x="188291" y="217223"/>
                    </a:cubicBezTo>
                    <a:cubicBezTo>
                      <a:pt x="183596" y="214497"/>
                      <a:pt x="177888" y="209073"/>
                      <a:pt x="171154" y="200963"/>
                    </a:cubicBezTo>
                    <a:lnTo>
                      <a:pt x="147405" y="175419"/>
                    </a:lnTo>
                    <a:lnTo>
                      <a:pt x="157175" y="193771"/>
                    </a:lnTo>
                    <a:cubicBezTo>
                      <a:pt x="164138" y="209950"/>
                      <a:pt x="167646" y="221824"/>
                      <a:pt x="167646" y="229394"/>
                    </a:cubicBezTo>
                    <a:cubicBezTo>
                      <a:pt x="167646" y="251752"/>
                      <a:pt x="149522" y="269876"/>
                      <a:pt x="127165" y="269876"/>
                    </a:cubicBezTo>
                    <a:cubicBezTo>
                      <a:pt x="104807" y="269876"/>
                      <a:pt x="86683" y="251752"/>
                      <a:pt x="86683" y="229394"/>
                    </a:cubicBezTo>
                    <a:cubicBezTo>
                      <a:pt x="86683" y="221811"/>
                      <a:pt x="90178" y="209936"/>
                      <a:pt x="97154" y="193771"/>
                    </a:cubicBezTo>
                    <a:lnTo>
                      <a:pt x="106924" y="175419"/>
                    </a:lnTo>
                    <a:lnTo>
                      <a:pt x="83175" y="200963"/>
                    </a:lnTo>
                    <a:cubicBezTo>
                      <a:pt x="76442" y="209073"/>
                      <a:pt x="70734" y="214457"/>
                      <a:pt x="66038" y="217223"/>
                    </a:cubicBezTo>
                    <a:cubicBezTo>
                      <a:pt x="56801" y="222588"/>
                      <a:pt x="45804" y="224041"/>
                      <a:pt x="35491" y="221259"/>
                    </a:cubicBezTo>
                    <a:cubicBezTo>
                      <a:pt x="25178" y="218476"/>
                      <a:pt x="16403" y="211690"/>
                      <a:pt x="11118" y="202407"/>
                    </a:cubicBezTo>
                    <a:cubicBezTo>
                      <a:pt x="9" y="183062"/>
                      <a:pt x="6575" y="158378"/>
                      <a:pt x="25826" y="147109"/>
                    </a:cubicBezTo>
                    <a:cubicBezTo>
                      <a:pt x="30873" y="144168"/>
                      <a:pt x="39185" y="141766"/>
                      <a:pt x="50736" y="139877"/>
                    </a:cubicBezTo>
                    <a:lnTo>
                      <a:pt x="86683" y="134938"/>
                    </a:lnTo>
                    <a:lnTo>
                      <a:pt x="54298" y="130552"/>
                    </a:lnTo>
                    <a:cubicBezTo>
                      <a:pt x="40804" y="128596"/>
                      <a:pt x="31386" y="126005"/>
                      <a:pt x="25826" y="122780"/>
                    </a:cubicBezTo>
                    <a:cubicBezTo>
                      <a:pt x="6566" y="111510"/>
                      <a:pt x="0" y="86817"/>
                      <a:pt x="11118" y="67469"/>
                    </a:cubicBezTo>
                    <a:cubicBezTo>
                      <a:pt x="16401" y="58184"/>
                      <a:pt x="25174" y="51394"/>
                      <a:pt x="35488" y="48609"/>
                    </a:cubicBezTo>
                    <a:cubicBezTo>
                      <a:pt x="45801" y="45824"/>
                      <a:pt x="56799" y="47275"/>
                      <a:pt x="66038" y="52639"/>
                    </a:cubicBezTo>
                    <a:cubicBezTo>
                      <a:pt x="70734" y="55378"/>
                      <a:pt x="76442" y="60789"/>
                      <a:pt x="83175" y="68899"/>
                    </a:cubicBezTo>
                    <a:lnTo>
                      <a:pt x="106924" y="94456"/>
                    </a:lnTo>
                    <a:cubicBezTo>
                      <a:pt x="93430" y="63529"/>
                      <a:pt x="86683" y="45542"/>
                      <a:pt x="86683" y="40481"/>
                    </a:cubicBezTo>
                    <a:cubicBezTo>
                      <a:pt x="86683" y="18124"/>
                      <a:pt x="104807" y="0"/>
                      <a:pt x="127165" y="0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62" name="Freeform 62"/>
            <p:cNvSpPr/>
            <p:nvPr/>
          </p:nvSpPr>
          <p:spPr>
            <a:xfrm>
              <a:off x="5558087" y="5183873"/>
              <a:ext cx="240512" cy="254537"/>
            </a:xfrm>
            <a:custGeom>
              <a:avLst/>
              <a:gdLst/>
              <a:ahLst/>
              <a:cxnLst/>
              <a:rect l="l" t="t" r="r" b="b"/>
              <a:pathLst>
                <a:path w="240512" h="254537">
                  <a:moveTo>
                    <a:pt x="128338" y="108"/>
                  </a:moveTo>
                  <a:cubicBezTo>
                    <a:pt x="130119" y="108"/>
                    <a:pt x="131887" y="108"/>
                    <a:pt x="133641" y="108"/>
                  </a:cubicBezTo>
                  <a:cubicBezTo>
                    <a:pt x="97871" y="33345"/>
                    <a:pt x="90934" y="87384"/>
                    <a:pt x="117148" y="128579"/>
                  </a:cubicBezTo>
                  <a:cubicBezTo>
                    <a:pt x="143363" y="169774"/>
                    <a:pt x="195253" y="186377"/>
                    <a:pt x="240512" y="168052"/>
                  </a:cubicBezTo>
                  <a:cubicBezTo>
                    <a:pt x="217131" y="224309"/>
                    <a:pt x="155688" y="254537"/>
                    <a:pt x="96852" y="238728"/>
                  </a:cubicBezTo>
                  <a:cubicBezTo>
                    <a:pt x="38017" y="222918"/>
                    <a:pt x="0" y="165964"/>
                    <a:pt x="7966" y="105564"/>
                  </a:cubicBezTo>
                  <a:cubicBezTo>
                    <a:pt x="15932" y="45165"/>
                    <a:pt x="67416" y="15"/>
                    <a:pt x="128338" y="0"/>
                  </a:cubicBezTo>
                  <a:lnTo>
                    <a:pt x="128338" y="108"/>
                  </a:lnTo>
                </a:path>
              </a:pathLst>
            </a:custGeom>
            <a:noFill/>
            <a:ln w="26988">
              <a:solidFill>
                <a:schemeClr val="accent1"/>
              </a:solidFill>
            </a:ln>
          </p:spPr>
        </p:sp>
      </p:grpSp>
      <p:grpSp>
        <p:nvGrpSpPr>
          <p:cNvPr id="75" name="p10-list"/>
          <p:cNvGrpSpPr/>
          <p:nvPr/>
        </p:nvGrpSpPr>
        <p:grpSpPr>
          <a:xfrm>
            <a:off x="7810500" y="1714500"/>
            <a:ext cx="3619500" cy="4476750"/>
            <a:chOff x="7810500" y="1714500"/>
            <a:chExt cx="3619500" cy="4476750"/>
          </a:xfrm>
        </p:grpSpPr>
        <p:sp>
          <p:nvSpPr>
            <p:cNvPr id="64" name="Rectangle 64"/>
            <p:cNvSpPr/>
            <p:nvPr/>
          </p:nvSpPr>
          <p:spPr>
            <a:xfrm>
              <a:off x="7810500" y="1714500"/>
              <a:ext cx="3619500" cy="2095500"/>
            </a:xfrm>
            <a:prstGeom prst="roundRect">
              <a:avLst>
                <a:gd name="adj" fmla="val 7273"/>
              </a:avLst>
            </a:prstGeom>
            <a:solidFill>
              <a:srgbClr val="27AE60">
                <a:alpha val="16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068056" y="1924050"/>
              <a:ext cx="14255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Внутренние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68056" y="232410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осмысленность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068056" y="2628900"/>
              <a:ext cx="18841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самореализация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068056" y="2933700"/>
              <a:ext cx="10844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здоровье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068056" y="323850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благодарность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810500" y="4095750"/>
              <a:ext cx="3619500" cy="2095500"/>
            </a:xfrm>
            <a:prstGeom prst="roundRect">
              <a:avLst>
                <a:gd name="adj" fmla="val 7273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068056" y="4305300"/>
              <a:ext cx="1005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Внешние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068056" y="4705350"/>
              <a:ext cx="32841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материальная стабильность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68056" y="5010150"/>
              <a:ext cx="18841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справедливость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068056" y="5314950"/>
              <a:ext cx="30176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интересная деятельность</a:t>
              </a:r>
            </a:p>
          </p:txBody>
        </p:sp>
      </p:grpSp>
      <p:pic>
        <p:nvPicPr>
          <p:cNvPr id="76" name="PPT Master narration: narration1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76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1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1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1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74C3C"/>
          </a:solidFill>
          <a:ln>
            <a:noFill/>
          </a:ln>
        </p:spPr>
      </p:sp>
      <p:grpSp>
        <p:nvGrpSpPr>
          <p:cNvPr id="7" name="p11-title"/>
          <p:cNvGrpSpPr/>
          <p:nvPr/>
        </p:nvGrpSpPr>
        <p:grpSpPr>
          <a:xfrm>
            <a:off x="743712" y="527050"/>
            <a:ext cx="7780623" cy="967994"/>
            <a:chOff x="743712" y="527050"/>
            <a:chExt cx="7780623" cy="967994"/>
          </a:xfrm>
        </p:grpSpPr>
        <p:sp>
          <p:nvSpPr>
            <p:cNvPr id="5" name="TextBox 5"/>
            <p:cNvSpPr txBox="1"/>
            <p:nvPr/>
          </p:nvSpPr>
          <p:spPr>
            <a:xfrm>
              <a:off x="743712" y="527050"/>
              <a:ext cx="760359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После 75 000 долларов — плато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2856" y="1143000"/>
              <a:ext cx="77714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Парадокс Истерлина: рост дохода не всегда ведёт к росту счастья</a:t>
              </a:r>
            </a:p>
          </p:txBody>
        </p:sp>
      </p:grpSp>
      <p:grpSp>
        <p:nvGrpSpPr>
          <p:cNvPr id="19" name="p11-chart"/>
          <p:cNvGrpSpPr/>
          <p:nvPr/>
        </p:nvGrpSpPr>
        <p:grpSpPr>
          <a:xfrm>
            <a:off x="762000" y="1762125"/>
            <a:ext cx="7620000" cy="3905250"/>
            <a:chOff x="762000" y="1762125"/>
            <a:chExt cx="7620000" cy="3905250"/>
          </a:xfrm>
        </p:grpSpPr>
        <p:sp>
          <p:nvSpPr>
            <p:cNvPr id="8" name="Rectangle 8"/>
            <p:cNvSpPr/>
            <p:nvPr/>
          </p:nvSpPr>
          <p:spPr>
            <a:xfrm>
              <a:off x="762000" y="1762125"/>
              <a:ext cx="7620000" cy="3905250"/>
            </a:xfrm>
            <a:prstGeom prst="roundRect">
              <a:avLst>
                <a:gd name="adj" fmla="val 3902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9556" y="1943100"/>
              <a:ext cx="47202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и доход (Канеман–Дитон, 2010)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428750" y="2457450"/>
              <a:ext cx="9525" cy="2419350"/>
            </a:xfrm>
            <a:custGeom>
              <a:avLst/>
              <a:gdLst/>
              <a:ahLst/>
              <a:cxnLst/>
              <a:rect l="l" t="t" r="r" b="b"/>
              <a:pathLst>
                <a:path w="9525" h="2419350">
                  <a:moveTo>
                    <a:pt x="0" y="0"/>
                  </a:moveTo>
                  <a:lnTo>
                    <a:pt x="0" y="241935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428750" y="48768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2" name="Polyline 12"/>
            <p:cNvSpPr/>
            <p:nvPr/>
          </p:nvSpPr>
          <p:spPr>
            <a:xfrm>
              <a:off x="1428750" y="2638425"/>
              <a:ext cx="6619875" cy="1895475"/>
            </a:xfrm>
            <a:custGeom>
              <a:avLst/>
              <a:gdLst/>
              <a:ahLst/>
              <a:cxnLst/>
              <a:rect l="l" t="t" r="r" b="b"/>
              <a:pathLst>
                <a:path w="6619875" h="1895475">
                  <a:moveTo>
                    <a:pt x="0" y="1895475"/>
                  </a:moveTo>
                  <a:lnTo>
                    <a:pt x="1047750" y="1438275"/>
                  </a:lnTo>
                  <a:lnTo>
                    <a:pt x="2095500" y="904875"/>
                  </a:lnTo>
                  <a:lnTo>
                    <a:pt x="3143250" y="466725"/>
                  </a:lnTo>
                  <a:lnTo>
                    <a:pt x="4191000" y="180975"/>
                  </a:lnTo>
                  <a:lnTo>
                    <a:pt x="5238750" y="47625"/>
                  </a:lnTo>
                  <a:lnTo>
                    <a:pt x="6286500" y="9525"/>
                  </a:lnTo>
                  <a:lnTo>
                    <a:pt x="6619875" y="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5448300" y="2647950"/>
              <a:ext cx="342900" cy="342900"/>
            </a:xfrm>
            <a:prstGeom prst="ellipse">
              <a:avLst/>
            </a:prstGeom>
            <a:noFill/>
            <a:ln w="57150">
              <a:solidFill>
                <a:srgbClr val="E74C3C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619750" y="2819400"/>
              <a:ext cx="9525" cy="2057400"/>
            </a:xfrm>
            <a:custGeom>
              <a:avLst/>
              <a:gdLst/>
              <a:ahLst/>
              <a:cxnLst/>
              <a:rect l="l" t="t" r="r" b="b"/>
              <a:pathLst>
                <a:path w="9525" h="2057400">
                  <a:moveTo>
                    <a:pt x="0" y="0"/>
                  </a:moveTo>
                  <a:lnTo>
                    <a:pt x="0" y="2057400"/>
                  </a:lnTo>
                </a:path>
              </a:pathLst>
            </a:custGeom>
            <a:noFill/>
            <a:ln w="19050">
              <a:solidFill>
                <a:srgbClr val="E74C3C"/>
              </a:solidFill>
              <a:custDash>
                <a:ds d="300000" sp="300000"/>
              </a:custDash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38962" y="4972050"/>
              <a:ext cx="961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E74C3C"/>
                  </a:solidFill>
                  <a:latin typeface="+mn-lt"/>
                  <a:ea typeface="+mn-ea"/>
                  <a:cs typeface="+mn-cs"/>
                </a:rPr>
                <a:t>75 000 $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81506" y="243840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высокое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506" y="464820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низкое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19856" y="5314950"/>
              <a:ext cx="32525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Годовой доход, доллары США</a:t>
              </a:r>
            </a:p>
          </p:txBody>
        </p:sp>
      </p:grpSp>
      <p:grpSp>
        <p:nvGrpSpPr>
          <p:cNvPr id="24" name="p11-photos"/>
          <p:cNvGrpSpPr/>
          <p:nvPr/>
        </p:nvGrpSpPr>
        <p:grpSpPr>
          <a:xfrm>
            <a:off x="8563356" y="1762125"/>
            <a:ext cx="3438144" cy="3885819"/>
            <a:chOff x="8563356" y="1762125"/>
            <a:chExt cx="3438144" cy="3885819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3"/>
            <a:srcRect l="0" t="14528" r="0" b="14528"/>
            <a:stretch>
              <a:fillRect/>
            </a:stretch>
          </p:blipFill>
          <p:spPr>
            <a:xfrm>
              <a:off x="8572500" y="1762125"/>
              <a:ext cx="3429000" cy="161925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8563356" y="3409950"/>
              <a:ext cx="23526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средний доход: рост</a:t>
              </a:r>
            </a:p>
          </p:txBody>
        </p:sp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4"/>
            <a:srcRect l="0" t="26113" r="0" b="26113"/>
            <a:stretch>
              <a:fillRect/>
            </a:stretch>
          </p:blipFill>
          <p:spPr>
            <a:xfrm>
              <a:off x="8572500" y="3810000"/>
              <a:ext cx="3429000" cy="142875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8563356" y="5295900"/>
              <a:ext cx="2485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высокий доход: плато</a:t>
              </a:r>
            </a:p>
          </p:txBody>
        </p:sp>
      </p:grpSp>
      <p:grpSp>
        <p:nvGrpSpPr>
          <p:cNvPr id="26" name="p11-note"/>
          <p:cNvGrpSpPr/>
          <p:nvPr/>
        </p:nvGrpSpPr>
        <p:grpSpPr>
          <a:xfrm>
            <a:off x="752856" y="5924550"/>
            <a:ext cx="7761705" cy="352044"/>
            <a:chOff x="752856" y="5924550"/>
            <a:chExt cx="7761705" cy="352044"/>
          </a:xfrm>
        </p:grpSpPr>
        <p:sp>
          <p:nvSpPr>
            <p:cNvPr id="25" name="TextBox 25"/>
            <p:cNvSpPr txBox="1"/>
            <p:nvPr/>
          </p:nvSpPr>
          <p:spPr>
            <a:xfrm>
              <a:off x="752856" y="5924550"/>
              <a:ext cx="77617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Гедонистическая адаптация: мы быстро привыкаем к новому уровню</a:t>
              </a:r>
            </a:p>
          </p:txBody>
        </p:sp>
      </p:grpSp>
      <p:grpSp>
        <p:nvGrpSpPr>
          <p:cNvPr id="28" name="p11-credits"/>
          <p:cNvGrpSpPr/>
          <p:nvPr/>
        </p:nvGrpSpPr>
        <p:grpSpPr>
          <a:xfrm>
            <a:off x="753618" y="6299200"/>
            <a:ext cx="8851308" cy="513207"/>
            <a:chOff x="753618" y="6299200"/>
            <a:chExt cx="8851308" cy="513207"/>
          </a:xfrm>
        </p:grpSpPr>
        <p:sp>
          <p:nvSpPr>
            <p:cNvPr id="27" name="TextBox 27"/>
            <p:cNvSpPr txBox="1"/>
            <p:nvPr/>
          </p:nvSpPr>
          <p:spPr>
            <a:xfrm>
              <a:off x="753618" y="6299200"/>
              <a:ext cx="8851308" cy="5132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Marek Ślusarczyk ( Tupungato ) Photo portfolio / CC BY 3.0</a:t>
              </a:r>
              <a:b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ProperAndPolite / CC BY-SA 4.0; © Pedro Ribeiro Simões from Lisboa, Portugal / CC BY 2.0</a:t>
              </a:r>
            </a:p>
          </p:txBody>
        </p:sp>
      </p:grpSp>
      <p:sp>
        <p:nvSpPr>
          <p:cNvPr id="29" name="p11-foot"/>
          <p:cNvSpPr txBox="1"/>
          <p:nvPr/>
        </p:nvSpPr>
        <p:spPr>
          <a:xfrm>
            <a:off x="6659118" y="6578600"/>
            <a:ext cx="282214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30" name="p11-num"/>
          <p:cNvSpPr txBox="1"/>
          <p:nvPr/>
        </p:nvSpPr>
        <p:spPr>
          <a:xfrm>
            <a:off x="11174528" y="65786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  <p:pic>
        <p:nvPicPr>
          <p:cNvPr id="31" name="PPT Master narration: narration12.mp3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2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2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2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E67E22"/>
          </a:solidFill>
          <a:ln>
            <a:noFill/>
          </a:ln>
        </p:spPr>
      </p:sp>
      <p:sp>
        <p:nvSpPr>
          <p:cNvPr id="5" name="p12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2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  <p:grpSp>
        <p:nvGrpSpPr>
          <p:cNvPr id="9" name="p12-title"/>
          <p:cNvGrpSpPr/>
          <p:nvPr/>
        </p:nvGrpSpPr>
        <p:grpSpPr>
          <a:xfrm>
            <a:off x="743712" y="527050"/>
            <a:ext cx="6199780" cy="967994"/>
            <a:chOff x="743712" y="527050"/>
            <a:chExt cx="6199780" cy="967994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27050"/>
              <a:ext cx="619978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Парадокс среднего звена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2856" y="1143000"/>
              <a:ext cx="46935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Связь счастья и образования нелинейна</a:t>
              </a:r>
            </a:p>
          </p:txBody>
        </p:sp>
      </p:grpSp>
      <p:grpSp>
        <p:nvGrpSpPr>
          <p:cNvPr id="21" name="p12-chart"/>
          <p:cNvGrpSpPr/>
          <p:nvPr/>
        </p:nvGrpSpPr>
        <p:grpSpPr>
          <a:xfrm>
            <a:off x="1143000" y="1905000"/>
            <a:ext cx="6286500" cy="4272407"/>
            <a:chOff x="1143000" y="1905000"/>
            <a:chExt cx="6286500" cy="4272407"/>
          </a:xfrm>
        </p:grpSpPr>
        <p:sp>
          <p:nvSpPr>
            <p:cNvPr id="10" name="Rectangle 10"/>
            <p:cNvSpPr/>
            <p:nvPr/>
          </p:nvSpPr>
          <p:spPr>
            <a:xfrm>
              <a:off x="1143000" y="1905000"/>
              <a:ext cx="6286500" cy="4000500"/>
            </a:xfrm>
            <a:prstGeom prst="roundRect">
              <a:avLst>
                <a:gd name="adj" fmla="val 381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1" name="Line 11"/>
            <p:cNvSpPr/>
            <p:nvPr/>
          </p:nvSpPr>
          <p:spPr>
            <a:xfrm>
              <a:off x="17145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714500" y="53340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9050">
              <a:solidFill>
                <a:srgbClr val="95A5A6"/>
              </a:solidFill>
            </a:ln>
          </p:spPr>
        </p:sp>
        <p:sp>
          <p:nvSpPr>
            <p:cNvPr id="13" name="Polyline 13"/>
            <p:cNvSpPr/>
            <p:nvPr/>
          </p:nvSpPr>
          <p:spPr>
            <a:xfrm>
              <a:off x="1714500" y="2762250"/>
              <a:ext cx="5143500" cy="2095500"/>
            </a:xfrm>
            <a:custGeom>
              <a:avLst/>
              <a:gdLst/>
              <a:ahLst/>
              <a:cxnLst/>
              <a:rect l="l" t="t" r="r" b="b"/>
              <a:pathLst>
                <a:path w="5143500" h="2095500">
                  <a:moveTo>
                    <a:pt x="0" y="0"/>
                  </a:moveTo>
                  <a:lnTo>
                    <a:pt x="1047750" y="571500"/>
                  </a:lnTo>
                  <a:lnTo>
                    <a:pt x="2095500" y="1619250"/>
                  </a:lnTo>
                  <a:lnTo>
                    <a:pt x="3143250" y="2095500"/>
                  </a:lnTo>
                  <a:lnTo>
                    <a:pt x="4191000" y="1238250"/>
                  </a:lnTo>
                  <a:lnTo>
                    <a:pt x="5143500" y="571500"/>
                  </a:lnTo>
                </a:path>
              </a:pathLst>
            </a:cu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4686300" y="4686300"/>
              <a:ext cx="342900" cy="342900"/>
            </a:xfrm>
            <a:prstGeom prst="ellipse">
              <a:avLst/>
            </a:prstGeom>
            <a:noFill/>
            <a:ln w="57150">
              <a:solidFill>
                <a:srgbClr val="E67E2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28794" y="424815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ru" sz="1800" b="1" dirty="0">
                  <a:solidFill>
                    <a:srgbClr val="B9631B"/>
                  </a:solidFill>
                  <a:latin typeface="+mn-lt"/>
                  <a:ea typeface="+mn-ea"/>
                  <a:cs typeface="+mn-cs"/>
                </a:rPr>
                <a:t>провал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29156" y="224790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выше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29156" y="510540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ниже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00606" y="544830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среднее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05856" y="5448300"/>
              <a:ext cx="8179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высшее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63368" y="5854700"/>
              <a:ext cx="44028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rgbClr val="5D6D7E"/>
                  </a:solidFill>
                  <a:latin typeface="+mn-lt"/>
                  <a:ea typeface="+mn-ea"/>
                  <a:cs typeface="+mn-cs"/>
                </a:rPr>
                <a:t>Уровень образования → уровень счастья</a:t>
              </a:r>
            </a:p>
          </p:txBody>
        </p:sp>
      </p:grpSp>
      <p:grpSp>
        <p:nvGrpSpPr>
          <p:cNvPr id="33" name="p12-list"/>
          <p:cNvGrpSpPr/>
          <p:nvPr/>
        </p:nvGrpSpPr>
        <p:grpSpPr>
          <a:xfrm>
            <a:off x="7810500" y="1905000"/>
            <a:ext cx="3619500" cy="4000500"/>
            <a:chOff x="7810500" y="1905000"/>
            <a:chExt cx="3619500" cy="4000500"/>
          </a:xfrm>
        </p:grpSpPr>
        <p:sp>
          <p:nvSpPr>
            <p:cNvPr id="22" name="Rectangle 22"/>
            <p:cNvSpPr/>
            <p:nvPr/>
          </p:nvSpPr>
          <p:spPr>
            <a:xfrm>
              <a:off x="7810500" y="1905000"/>
              <a:ext cx="3619500" cy="4000500"/>
            </a:xfrm>
            <a:prstGeom prst="roundRect">
              <a:avLst>
                <a:gd name="adj" fmla="val 4211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108950" y="2251075"/>
              <a:ext cx="317501" cy="222250"/>
              <a:chOff x="8108950" y="2251075"/>
              <a:chExt cx="317501" cy="2222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108950" y="2251075"/>
                <a:ext cx="317501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317501" h="158750">
                    <a:moveTo>
                      <a:pt x="317501" y="63500"/>
                    </a:moveTo>
                    <a:lnTo>
                      <a:pt x="158750" y="0"/>
                    </a:lnTo>
                    <a:lnTo>
                      <a:pt x="0" y="63500"/>
                    </a:lnTo>
                    <a:lnTo>
                      <a:pt x="158750" y="127000"/>
                    </a:lnTo>
                    <a:lnTo>
                      <a:pt x="317501" y="63500"/>
                    </a:lnTo>
                    <a:lnTo>
                      <a:pt x="317501" y="15875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72450" y="2339975"/>
                <a:ext cx="1905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33350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12028"/>
                      <a:pt x="42645" y="133350"/>
                      <a:pt x="95250" y="133350"/>
                    </a:cubicBezTo>
                    <a:cubicBezTo>
                      <a:pt x="147855" y="133350"/>
                      <a:pt x="190500" y="112028"/>
                      <a:pt x="190500" y="85725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31750">
                <a:solidFill>
                  <a:schemeClr val="accent1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563356" y="2247900"/>
              <a:ext cx="12135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Что важно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68056" y="2914650"/>
              <a:ext cx="2418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слабая прямая связь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68056" y="3409950"/>
              <a:ext cx="21520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провал у среднего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68056" y="3714750"/>
              <a:ext cx="16175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специального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68056" y="4210050"/>
              <a:ext cx="19527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косвенно: доход,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68056" y="4514850"/>
              <a:ext cx="17522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статус, навыки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68056" y="5010150"/>
              <a:ext cx="2484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завышенные ожидания</a:t>
              </a:r>
            </a:p>
          </p:txBody>
        </p:sp>
      </p:grpSp>
      <p:sp>
        <p:nvSpPr>
          <p:cNvPr id="34" name="credit"/>
          <p:cNvSpPr txBox="1"/>
          <p:nvPr/>
        </p:nvSpPr>
        <p:spPr>
          <a:xfrm>
            <a:off x="753618" y="6578600"/>
            <a:ext cx="44664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Kambai Akau / Wikimedia / CC BY-SA 4.0</a:t>
            </a:r>
          </a:p>
        </p:txBody>
      </p:sp>
      <p:pic>
        <p:nvPicPr>
          <p:cNvPr id="35" name="PPT Master narration: narration13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3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3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3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p13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3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  <p:grpSp>
        <p:nvGrpSpPr>
          <p:cNvPr id="8" name="p13-title"/>
          <p:cNvGrpSpPr/>
          <p:nvPr/>
        </p:nvGrpSpPr>
        <p:grpSpPr>
          <a:xfrm>
            <a:off x="743712" y="565150"/>
            <a:ext cx="5775138" cy="704088"/>
            <a:chOff x="743712" y="565150"/>
            <a:chExt cx="5775138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577513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Баланс онлайн и офлайн</a:t>
              </a:r>
            </a:p>
          </p:txBody>
        </p:sp>
      </p:grpSp>
      <p:grpSp>
        <p:nvGrpSpPr>
          <p:cNvPr id="32" name="p13-plus"/>
          <p:cNvGrpSpPr/>
          <p:nvPr/>
        </p:nvGrpSpPr>
        <p:grpSpPr>
          <a:xfrm>
            <a:off x="762000" y="1809750"/>
            <a:ext cx="4572000" cy="3810000"/>
            <a:chOff x="762000" y="1809750"/>
            <a:chExt cx="4572000" cy="3810000"/>
          </a:xfrm>
        </p:grpSpPr>
        <p:sp>
          <p:nvSpPr>
            <p:cNvPr id="9" name="Rectangle 9"/>
            <p:cNvSpPr/>
            <p:nvPr/>
          </p:nvSpPr>
          <p:spPr>
            <a:xfrm>
              <a:off x="762000" y="1809750"/>
              <a:ext cx="4572000" cy="3810000"/>
            </a:xfrm>
            <a:prstGeom prst="roundRect">
              <a:avLst>
                <a:gd name="adj" fmla="val 4000"/>
              </a:avLst>
            </a:prstGeom>
            <a:solidFill>
              <a:srgbClr val="27AE60">
                <a:alpha val="16000"/>
              </a:srgbClr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038225" y="2105025"/>
              <a:ext cx="285751" cy="285751"/>
              <a:chOff x="1038225" y="2105025"/>
              <a:chExt cx="285751" cy="28575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38225" y="21050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33475" y="2216150"/>
                <a:ext cx="9525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63500">
                    <a:moveTo>
                      <a:pt x="0" y="31750"/>
                    </a:moveTo>
                    <a:lnTo>
                      <a:pt x="31750" y="63500"/>
                    </a:ln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1E8449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476756" y="2133600"/>
              <a:ext cx="725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Плюсы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1085850" y="2900362"/>
              <a:ext cx="242888" cy="271462"/>
              <a:chOff x="1085850" y="2900362"/>
              <a:chExt cx="242888" cy="27146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100138" y="29003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85850" y="3014662"/>
                <a:ext cx="857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57162">
                    <a:moveTo>
                      <a:pt x="14288" y="157162"/>
                    </a:moveTo>
                    <a:lnTo>
                      <a:pt x="14288" y="85725"/>
                    </a:lnTo>
                    <a:lnTo>
                      <a:pt x="0" y="71438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85725" y="71438"/>
                    </a:lnTo>
                    <a:lnTo>
                      <a:pt x="71438" y="85725"/>
                    </a:lnTo>
                    <a:lnTo>
                      <a:pt x="71438" y="157162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243012" y="29003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214438" y="3014662"/>
                <a:ext cx="114300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57162">
                    <a:moveTo>
                      <a:pt x="28575" y="157162"/>
                    </a:moveTo>
                    <a:lnTo>
                      <a:pt x="28575" y="100012"/>
                    </a:lnTo>
                    <a:lnTo>
                      <a:pt x="0" y="100012"/>
                    </a:lnTo>
                    <a:lnTo>
                      <a:pt x="28575" y="14288"/>
                    </a:lnTo>
                    <a:cubicBezTo>
                      <a:pt x="28575" y="6397"/>
                      <a:pt x="34972" y="0"/>
                      <a:pt x="42862" y="0"/>
                    </a:cubicBezTo>
                    <a:lnTo>
                      <a:pt x="71438" y="0"/>
                    </a:lnTo>
                    <a:cubicBezTo>
                      <a:pt x="79328" y="0"/>
                      <a:pt x="85725" y="6397"/>
                      <a:pt x="85725" y="14288"/>
                    </a:cubicBezTo>
                    <a:lnTo>
                      <a:pt x="114300" y="100012"/>
                    </a:lnTo>
                    <a:lnTo>
                      <a:pt x="85725" y="100012"/>
                    </a:lnTo>
                    <a:lnTo>
                      <a:pt x="85725" y="157162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514856" y="2914650"/>
              <a:ext cx="2018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связь с близкими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1066615" y="3539635"/>
              <a:ext cx="266811" cy="232265"/>
            </a:xfrm>
            <a:custGeom>
              <a:avLst/>
              <a:gdLst/>
              <a:ahLst/>
              <a:cxnLst/>
              <a:rect l="l" t="t" r="r" b="b"/>
              <a:pathLst>
                <a:path w="266811" h="232265">
                  <a:moveTo>
                    <a:pt x="240691" y="126138"/>
                  </a:moveTo>
                  <a:lnTo>
                    <a:pt x="133535" y="232265"/>
                  </a:lnTo>
                  <a:lnTo>
                    <a:pt x="26379" y="126138"/>
                  </a:lnTo>
                  <a:cubicBezTo>
                    <a:pt x="7109" y="107387"/>
                    <a:pt x="0" y="79404"/>
                    <a:pt x="7983" y="53729"/>
                  </a:cubicBezTo>
                  <a:cubicBezTo>
                    <a:pt x="15966" y="28055"/>
                    <a:pt x="37689" y="9037"/>
                    <a:pt x="64194" y="4518"/>
                  </a:cubicBezTo>
                  <a:cubicBezTo>
                    <a:pt x="90699" y="0"/>
                    <a:pt x="117496" y="10746"/>
                    <a:pt x="133535" y="32326"/>
                  </a:cubicBezTo>
                  <a:cubicBezTo>
                    <a:pt x="149641" y="10906"/>
                    <a:pt x="176381" y="302"/>
                    <a:pt x="202789" y="4863"/>
                  </a:cubicBezTo>
                  <a:cubicBezTo>
                    <a:pt x="229198" y="9424"/>
                    <a:pt x="250833" y="28381"/>
                    <a:pt x="258822" y="53962"/>
                  </a:cubicBezTo>
                  <a:cubicBezTo>
                    <a:pt x="266811" y="79543"/>
                    <a:pt x="259811" y="107444"/>
                    <a:pt x="240691" y="126224"/>
                  </a:cubicBezTo>
                </a:path>
              </a:pathLst>
            </a:custGeom>
            <a:noFill/>
            <a:ln w="28575">
              <a:solidFill>
                <a:srgbClr val="27AE6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514856" y="3543300"/>
              <a:ext cx="2285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поддержка и помощь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1100138" y="4171950"/>
              <a:ext cx="200025" cy="228600"/>
              <a:chOff x="1100138" y="4171950"/>
              <a:chExt cx="200025" cy="2286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100138" y="4171950"/>
                <a:ext cx="200025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28600">
                    <a:moveTo>
                      <a:pt x="200025" y="0"/>
                    </a:moveTo>
                    <a:lnTo>
                      <a:pt x="200025" y="228600"/>
                    </a:ln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200025" y="0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100138" y="4343400"/>
                <a:ext cx="20002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8575">
                    <a:moveTo>
                      <a:pt x="200025" y="0"/>
                    </a:moveTo>
                    <a:lnTo>
                      <a:pt x="28575" y="0"/>
                    </a:ln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157288" y="422910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1514856" y="4171950"/>
              <a:ext cx="2018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доступ к знаниям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1071562" y="4786312"/>
              <a:ext cx="257175" cy="257176"/>
              <a:chOff x="1071562" y="4786312"/>
              <a:chExt cx="257175" cy="25717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071562" y="4800600"/>
                <a:ext cx="242888" cy="242888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42888">
                    <a:moveTo>
                      <a:pt x="28575" y="0"/>
                    </a:moveTo>
                    <a:lnTo>
                      <a:pt x="85725" y="0"/>
                    </a:lnTo>
                    <a:lnTo>
                      <a:pt x="114300" y="71438"/>
                    </a:lnTo>
                    <a:lnTo>
                      <a:pt x="78581" y="92869"/>
                    </a:lnTo>
                    <a:cubicBezTo>
                      <a:pt x="93883" y="123894"/>
                      <a:pt x="118993" y="149005"/>
                      <a:pt x="150019" y="164306"/>
                    </a:cubicBezTo>
                    <a:lnTo>
                      <a:pt x="171450" y="128588"/>
                    </a:lnTo>
                    <a:lnTo>
                      <a:pt x="242888" y="157162"/>
                    </a:lnTo>
                    <a:lnTo>
                      <a:pt x="242888" y="214312"/>
                    </a:lnTo>
                    <a:cubicBezTo>
                      <a:pt x="242888" y="230094"/>
                      <a:pt x="230094" y="242888"/>
                      <a:pt x="214312" y="242888"/>
                    </a:cubicBezTo>
                    <a:cubicBezTo>
                      <a:pt x="98979" y="235879"/>
                      <a:pt x="7009" y="143909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1243012" y="484346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0"/>
                    </a:moveTo>
                    <a:cubicBezTo>
                      <a:pt x="15782" y="0"/>
                      <a:pt x="28575" y="12793"/>
                      <a:pt x="28575" y="2857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243012" y="47863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cubicBezTo>
                      <a:pt x="47345" y="0"/>
                      <a:pt x="85725" y="38380"/>
                      <a:pt x="85725" y="85725"/>
                    </a:cubicBezTo>
                  </a:path>
                </a:pathLst>
              </a:custGeom>
              <a:noFill/>
              <a:ln w="28575">
                <a:solidFill>
                  <a:srgbClr val="27AE6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1514856" y="4800600"/>
              <a:ext cx="18315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онлайн-терапия</a:t>
              </a:r>
            </a:p>
          </p:txBody>
        </p:sp>
      </p:grpSp>
      <p:grpSp>
        <p:nvGrpSpPr>
          <p:cNvPr id="46" name="p13-phone"/>
          <p:cNvGrpSpPr/>
          <p:nvPr/>
        </p:nvGrpSpPr>
        <p:grpSpPr>
          <a:xfrm>
            <a:off x="5619750" y="2381250"/>
            <a:ext cx="952500" cy="2857500"/>
            <a:chOff x="5619750" y="2381250"/>
            <a:chExt cx="952500" cy="2857500"/>
          </a:xfrm>
        </p:grpSpPr>
        <p:sp>
          <p:nvSpPr>
            <p:cNvPr id="33" name="Rectangle 33"/>
            <p:cNvSpPr/>
            <p:nvPr/>
          </p:nvSpPr>
          <p:spPr>
            <a:xfrm>
              <a:off x="5619750" y="2381250"/>
              <a:ext cx="952500" cy="2857500"/>
            </a:xfrm>
            <a:prstGeom prst="roundRect">
              <a:avLst>
                <a:gd name="adj" fmla="val 1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53100" y="2590800"/>
              <a:ext cx="685800" cy="2438400"/>
            </a:xfrm>
            <a:prstGeom prst="roundRect">
              <a:avLst>
                <a:gd name="adj" fmla="val 11111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943600" y="3409950"/>
              <a:ext cx="304800" cy="304800"/>
              <a:chOff x="5943600" y="3409950"/>
              <a:chExt cx="304800" cy="3048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5943600" y="34861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981700" y="340995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981700" y="3562350"/>
                <a:ext cx="9525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2400">
                    <a:moveTo>
                      <a:pt x="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057900" y="36004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096000" y="3409950"/>
                <a:ext cx="95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0">
                    <a:moveTo>
                      <a:pt x="0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096000" y="36766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172200" y="34290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210300" y="34099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210300" y="3505200"/>
                <a:ext cx="9525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9550">
                    <a:moveTo>
                      <a:pt x="0" y="0"/>
                    </a:moveTo>
                    <a:lnTo>
                      <a:pt x="0" y="209550"/>
                    </a:lnTo>
                  </a:path>
                </a:pathLst>
              </a:custGeom>
              <a:noFill/>
              <a:ln w="38100">
                <a:solidFill>
                  <a:schemeClr val="accent1"/>
                </a:solidFill>
              </a:ln>
            </p:spPr>
          </p:sp>
        </p:grpSp>
        <p:sp>
          <p:nvSpPr>
            <p:cNvPr id="45" name="Ellipse 45"/>
            <p:cNvSpPr/>
            <p:nvPr/>
          </p:nvSpPr>
          <p:spPr>
            <a:xfrm>
              <a:off x="6029325" y="5038725"/>
              <a:ext cx="133350" cy="1333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66" name="p13-minus"/>
          <p:cNvGrpSpPr/>
          <p:nvPr/>
        </p:nvGrpSpPr>
        <p:grpSpPr>
          <a:xfrm>
            <a:off x="6858000" y="1809750"/>
            <a:ext cx="4572000" cy="3810000"/>
            <a:chOff x="6858000" y="1809750"/>
            <a:chExt cx="4572000" cy="3810000"/>
          </a:xfrm>
        </p:grpSpPr>
        <p:sp>
          <p:nvSpPr>
            <p:cNvPr id="47" name="Rectangle 47"/>
            <p:cNvSpPr/>
            <p:nvPr/>
          </p:nvSpPr>
          <p:spPr>
            <a:xfrm>
              <a:off x="6858000" y="1809750"/>
              <a:ext cx="4572000" cy="3810000"/>
            </a:xfrm>
            <a:prstGeom prst="roundRect">
              <a:avLst>
                <a:gd name="adj" fmla="val 4000"/>
              </a:avLst>
            </a:prstGeom>
            <a:solidFill>
              <a:srgbClr val="E74C3C">
                <a:alpha val="16000"/>
              </a:srgbClr>
            </a:solidFill>
            <a:ln>
              <a:noFill/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7134225" y="2105025"/>
              <a:ext cx="285751" cy="285751"/>
              <a:chOff x="7134225" y="2105025"/>
              <a:chExt cx="285751" cy="285751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134225" y="210502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245350" y="22161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63500" y="63500"/>
                    </a:lnTo>
                    <a:moveTo>
                      <a:pt x="6350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C0392B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7572756" y="2133600"/>
              <a:ext cx="865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rgbClr val="C0392B"/>
                  </a:solidFill>
                  <a:latin typeface="+mn-lt"/>
                  <a:ea typeface="+mn-ea"/>
                  <a:cs typeface="+mn-cs"/>
                </a:rPr>
                <a:t>Минусы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7167562" y="2943225"/>
              <a:ext cx="257175" cy="171450"/>
              <a:chOff x="7167562" y="2943225"/>
              <a:chExt cx="257175" cy="17145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267575" y="3000375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167562" y="2943225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257175" y="85725"/>
                    </a:moveTo>
                    <a:cubicBezTo>
                      <a:pt x="222885" y="142875"/>
                      <a:pt x="180022" y="171450"/>
                      <a:pt x="128588" y="171450"/>
                    </a:cubicBezTo>
                    <a:cubicBezTo>
                      <a:pt x="77153" y="171450"/>
                      <a:pt x="34290" y="142875"/>
                      <a:pt x="0" y="85725"/>
                    </a:cubicBezTo>
                    <a:cubicBezTo>
                      <a:pt x="34290" y="28575"/>
                      <a:pt x="77153" y="0"/>
                      <a:pt x="128588" y="0"/>
                    </a:cubicBezTo>
                    <a:cubicBezTo>
                      <a:pt x="180022" y="0"/>
                      <a:pt x="222885" y="28575"/>
                      <a:pt x="257175" y="85725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610856" y="2914650"/>
              <a:ext cx="2418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сравнение с другими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7167562" y="3529012"/>
              <a:ext cx="257175" cy="257175"/>
              <a:chOff x="7167562" y="3529012"/>
              <a:chExt cx="257175" cy="25717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167562" y="35290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0" y="128588"/>
                    </a:moveTo>
                    <a:cubicBezTo>
                      <a:pt x="0" y="199604"/>
                      <a:pt x="57571" y="257175"/>
                      <a:pt x="128588" y="257175"/>
                    </a:cubicBezTo>
                    <a:cubicBezTo>
                      <a:pt x="199604" y="257175"/>
                      <a:pt x="257175" y="199604"/>
                      <a:pt x="257175" y="128588"/>
                    </a:cubicBezTo>
                    <a:cubicBezTo>
                      <a:pt x="257175" y="57571"/>
                      <a:pt x="199604" y="0"/>
                      <a:pt x="128588" y="0"/>
                    </a:cubicBezTo>
                    <a:cubicBezTo>
                      <a:pt x="57571" y="0"/>
                      <a:pt x="0" y="57571"/>
                      <a:pt x="0" y="128588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253288" y="3629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7339012" y="3629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43" y="0"/>
                    </a:ln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260431" y="3689025"/>
                <a:ext cx="71438" cy="1500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5009">
                    <a:moveTo>
                      <a:pt x="0" y="15009"/>
                    </a:moveTo>
                    <a:cubicBezTo>
                      <a:pt x="9406" y="5410"/>
                      <a:pt x="22279" y="0"/>
                      <a:pt x="35719" y="0"/>
                    </a:cubicBezTo>
                    <a:cubicBezTo>
                      <a:pt x="49158" y="0"/>
                      <a:pt x="62032" y="5410"/>
                      <a:pt x="71438" y="15009"/>
                    </a:cubicBezTo>
                  </a:path>
                </a:pathLst>
              </a:custGeom>
              <a:noFill/>
              <a:ln w="28575">
                <a:solidFill>
                  <a:srgbClr val="E74C3C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610856" y="3543300"/>
              <a:ext cx="281036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страх упустить (FOMO)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7162615" y="4168285"/>
              <a:ext cx="266811" cy="232265"/>
            </a:xfrm>
            <a:custGeom>
              <a:avLst/>
              <a:gdLst/>
              <a:ahLst/>
              <a:cxnLst/>
              <a:rect l="l" t="t" r="r" b="b"/>
              <a:pathLst>
                <a:path w="266811" h="232265">
                  <a:moveTo>
                    <a:pt x="240691" y="126138"/>
                  </a:moveTo>
                  <a:lnTo>
                    <a:pt x="133535" y="232265"/>
                  </a:lnTo>
                  <a:lnTo>
                    <a:pt x="26379" y="126138"/>
                  </a:lnTo>
                  <a:cubicBezTo>
                    <a:pt x="7109" y="107387"/>
                    <a:pt x="0" y="79404"/>
                    <a:pt x="7983" y="53729"/>
                  </a:cubicBezTo>
                  <a:cubicBezTo>
                    <a:pt x="15966" y="28055"/>
                    <a:pt x="37689" y="9037"/>
                    <a:pt x="64194" y="4518"/>
                  </a:cubicBezTo>
                  <a:cubicBezTo>
                    <a:pt x="90699" y="0"/>
                    <a:pt x="117496" y="10746"/>
                    <a:pt x="133535" y="32326"/>
                  </a:cubicBezTo>
                  <a:cubicBezTo>
                    <a:pt x="149641" y="10906"/>
                    <a:pt x="176381" y="302"/>
                    <a:pt x="202789" y="4863"/>
                  </a:cubicBezTo>
                  <a:cubicBezTo>
                    <a:pt x="229198" y="9424"/>
                    <a:pt x="250833" y="28381"/>
                    <a:pt x="258822" y="53962"/>
                  </a:cubicBezTo>
                  <a:cubicBezTo>
                    <a:pt x="266811" y="79543"/>
                    <a:pt x="259811" y="107444"/>
                    <a:pt x="240691" y="126224"/>
                  </a:cubicBezTo>
                </a:path>
              </a:pathLst>
            </a:custGeom>
            <a:noFill/>
            <a:ln w="28575">
              <a:solidFill>
                <a:srgbClr val="E74C3C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610856" y="4171950"/>
              <a:ext cx="2484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снижение самооценки</a:t>
              </a:r>
            </a:p>
          </p:txBody>
        </p:sp>
        <p:sp>
          <p:nvSpPr>
            <p:cNvPr id="64" name="Freeform 64"/>
            <p:cNvSpPr/>
            <p:nvPr/>
          </p:nvSpPr>
          <p:spPr>
            <a:xfrm>
              <a:off x="7160263" y="4786198"/>
              <a:ext cx="254659" cy="269509"/>
            </a:xfrm>
            <a:custGeom>
              <a:avLst/>
              <a:gdLst/>
              <a:ahLst/>
              <a:cxnLst/>
              <a:rect l="l" t="t" r="r" b="b"/>
              <a:pathLst>
                <a:path w="254659" h="269509">
                  <a:moveTo>
                    <a:pt x="135887" y="114"/>
                  </a:moveTo>
                  <a:cubicBezTo>
                    <a:pt x="137773" y="114"/>
                    <a:pt x="139645" y="114"/>
                    <a:pt x="141502" y="114"/>
                  </a:cubicBezTo>
                  <a:cubicBezTo>
                    <a:pt x="103628" y="35307"/>
                    <a:pt x="96283" y="92524"/>
                    <a:pt x="124039" y="136142"/>
                  </a:cubicBezTo>
                  <a:cubicBezTo>
                    <a:pt x="151795" y="179760"/>
                    <a:pt x="206738" y="197340"/>
                    <a:pt x="254659" y="177937"/>
                  </a:cubicBezTo>
                  <a:cubicBezTo>
                    <a:pt x="229903" y="237503"/>
                    <a:pt x="164845" y="269509"/>
                    <a:pt x="102549" y="252770"/>
                  </a:cubicBezTo>
                  <a:cubicBezTo>
                    <a:pt x="40253" y="236030"/>
                    <a:pt x="0" y="175726"/>
                    <a:pt x="8435" y="111774"/>
                  </a:cubicBezTo>
                  <a:cubicBezTo>
                    <a:pt x="16869" y="47821"/>
                    <a:pt x="71381" y="16"/>
                    <a:pt x="135887" y="0"/>
                  </a:cubicBezTo>
                  <a:lnTo>
                    <a:pt x="135887" y="114"/>
                  </a:lnTo>
                </a:path>
              </a:pathLst>
            </a:custGeom>
            <a:noFill/>
            <a:ln w="28575">
              <a:solidFill>
                <a:srgbClr val="E74C3C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610856" y="4800600"/>
              <a:ext cx="24858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плохой сон и тревога</a:t>
              </a:r>
            </a:p>
          </p:txBody>
        </p:sp>
      </p:grpSp>
      <p:grpSp>
        <p:nvGrpSpPr>
          <p:cNvPr id="70" name="p13-note"/>
          <p:cNvGrpSpPr/>
          <p:nvPr/>
        </p:nvGrpSpPr>
        <p:grpSpPr>
          <a:xfrm>
            <a:off x="762000" y="5810250"/>
            <a:ext cx="10668000" cy="666750"/>
            <a:chOff x="762000" y="5810250"/>
            <a:chExt cx="10668000" cy="666750"/>
          </a:xfrm>
        </p:grpSpPr>
        <p:sp>
          <p:nvSpPr>
            <p:cNvPr id="67" name="Rectangle 67"/>
            <p:cNvSpPr/>
            <p:nvPr/>
          </p:nvSpPr>
          <p:spPr>
            <a:xfrm>
              <a:off x="762000" y="5810250"/>
              <a:ext cx="10668000" cy="666750"/>
            </a:xfrm>
            <a:prstGeom prst="roundRect">
              <a:avLst>
                <a:gd name="adj" fmla="val 20000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1038225" y="6016625"/>
              <a:ext cx="269876" cy="254001"/>
            </a:xfrm>
            <a:custGeom>
              <a:avLst/>
              <a:gdLst/>
              <a:ahLst/>
              <a:cxnLst/>
              <a:rect l="l" t="t" r="r" b="b"/>
              <a:pathLst>
                <a:path w="269876" h="254001">
                  <a:moveTo>
                    <a:pt x="206375" y="222250"/>
                  </a:moveTo>
                  <a:cubicBezTo>
                    <a:pt x="223910" y="222250"/>
                    <a:pt x="238125" y="236465"/>
                    <a:pt x="238125" y="254001"/>
                  </a:cubicBezTo>
                  <a:cubicBezTo>
                    <a:pt x="238125" y="236465"/>
                    <a:pt x="252340" y="222250"/>
                    <a:pt x="269876" y="222250"/>
                  </a:cubicBezTo>
                  <a:cubicBezTo>
                    <a:pt x="252340" y="222250"/>
                    <a:pt x="238125" y="208035"/>
                    <a:pt x="238125" y="190500"/>
                  </a:cubicBezTo>
                  <a:cubicBezTo>
                    <a:pt x="238125" y="208035"/>
                    <a:pt x="223910" y="222250"/>
                    <a:pt x="206375" y="222250"/>
                  </a:cubicBezTo>
                  <a:moveTo>
                    <a:pt x="206375" y="31750"/>
                  </a:moveTo>
                  <a:cubicBezTo>
                    <a:pt x="223910" y="31750"/>
                    <a:pt x="238125" y="45965"/>
                    <a:pt x="238125" y="63500"/>
                  </a:cubicBezTo>
                  <a:cubicBezTo>
                    <a:pt x="238125" y="45965"/>
                    <a:pt x="252340" y="31750"/>
                    <a:pt x="269876" y="31750"/>
                  </a:cubicBezTo>
                  <a:cubicBezTo>
                    <a:pt x="252340" y="31750"/>
                    <a:pt x="238125" y="17535"/>
                    <a:pt x="238125" y="0"/>
                  </a:cubicBezTo>
                  <a:cubicBezTo>
                    <a:pt x="238125" y="17535"/>
                    <a:pt x="223910" y="31750"/>
                    <a:pt x="206375" y="31750"/>
                  </a:cubicBezTo>
                  <a:moveTo>
                    <a:pt x="95250" y="222250"/>
                  </a:moveTo>
                  <a:cubicBezTo>
                    <a:pt x="95250" y="169645"/>
                    <a:pt x="137895" y="127000"/>
                    <a:pt x="190500" y="127000"/>
                  </a:cubicBezTo>
                  <a:cubicBezTo>
                    <a:pt x="137895" y="127000"/>
                    <a:pt x="95250" y="84355"/>
                    <a:pt x="95250" y="31750"/>
                  </a:cubicBezTo>
                  <a:cubicBezTo>
                    <a:pt x="95250" y="84355"/>
                    <a:pt x="52605" y="127000"/>
                    <a:pt x="0" y="127000"/>
                  </a:cubicBezTo>
                  <a:cubicBezTo>
                    <a:pt x="52605" y="127000"/>
                    <a:pt x="95250" y="169645"/>
                    <a:pt x="95250" y="222250"/>
                  </a:cubicBezTo>
                </a:path>
              </a:pathLst>
            </a:custGeom>
            <a:noFill/>
            <a:ln w="31750">
              <a:solidFill>
                <a:srgbClr val="27AE60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514856" y="6000750"/>
              <a:ext cx="90269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Осознанное потребление контента и цифровой детокс повышают благополучие</a:t>
              </a:r>
            </a:p>
          </p:txBody>
        </p:sp>
      </p:grpSp>
      <p:pic>
        <p:nvPicPr>
          <p:cNvPr id="71" name="PPT Master narration: narration14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4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6" fill="hold" display="0">
                  <p:stCondLst>
                    <p:cond delay="300"/>
                  </p:stCondLst>
                </p:cTn>
                <p:tgtEl>
                  <p:spTgt spid="71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4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4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4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27AE60"/>
          </a:solidFill>
          <a:ln>
            <a:noFill/>
          </a:ln>
        </p:spPr>
      </p:sp>
      <p:sp>
        <p:nvSpPr>
          <p:cNvPr id="5" name="p14-foot"/>
          <p:cNvSpPr txBox="1"/>
          <p:nvPr/>
        </p:nvSpPr>
        <p:spPr>
          <a:xfrm>
            <a:off x="752856" y="6343650"/>
            <a:ext cx="307869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4-num"/>
          <p:cNvSpPr txBox="1"/>
          <p:nvPr/>
        </p:nvSpPr>
        <p:spPr>
          <a:xfrm>
            <a:off x="11151304" y="6343650"/>
            <a:ext cx="28784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80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  <p:grpSp>
        <p:nvGrpSpPr>
          <p:cNvPr id="8" name="p14-title"/>
          <p:cNvGrpSpPr/>
          <p:nvPr/>
        </p:nvGrpSpPr>
        <p:grpSpPr>
          <a:xfrm>
            <a:off x="743712" y="565150"/>
            <a:ext cx="5495330" cy="704088"/>
            <a:chOff x="743712" y="565150"/>
            <a:chExt cx="5495330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549533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Шесть шагов к счастью</a:t>
              </a:r>
            </a:p>
          </p:txBody>
        </p:sp>
      </p:grpSp>
      <p:grpSp>
        <p:nvGrpSpPr>
          <p:cNvPr id="61" name="p14-checklist"/>
          <p:cNvGrpSpPr/>
          <p:nvPr/>
        </p:nvGrpSpPr>
        <p:grpSpPr>
          <a:xfrm>
            <a:off x="762000" y="1809750"/>
            <a:ext cx="10858500" cy="4095750"/>
            <a:chOff x="762000" y="1809750"/>
            <a:chExt cx="10858500" cy="4095750"/>
          </a:xfrm>
        </p:grpSpPr>
        <p:grpSp>
          <p:nvGrpSpPr>
            <p:cNvPr id="14" name="p14-s1"/>
            <p:cNvGrpSpPr/>
            <p:nvPr/>
          </p:nvGrpSpPr>
          <p:grpSpPr>
            <a:xfrm>
              <a:off x="762000" y="1809750"/>
              <a:ext cx="3429000" cy="1905000"/>
              <a:chOff x="762000" y="1809750"/>
              <a:chExt cx="3429000" cy="1905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762000" y="1809750"/>
                <a:ext cx="342900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36941" y="2160870"/>
                <a:ext cx="326102" cy="283879"/>
              </a:xfrm>
              <a:custGeom>
                <a:avLst/>
                <a:gdLst/>
                <a:ahLst/>
                <a:cxnLst/>
                <a:rect l="l" t="t" r="r" b="b"/>
                <a:pathLst>
                  <a:path w="326102" h="283879">
                    <a:moveTo>
                      <a:pt x="294177" y="154168"/>
                    </a:moveTo>
                    <a:lnTo>
                      <a:pt x="163209" y="283879"/>
                    </a:lnTo>
                    <a:lnTo>
                      <a:pt x="32240" y="154168"/>
                    </a:lnTo>
                    <a:cubicBezTo>
                      <a:pt x="8689" y="131250"/>
                      <a:pt x="0" y="97049"/>
                      <a:pt x="9757" y="65669"/>
                    </a:cubicBezTo>
                    <a:cubicBezTo>
                      <a:pt x="19514" y="34289"/>
                      <a:pt x="46065" y="11045"/>
                      <a:pt x="78459" y="5522"/>
                    </a:cubicBezTo>
                    <a:cubicBezTo>
                      <a:pt x="110854" y="0"/>
                      <a:pt x="143606" y="13135"/>
                      <a:pt x="163209" y="39510"/>
                    </a:cubicBezTo>
                    <a:cubicBezTo>
                      <a:pt x="182894" y="13330"/>
                      <a:pt x="215576" y="369"/>
                      <a:pt x="247853" y="5944"/>
                    </a:cubicBezTo>
                    <a:cubicBezTo>
                      <a:pt x="280130" y="11518"/>
                      <a:pt x="306573" y="34688"/>
                      <a:pt x="316337" y="65954"/>
                    </a:cubicBezTo>
                    <a:cubicBezTo>
                      <a:pt x="326102" y="97220"/>
                      <a:pt x="317546" y="131320"/>
                      <a:pt x="294177" y="154273"/>
                    </a:cubicBezTo>
                  </a:path>
                </a:pathLst>
              </a:custGeom>
              <a:noFill/>
              <a:ln w="34925">
                <a:solidFill>
                  <a:srgbClr val="27AE60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514856" y="2171700"/>
                <a:ext cx="170545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Инвестируйте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82218" y="2844800"/>
                <a:ext cx="130014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в отношения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2218" y="3149600"/>
                <a:ext cx="185052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они важнее денег</a:t>
                </a:r>
              </a:p>
            </p:txBody>
          </p:sp>
        </p:grpSp>
        <p:grpSp>
          <p:nvGrpSpPr>
            <p:cNvPr id="23" name="p14-s2"/>
            <p:cNvGrpSpPr/>
            <p:nvPr/>
          </p:nvGrpSpPr>
          <p:grpSpPr>
            <a:xfrm>
              <a:off x="4476750" y="1809750"/>
              <a:ext cx="3429000" cy="1905000"/>
              <a:chOff x="4476750" y="1809750"/>
              <a:chExt cx="3429000" cy="19050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4476750" y="1809750"/>
                <a:ext cx="342900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19" name="Group 19"/>
              <p:cNvGrpSpPr/>
              <p:nvPr/>
            </p:nvGrpSpPr>
            <p:grpSpPr>
              <a:xfrm>
                <a:off x="4792662" y="2165350"/>
                <a:ext cx="244475" cy="314324"/>
                <a:chOff x="4792662" y="2165350"/>
                <a:chExt cx="244475" cy="314324"/>
              </a:xfrm>
            </p:grpSpPr>
            <p:sp>
              <p:nvSpPr>
                <p:cNvPr id="16" name="Freeform 16"/>
                <p:cNvSpPr/>
                <p:nvPr/>
              </p:nvSpPr>
              <p:spPr>
                <a:xfrm>
                  <a:off x="4792662" y="2165350"/>
                  <a:ext cx="244475" cy="314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475" h="314324">
                      <a:moveTo>
                        <a:pt x="17462" y="0"/>
                      </a:moveTo>
                      <a:lnTo>
                        <a:pt x="209550" y="0"/>
                      </a:lnTo>
                      <a:cubicBezTo>
                        <a:pt x="228838" y="0"/>
                        <a:pt x="244475" y="15636"/>
                        <a:pt x="244475" y="34925"/>
                      </a:cubicBezTo>
                      <a:lnTo>
                        <a:pt x="244475" y="244475"/>
                      </a:lnTo>
                      <a:cubicBezTo>
                        <a:pt x="244475" y="263763"/>
                        <a:pt x="228838" y="279399"/>
                        <a:pt x="209550" y="279399"/>
                      </a:cubicBezTo>
                      <a:lnTo>
                        <a:pt x="17462" y="279399"/>
                      </a:lnTo>
                      <a:cubicBezTo>
                        <a:pt x="7818" y="279399"/>
                        <a:pt x="0" y="271581"/>
                        <a:pt x="0" y="261937"/>
                      </a:cubicBezTo>
                      <a:lnTo>
                        <a:pt x="0" y="17462"/>
                      </a:lnTo>
                      <a:cubicBezTo>
                        <a:pt x="0" y="7818"/>
                        <a:pt x="7818" y="0"/>
                        <a:pt x="17462" y="0"/>
                      </a:cubicBezTo>
                      <a:moveTo>
                        <a:pt x="69850" y="0"/>
                      </a:moveTo>
                      <a:lnTo>
                        <a:pt x="69850" y="314324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4932362" y="2235200"/>
                  <a:ext cx="34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9525">
                      <a:moveTo>
                        <a:pt x="0" y="0"/>
                      </a:moveTo>
                      <a:lnTo>
                        <a:pt x="34925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18" name="Freeform 18"/>
                <p:cNvSpPr/>
                <p:nvPr/>
              </p:nvSpPr>
              <p:spPr>
                <a:xfrm>
                  <a:off x="4932362" y="2305050"/>
                  <a:ext cx="34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9525">
                      <a:moveTo>
                        <a:pt x="0" y="0"/>
                      </a:moveTo>
                      <a:lnTo>
                        <a:pt x="34925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20" name="TextBox 20"/>
              <p:cNvSpPr txBox="1"/>
              <p:nvPr/>
            </p:nvSpPr>
            <p:spPr>
              <a:xfrm>
                <a:off x="5229606" y="2171700"/>
                <a:ext cx="15655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Практикуйте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696968" y="2844800"/>
                <a:ext cx="160494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благодарность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696968" y="3149600"/>
                <a:ext cx="130014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каждый день</a:t>
                </a:r>
              </a:p>
            </p:txBody>
          </p:sp>
        </p:grpSp>
        <p:grpSp>
          <p:nvGrpSpPr>
            <p:cNvPr id="33" name="p14-s3"/>
            <p:cNvGrpSpPr/>
            <p:nvPr/>
          </p:nvGrpSpPr>
          <p:grpSpPr>
            <a:xfrm>
              <a:off x="8191500" y="1809750"/>
              <a:ext cx="3429000" cy="1905000"/>
              <a:chOff x="8191500" y="1809750"/>
              <a:chExt cx="3429000" cy="19050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8191500" y="1809750"/>
                <a:ext cx="342900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8489950" y="2147887"/>
                <a:ext cx="244474" cy="314325"/>
                <a:chOff x="8489950" y="2147887"/>
                <a:chExt cx="244474" cy="314325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8612309" y="2147887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3"/>
                        <a:pt x="15636" y="69850"/>
                        <a:pt x="34925" y="69850"/>
                      </a:cubicBezTo>
                      <a:cubicBezTo>
                        <a:pt x="54213" y="69850"/>
                        <a:pt x="69850" y="54213"/>
                        <a:pt x="69850" y="34925"/>
                      </a:cubicBezTo>
                      <a:cubicBezTo>
                        <a:pt x="69850" y="15636"/>
                        <a:pt x="54213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8489950" y="2383631"/>
                  <a:ext cx="100409" cy="26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409" h="26194">
                      <a:moveTo>
                        <a:pt x="0" y="8731"/>
                      </a:moveTo>
                      <a:lnTo>
                        <a:pt x="87312" y="26194"/>
                      </a:lnTo>
                      <a:lnTo>
                        <a:pt x="100409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8612187" y="2235200"/>
                  <a:ext cx="69850" cy="227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227012">
                      <a:moveTo>
                        <a:pt x="69850" y="227012"/>
                      </a:moveTo>
                      <a:lnTo>
                        <a:pt x="69850" y="157162"/>
                      </a:lnTo>
                      <a:lnTo>
                        <a:pt x="0" y="104775"/>
                      </a:lnTo>
                      <a:lnTo>
                        <a:pt x="17462" y="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8542337" y="2235200"/>
                  <a:ext cx="192087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087" h="69850">
                      <a:moveTo>
                        <a:pt x="0" y="69850"/>
                      </a:moveTo>
                      <a:lnTo>
                        <a:pt x="0" y="17462"/>
                      </a:lnTo>
                      <a:lnTo>
                        <a:pt x="87312" y="0"/>
                      </a:lnTo>
                      <a:lnTo>
                        <a:pt x="139700" y="52387"/>
                      </a:lnTo>
                      <a:lnTo>
                        <a:pt x="192087" y="69850"/>
                      </a:lnTo>
                    </a:path>
                  </a:pathLst>
                </a:custGeom>
                <a:noFill/>
                <a:ln w="34925">
                  <a:solidFill>
                    <a:srgbClr val="27AE60"/>
                  </a:solidFill>
                </a:ln>
              </p:spPr>
            </p:sp>
          </p:grpSp>
          <p:sp>
            <p:nvSpPr>
              <p:cNvPr id="30" name="TextBox 30"/>
              <p:cNvSpPr txBox="1"/>
              <p:nvPr/>
            </p:nvSpPr>
            <p:spPr>
              <a:xfrm>
                <a:off x="8944356" y="2171700"/>
                <a:ext cx="15655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Занимайтесь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411718" y="2844800"/>
                <a:ext cx="871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спортом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411718" y="3149600"/>
                <a:ext cx="22787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бывайте на воздухе</a:t>
                </a:r>
              </a:p>
            </p:txBody>
          </p:sp>
        </p:grpSp>
        <p:grpSp>
          <p:nvGrpSpPr>
            <p:cNvPr id="41" name="p14-s4"/>
            <p:cNvGrpSpPr/>
            <p:nvPr/>
          </p:nvGrpSpPr>
          <p:grpSpPr>
            <a:xfrm>
              <a:off x="762000" y="4000500"/>
              <a:ext cx="3429000" cy="1905000"/>
              <a:chOff x="762000" y="4000500"/>
              <a:chExt cx="3429000" cy="19050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762000" y="4000500"/>
                <a:ext cx="342900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1035584" y="4321175"/>
                <a:ext cx="329119" cy="349249"/>
                <a:chOff x="1035584" y="4321175"/>
                <a:chExt cx="329119" cy="349249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1147762" y="4443412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52387"/>
                      </a:moveTo>
                      <a:cubicBezTo>
                        <a:pt x="0" y="81320"/>
                        <a:pt x="23455" y="104775"/>
                        <a:pt x="52387" y="104775"/>
                      </a:cubicBezTo>
                      <a:cubicBezTo>
                        <a:pt x="81320" y="104775"/>
                        <a:pt x="104775" y="81320"/>
                        <a:pt x="104775" y="52387"/>
                      </a:cubicBezTo>
                      <a:cubicBezTo>
                        <a:pt x="104775" y="23455"/>
                        <a:pt x="81320" y="0"/>
                        <a:pt x="52387" y="0"/>
                      </a:cubicBezTo>
                      <a:cubicBezTo>
                        <a:pt x="23455" y="0"/>
                        <a:pt x="0" y="23455"/>
                        <a:pt x="0" y="52387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1035584" y="4321175"/>
                  <a:ext cx="329119" cy="3492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119" h="349249">
                      <a:moveTo>
                        <a:pt x="164565" y="0"/>
                      </a:moveTo>
                      <a:cubicBezTo>
                        <a:pt x="193498" y="0"/>
                        <a:pt x="216953" y="23455"/>
                        <a:pt x="216953" y="52387"/>
                      </a:cubicBezTo>
                      <a:cubicBezTo>
                        <a:pt x="216953" y="62201"/>
                        <a:pt x="212430" y="77568"/>
                        <a:pt x="203402" y="98488"/>
                      </a:cubicBezTo>
                      <a:lnTo>
                        <a:pt x="190759" y="122237"/>
                      </a:lnTo>
                      <a:lnTo>
                        <a:pt x="221493" y="89181"/>
                      </a:lnTo>
                      <a:cubicBezTo>
                        <a:pt x="230207" y="78703"/>
                        <a:pt x="237593" y="71718"/>
                        <a:pt x="243670" y="68139"/>
                      </a:cubicBezTo>
                      <a:cubicBezTo>
                        <a:pt x="255626" y="61197"/>
                        <a:pt x="269859" y="59319"/>
                        <a:pt x="283206" y="62923"/>
                      </a:cubicBezTo>
                      <a:cubicBezTo>
                        <a:pt x="296552" y="66527"/>
                        <a:pt x="307906" y="75314"/>
                        <a:pt x="314743" y="87330"/>
                      </a:cubicBezTo>
                      <a:cubicBezTo>
                        <a:pt x="329119" y="112364"/>
                        <a:pt x="320622" y="144307"/>
                        <a:pt x="295708" y="158891"/>
                      </a:cubicBezTo>
                      <a:cubicBezTo>
                        <a:pt x="289178" y="162680"/>
                        <a:pt x="278421" y="165806"/>
                        <a:pt x="263473" y="168233"/>
                      </a:cubicBezTo>
                      <a:lnTo>
                        <a:pt x="216953" y="174625"/>
                      </a:lnTo>
                      <a:lnTo>
                        <a:pt x="258863" y="180317"/>
                      </a:lnTo>
                      <a:cubicBezTo>
                        <a:pt x="276325" y="182850"/>
                        <a:pt x="288514" y="186202"/>
                        <a:pt x="295708" y="190376"/>
                      </a:cubicBezTo>
                      <a:cubicBezTo>
                        <a:pt x="320622" y="204959"/>
                        <a:pt x="329119" y="236903"/>
                        <a:pt x="314743" y="261937"/>
                      </a:cubicBezTo>
                      <a:cubicBezTo>
                        <a:pt x="307903" y="273950"/>
                        <a:pt x="296548" y="282733"/>
                        <a:pt x="283202" y="286334"/>
                      </a:cubicBezTo>
                      <a:cubicBezTo>
                        <a:pt x="269855" y="289934"/>
                        <a:pt x="255624" y="288054"/>
                        <a:pt x="243670" y="281111"/>
                      </a:cubicBezTo>
                      <a:cubicBezTo>
                        <a:pt x="237593" y="277583"/>
                        <a:pt x="230207" y="270563"/>
                        <a:pt x="221493" y="260069"/>
                      </a:cubicBezTo>
                      <a:lnTo>
                        <a:pt x="190759" y="227012"/>
                      </a:lnTo>
                      <a:lnTo>
                        <a:pt x="203402" y="250761"/>
                      </a:lnTo>
                      <a:cubicBezTo>
                        <a:pt x="212412" y="271699"/>
                        <a:pt x="216953" y="287066"/>
                        <a:pt x="216953" y="296862"/>
                      </a:cubicBezTo>
                      <a:cubicBezTo>
                        <a:pt x="216953" y="325795"/>
                        <a:pt x="193498" y="349249"/>
                        <a:pt x="164565" y="349249"/>
                      </a:cubicBezTo>
                      <a:cubicBezTo>
                        <a:pt x="135633" y="349249"/>
                        <a:pt x="112178" y="325795"/>
                        <a:pt x="112178" y="296862"/>
                      </a:cubicBezTo>
                      <a:cubicBezTo>
                        <a:pt x="112178" y="287048"/>
                        <a:pt x="116701" y="271681"/>
                        <a:pt x="125729" y="250761"/>
                      </a:cubicBezTo>
                      <a:lnTo>
                        <a:pt x="138372" y="227012"/>
                      </a:lnTo>
                      <a:lnTo>
                        <a:pt x="107638" y="260069"/>
                      </a:lnTo>
                      <a:cubicBezTo>
                        <a:pt x="98924" y="270563"/>
                        <a:pt x="91537" y="277531"/>
                        <a:pt x="85460" y="281111"/>
                      </a:cubicBezTo>
                      <a:cubicBezTo>
                        <a:pt x="73507" y="288054"/>
                        <a:pt x="59275" y="289934"/>
                        <a:pt x="45929" y="286334"/>
                      </a:cubicBezTo>
                      <a:cubicBezTo>
                        <a:pt x="32583" y="282733"/>
                        <a:pt x="21228" y="273950"/>
                        <a:pt x="14388" y="261937"/>
                      </a:cubicBezTo>
                      <a:cubicBezTo>
                        <a:pt x="12" y="236903"/>
                        <a:pt x="8508" y="204959"/>
                        <a:pt x="33422" y="190376"/>
                      </a:cubicBezTo>
                      <a:cubicBezTo>
                        <a:pt x="39953" y="186569"/>
                        <a:pt x="50710" y="183461"/>
                        <a:pt x="65658" y="181016"/>
                      </a:cubicBezTo>
                      <a:lnTo>
                        <a:pt x="112178" y="174625"/>
                      </a:lnTo>
                      <a:lnTo>
                        <a:pt x="70268" y="168949"/>
                      </a:lnTo>
                      <a:cubicBezTo>
                        <a:pt x="52806" y="166417"/>
                        <a:pt x="40617" y="163065"/>
                        <a:pt x="33422" y="158891"/>
                      </a:cubicBezTo>
                      <a:cubicBezTo>
                        <a:pt x="8498" y="144307"/>
                        <a:pt x="0" y="112350"/>
                        <a:pt x="14388" y="87312"/>
                      </a:cubicBezTo>
                      <a:cubicBezTo>
                        <a:pt x="21225" y="75296"/>
                        <a:pt x="32578" y="66510"/>
                        <a:pt x="45925" y="62906"/>
                      </a:cubicBezTo>
                      <a:cubicBezTo>
                        <a:pt x="59272" y="59302"/>
                        <a:pt x="73505" y="61179"/>
                        <a:pt x="85460" y="68121"/>
                      </a:cubicBezTo>
                      <a:cubicBezTo>
                        <a:pt x="91537" y="71666"/>
                        <a:pt x="98924" y="78668"/>
                        <a:pt x="107638" y="89163"/>
                      </a:cubicBezTo>
                      <a:lnTo>
                        <a:pt x="138372" y="122237"/>
                      </a:lnTo>
                      <a:cubicBezTo>
                        <a:pt x="120909" y="82213"/>
                        <a:pt x="112178" y="58936"/>
                        <a:pt x="112178" y="52387"/>
                      </a:cubicBezTo>
                      <a:cubicBezTo>
                        <a:pt x="112178" y="23455"/>
                        <a:pt x="135633" y="0"/>
                        <a:pt x="164565" y="0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1514856" y="4362450"/>
                <a:ext cx="15655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Медитируйте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82218" y="5035550"/>
                <a:ext cx="14827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осознанность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82218" y="5340350"/>
                <a:ext cx="166664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снижает стресс</a:t>
                </a:r>
              </a:p>
            </p:txBody>
          </p:sp>
        </p:grpSp>
        <p:grpSp>
          <p:nvGrpSpPr>
            <p:cNvPr id="50" name="p14-s5"/>
            <p:cNvGrpSpPr/>
            <p:nvPr/>
          </p:nvGrpSpPr>
          <p:grpSpPr>
            <a:xfrm>
              <a:off x="4476750" y="4000500"/>
              <a:ext cx="3429000" cy="1905000"/>
              <a:chOff x="4476750" y="4000500"/>
              <a:chExt cx="3429000" cy="19050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4476750" y="4000500"/>
                <a:ext cx="342900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4810125" y="4338637"/>
                <a:ext cx="209550" cy="314324"/>
                <a:chOff x="4810125" y="4338637"/>
                <a:chExt cx="209550" cy="314324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4810125" y="4338637"/>
                  <a:ext cx="209550" cy="3143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314324">
                      <a:moveTo>
                        <a:pt x="0" y="34925"/>
                      </a:moveTo>
                      <a:cubicBezTo>
                        <a:pt x="0" y="15636"/>
                        <a:pt x="15636" y="0"/>
                        <a:pt x="34925" y="0"/>
                      </a:cubicBezTo>
                      <a:lnTo>
                        <a:pt x="174625" y="0"/>
                      </a:lnTo>
                      <a:cubicBezTo>
                        <a:pt x="193913" y="0"/>
                        <a:pt x="209550" y="15636"/>
                        <a:pt x="209550" y="34925"/>
                      </a:cubicBezTo>
                      <a:lnTo>
                        <a:pt x="209550" y="279399"/>
                      </a:lnTo>
                      <a:cubicBezTo>
                        <a:pt x="209550" y="298688"/>
                        <a:pt x="193913" y="314324"/>
                        <a:pt x="174625" y="314324"/>
                      </a:cubicBezTo>
                      <a:lnTo>
                        <a:pt x="34925" y="314324"/>
                      </a:lnTo>
                      <a:cubicBezTo>
                        <a:pt x="15636" y="314324"/>
                        <a:pt x="0" y="298688"/>
                        <a:pt x="0" y="279399"/>
                      </a:cubicBezTo>
                      <a:lnTo>
                        <a:pt x="0" y="34925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4897437" y="4356100"/>
                  <a:ext cx="34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9525">
                      <a:moveTo>
                        <a:pt x="0" y="0"/>
                      </a:moveTo>
                      <a:lnTo>
                        <a:pt x="34925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4914900" y="4583112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75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229606" y="4362450"/>
                <a:ext cx="1425584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Ограничьте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696968" y="5035550"/>
                <a:ext cx="871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соцсети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4696968" y="5340350"/>
                <a:ext cx="17888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цифровой детокс</a:t>
                </a:r>
              </a:p>
            </p:txBody>
          </p:sp>
        </p:grpSp>
        <p:grpSp>
          <p:nvGrpSpPr>
            <p:cNvPr id="60" name="p14-s6"/>
            <p:cNvGrpSpPr/>
            <p:nvPr/>
          </p:nvGrpSpPr>
          <p:grpSpPr>
            <a:xfrm>
              <a:off x="8191500" y="4000500"/>
              <a:ext cx="3429000" cy="1905000"/>
              <a:chOff x="8191500" y="4000500"/>
              <a:chExt cx="3429000" cy="1905000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8191500" y="4000500"/>
                <a:ext cx="3429000" cy="1905000"/>
              </a:xfrm>
              <a:prstGeom prst="roundRect">
                <a:avLst>
                  <a:gd name="adj" fmla="val 8000"/>
                </a:avLst>
              </a:prstGeom>
              <a:solidFill>
                <a:srgbClr val="FFFFFF">
                  <a:alpha val="85000"/>
                </a:srgbClr>
              </a:solidFill>
              <a:ln>
                <a:noFill/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8455025" y="4408487"/>
                <a:ext cx="349250" cy="174625"/>
                <a:chOff x="8455025" y="4408487"/>
                <a:chExt cx="349250" cy="174625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8507412" y="4408487"/>
                  <a:ext cx="69850" cy="6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69850">
                      <a:moveTo>
                        <a:pt x="0" y="34925"/>
                      </a:moveTo>
                      <a:cubicBezTo>
                        <a:pt x="0" y="54213"/>
                        <a:pt x="15636" y="69850"/>
                        <a:pt x="34925" y="69850"/>
                      </a:cubicBezTo>
                      <a:cubicBezTo>
                        <a:pt x="54213" y="69850"/>
                        <a:pt x="69850" y="54213"/>
                        <a:pt x="69850" y="34925"/>
                      </a:cubicBezTo>
                      <a:cubicBezTo>
                        <a:pt x="69850" y="15636"/>
                        <a:pt x="54213" y="0"/>
                        <a:pt x="34925" y="0"/>
                      </a:cubicBezTo>
                      <a:cubicBezTo>
                        <a:pt x="15636" y="0"/>
                        <a:pt x="0" y="15636"/>
                        <a:pt x="0" y="34925"/>
                      </a:cubicBez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8455025" y="4530725"/>
                  <a:ext cx="349249" cy="523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49" h="52387">
                      <a:moveTo>
                        <a:pt x="349249" y="52387"/>
                      </a:moveTo>
                      <a:lnTo>
                        <a:pt x="34924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8455025" y="4425950"/>
                  <a:ext cx="952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7162">
                      <a:moveTo>
                        <a:pt x="0" y="0"/>
                      </a:moveTo>
                      <a:lnTo>
                        <a:pt x="0" y="157162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8629650" y="4443412"/>
                  <a:ext cx="174625" cy="87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4625" h="87312">
                      <a:moveTo>
                        <a:pt x="0" y="87312"/>
                      </a:moveTo>
                      <a:lnTo>
                        <a:pt x="174625" y="87312"/>
                      </a:lnTo>
                      <a:lnTo>
                        <a:pt x="174625" y="52387"/>
                      </a:lnTo>
                      <a:cubicBezTo>
                        <a:pt x="174625" y="23455"/>
                        <a:pt x="151170" y="0"/>
                        <a:pt x="122237" y="0"/>
                      </a:cubicBezTo>
                      <a:lnTo>
                        <a:pt x="0" y="0"/>
                      </a:lnTo>
                      <a:lnTo>
                        <a:pt x="0" y="87312"/>
                      </a:lnTo>
                    </a:path>
                  </a:pathLst>
                </a:custGeom>
                <a:noFill/>
                <a:ln w="34925">
                  <a:solidFill>
                    <a:srgbClr val="E67E22"/>
                  </a:solidFill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8944356" y="4362450"/>
                <a:ext cx="72589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Спите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411718" y="5035550"/>
                <a:ext cx="1238440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достаточно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411718" y="5340350"/>
                <a:ext cx="1059942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7–8 часов</a:t>
                </a:r>
              </a:p>
            </p:txBody>
          </p:sp>
        </p:grpSp>
      </p:grpSp>
      <p:sp>
        <p:nvSpPr>
          <p:cNvPr id="62" name="credit"/>
          <p:cNvSpPr txBox="1"/>
          <p:nvPr/>
        </p:nvSpPr>
        <p:spPr>
          <a:xfrm>
            <a:off x="753618" y="6578600"/>
            <a:ext cx="371736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7F8C8D"/>
                </a:solidFill>
                <a:latin typeface="+mn-lt"/>
                <a:ea typeface="+mn-ea"/>
                <a:cs typeface="+mn-cs"/>
              </a:rPr>
              <a:t>© Rick Obst / Wikimedia / CC BY 2.0</a:t>
            </a:r>
          </a:p>
        </p:txBody>
      </p:sp>
      <p:pic>
        <p:nvPicPr>
          <p:cNvPr id="63" name="PPT Master narration: narration15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63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6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6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88000"/>
                </a:srgbClr>
              </a:gs>
              <a:gs pos="100000">
                <a:srgbClr val="F5E6D3">
                  <a:alpha val="88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6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p16-foot"/>
          <p:cNvSpPr txBox="1"/>
          <p:nvPr/>
        </p:nvSpPr>
        <p:spPr>
          <a:xfrm>
            <a:off x="753618" y="6464300"/>
            <a:ext cx="282214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6-num"/>
          <p:cNvSpPr txBox="1"/>
          <p:nvPr/>
        </p:nvSpPr>
        <p:spPr>
          <a:xfrm>
            <a:off x="11174528" y="646430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  <p:grpSp>
        <p:nvGrpSpPr>
          <p:cNvPr id="8" name="p16-title"/>
          <p:cNvGrpSpPr/>
          <p:nvPr/>
        </p:nvGrpSpPr>
        <p:grpSpPr>
          <a:xfrm>
            <a:off x="743712" y="508000"/>
            <a:ext cx="7178150" cy="704088"/>
            <a:chOff x="743712" y="508000"/>
            <a:chExt cx="7178150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08000"/>
              <a:ext cx="717815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Счастье = осознанные усилия</a:t>
              </a:r>
            </a:p>
          </p:txBody>
        </p:sp>
      </p:grpSp>
      <p:grpSp>
        <p:nvGrpSpPr>
          <p:cNvPr id="57" name="p16-puzzle"/>
          <p:cNvGrpSpPr/>
          <p:nvPr/>
        </p:nvGrpSpPr>
        <p:grpSpPr>
          <a:xfrm>
            <a:off x="1333500" y="1428750"/>
            <a:ext cx="9525000" cy="4572000"/>
            <a:chOff x="1333500" y="1428750"/>
            <a:chExt cx="9525000" cy="4572000"/>
          </a:xfrm>
        </p:grpSpPr>
        <p:sp>
          <p:nvSpPr>
            <p:cNvPr id="9" name="Rectangle 9"/>
            <p:cNvSpPr/>
            <p:nvPr/>
          </p:nvSpPr>
          <p:spPr>
            <a:xfrm>
              <a:off x="1333500" y="1428750"/>
              <a:ext cx="9525000" cy="4572000"/>
            </a:xfrm>
            <a:prstGeom prst="roundRect">
              <a:avLst>
                <a:gd name="adj" fmla="val 3333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05356" y="1733550"/>
              <a:ext cx="282005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Шесть главных выводов</a:t>
              </a:r>
            </a:p>
          </p:txBody>
        </p:sp>
        <p:grpSp>
          <p:nvGrpSpPr>
            <p:cNvPr id="21" name="p16-c1"/>
            <p:cNvGrpSpPr/>
            <p:nvPr/>
          </p:nvGrpSpPr>
          <p:grpSpPr>
            <a:xfrm>
              <a:off x="1714500" y="2286000"/>
              <a:ext cx="4191000" cy="1047750"/>
              <a:chOff x="1714500" y="2286000"/>
              <a:chExt cx="4191000" cy="10477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1714500" y="228600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grpSp>
            <p:nvGrpSpPr>
              <p:cNvPr id="18" name="Group 18"/>
              <p:cNvGrpSpPr/>
              <p:nvPr/>
            </p:nvGrpSpPr>
            <p:grpSpPr>
              <a:xfrm>
                <a:off x="1952625" y="2619375"/>
                <a:ext cx="285751" cy="285751"/>
                <a:chOff x="1952625" y="2619375"/>
                <a:chExt cx="285751" cy="285751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2063750" y="274637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2032000" y="2857501"/>
                  <a:ext cx="1270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00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95250" y="0"/>
                      </a:lnTo>
                      <a:cubicBezTo>
                        <a:pt x="112785" y="0"/>
                        <a:pt x="127000" y="14215"/>
                        <a:pt x="127000" y="31750"/>
                      </a:cubicBezTo>
                      <a:lnTo>
                        <a:pt x="127000" y="47625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14" name="Freeform 14"/>
                <p:cNvSpPr/>
                <p:nvPr/>
              </p:nvSpPr>
              <p:spPr>
                <a:xfrm>
                  <a:off x="2143125" y="261937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15" name="Freeform 15"/>
                <p:cNvSpPr/>
                <p:nvPr/>
              </p:nvSpPr>
              <p:spPr>
                <a:xfrm>
                  <a:off x="2174876" y="2730500"/>
                  <a:ext cx="635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47625">
                      <a:moveTo>
                        <a:pt x="0" y="0"/>
                      </a:moveTo>
                      <a:lnTo>
                        <a:pt x="31750" y="0"/>
                      </a:lnTo>
                      <a:cubicBezTo>
                        <a:pt x="49285" y="0"/>
                        <a:pt x="63500" y="14215"/>
                        <a:pt x="63500" y="31750"/>
                      </a:cubicBezTo>
                      <a:lnTo>
                        <a:pt x="63500" y="47625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984375" y="2619375"/>
                  <a:ext cx="6350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63500">
                      <a:moveTo>
                        <a:pt x="0" y="31750"/>
                      </a:moveTo>
                      <a:cubicBezTo>
                        <a:pt x="0" y="49285"/>
                        <a:pt x="14215" y="63500"/>
                        <a:pt x="31750" y="63500"/>
                      </a:cubicBezTo>
                      <a:cubicBezTo>
                        <a:pt x="49285" y="63500"/>
                        <a:pt x="63500" y="49285"/>
                        <a:pt x="63500" y="31750"/>
                      </a:cubicBezTo>
                      <a:cubicBezTo>
                        <a:pt x="63500" y="14215"/>
                        <a:pt x="49285" y="0"/>
                        <a:pt x="31750" y="0"/>
                      </a:cubicBezTo>
                      <a:cubicBezTo>
                        <a:pt x="14215" y="0"/>
                        <a:pt x="0" y="14215"/>
                        <a:pt x="0" y="31750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17" name="Freeform 17"/>
                <p:cNvSpPr/>
                <p:nvPr/>
              </p:nvSpPr>
              <p:spPr>
                <a:xfrm>
                  <a:off x="1952625" y="2730500"/>
                  <a:ext cx="6350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500" h="47625">
                      <a:moveTo>
                        <a:pt x="0" y="47625"/>
                      </a:moveTo>
                      <a:lnTo>
                        <a:pt x="0" y="31750"/>
                      </a:ln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63500" y="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</p:grpSp>
          <p:sp>
            <p:nvSpPr>
              <p:cNvPr id="19" name="TextBox 19"/>
              <p:cNvSpPr txBox="1"/>
              <p:nvPr/>
            </p:nvSpPr>
            <p:spPr>
              <a:xfrm>
                <a:off x="2734056" y="2552700"/>
                <a:ext cx="194140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Отношения — №1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734818" y="2901950"/>
                <a:ext cx="24613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близость важнее денег</a:t>
                </a:r>
              </a:p>
            </p:txBody>
          </p:sp>
        </p:grpSp>
        <p:grpSp>
          <p:nvGrpSpPr>
            <p:cNvPr id="29" name="p16-c2"/>
            <p:cNvGrpSpPr/>
            <p:nvPr/>
          </p:nvGrpSpPr>
          <p:grpSpPr>
            <a:xfrm>
              <a:off x="6286500" y="2286000"/>
              <a:ext cx="4191000" cy="1047750"/>
              <a:chOff x="6286500" y="2286000"/>
              <a:chExt cx="4191000" cy="1047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286500" y="228600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6532801" y="2627551"/>
                <a:ext cx="269399" cy="269399"/>
                <a:chOff x="6532801" y="2627551"/>
                <a:chExt cx="269399" cy="269399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6598541" y="2694228"/>
                  <a:ext cx="136982" cy="136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982" h="136982">
                      <a:moveTo>
                        <a:pt x="113854" y="112917"/>
                      </a:moveTo>
                      <a:cubicBezTo>
                        <a:pt x="130361" y="96973"/>
                        <a:pt x="136982" y="73364"/>
                        <a:pt x="131170" y="51162"/>
                      </a:cubicBezTo>
                      <a:cubicBezTo>
                        <a:pt x="125359" y="28961"/>
                        <a:pt x="108021" y="11622"/>
                        <a:pt x="85819" y="5811"/>
                      </a:cubicBezTo>
                      <a:cubicBezTo>
                        <a:pt x="63618" y="0"/>
                        <a:pt x="40008" y="6620"/>
                        <a:pt x="24065" y="23128"/>
                      </a:cubicBezTo>
                      <a:cubicBezTo>
                        <a:pt x="0" y="48044"/>
                        <a:pt x="344" y="87649"/>
                        <a:pt x="24838" y="112143"/>
                      </a:cubicBezTo>
                      <a:cubicBezTo>
                        <a:pt x="49332" y="136637"/>
                        <a:pt x="88938" y="136982"/>
                        <a:pt x="113854" y="112917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6532801" y="2782346"/>
                  <a:ext cx="114604" cy="1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604" h="114604">
                      <a:moveTo>
                        <a:pt x="89805" y="114604"/>
                      </a:moveTo>
                      <a:cubicBezTo>
                        <a:pt x="114604" y="89805"/>
                        <a:pt x="114604" y="49598"/>
                        <a:pt x="89805" y="24799"/>
                      </a:cubicBezTo>
                      <a:cubicBezTo>
                        <a:pt x="65006" y="0"/>
                        <a:pt x="24799" y="0"/>
                        <a:pt x="0" y="24799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6687596" y="2627551"/>
                  <a:ext cx="114604" cy="1146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604" h="114604">
                      <a:moveTo>
                        <a:pt x="24799" y="0"/>
                      </a:moveTo>
                      <a:cubicBezTo>
                        <a:pt x="0" y="24799"/>
                        <a:pt x="0" y="65006"/>
                        <a:pt x="24799" y="89805"/>
                      </a:cubicBezTo>
                      <a:cubicBezTo>
                        <a:pt x="49598" y="114604"/>
                        <a:pt x="89805" y="114604"/>
                        <a:pt x="114604" y="89805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</p:grpSp>
          <p:sp>
            <p:nvSpPr>
              <p:cNvPr id="27" name="TextBox 27"/>
              <p:cNvSpPr txBox="1"/>
              <p:nvPr/>
            </p:nvSpPr>
            <p:spPr>
              <a:xfrm>
                <a:off x="7306056" y="2552700"/>
                <a:ext cx="19806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Гены и действия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306818" y="2901950"/>
                <a:ext cx="185683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50% + 40% = 90%</a:t>
                </a:r>
              </a:p>
            </p:txBody>
          </p:sp>
        </p:grpSp>
        <p:grpSp>
          <p:nvGrpSpPr>
            <p:cNvPr id="36" name="p16-c3"/>
            <p:cNvGrpSpPr/>
            <p:nvPr/>
          </p:nvGrpSpPr>
          <p:grpSpPr>
            <a:xfrm>
              <a:off x="1714500" y="3524250"/>
              <a:ext cx="4191000" cy="1047750"/>
              <a:chOff x="1714500" y="3524250"/>
              <a:chExt cx="4191000" cy="10477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1714500" y="352425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1968500" y="3873500"/>
                <a:ext cx="254000" cy="254001"/>
                <a:chOff x="1968500" y="3873500"/>
                <a:chExt cx="254000" cy="254001"/>
              </a:xfrm>
            </p:grpSpPr>
            <p:sp>
              <p:nvSpPr>
                <p:cNvPr id="31" name="Freeform 31"/>
                <p:cNvSpPr/>
                <p:nvPr/>
              </p:nvSpPr>
              <p:spPr>
                <a:xfrm>
                  <a:off x="1968500" y="3873500"/>
                  <a:ext cx="238125" cy="2540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5" h="254001">
                      <a:moveTo>
                        <a:pt x="206375" y="63500"/>
                      </a:moveTo>
                      <a:lnTo>
                        <a:pt x="206375" y="15875"/>
                      </a:lnTo>
                      <a:cubicBezTo>
                        <a:pt x="206375" y="7107"/>
                        <a:pt x="199268" y="0"/>
                        <a:pt x="190500" y="0"/>
                      </a:cubicBezTo>
                      <a:lnTo>
                        <a:pt x="31750" y="0"/>
                      </a:lnTo>
                      <a:cubicBezTo>
                        <a:pt x="14215" y="0"/>
                        <a:pt x="0" y="14215"/>
                        <a:pt x="0" y="31750"/>
                      </a:cubicBezTo>
                      <a:cubicBezTo>
                        <a:pt x="0" y="49285"/>
                        <a:pt x="14215" y="63500"/>
                        <a:pt x="31750" y="63500"/>
                      </a:cubicBezTo>
                      <a:lnTo>
                        <a:pt x="222250" y="63500"/>
                      </a:lnTo>
                      <a:cubicBezTo>
                        <a:pt x="231018" y="63500"/>
                        <a:pt x="238125" y="70608"/>
                        <a:pt x="238125" y="79375"/>
                      </a:cubicBezTo>
                      <a:lnTo>
                        <a:pt x="238125" y="127000"/>
                      </a:lnTo>
                      <a:moveTo>
                        <a:pt x="238125" y="190500"/>
                      </a:moveTo>
                      <a:lnTo>
                        <a:pt x="238125" y="238125"/>
                      </a:lnTo>
                      <a:cubicBezTo>
                        <a:pt x="238125" y="246893"/>
                        <a:pt x="231018" y="254001"/>
                        <a:pt x="222250" y="254001"/>
                      </a:cubicBezTo>
                      <a:lnTo>
                        <a:pt x="31750" y="254001"/>
                      </a:lnTo>
                      <a:cubicBezTo>
                        <a:pt x="14215" y="254001"/>
                        <a:pt x="0" y="239786"/>
                        <a:pt x="0" y="222250"/>
                      </a:cubicBezTo>
                      <a:lnTo>
                        <a:pt x="0" y="3175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2127250" y="4000500"/>
                  <a:ext cx="9525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63500">
                      <a:moveTo>
                        <a:pt x="95250" y="0"/>
                      </a:moveTo>
                      <a:lnTo>
                        <a:pt x="95250" y="63500"/>
                      </a:lnTo>
                      <a:lnTo>
                        <a:pt x="31750" y="63500"/>
                      </a:lnTo>
                      <a:cubicBezTo>
                        <a:pt x="14215" y="63500"/>
                        <a:pt x="0" y="49285"/>
                        <a:pt x="0" y="31750"/>
                      </a:cubicBez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95250" y="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</p:grpSp>
          <p:sp>
            <p:nvSpPr>
              <p:cNvPr id="34" name="TextBox 34"/>
              <p:cNvSpPr txBox="1"/>
              <p:nvPr/>
            </p:nvSpPr>
            <p:spPr>
              <a:xfrm>
                <a:off x="2734056" y="3790950"/>
                <a:ext cx="198061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Доход до порога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734818" y="4140200"/>
                <a:ext cx="170614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дальше — плато</a:t>
                </a:r>
              </a:p>
            </p:txBody>
          </p:sp>
        </p:grpSp>
        <p:grpSp>
          <p:nvGrpSpPr>
            <p:cNvPr id="44" name="p16-c4"/>
            <p:cNvGrpSpPr/>
            <p:nvPr/>
          </p:nvGrpSpPr>
          <p:grpSpPr>
            <a:xfrm>
              <a:off x="6286500" y="3524250"/>
              <a:ext cx="4191000" cy="1047750"/>
              <a:chOff x="6286500" y="3524250"/>
              <a:chExt cx="4191000" cy="10477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6286500" y="352425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grpSp>
            <p:nvGrpSpPr>
              <p:cNvPr id="41" name="Group 41"/>
              <p:cNvGrpSpPr/>
              <p:nvPr/>
            </p:nvGrpSpPr>
            <p:grpSpPr>
              <a:xfrm>
                <a:off x="6572250" y="3857625"/>
                <a:ext cx="190500" cy="285751"/>
                <a:chOff x="6572250" y="3857625"/>
                <a:chExt cx="190500" cy="285751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6572250" y="3857625"/>
                  <a:ext cx="190500" cy="2857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285751">
                      <a:moveTo>
                        <a:pt x="0" y="31750"/>
                      </a:moveTo>
                      <a:cubicBezTo>
                        <a:pt x="0" y="14215"/>
                        <a:pt x="14215" y="0"/>
                        <a:pt x="31750" y="0"/>
                      </a:cubicBezTo>
                      <a:lnTo>
                        <a:pt x="158750" y="0"/>
                      </a:lnTo>
                      <a:cubicBezTo>
                        <a:pt x="176285" y="0"/>
                        <a:pt x="190500" y="14215"/>
                        <a:pt x="190500" y="31750"/>
                      </a:cubicBezTo>
                      <a:lnTo>
                        <a:pt x="190500" y="254001"/>
                      </a:lnTo>
                      <a:cubicBezTo>
                        <a:pt x="190500" y="271536"/>
                        <a:pt x="176285" y="285751"/>
                        <a:pt x="158750" y="285751"/>
                      </a:cubicBezTo>
                      <a:lnTo>
                        <a:pt x="31750" y="285751"/>
                      </a:lnTo>
                      <a:cubicBezTo>
                        <a:pt x="14215" y="285751"/>
                        <a:pt x="0" y="271536"/>
                        <a:pt x="0" y="254001"/>
                      </a:cubicBezTo>
                      <a:lnTo>
                        <a:pt x="0" y="3175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39" name="Freeform 39"/>
                <p:cNvSpPr/>
                <p:nvPr/>
              </p:nvSpPr>
              <p:spPr>
                <a:xfrm>
                  <a:off x="6651625" y="3873500"/>
                  <a:ext cx="317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750" h="9525">
                      <a:moveTo>
                        <a:pt x="0" y="0"/>
                      </a:moveTo>
                      <a:lnTo>
                        <a:pt x="31750" y="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667500" y="4079876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59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</p:grpSp>
          <p:sp>
            <p:nvSpPr>
              <p:cNvPr id="42" name="TextBox 42"/>
              <p:cNvSpPr txBox="1"/>
              <p:nvPr/>
            </p:nvSpPr>
            <p:spPr>
              <a:xfrm>
                <a:off x="7306056" y="3790950"/>
                <a:ext cx="20529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Цифровой баланс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306818" y="4140200"/>
                <a:ext cx="178881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меньше соцсетей</a:t>
                </a:r>
              </a:p>
            </p:txBody>
          </p:sp>
        </p:grpSp>
        <p:grpSp>
          <p:nvGrpSpPr>
            <p:cNvPr id="51" name="p16-c5"/>
            <p:cNvGrpSpPr/>
            <p:nvPr/>
          </p:nvGrpSpPr>
          <p:grpSpPr>
            <a:xfrm>
              <a:off x="1714500" y="4762500"/>
              <a:ext cx="4191000" cy="1047750"/>
              <a:chOff x="1714500" y="4762500"/>
              <a:chExt cx="4191000" cy="1047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1714500" y="476250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1931201" y="5095875"/>
                <a:ext cx="310011" cy="285751"/>
                <a:chOff x="1931201" y="5095875"/>
                <a:chExt cx="310011" cy="285751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1931201" y="5095875"/>
                  <a:ext cx="310011" cy="2833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011" h="283306">
                      <a:moveTo>
                        <a:pt x="155727" y="283306"/>
                      </a:moveTo>
                      <a:cubicBezTo>
                        <a:pt x="56277" y="252479"/>
                        <a:pt x="0" y="147517"/>
                        <a:pt x="29362" y="47625"/>
                      </a:cubicBezTo>
                      <a:cubicBezTo>
                        <a:pt x="78821" y="49888"/>
                        <a:pt x="127218" y="32807"/>
                        <a:pt x="164299" y="0"/>
                      </a:cubicBezTo>
                      <a:cubicBezTo>
                        <a:pt x="201381" y="32807"/>
                        <a:pt x="249778" y="49888"/>
                        <a:pt x="299237" y="47625"/>
                      </a:cubicBezTo>
                      <a:cubicBezTo>
                        <a:pt x="310011" y="84282"/>
                        <a:pt x="309513" y="123332"/>
                        <a:pt x="297808" y="159703"/>
                      </a:cubicBez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2143125" y="5318126"/>
                  <a:ext cx="95250" cy="63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63500">
                      <a:moveTo>
                        <a:pt x="0" y="31750"/>
                      </a:moveTo>
                      <a:lnTo>
                        <a:pt x="31750" y="63500"/>
                      </a:lnTo>
                      <a:lnTo>
                        <a:pt x="95250" y="0"/>
                      </a:lnTo>
                    </a:path>
                  </a:pathLst>
                </a:custGeom>
                <a:noFill/>
                <a:ln w="31750">
                  <a:solidFill>
                    <a:srgbClr val="27AE60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2734056" y="5029200"/>
                <a:ext cx="26850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Стрессоустойчивость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2734818" y="5378450"/>
                <a:ext cx="117797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и здоровье</a:t>
                </a:r>
              </a:p>
            </p:txBody>
          </p:sp>
        </p:grpSp>
        <p:grpSp>
          <p:nvGrpSpPr>
            <p:cNvPr id="56" name="p16-c6"/>
            <p:cNvGrpSpPr/>
            <p:nvPr/>
          </p:nvGrpSpPr>
          <p:grpSpPr>
            <a:xfrm>
              <a:off x="6286500" y="4762500"/>
              <a:ext cx="4191000" cy="1047750"/>
              <a:chOff x="6286500" y="4762500"/>
              <a:chExt cx="4191000" cy="10477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6286500" y="4762500"/>
                <a:ext cx="4191000" cy="1047750"/>
              </a:xfrm>
              <a:prstGeom prst="roundRect">
                <a:avLst>
                  <a:gd name="adj" fmla="val 12727"/>
                </a:avLst>
              </a:prstGeom>
              <a:solidFill>
                <a:srgbClr val="FFFFFF">
                  <a:alpha val="92000"/>
                </a:srgbClr>
              </a:solidFill>
              <a:ln w="19050">
                <a:solidFill>
                  <a:srgbClr val="27AE6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24625" y="5111750"/>
                <a:ext cx="269876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69876" h="254001">
                    <a:moveTo>
                      <a:pt x="206375" y="222250"/>
                    </a:moveTo>
                    <a:cubicBezTo>
                      <a:pt x="223910" y="222250"/>
                      <a:pt x="238125" y="236465"/>
                      <a:pt x="238125" y="254001"/>
                    </a:cubicBezTo>
                    <a:cubicBezTo>
                      <a:pt x="238125" y="236465"/>
                      <a:pt x="252340" y="222250"/>
                      <a:pt x="269876" y="222250"/>
                    </a:cubicBezTo>
                    <a:cubicBezTo>
                      <a:pt x="252340" y="222250"/>
                      <a:pt x="238125" y="208035"/>
                      <a:pt x="238125" y="190500"/>
                    </a:cubicBezTo>
                    <a:cubicBezTo>
                      <a:pt x="238125" y="208035"/>
                      <a:pt x="223910" y="222250"/>
                      <a:pt x="206375" y="222250"/>
                    </a:cubicBezTo>
                    <a:moveTo>
                      <a:pt x="206375" y="31750"/>
                    </a:moveTo>
                    <a:cubicBezTo>
                      <a:pt x="223910" y="31750"/>
                      <a:pt x="238125" y="45965"/>
                      <a:pt x="238125" y="63500"/>
                    </a:cubicBezTo>
                    <a:cubicBezTo>
                      <a:pt x="238125" y="45965"/>
                      <a:pt x="252340" y="31750"/>
                      <a:pt x="269876" y="31750"/>
                    </a:cubicBezTo>
                    <a:cubicBezTo>
                      <a:pt x="252340" y="31750"/>
                      <a:pt x="238125" y="17535"/>
                      <a:pt x="238125" y="0"/>
                    </a:cubicBezTo>
                    <a:cubicBezTo>
                      <a:pt x="238125" y="17535"/>
                      <a:pt x="223910" y="31750"/>
                      <a:pt x="206375" y="31750"/>
                    </a:cubicBezTo>
                    <a:moveTo>
                      <a:pt x="95250" y="222250"/>
                    </a:moveTo>
                    <a:cubicBezTo>
                      <a:pt x="95250" y="169645"/>
                      <a:pt x="137895" y="127000"/>
                      <a:pt x="190500" y="127000"/>
                    </a:cubicBezTo>
                    <a:cubicBezTo>
                      <a:pt x="137895" y="127000"/>
                      <a:pt x="95250" y="84355"/>
                      <a:pt x="95250" y="31750"/>
                    </a:cubicBezTo>
                    <a:cubicBezTo>
                      <a:pt x="95250" y="84355"/>
                      <a:pt x="52605" y="127000"/>
                      <a:pt x="0" y="127000"/>
                    </a:cubicBezTo>
                    <a:cubicBezTo>
                      <a:pt x="52605" y="127000"/>
                      <a:pt x="95250" y="169645"/>
                      <a:pt x="95250" y="222250"/>
                    </a:cubicBezTo>
                  </a:path>
                </a:pathLst>
              </a:custGeom>
              <a:noFill/>
              <a:ln w="31750">
                <a:solidFill>
                  <a:srgbClr val="27AE60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7306056" y="5029200"/>
                <a:ext cx="261261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8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Счастье развивается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306818" y="5378450"/>
                <a:ext cx="239965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ru" sz="1650" dirty="0">
                    <a:solidFill>
                      <a:srgbClr val="5D6D7E"/>
                    </a:solidFill>
                    <a:latin typeface="+mn-lt"/>
                    <a:ea typeface="+mn-ea"/>
                    <a:cs typeface="+mn-cs"/>
                  </a:rPr>
                  <a:t>осознанными усилиями</a:t>
                </a:r>
              </a:p>
            </p:txBody>
          </p:sp>
        </p:grpSp>
      </p:grpSp>
      <p:pic>
        <p:nvPicPr>
          <p:cNvPr id="58" name="PPT Master narration: narration16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58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17-photo"/>
          <p:cNvPicPr>
            <a:picLocks noChangeAspect="1"/>
          </p:cNvPicPr>
          <p:nvPr/>
        </p:nvPicPr>
        <p:blipFill>
          <a:blip r:embed="rId2"/>
          <a:srcRect l="0" t="7812" r="0" b="78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17-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D6EAF8">
                  <a:alpha val="90000"/>
                </a:srgbClr>
              </a:gs>
              <a:gs pos="100000">
                <a:srgbClr val="F5E6D3">
                  <a:alpha val="9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4" name="p17-accent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p17-foot"/>
          <p:cNvSpPr txBox="1"/>
          <p:nvPr/>
        </p:nvSpPr>
        <p:spPr>
          <a:xfrm>
            <a:off x="753618" y="6369050"/>
            <a:ext cx="282214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Концепция счастья · ИС-24</a:t>
            </a:r>
          </a:p>
        </p:txBody>
      </p:sp>
      <p:sp>
        <p:nvSpPr>
          <p:cNvPr id="6" name="p17-num"/>
          <p:cNvSpPr txBox="1"/>
          <p:nvPr/>
        </p:nvSpPr>
        <p:spPr>
          <a:xfrm>
            <a:off x="11174528" y="6369050"/>
            <a:ext cx="26385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ru" sz="1650" dirty="0">
                <a:solidFill>
                  <a:srgbClr val="5D6D7E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  <p:grpSp>
        <p:nvGrpSpPr>
          <p:cNvPr id="8" name="p17-title"/>
          <p:cNvGrpSpPr/>
          <p:nvPr/>
        </p:nvGrpSpPr>
        <p:grpSpPr>
          <a:xfrm>
            <a:off x="743712" y="565150"/>
            <a:ext cx="5505074" cy="704088"/>
            <a:chOff x="743712" y="565150"/>
            <a:chExt cx="5505074" cy="704088"/>
          </a:xfrm>
        </p:grpSpPr>
        <p:sp>
          <p:nvSpPr>
            <p:cNvPr id="7" name="TextBox 7"/>
            <p:cNvSpPr txBox="1"/>
            <p:nvPr/>
          </p:nvSpPr>
          <p:spPr>
            <a:xfrm>
              <a:off x="743712" y="565150"/>
              <a:ext cx="550507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Источники информации</a:t>
              </a:r>
            </a:p>
          </p:txBody>
        </p:sp>
      </p:grpSp>
      <p:grpSp>
        <p:nvGrpSpPr>
          <p:cNvPr id="27" name="p17-sources"/>
          <p:cNvGrpSpPr/>
          <p:nvPr/>
        </p:nvGrpSpPr>
        <p:grpSpPr>
          <a:xfrm>
            <a:off x="762000" y="1714500"/>
            <a:ext cx="10668000" cy="4191000"/>
            <a:chOff x="762000" y="1714500"/>
            <a:chExt cx="10668000" cy="4191000"/>
          </a:xfrm>
        </p:grpSpPr>
        <p:sp>
          <p:nvSpPr>
            <p:cNvPr id="9" name="Rectangle 9"/>
            <p:cNvSpPr/>
            <p:nvPr/>
          </p:nvSpPr>
          <p:spPr>
            <a:xfrm>
              <a:off x="762000" y="1714500"/>
              <a:ext cx="5143500" cy="4191000"/>
            </a:xfrm>
            <a:prstGeom prst="roundRect">
              <a:avLst>
                <a:gd name="adj" fmla="val 3636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6286500" y="1714500"/>
              <a:ext cx="5143500" cy="4191000"/>
            </a:xfrm>
            <a:prstGeom prst="roundRect">
              <a:avLst>
                <a:gd name="adj" fmla="val 3636"/>
              </a:avLst>
            </a:prstGeom>
            <a:solidFill>
              <a:srgbClr val="FFFFFF">
                <a:alpha val="8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58418" y="1968500"/>
              <a:ext cx="26683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 Apteka.ru — материалы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8418" y="2273300"/>
              <a:ext cx="303499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 Рувики, статья «Счастье»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8418" y="2578100"/>
              <a:ext cx="28509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3. Журнал «Большой город»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8418" y="2882900"/>
              <a:ext cx="37325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4. Образовательный портал Skillbox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58418" y="3187700"/>
              <a:ext cx="26974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 НИУ ВШЭ, исследования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8418" y="3492500"/>
              <a:ext cx="30385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6. УрФУ, научные публикации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8418" y="3797300"/>
              <a:ext cx="35909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7. Психологический портал b17.ru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8418" y="4102100"/>
              <a:ext cx="37904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8. Экономический портал 1economic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8418" y="4406900"/>
              <a:ext cx="33410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9. Cyberleninka, научные статьи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58418" y="4711700"/>
              <a:ext cx="25191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10. РИА Новости (Ria.ru)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705600" y="1905000"/>
              <a:ext cx="4686300" cy="1143000"/>
            </a:xfrm>
            <a:prstGeom prst="roundRect">
              <a:avLst>
                <a:gd name="adj" fmla="val 11667"/>
              </a:avLst>
            </a:prstGeom>
            <a:solidFill>
              <a:srgbClr val="27AE60">
                <a:alpha val="14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963918" y="2159000"/>
              <a:ext cx="17535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rgbClr val="1E8449"/>
                  </a:solidFill>
                  <a:latin typeface="+mn-lt"/>
                  <a:ea typeface="+mn-ea"/>
                  <a:cs typeface="+mn-cs"/>
                </a:rPr>
                <a:t>Научная основа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63918" y="2501900"/>
              <a:ext cx="29264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Селигман · Канеман и Дитон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705600" y="3238500"/>
              <a:ext cx="4686300" cy="1143000"/>
            </a:xfrm>
            <a:prstGeom prst="roundRect">
              <a:avLst>
                <a:gd name="adj" fmla="val 11667"/>
              </a:avLst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63918" y="3492500"/>
              <a:ext cx="92195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Критика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63918" y="3835400"/>
              <a:ext cx="35367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ru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Эренрейх · Стивенсон и Вольферс</a:t>
              </a:r>
            </a:p>
          </p:txBody>
        </p:sp>
      </p:grpSp>
      <p:grpSp>
        <p:nvGrpSpPr>
          <p:cNvPr id="29" name="p17-credit"/>
          <p:cNvGrpSpPr/>
          <p:nvPr/>
        </p:nvGrpSpPr>
        <p:grpSpPr>
          <a:xfrm>
            <a:off x="753618" y="6578600"/>
            <a:ext cx="5017870" cy="322707"/>
            <a:chOff x="753618" y="6578600"/>
            <a:chExt cx="5017870" cy="322707"/>
          </a:xfrm>
        </p:grpSpPr>
        <p:sp>
          <p:nvSpPr>
            <p:cNvPr id="28" name="credit"/>
            <p:cNvSpPr txBox="1"/>
            <p:nvPr/>
          </p:nvSpPr>
          <p:spPr>
            <a:xfrm>
              <a:off x="753618" y="6578600"/>
              <a:ext cx="50178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7F8C8D"/>
                  </a:solidFill>
                  <a:latin typeface="+mn-lt"/>
                  <a:ea typeface="+mn-ea"/>
                  <a:cs typeface="+mn-cs"/>
                </a:rPr>
                <a:t>© Shixart1985 / Wikimedia Commons / CC BY 2.0</a:t>
              </a:r>
            </a:p>
          </p:txBody>
        </p:sp>
      </p:grpSp>
      <p:pic>
        <p:nvPicPr>
          <p:cNvPr id="30" name="PPT Master narration: narration17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300"/>
                  </p:st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happiness_concept">
  <a:themeElements>
    <a:clrScheme name="happiness_concept">
      <a:dk1>
        <a:srgbClr val="2C3E50"/>
      </a:dk1>
      <a:lt1>
        <a:srgbClr val="FFFFFF"/>
      </a:lt1>
      <a:dk2>
        <a:srgbClr val="2C3E50"/>
      </a:dk2>
      <a:lt2>
        <a:srgbClr val="EEECE1"/>
      </a:lt2>
      <a:accent1>
        <a:srgbClr val="1B4F72"/>
      </a:accent1>
      <a:accent2>
        <a:srgbClr val="1B4F72"/>
      </a:accent2>
      <a:accent3>
        <a:srgbClr val="9BBB59"/>
      </a:accent3>
      <a:accent4>
        <a:srgbClr val="1B4F72"/>
      </a:accent4>
      <a:accent5>
        <a:srgbClr val="4BACC6"/>
      </a:accent5>
      <a:accent6>
        <a:srgbClr val="F79646"/>
      </a:accent6>
      <a:hlink>
        <a:srgbClr val="1B4F72"/>
      </a:hlink>
      <a:folHlink>
        <a:srgbClr val="800080"/>
      </a:folHlink>
    </a:clrScheme>
    <a:fontScheme name="happiness_concep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ppiness_conce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ru</dc:language>
  <cp:lastModifiedBy/>
  <cp:revision>1</cp:revision>
  <dcterms:created xsi:type="dcterms:W3CDTF">2026-10-08T09:02:48Z</dcterms:created>
  <dcterms:modified xsi:type="dcterms:W3CDTF">2026-10-08T09:02:48Z</dcterms:modified>
  <cp:category/>
  <cp:contentStatus/>
</cp:coreProperties>
</file>