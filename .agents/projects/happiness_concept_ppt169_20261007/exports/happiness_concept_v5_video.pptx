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Default Extension="mp4" ContentType="video/mp4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Об этом мы поговорим.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нашей презентации — выяснить, что делает людей счастливыми. Мы рассмотрим научные подходы к счастью, выявим ключевые факторы и дадим практические рекомендации.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рассмотрим счастье с точки зрения философии, психологии, нейробиологии и экономики. Узнаем формулу Селигмана, парадокс Истерлина, влияние образования и цифровых технологий.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одна из главных целей человеческой жизни. Аристотель считал его деятельностью души в полноте добродетели. Но Всемирная организация здравоохранения регистрирует рост депрессии: по данным Центров по контролю заболеваний США, доля людей с депрессией выросла с восьми целых двух десятых процента до тринадцати целых одной десятой процента за десять лет. При этом уровень счастья в мире не растёт. Парадокс: литературы по позитивной психологии много, а счастливых людей меньше.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состояние внутреннего благополучия. В психологии это субъективное благополучие. Оно включает когнитивный компонент — оценку жизни, и эмоциональный — положительные и отрицательные эмоции. Барбара Фредриксон, автор теории расширения и созидания, показала: позитивные эмоции расширяют мышление и помогают накапливать ресурсы, а не только переживаются приятно. В психологии счастье рассматривают по-разному: психоанализ, когнитивное направление, позитивная психология и био-психо-социальный подход.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Физиология счастья связана с гормонами. Дофамин — система поощрения и мотивации: он отвечает за предвкушение и обучение, а не за само удовольствие; Кент Берридж различает «хотение» и «нравится». Серотонин — фон долговременной удовлетворённости, сон, подавление отрицательных эмоций. Эндорфины — кратковременная эйфория, обезболивание. Окситоцин — привязанность, доверие, эмпатия. Здоровый образ жизни, спорт и общение поддерживают баланс этих веществ.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определял счастье как деятельность души в полноте добродетели. Стоики, Сенека и Марк Аврелий, — как внутреннее спокойствие. Индийская философия — как освобождение от страданий. Христианская традиция, Фома Аквинский, понимала счастье как дар Божий и созерцание блага. Просвещение провозгласило счастье естественным правом: Джефферсон писал о стремлении к счастью. Утилитаризм Бентама и Милля — это максимизация удовольствия. В двадцать первом веке счастье понимают как многомерный феномен.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— это максимум удовольствия и минимум страданий. Он связан с потребительской культурой. Риск — гедонистическая адаптация и давление пропаганды счастья. Эвдемония: счастье — это реализация потенциала, смысл и добродетели. Канадский психолог Гордон Ньюфелд говорит: «Счастье находится по ту сторону слёз».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счастье равно наследственности плюс волевая деятельность плюс обстоятельства. Пятьдесят процентов — генетика, десять процентов — внешние обстоятельства, сорок процентов — намеренные действия. Соня Любомирски назвала это теорией сорока процентов: фокус на себе эффективнее изменения обстоятельств. Но есть критика: современные мета-анализы, в частности работа Рорера и Шмукле, оспаривают жёсткое разделение долей пятьдесят, десять и сорок процентов и показывают, что наследственность и обстоятельства взаимодействуют сложнее.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Сильнейший предиктор счастья — качество отношений. Одиночество сильно снижает счастье. Дэниел Хейброн выделяет источники благополучия: безопасность, самостоятельность, отношения и реализацию в профессии. Внутренние факторы — это осмысленность, самореализация, здоровье и благодарность. Внешние — материальная стабильность, справедливость и интересная деятельность.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две тысячи десятом году выявили порог — семьдесят пять тысяч долларов в год. После него влияние дохода на эмоциональное благополучие прекращается. Но новые данные уточняют картину. Мэтью Киллингсворт в две тысячи двадцать первом году на данных приложения Track Your Happiness показал, что благополучие продолжает расти и после этого порога. А совместная работа Канемана и Киллингсворта две тысячи двадцать третьего года объясняет, почему результаты расходились: плато наблюдается лишь примерно у двадцати процентов самых несчастных людей. Причина расхождений — гедонистическая адаптация: люди быстро привыкают к улучшениям.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сложна. На индивидуальном уровне прямая связь слабая. Есть нелинейность: самая низкая удовлетворённость — у людей со средним специальным образованием. Косвенные эффекты — доход, социальный статус, когнитивные навыки. И ещё один парадокс: рост образования повышает требования к жизни, что может снижать удовлетворённость.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Социальные сети дают связь с близкими, поддержку и доступ к знаниям. Но есть и риски: сравнение с другими, страх упустить важное, снижение самооценки. Цифровой детокс и осознанное потребление контента повышают счастье. Онлайн-терапия и приложения для медитации — инструменты улучшения благополучия. Баланс онлайн и офлайн критически важен.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Восемь шагов к счастью. Инвестируйте в отношения. Практикуйте благодарность. Занимайтесь физической активностью. Медитируйте. Ставьте цели. Помогайте другим людям. Ограничьте соцсети. Спите достаточно. Эти привычки, подтверждённые наукой, доступны каждому. Дополнительные материалы о счастье есть в открытых источниках.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феномен: на него влияют генетика, обстоятельства и намеренные действия. Качество отношений — сильнейший предиктор благополучия, а деньги важны лишь до определённого уровня. Цифровые технологии амбивалентны, и главное — счастье можно развивать через осознанные усилия. В заключении я собрал пять ключевых выводов и шесть главных источников. Полный список из пятнадцати с лишним источников доступен по QR-коду в репозитории на GitHub. Выводы опираются на исследования НИУ ВШЭ и УрФУ, публикации на Cyberleninka, работы Селигмана, Канемана и Дитона; отдельно рассмотрена критика позитивной психологии — работы Эренрейх, Стивенсона и Вольферса.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  <Relationship Id="rId4" Type="http://schemas.microsoft.com/office/2007/relationships/media" Target="../media/narration2.mp3"/>
  <Relationship Id="rId5" Type="http://schemas.openxmlformats.org/officeDocument/2006/relationships/audio" Target="../media/narration2.mp3"/>
  <Relationship Id="rId6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  <Relationship Id="rId4" Type="http://schemas.microsoft.com/office/2007/relationships/media" Target="../media/narration3.mp3"/>
  <Relationship Id="rId5" Type="http://schemas.openxmlformats.org/officeDocument/2006/relationships/audio" Target="../media/narration3.mp3"/>
  <Relationship Id="rId6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  <Relationship Id="rId4" Type="http://schemas.microsoft.com/office/2007/relationships/media" Target="../media/narration4.mp3"/>
  <Relationship Id="rId5" Type="http://schemas.openxmlformats.org/officeDocument/2006/relationships/audio" Target="../media/narration4.mp3"/>
  <Relationship Id="rId6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  <Relationship Id="rId4" Type="http://schemas.microsoft.com/office/2007/relationships/media" Target="../media/narration5.mp3"/>
  <Relationship Id="rId5" Type="http://schemas.openxmlformats.org/officeDocument/2006/relationships/audio" Target="../media/narration5.mp3"/>
  <Relationship Id="rId6" Type="http://schemas.openxmlformats.org/officeDocument/2006/relationships/image" Target="../media/narration_poster.png"/>
<Relationship Id="rId7" Type="http://schemas.microsoft.com/office/2007/relationships/media" Target="../media/media1.mp4"/><Relationship Id="rId8" Type="http://schemas.openxmlformats.org/officeDocument/2006/relationships/video" Target="../media/media1.mp4"/><Relationship Id="rId9" Type="http://schemas.openxmlformats.org/officeDocument/2006/relationships/image" Target="../media/image1.jpg"/>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fb9a4fe6da9ea8ca.jpg"/>
  <Relationship Id="rId4" Type="http://schemas.openxmlformats.org/officeDocument/2006/relationships/notesSlide" Target="../notesSlides/notesSlide6.xml"/>
  <Relationship Id="rId5" Type="http://schemas.microsoft.com/office/2007/relationships/media" Target="../media/narration6.mp3"/>
  <Relationship Id="rId6" Type="http://schemas.openxmlformats.org/officeDocument/2006/relationships/audio" Target="../media/narration6.mp3"/>
  <Relationship Id="rId7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image" Target="../media/image_b45662b9cbfa98ee.jpg"/>
  <Relationship Id="rId4" Type="http://schemas.openxmlformats.org/officeDocument/2006/relationships/image" Target="../media/image_57b71a4dc378653d.jpg"/>
  <Relationship Id="rId5" Type="http://schemas.openxmlformats.org/officeDocument/2006/relationships/image" Target="../media/image_cabb1b339030b4ed.jpg"/>
  <Relationship Id="rId6" Type="http://schemas.openxmlformats.org/officeDocument/2006/relationships/image" Target="../media/image_b792826eaa622c8f.jpg"/>
  <Relationship Id="rId7" Type="http://schemas.openxmlformats.org/officeDocument/2006/relationships/image" Target="../media/image_afd9db9fff54cca2.jpg"/>
  <Relationship Id="rId8" Type="http://schemas.openxmlformats.org/officeDocument/2006/relationships/notesSlide" Target="../notesSlides/notesSlide7.xml"/>
  <Relationship Id="rId9" Type="http://schemas.microsoft.com/office/2007/relationships/media" Target="../media/narration7.mp3"/>
  <Relationship Id="rId10" Type="http://schemas.openxmlformats.org/officeDocument/2006/relationships/audio" Target="../media/narration7.mp3"/>
  <Relationship Id="rId11" Type="http://schemas.openxmlformats.org/officeDocument/2006/relationships/image" Target="../media/narration_poster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2f711d4eb699204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8.xml"/>
  <Relationship Id="rId6" Type="http://schemas.microsoft.com/office/2007/relationships/media" Target="../media/narration8.mp3"/>
  <Relationship Id="rId7" Type="http://schemas.openxmlformats.org/officeDocument/2006/relationships/audio" Target="../media/narration8.mp3"/>
  <Relationship Id="rId8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9.xml"/>
  <Relationship Id="rId4" Type="http://schemas.microsoft.com/office/2007/relationships/media" Target="../media/narration9.mp3"/>
  <Relationship Id="rId5" Type="http://schemas.openxmlformats.org/officeDocument/2006/relationships/audio" Target="../media/narration9.mp3"/>
  <Relationship Id="rId6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notesSlide" Target="../notesSlides/notesSlide10.xml"/>
  <Relationship Id="rId4" Type="http://schemas.microsoft.com/office/2007/relationships/media" Target="../media/narration10.mp3"/>
  <Relationship Id="rId5" Type="http://schemas.openxmlformats.org/officeDocument/2006/relationships/audio" Target="../media/narration10.mp3"/>
  <Relationship Id="rId6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image" Target="../media/image_3c78ba75b72158e1.jpg"/>
  <Relationship Id="rId4" Type="http://schemas.openxmlformats.org/officeDocument/2006/relationships/image" Target="../media/image_970dd5afa7fe1255.jpg"/>
  <Relationship Id="rId5" Type="http://schemas.openxmlformats.org/officeDocument/2006/relationships/notesSlide" Target="../notesSlides/notesSlide11.xml"/>
  <Relationship Id="rId6" Type="http://schemas.microsoft.com/office/2007/relationships/media" Target="../media/narration11.mp3"/>
  <Relationship Id="rId7" Type="http://schemas.openxmlformats.org/officeDocument/2006/relationships/audio" Target="../media/narration11.mp3"/>
  <Relationship Id="rId8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78ebc45bf979982.jpg"/>
  <Relationship Id="rId3" Type="http://schemas.openxmlformats.org/officeDocument/2006/relationships/notesSlide" Target="../notesSlides/notesSlide12.xml"/>
  <Relationship Id="rId4" Type="http://schemas.microsoft.com/office/2007/relationships/media" Target="../media/narration12.mp3"/>
  <Relationship Id="rId5" Type="http://schemas.openxmlformats.org/officeDocument/2006/relationships/audio" Target="../media/narration12.mp3"/>
  <Relationship Id="rId6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4.xml"/>
  <Relationship Id="rId4" Type="http://schemas.microsoft.com/office/2007/relationships/media" Target="../media/narration14.mp3"/>
  <Relationship Id="rId5" Type="http://schemas.openxmlformats.org/officeDocument/2006/relationships/audio" Target="../media/narration14.mp3"/>
  <Relationship Id="rId6" Type="http://schemas.openxmlformats.org/officeDocument/2006/relationships/image" Target="../media/narration_poster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24e0dca5fc560e17.svg"/>
  <Relationship Id="rId4" Type="http://schemas.openxmlformats.org/officeDocument/2006/relationships/notesSlide" Target="../notesSlides/notesSlide15.xml"/>
  <Relationship Id="rId5" Type="http://schemas.microsoft.com/office/2007/relationships/media" Target="../media/narration15.mp3"/>
  <Relationship Id="rId6" Type="http://schemas.openxmlformats.org/officeDocument/2006/relationships/audio" Target="../media/narration15.mp3"/>
  <Relationship Id="rId7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2000"/>
                </a:srgbClr>
              </a:gs>
              <a:gs pos="100000">
                <a:srgbClr val="F5E6D3">
                  <a:alpha val="8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cover-orb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5" name="cover-orb-2"/>
          <p:cNvSpPr/>
          <p:nvPr/>
        </p:nvSpPr>
        <p:spPr>
          <a:xfrm>
            <a:off x="95250" y="4667250"/>
            <a:ext cx="3048000" cy="3048000"/>
          </a:xfrm>
          <a:prstGeom prst="ellipse">
            <a:avLst/>
          </a:prstGeom>
          <a:solidFill>
            <a:srgbClr val="27AE60">
              <a:alpha val="8000"/>
            </a:srgbClr>
          </a:solidFill>
          <a:ln>
            <a:noFill/>
          </a:ln>
        </p:spPr>
      </p:sp>
      <p:grpSp>
        <p:nvGrpSpPr>
          <p:cNvPr id="10" name="cover-header"/>
          <p:cNvGrpSpPr/>
          <p:nvPr/>
        </p:nvGrpSpPr>
        <p:grpSpPr>
          <a:xfrm>
            <a:off x="743712" y="1104900"/>
            <a:ext cx="8620890" cy="2450338"/>
            <a:chOff x="743712" y="1104900"/>
            <a:chExt cx="8620890" cy="24503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104900"/>
              <a:ext cx="8611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3712" y="1727200"/>
              <a:ext cx="48812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712" y="2336800"/>
              <a:ext cx="781511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851150"/>
              <a:ext cx="54189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6" name="cover-author"/>
          <p:cNvGrpSpPr/>
          <p:nvPr/>
        </p:nvGrpSpPr>
        <p:grpSpPr>
          <a:xfrm>
            <a:off x="762000" y="4000500"/>
            <a:ext cx="4354062" cy="1609344"/>
            <a:chOff x="762000" y="4000500"/>
            <a:chExt cx="4354062" cy="1609344"/>
          </a:xfrm>
        </p:grpSpPr>
        <p:sp>
          <p:nvSpPr>
            <p:cNvPr id="11" name="Rectangle 11"/>
            <p:cNvSpPr/>
            <p:nvPr/>
          </p:nvSpPr>
          <p:spPr>
            <a:xfrm>
              <a:off x="762000" y="40005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4171950"/>
              <a:ext cx="3177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4533900"/>
              <a:ext cx="16023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4895850"/>
              <a:ext cx="28237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sabadaspaha@gmail.com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5257800"/>
              <a:ext cx="4058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34" name="cover-icons"/>
          <p:cNvGrpSpPr/>
          <p:nvPr/>
        </p:nvGrpSpPr>
        <p:grpSpPr>
          <a:xfrm>
            <a:off x="8372856" y="4824413"/>
            <a:ext cx="3455468" cy="842581"/>
            <a:chOff x="8372856" y="4824413"/>
            <a:chExt cx="3455468" cy="842581"/>
          </a:xfrm>
        </p:grpSpPr>
        <p:grpSp>
          <p:nvGrpSpPr>
            <p:cNvPr id="23" name="Group 23"/>
            <p:cNvGrpSpPr/>
            <p:nvPr/>
          </p:nvGrpSpPr>
          <p:grpSpPr>
            <a:xfrm>
              <a:off x="8443913" y="4824413"/>
              <a:ext cx="371475" cy="371475"/>
              <a:chOff x="8443913" y="4824413"/>
              <a:chExt cx="371475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29650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32339" y="0"/>
                      <a:pt x="0" y="32339"/>
                      <a:pt x="0" y="72231"/>
                    </a:cubicBezTo>
                    <a:lnTo>
                      <a:pt x="0" y="92869"/>
                    </a:lnTo>
                    <a:cubicBezTo>
                      <a:pt x="0" y="132761"/>
                      <a:pt x="32339" y="165100"/>
                      <a:pt x="72231" y="165100"/>
                    </a:cubicBezTo>
                    <a:cubicBezTo>
                      <a:pt x="112124" y="165100"/>
                      <a:pt x="144463" y="132761"/>
                      <a:pt x="144463" y="92869"/>
                    </a:cubicBezTo>
                    <a:lnTo>
                      <a:pt x="144463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85188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92869"/>
                    </a:lnTo>
                    <a:cubicBezTo>
                      <a:pt x="144463" y="132761"/>
                      <a:pt x="112124" y="165100"/>
                      <a:pt x="72231" y="165100"/>
                    </a:cubicBezTo>
                    <a:cubicBezTo>
                      <a:pt x="32339" y="165100"/>
                      <a:pt x="0" y="132761"/>
                      <a:pt x="0" y="92869"/>
                    </a:cubicBezTo>
                    <a:lnTo>
                      <a:pt x="0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32838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10319" y="144463"/>
                    </a:moveTo>
                    <a:cubicBezTo>
                      <a:pt x="50211" y="144463"/>
                      <a:pt x="82550" y="112124"/>
                      <a:pt x="82550" y="72231"/>
                    </a:cubicBezTo>
                    <a:cubicBezTo>
                      <a:pt x="82550" y="32339"/>
                      <a:pt x="50211" y="0"/>
                      <a:pt x="10319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29650" y="4824413"/>
                <a:ext cx="144463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30016">
                    <a:moveTo>
                      <a:pt x="144463" y="130016"/>
                    </a:moveTo>
                    <a:lnTo>
                      <a:pt x="144463" y="72231"/>
                    </a:lnTo>
                    <a:cubicBezTo>
                      <a:pt x="144463" y="32339"/>
                      <a:pt x="112124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43913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72231" y="144463"/>
                    </a:moveTo>
                    <a:cubicBezTo>
                      <a:pt x="32339" y="144463"/>
                      <a:pt x="0" y="112124"/>
                      <a:pt x="0" y="72231"/>
                    </a:cubicBezTo>
                    <a:cubicBezTo>
                      <a:pt x="0" y="32339"/>
                      <a:pt x="32339" y="0"/>
                      <a:pt x="72231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85188" y="4824413"/>
                <a:ext cx="144463" cy="27860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278607">
                    <a:moveTo>
                      <a:pt x="0" y="130016"/>
                    </a:moveTo>
                    <a:lnTo>
                      <a:pt x="0" y="72231"/>
                    </a:lnTo>
                    <a:cubicBezTo>
                      <a:pt x="0" y="32339"/>
                      <a:pt x="32339" y="0"/>
                      <a:pt x="72231" y="0"/>
                    </a:cubicBez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278607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9198766" y="48397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967913" y="4824413"/>
              <a:ext cx="371476" cy="371476"/>
              <a:chOff x="9967913" y="4824413"/>
              <a:chExt cx="371476" cy="3714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071100" y="49276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967913" y="4824413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729913" y="4824413"/>
              <a:ext cx="371476" cy="371476"/>
              <a:chOff x="10729913" y="4824413"/>
              <a:chExt cx="371476" cy="3714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71188" y="4824413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729913" y="5072063"/>
                <a:ext cx="247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23825">
                    <a:moveTo>
                      <a:pt x="0" y="123825"/>
                    </a:moveTo>
                    <a:lnTo>
                      <a:pt x="0" y="82550"/>
                    </a:lnTo>
                    <a:cubicBezTo>
                      <a:pt x="0" y="36959"/>
                      <a:pt x="36959" y="0"/>
                      <a:pt x="82550" y="0"/>
                    </a:cubicBezTo>
                    <a:lnTo>
                      <a:pt x="165100" y="0"/>
                    </a:lnTo>
                    <a:cubicBezTo>
                      <a:pt x="210691" y="0"/>
                      <a:pt x="247650" y="36959"/>
                      <a:pt x="247650" y="82550"/>
                    </a:cubicBezTo>
                    <a:lnTo>
                      <a:pt x="247650" y="12382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998201" y="4827095"/>
                <a:ext cx="62074" cy="159941"/>
              </a:xfrm>
              <a:custGeom>
                <a:avLst/>
                <a:gdLst/>
                <a:ahLst/>
                <a:cxnLst/>
                <a:rect l="l" t="t" r="r" b="b"/>
                <a:pathLst>
                  <a:path w="62074" h="159941">
                    <a:moveTo>
                      <a:pt x="0" y="0"/>
                    </a:moveTo>
                    <a:cubicBezTo>
                      <a:pt x="36527" y="9352"/>
                      <a:pt x="62074" y="42265"/>
                      <a:pt x="62074" y="79970"/>
                    </a:cubicBezTo>
                    <a:cubicBezTo>
                      <a:pt x="62074" y="117675"/>
                      <a:pt x="36527" y="150589"/>
                      <a:pt x="0" y="159941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39476" y="5075159"/>
                <a:ext cx="61913" cy="120730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0730">
                    <a:moveTo>
                      <a:pt x="61913" y="120730"/>
                    </a:moveTo>
                    <a:lnTo>
                      <a:pt x="61913" y="79454"/>
                    </a:lnTo>
                    <a:cubicBezTo>
                      <a:pt x="61697" y="41989"/>
                      <a:pt x="36277" y="9366"/>
                      <a:pt x="0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72856" y="5314950"/>
              <a:ext cx="3455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мозг · сердце · солнце · семья</a:t>
              </a:r>
            </a:p>
          </p:txBody>
        </p:sp>
      </p:grpSp>
      <p:grpSp>
        <p:nvGrpSpPr>
          <p:cNvPr id="42" name="cover-logo"/>
          <p:cNvGrpSpPr/>
          <p:nvPr/>
        </p:nvGrpSpPr>
        <p:grpSpPr>
          <a:xfrm>
            <a:off x="10020999" y="857250"/>
            <a:ext cx="1675002" cy="1552194"/>
            <a:chOff x="10020999" y="857250"/>
            <a:chExt cx="1675002" cy="1552194"/>
          </a:xfrm>
        </p:grpSpPr>
        <p:sp>
          <p:nvSpPr>
            <p:cNvPr id="35" name="Ellipse 35"/>
            <p:cNvSpPr/>
            <p:nvPr/>
          </p:nvSpPr>
          <p:spPr>
            <a:xfrm>
              <a:off x="10382250" y="857250"/>
              <a:ext cx="952500" cy="9525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8450" y="933450"/>
              <a:ext cx="800100" cy="8001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668000" y="1200150"/>
              <a:ext cx="381000" cy="266700"/>
              <a:chOff x="10668000" y="1200150"/>
              <a:chExt cx="381000" cy="266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668000" y="12001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744200" y="13068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01357" y="1809750"/>
              <a:ext cx="7142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20999" y="2057400"/>
              <a:ext cx="1675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44" name="cover-question"/>
          <p:cNvGrpSpPr/>
          <p:nvPr/>
        </p:nvGrpSpPr>
        <p:grpSpPr>
          <a:xfrm>
            <a:off x="752856" y="6115050"/>
            <a:ext cx="4935784" cy="352044"/>
            <a:chOff x="752856" y="6115050"/>
            <a:chExt cx="4935784" cy="352044"/>
          </a:xfrm>
        </p:grpSpPr>
        <p:sp>
          <p:nvSpPr>
            <p:cNvPr id="43" name="TextBox 43"/>
            <p:cNvSpPr txBox="1"/>
            <p:nvPr/>
          </p:nvSpPr>
          <p:spPr>
            <a:xfrm>
              <a:off x="752856" y="6115050"/>
              <a:ext cx="4935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grpSp>
        <p:nvGrpSpPr>
          <p:cNvPr id="46" name="cover-credit"/>
          <p:cNvGrpSpPr/>
          <p:nvPr/>
        </p:nvGrpSpPr>
        <p:grpSpPr>
          <a:xfrm>
            <a:off x="753618" y="6578600"/>
            <a:ext cx="5443991" cy="322707"/>
            <a:chOff x="753618" y="6578600"/>
            <a:chExt cx="5443991" cy="322707"/>
          </a:xfrm>
        </p:grpSpPr>
        <p:sp>
          <p:nvSpPr>
            <p:cNvPr id="45" name="credit"/>
            <p:cNvSpPr txBox="1"/>
            <p:nvPr/>
          </p:nvSpPr>
          <p:spPr>
            <a:xfrm>
              <a:off x="753618" y="6578600"/>
              <a:ext cx="5443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Basile Morin / Wikimedia Commons / CC BY-SA 4.0</a:t>
              </a:r>
            </a:p>
          </p:txBody>
        </p:sp>
      </p:grpSp>
      <p:pic>
        <p:nvPicPr>
          <p:cNvPr id="47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800"/>
                  </p:st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2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8" name="p02-title"/>
          <p:cNvGrpSpPr/>
          <p:nvPr/>
        </p:nvGrpSpPr>
        <p:grpSpPr>
          <a:xfrm>
            <a:off x="743712" y="565150"/>
            <a:ext cx="4484022" cy="704088"/>
            <a:chOff x="743712" y="565150"/>
            <a:chExt cx="4484022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448402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Цель и три задачи</a:t>
              </a:r>
            </a:p>
          </p:txBody>
        </p:sp>
      </p:grpSp>
      <p:grpSp>
        <p:nvGrpSpPr>
          <p:cNvPr id="21" name="p02-goal"/>
          <p:cNvGrpSpPr/>
          <p:nvPr/>
        </p:nvGrpSpPr>
        <p:grpSpPr>
          <a:xfrm>
            <a:off x="762000" y="1619250"/>
            <a:ext cx="4000500" cy="4095750"/>
            <a:chOff x="762000" y="1619250"/>
            <a:chExt cx="40005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4000500" cy="409575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19200" y="2076450"/>
              <a:ext cx="457201" cy="457201"/>
              <a:chOff x="1219200" y="2076450"/>
              <a:chExt cx="457201" cy="4572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422400" y="2279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20800" y="217805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127000"/>
                    </a:moveTo>
                    <a:cubicBezTo>
                      <a:pt x="0" y="197140"/>
                      <a:pt x="56860" y="254000"/>
                      <a:pt x="127000" y="254000"/>
                    </a:cubicBezTo>
                    <a:cubicBezTo>
                      <a:pt x="197140" y="254000"/>
                      <a:pt x="254000" y="197140"/>
                      <a:pt x="254000" y="127000"/>
                    </a:cubicBezTo>
                    <a:cubicBezTo>
                      <a:pt x="254000" y="56860"/>
                      <a:pt x="197140" y="0"/>
                      <a:pt x="127000" y="0"/>
                    </a:cubicBezTo>
                    <a:cubicBezTo>
                      <a:pt x="56860" y="0"/>
                      <a:pt x="0" y="56860"/>
                      <a:pt x="0" y="1270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0764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895856" y="2209800"/>
              <a:ext cx="7397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2971800"/>
              <a:ext cx="2493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3295650"/>
              <a:ext cx="2316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людей счастливыми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619500"/>
              <a:ext cx="2377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современном мире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4191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3856" y="4438650"/>
              <a:ext cx="24784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Учебная презентация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4762500"/>
              <a:ext cx="2319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для защиты проекта</a:t>
              </a:r>
            </a:p>
          </p:txBody>
        </p:sp>
      </p:grpSp>
      <p:grpSp>
        <p:nvGrpSpPr>
          <p:cNvPr id="46" name="p02-tasks"/>
          <p:cNvGrpSpPr/>
          <p:nvPr/>
        </p:nvGrpSpPr>
        <p:grpSpPr>
          <a:xfrm>
            <a:off x="5143500" y="1619250"/>
            <a:ext cx="6286500" cy="4095750"/>
            <a:chOff x="5143500" y="1619250"/>
            <a:chExt cx="6286500" cy="4095750"/>
          </a:xfrm>
        </p:grpSpPr>
        <p:grpSp>
          <p:nvGrpSpPr>
            <p:cNvPr id="29" name="p02-task1"/>
            <p:cNvGrpSpPr/>
            <p:nvPr/>
          </p:nvGrpSpPr>
          <p:grpSpPr>
            <a:xfrm>
              <a:off x="5143500" y="1619250"/>
              <a:ext cx="6286500" cy="1238250"/>
              <a:chOff x="5143500" y="1619250"/>
              <a:chExt cx="6286500" cy="1238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16192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429250" y="19526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553075" y="20764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667375" y="21907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38468" y="20955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77356" y="1943100"/>
                <a:ext cx="27482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Рассмотреть подходы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77356" y="2266950"/>
                <a:ext cx="27695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теории счастья</a:t>
                </a:r>
              </a:p>
            </p:txBody>
          </p:sp>
        </p:grpSp>
        <p:grpSp>
          <p:nvGrpSpPr>
            <p:cNvPr id="37" name="p02-task2"/>
            <p:cNvGrpSpPr/>
            <p:nvPr/>
          </p:nvGrpSpPr>
          <p:grpSpPr>
            <a:xfrm>
              <a:off x="5143500" y="3048000"/>
              <a:ext cx="6286500" cy="1238250"/>
              <a:chOff x="5143500" y="3048000"/>
              <a:chExt cx="6286500" cy="1238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143500" y="304800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429250" y="338137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553075" y="350520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67375" y="361950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638468" y="352425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7356" y="3371850"/>
                <a:ext cx="22733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Выявить факторы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7356" y="3695700"/>
                <a:ext cx="299710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действительно влияет</a:t>
                </a:r>
              </a:p>
            </p:txBody>
          </p:sp>
        </p:grpSp>
        <p:grpSp>
          <p:nvGrpSpPr>
            <p:cNvPr id="45" name="p02-task3"/>
            <p:cNvGrpSpPr/>
            <p:nvPr/>
          </p:nvGrpSpPr>
          <p:grpSpPr>
            <a:xfrm>
              <a:off x="5143500" y="4476750"/>
              <a:ext cx="6286500" cy="1238250"/>
              <a:chOff x="5143500" y="4476750"/>
              <a:chExt cx="6286500" cy="1238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43500" y="44767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429250" y="48101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553075" y="49339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667375" y="50482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38468" y="49530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7356" y="4800600"/>
                <a:ext cx="24171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Дать рекомендации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7356" y="5124450"/>
                <a:ext cx="21499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практические шаги</a:t>
                </a:r>
              </a:p>
            </p:txBody>
          </p:sp>
        </p:grpSp>
      </p:grpSp>
      <p:sp>
        <p:nvSpPr>
          <p:cNvPr id="47" name="credit"/>
          <p:cNvSpPr txBox="1"/>
          <p:nvPr/>
        </p:nvSpPr>
        <p:spPr>
          <a:xfrm>
            <a:off x="753618" y="6578600"/>
            <a:ext cx="43120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Wacky1976 / Wikimedia / CC BY-SA 4.0</a:t>
            </a:r>
          </a:p>
        </p:txBody>
      </p:sp>
      <p:pic>
        <p:nvPicPr>
          <p:cNvPr id="48" name="PPT Master narration: narration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3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8" name="p03-title"/>
          <p:cNvGrpSpPr/>
          <p:nvPr/>
        </p:nvGrpSpPr>
        <p:grpSpPr>
          <a:xfrm>
            <a:off x="743712" y="565150"/>
            <a:ext cx="4269967" cy="704088"/>
            <a:chOff x="743712" y="565150"/>
            <a:chExt cx="426996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42699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78" name="p03-grid"/>
          <p:cNvGrpSpPr/>
          <p:nvPr/>
        </p:nvGrpSpPr>
        <p:grpSpPr>
          <a:xfrm>
            <a:off x="762000" y="1905000"/>
            <a:ext cx="10715625" cy="3333750"/>
            <a:chOff x="762000" y="1905000"/>
            <a:chExt cx="10715625" cy="3333750"/>
          </a:xfrm>
        </p:grpSpPr>
        <p:grpSp>
          <p:nvGrpSpPr>
            <p:cNvPr id="13" name="p03-t01"/>
            <p:cNvGrpSpPr/>
            <p:nvPr/>
          </p:nvGrpSpPr>
          <p:grpSpPr>
            <a:xfrm>
              <a:off x="762000" y="1905000"/>
              <a:ext cx="2571750" cy="1428750"/>
              <a:chOff x="762000" y="1905000"/>
              <a:chExt cx="257175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2987" y="2203450"/>
                <a:ext cx="314324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79399">
                    <a:moveTo>
                      <a:pt x="0" y="139700"/>
                    </a:moveTo>
                    <a:lnTo>
                      <a:pt x="69850" y="139700"/>
                    </a:lnTo>
                    <a:lnTo>
                      <a:pt x="122237" y="279399"/>
                    </a:lnTo>
                    <a:lnTo>
                      <a:pt x="192087" y="0"/>
                    </a:lnTo>
                    <a:lnTo>
                      <a:pt x="244475" y="139700"/>
                    </a:lnTo>
                    <a:lnTo>
                      <a:pt x="314324" y="139700"/>
                    </a:ln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228850"/>
                <a:ext cx="17825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Зачем изучать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1456" y="2781300"/>
                <a:ext cx="893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счастье</a:t>
                </a:r>
              </a:p>
            </p:txBody>
          </p:sp>
        </p:grpSp>
        <p:grpSp>
          <p:nvGrpSpPr>
            <p:cNvPr id="23" name="p03-t02"/>
            <p:cNvGrpSpPr/>
            <p:nvPr/>
          </p:nvGrpSpPr>
          <p:grpSpPr>
            <a:xfrm>
              <a:off x="3476625" y="1905000"/>
              <a:ext cx="2571750" cy="1428750"/>
              <a:chOff x="3476625" y="1905000"/>
              <a:chExt cx="2571750" cy="1428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7662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757612" y="2185987"/>
                <a:ext cx="314325" cy="306387"/>
                <a:chOff x="3757612" y="2185987"/>
                <a:chExt cx="314325" cy="306387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27462" y="2482849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810000" y="2220912"/>
                  <a:ext cx="209550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7462">
                      <a:moveTo>
                        <a:pt x="0" y="17462"/>
                      </a:moveTo>
                      <a:lnTo>
                        <a:pt x="104775" y="0"/>
                      </a:lnTo>
                      <a:lnTo>
                        <a:pt x="209550" y="174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914775" y="2185987"/>
                  <a:ext cx="9525" cy="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6862">
                      <a:moveTo>
                        <a:pt x="0" y="0"/>
                      </a:moveTo>
                      <a:lnTo>
                        <a:pt x="0" y="2968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5761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96716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229481" y="2228850"/>
                <a:ext cx="11145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96081" y="2781300"/>
                <a:ext cx="8229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</p:grpSp>
        <p:grpSp>
          <p:nvGrpSpPr>
            <p:cNvPr id="34" name="p03-t03"/>
            <p:cNvGrpSpPr/>
            <p:nvPr/>
          </p:nvGrpSpPr>
          <p:grpSpPr>
            <a:xfrm>
              <a:off x="6191250" y="1905000"/>
              <a:ext cx="2571750" cy="1428750"/>
              <a:chOff x="6191250" y="1905000"/>
              <a:chExt cx="2571750" cy="1428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472237" y="2185987"/>
                <a:ext cx="314325" cy="314325"/>
                <a:chOff x="6472237" y="2185987"/>
                <a:chExt cx="314325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29400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27364" y="0"/>
                        <a:pt x="0" y="27364"/>
                        <a:pt x="0" y="61119"/>
                      </a:cubicBezTo>
                      <a:lnTo>
                        <a:pt x="0" y="78581"/>
                      </a:lnTo>
                      <a:cubicBezTo>
                        <a:pt x="0" y="112336"/>
                        <a:pt x="27364" y="139700"/>
                        <a:pt x="61119" y="139700"/>
                      </a:cubicBezTo>
                      <a:cubicBezTo>
                        <a:pt x="94874" y="139700"/>
                        <a:pt x="122237" y="112336"/>
                        <a:pt x="122237" y="78581"/>
                      </a:cubicBezTo>
                      <a:lnTo>
                        <a:pt x="122237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7162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78581"/>
                      </a:lnTo>
                      <a:cubicBezTo>
                        <a:pt x="122237" y="112336"/>
                        <a:pt x="94874" y="139700"/>
                        <a:pt x="61119" y="139700"/>
                      </a:cubicBezTo>
                      <a:cubicBezTo>
                        <a:pt x="27364" y="139700"/>
                        <a:pt x="0" y="112336"/>
                        <a:pt x="0" y="78581"/>
                      </a:cubicBezTo>
                      <a:lnTo>
                        <a:pt x="0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16712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8731" y="122237"/>
                      </a:moveTo>
                      <a:cubicBezTo>
                        <a:pt x="42486" y="122237"/>
                        <a:pt x="69850" y="94874"/>
                        <a:pt x="69850" y="61119"/>
                      </a:cubicBezTo>
                      <a:cubicBezTo>
                        <a:pt x="69850" y="27364"/>
                        <a:pt x="42486" y="0"/>
                        <a:pt x="8731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29400" y="2185987"/>
                  <a:ext cx="122237" cy="110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10014">
                      <a:moveTo>
                        <a:pt x="122237" y="110014"/>
                      </a:moveTo>
                      <a:lnTo>
                        <a:pt x="122237" y="61119"/>
                      </a:lnTo>
                      <a:cubicBezTo>
                        <a:pt x="122237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472237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61119" y="122237"/>
                      </a:move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6985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07162" y="2185987"/>
                  <a:ext cx="122237" cy="23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235743">
                      <a:moveTo>
                        <a:pt x="0" y="110014"/>
                      </a:moveTo>
                      <a:lnTo>
                        <a:pt x="0" y="61119"/>
                      </a:lnTo>
                      <a:cubicBezTo>
                        <a:pt x="0" y="27364"/>
                        <a:pt x="27364" y="0"/>
                        <a:pt x="61119" y="0"/>
                      </a:cubicBez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235743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944106" y="2228850"/>
                <a:ext cx="14930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Физиология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0706" y="2781300"/>
                <a:ext cx="11882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гормоны</a:t>
                </a:r>
              </a:p>
            </p:txBody>
          </p:sp>
        </p:grpSp>
        <p:grpSp>
          <p:nvGrpSpPr>
            <p:cNvPr id="44" name="p03-t04"/>
            <p:cNvGrpSpPr/>
            <p:nvPr/>
          </p:nvGrpSpPr>
          <p:grpSpPr>
            <a:xfrm>
              <a:off x="8905875" y="1905000"/>
              <a:ext cx="2571750" cy="1428750"/>
              <a:chOff x="8905875" y="1905000"/>
              <a:chExt cx="2571750" cy="1428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0587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186862" y="2255837"/>
                <a:ext cx="314325" cy="174625"/>
                <a:chOff x="9186862" y="2255837"/>
                <a:chExt cx="314325" cy="1746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204325" y="2273300"/>
                  <a:ext cx="279399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99" h="139700">
                      <a:moveTo>
                        <a:pt x="0" y="139700"/>
                      </a:moveTo>
                      <a:lnTo>
                        <a:pt x="104775" y="17462"/>
                      </a:lnTo>
                      <a:lnTo>
                        <a:pt x="192087" y="104775"/>
                      </a:lnTo>
                      <a:lnTo>
                        <a:pt x="27939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8950" y="236061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291637" y="22733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86862" y="23955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466262" y="22558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9658731" y="2228850"/>
                <a:ext cx="10405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История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25331" y="2781300"/>
                <a:ext cx="10239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взглядов</a:t>
                </a:r>
              </a:p>
            </p:txBody>
          </p:sp>
        </p:grpSp>
        <p:grpSp>
          <p:nvGrpSpPr>
            <p:cNvPr id="53" name="p03-t05"/>
            <p:cNvGrpSpPr/>
            <p:nvPr/>
          </p:nvGrpSpPr>
          <p:grpSpPr>
            <a:xfrm>
              <a:off x="762000" y="3810000"/>
              <a:ext cx="2571750" cy="1428750"/>
              <a:chOff x="762000" y="3810000"/>
              <a:chExt cx="2571750" cy="1428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1042987" y="4090987"/>
                <a:ext cx="314324" cy="314324"/>
                <a:chOff x="1042987" y="4090987"/>
                <a:chExt cx="314324" cy="3143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42987" y="409098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47762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252537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56493" y="4300537"/>
                  <a:ext cx="87312" cy="18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18345">
                      <a:moveTo>
                        <a:pt x="0" y="0"/>
                      </a:moveTo>
                      <a:cubicBezTo>
                        <a:pt x="11496" y="11733"/>
                        <a:pt x="27230" y="18345"/>
                        <a:pt x="43656" y="18345"/>
                      </a:cubicBezTo>
                      <a:cubicBezTo>
                        <a:pt x="60082" y="18345"/>
                        <a:pt x="75817" y="11733"/>
                        <a:pt x="87312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1514856" y="4133850"/>
                <a:ext cx="11955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Гедонизм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1456" y="4686300"/>
                <a:ext cx="14512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эвдемония</a:t>
                </a:r>
              </a:p>
            </p:txBody>
          </p:sp>
        </p:grpSp>
        <p:grpSp>
          <p:nvGrpSpPr>
            <p:cNvPr id="60" name="p03-t06"/>
            <p:cNvGrpSpPr/>
            <p:nvPr/>
          </p:nvGrpSpPr>
          <p:grpSpPr>
            <a:xfrm>
              <a:off x="3476625" y="3810000"/>
              <a:ext cx="2571750" cy="1428750"/>
              <a:chOff x="3476625" y="3810000"/>
              <a:chExt cx="2571750" cy="1428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47662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752745" y="4093990"/>
                <a:ext cx="315699" cy="316189"/>
                <a:chOff x="3752745" y="4093990"/>
                <a:chExt cx="315699" cy="31618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3752745" y="4093990"/>
                  <a:ext cx="315699" cy="31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699" h="316189">
                      <a:moveTo>
                        <a:pt x="127105" y="490"/>
                      </a:moveTo>
                      <a:cubicBezTo>
                        <a:pt x="51493" y="18018"/>
                        <a:pt x="0" y="88120"/>
                        <a:pt x="5888" y="165514"/>
                      </a:cubicBezTo>
                      <a:cubicBezTo>
                        <a:pt x="11776" y="242908"/>
                        <a:pt x="73281" y="304413"/>
                        <a:pt x="150675" y="310301"/>
                      </a:cubicBezTo>
                      <a:cubicBezTo>
                        <a:pt x="228069" y="316189"/>
                        <a:pt x="298171" y="264697"/>
                        <a:pt x="315699" y="189084"/>
                      </a:cubicBezTo>
                      <a:cubicBezTo>
                        <a:pt x="315699" y="179440"/>
                        <a:pt x="307881" y="171622"/>
                        <a:pt x="298237" y="171622"/>
                      </a:cubicBezTo>
                      <a:lnTo>
                        <a:pt x="179492" y="171622"/>
                      </a:lnTo>
                      <a:cubicBezTo>
                        <a:pt x="160204" y="171622"/>
                        <a:pt x="144567" y="155986"/>
                        <a:pt x="144567" y="136697"/>
                      </a:cubicBezTo>
                      <a:lnTo>
                        <a:pt x="144567" y="14460"/>
                      </a:lnTo>
                      <a:cubicBezTo>
                        <a:pt x="144129" y="10281"/>
                        <a:pt x="142036" y="6451"/>
                        <a:pt x="138755" y="3827"/>
                      </a:cubicBezTo>
                      <a:cubicBezTo>
                        <a:pt x="135474" y="1202"/>
                        <a:pt x="131278" y="0"/>
                        <a:pt x="127105" y="49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967162" y="4099719"/>
                  <a:ext cx="96044" cy="96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6044">
                      <a:moveTo>
                        <a:pt x="0" y="0"/>
                      </a:moveTo>
                      <a:cubicBezTo>
                        <a:pt x="44910" y="15813"/>
                        <a:pt x="80230" y="51133"/>
                        <a:pt x="96044" y="96044"/>
                      </a:cubicBezTo>
                      <a:lnTo>
                        <a:pt x="17462" y="96044"/>
                      </a:lnTo>
                      <a:cubicBezTo>
                        <a:pt x="7818" y="96044"/>
                        <a:pt x="0" y="88225"/>
                        <a:pt x="0" y="7858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4229481" y="4133850"/>
                <a:ext cx="11327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Формула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696081" y="4686300"/>
                <a:ext cx="8900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69" name="p03-t07"/>
            <p:cNvGrpSpPr/>
            <p:nvPr/>
          </p:nvGrpSpPr>
          <p:grpSpPr>
            <a:xfrm>
              <a:off x="6191250" y="3810000"/>
              <a:ext cx="2571750" cy="1428750"/>
              <a:chOff x="6191250" y="3810000"/>
              <a:chExt cx="2571750" cy="1428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19125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6523693" y="4086575"/>
                <a:ext cx="211409" cy="318737"/>
                <a:chOff x="6523693" y="4086575"/>
                <a:chExt cx="211409" cy="318737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594475" y="423068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29400" y="42132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34925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6629400" y="4178300"/>
                  <a:ext cx="9525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7012">
                      <a:moveTo>
                        <a:pt x="0" y="227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523693" y="4086575"/>
                  <a:ext cx="211409" cy="231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09" h="231515">
                      <a:moveTo>
                        <a:pt x="67708" y="231424"/>
                      </a:moveTo>
                      <a:cubicBezTo>
                        <a:pt x="52242" y="230518"/>
                        <a:pt x="37970" y="222814"/>
                        <a:pt x="28727" y="210380"/>
                      </a:cubicBezTo>
                      <a:cubicBezTo>
                        <a:pt x="19484" y="197946"/>
                        <a:pt x="16219" y="182059"/>
                        <a:pt x="19809" y="166988"/>
                      </a:cubicBezTo>
                      <a:cubicBezTo>
                        <a:pt x="6969" y="156295"/>
                        <a:pt x="0" y="140119"/>
                        <a:pt x="1049" y="123443"/>
                      </a:cubicBezTo>
                      <a:cubicBezTo>
                        <a:pt x="2098" y="106766"/>
                        <a:pt x="11039" y="91591"/>
                        <a:pt x="25117" y="82591"/>
                      </a:cubicBezTo>
                      <a:cubicBezTo>
                        <a:pt x="12545" y="60256"/>
                        <a:pt x="17979" y="32103"/>
                        <a:pt x="37962" y="16051"/>
                      </a:cubicBezTo>
                      <a:cubicBezTo>
                        <a:pt x="57945" y="0"/>
                        <a:pt x="86608" y="764"/>
                        <a:pt x="105707" y="17858"/>
                      </a:cubicBezTo>
                      <a:cubicBezTo>
                        <a:pt x="124809" y="792"/>
                        <a:pt x="153452" y="43"/>
                        <a:pt x="173420" y="16086"/>
                      </a:cubicBezTo>
                      <a:cubicBezTo>
                        <a:pt x="193389" y="32130"/>
                        <a:pt x="198828" y="60261"/>
                        <a:pt x="186279" y="82591"/>
                      </a:cubicBezTo>
                      <a:cubicBezTo>
                        <a:pt x="200359" y="91588"/>
                        <a:pt x="209304" y="106762"/>
                        <a:pt x="210356" y="123438"/>
                      </a:cubicBezTo>
                      <a:cubicBezTo>
                        <a:pt x="211409" y="140114"/>
                        <a:pt x="204443" y="156292"/>
                        <a:pt x="191605" y="166988"/>
                      </a:cubicBezTo>
                      <a:cubicBezTo>
                        <a:pt x="195318" y="182582"/>
                        <a:pt x="191688" y="199019"/>
                        <a:pt x="181750" y="211599"/>
                      </a:cubicBezTo>
                      <a:cubicBezTo>
                        <a:pt x="171813" y="224178"/>
                        <a:pt x="156663" y="231515"/>
                        <a:pt x="140632" y="231511"/>
                      </a:cubicBezTo>
                      <a:lnTo>
                        <a:pt x="70782" y="231511"/>
                      </a:lnTo>
                      <a:lnTo>
                        <a:pt x="67708" y="231424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6944106" y="4133850"/>
                <a:ext cx="11115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410706" y="4686300"/>
                <a:ext cx="8900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77" name="p03-t08"/>
            <p:cNvGrpSpPr/>
            <p:nvPr/>
          </p:nvGrpSpPr>
          <p:grpSpPr>
            <a:xfrm>
              <a:off x="8905875" y="3810000"/>
              <a:ext cx="2571750" cy="1428750"/>
              <a:chOff x="8905875" y="3810000"/>
              <a:chExt cx="2571750" cy="14287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890587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>
                <a:off x="9193882" y="4090987"/>
                <a:ext cx="300250" cy="312404"/>
                <a:chOff x="9193882" y="4090987"/>
                <a:chExt cx="300250" cy="312404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9239250" y="4090987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0"/>
                        <a:pt x="46909" y="209550"/>
                        <a:pt x="104775" y="209550"/>
                      </a:cubicBezTo>
                      <a:cubicBezTo>
                        <a:pt x="162640" y="209550"/>
                        <a:pt x="209550" y="162640"/>
                        <a:pt x="209550" y="104775"/>
                      </a:cubicBezTo>
                      <a:cubicBezTo>
                        <a:pt x="209550" y="46909"/>
                        <a:pt x="162640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9344025" y="4248150"/>
                  <a:ext cx="150107" cy="155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41">
                      <a:moveTo>
                        <a:pt x="0" y="52387"/>
                      </a:moveTo>
                      <a:lnTo>
                        <a:pt x="59372" y="155241"/>
                      </a:lnTo>
                      <a:lnTo>
                        <a:pt x="87277" y="98785"/>
                      </a:lnTo>
                      <a:lnTo>
                        <a:pt x="150107" y="102836"/>
                      </a:lnTo>
                      <a:lnTo>
                        <a:pt x="90735" y="0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9193882" y="4248150"/>
                  <a:ext cx="150107" cy="155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24">
                      <a:moveTo>
                        <a:pt x="59372" y="0"/>
                      </a:moveTo>
                      <a:lnTo>
                        <a:pt x="0" y="102854"/>
                      </a:lnTo>
                      <a:lnTo>
                        <a:pt x="62830" y="98785"/>
                      </a:lnTo>
                      <a:lnTo>
                        <a:pt x="90735" y="155224"/>
                      </a:lnTo>
                      <a:lnTo>
                        <a:pt x="150107" y="52387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</p:grpSp>
          <p:sp>
            <p:nvSpPr>
              <p:cNvPr id="75" name="TextBox 75"/>
              <p:cNvSpPr txBox="1"/>
              <p:nvPr/>
            </p:nvSpPr>
            <p:spPr>
              <a:xfrm>
                <a:off x="9658731" y="4133850"/>
                <a:ext cx="10677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Выводы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25331" y="4686300"/>
                <a:ext cx="18521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рекомендации</a:t>
                </a:r>
              </a:p>
            </p:txBody>
          </p:sp>
        </p:grpSp>
      </p:grpSp>
      <p:sp>
        <p:nvSpPr>
          <p:cNvPr id="79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80" name="PPT Master narration: 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9" name="p04-title"/>
          <p:cNvGrpSpPr/>
          <p:nvPr/>
        </p:nvGrpSpPr>
        <p:grpSpPr>
          <a:xfrm>
            <a:off x="743712" y="527050"/>
            <a:ext cx="7944492" cy="967994"/>
            <a:chOff x="743712" y="527050"/>
            <a:chExt cx="7944492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79444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Депрессия растёт — счастье нет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70505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Литературы о счастье всё больше. Счастливых людей — нет.</a:t>
              </a:r>
            </a:p>
          </p:txBody>
        </p:sp>
      </p:grpSp>
      <p:grpSp>
        <p:nvGrpSpPr>
          <p:cNvPr id="21" name="p04-depression"/>
          <p:cNvGrpSpPr/>
          <p:nvPr/>
        </p:nvGrpSpPr>
        <p:grpSpPr>
          <a:xfrm>
            <a:off x="762000" y="1762125"/>
            <a:ext cx="5143500" cy="3810000"/>
            <a:chOff x="762000" y="1762125"/>
            <a:chExt cx="5143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8606" y="1962150"/>
              <a:ext cx="3878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США: 8,2% → 13,1%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333500" y="2705100"/>
              <a:ext cx="4191000" cy="1924050"/>
            </a:xfrm>
            <a:custGeom>
              <a:avLst/>
              <a:gdLst/>
              <a:ahLst/>
              <a:cxnLst/>
              <a:rect l="l" t="t" r="r" b="b"/>
              <a:pathLst>
                <a:path w="4191000" h="1924050">
                  <a:moveTo>
                    <a:pt x="0" y="1924050"/>
                  </a:moveTo>
                  <a:lnTo>
                    <a:pt x="857250" y="1657350"/>
                  </a:lnTo>
                  <a:lnTo>
                    <a:pt x="1714500" y="1276350"/>
                  </a:lnTo>
                  <a:lnTo>
                    <a:pt x="2571750" y="838200"/>
                  </a:lnTo>
                  <a:lnTo>
                    <a:pt x="3429000" y="323850"/>
                  </a:lnTo>
                  <a:lnTo>
                    <a:pt x="4191000" y="0"/>
                  </a:lnTo>
                </a:path>
              </a:pathLst>
            </a:custGeom>
            <a:noFill/>
            <a:ln w="57150">
              <a:solidFill>
                <a:srgbClr val="E74C3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438775" y="2619375"/>
              <a:ext cx="171450" cy="1714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0056" y="2514600"/>
              <a:ext cx="503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0056" y="4610100"/>
              <a:ext cx="368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4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606" y="5200650"/>
              <a:ext cx="30047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доля населения, %</a:t>
              </a:r>
            </a:p>
          </p:txBody>
        </p:sp>
      </p:grpSp>
      <p:grpSp>
        <p:nvGrpSpPr>
          <p:cNvPr id="33" name="p04-happiness"/>
          <p:cNvGrpSpPr/>
          <p:nvPr/>
        </p:nvGrpSpPr>
        <p:grpSpPr>
          <a:xfrm>
            <a:off x="6286500" y="1762125"/>
            <a:ext cx="5143500" cy="3810000"/>
            <a:chOff x="6286500" y="1762125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1962150"/>
              <a:ext cx="2992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 — плато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580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6" name="Polyline 26"/>
            <p:cNvSpPr/>
            <p:nvPr/>
          </p:nvSpPr>
          <p:spPr>
            <a:xfrm>
              <a:off x="6858000" y="3524250"/>
              <a:ext cx="4191000" cy="95250"/>
            </a:xfrm>
            <a:custGeom>
              <a:avLst/>
              <a:gdLst/>
              <a:ahLst/>
              <a:cxnLst/>
              <a:rect l="l" t="t" r="r" b="b"/>
              <a:pathLst>
                <a:path w="4191000" h="95250">
                  <a:moveTo>
                    <a:pt x="0" y="76200"/>
                  </a:moveTo>
                  <a:lnTo>
                    <a:pt x="857250" y="0"/>
                  </a:lnTo>
                  <a:lnTo>
                    <a:pt x="1714500" y="95250"/>
                  </a:lnTo>
                  <a:lnTo>
                    <a:pt x="2571750" y="19050"/>
                  </a:lnTo>
                  <a:lnTo>
                    <a:pt x="3429000" y="76200"/>
                  </a:lnTo>
                  <a:lnTo>
                    <a:pt x="4191000" y="381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963275" y="34766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4556" y="25146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4556" y="46101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41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3106" y="5200650"/>
              <a:ext cx="3219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баллы индекса, 0–10</a:t>
              </a:r>
            </a:p>
          </p:txBody>
        </p:sp>
      </p:grpSp>
      <p:grpSp>
        <p:nvGrpSpPr>
          <p:cNvPr id="38" name="p04-quote"/>
          <p:cNvGrpSpPr/>
          <p:nvPr/>
        </p:nvGrpSpPr>
        <p:grpSpPr>
          <a:xfrm>
            <a:off x="993775" y="5905500"/>
            <a:ext cx="7860944" cy="352044"/>
            <a:chOff x="993775" y="5905500"/>
            <a:chExt cx="7860944" cy="352044"/>
          </a:xfrm>
        </p:grpSpPr>
        <p:grpSp>
          <p:nvGrpSpPr>
            <p:cNvPr id="36" name="Group 36"/>
            <p:cNvGrpSpPr/>
            <p:nvPr/>
          </p:nvGrpSpPr>
          <p:grpSpPr>
            <a:xfrm>
              <a:off x="993775" y="5924550"/>
              <a:ext cx="222250" cy="190500"/>
              <a:chOff x="993775" y="5924550"/>
              <a:chExt cx="222250" cy="190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93775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36650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38656" y="5905500"/>
              <a:ext cx="74160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Аристотель: счастье — «хороший удел», а не случайная удача</a:t>
              </a:r>
            </a:p>
          </p:txBody>
        </p:sp>
      </p:grpSp>
      <p:pic>
        <p:nvPicPr>
          <p:cNvPr id="39" name="PPT Master narration: narration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5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5-foot"/>
          <p:cNvSpPr txBox="1"/>
          <p:nvPr/>
        </p:nvSpPr>
        <p:spPr>
          <a:xfrm>
            <a:off x="752856" y="655320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5-num"/>
          <p:cNvSpPr txBox="1"/>
          <p:nvPr/>
        </p:nvSpPr>
        <p:spPr>
          <a:xfrm>
            <a:off x="11151304" y="65532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8" name="p05-title"/>
          <p:cNvGrpSpPr/>
          <p:nvPr/>
        </p:nvGrpSpPr>
        <p:grpSpPr>
          <a:xfrm>
            <a:off x="743712" y="565150"/>
            <a:ext cx="8227957" cy="704088"/>
            <a:chOff x="743712" y="565150"/>
            <a:chExt cx="822795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227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p05-venn"/>
          <p:cNvGrpSpPr/>
          <p:nvPr/>
        </p:nvGrpSpPr>
        <p:grpSpPr>
          <a:xfrm>
            <a:off x="3095625" y="1952625"/>
            <a:ext cx="6784432" cy="2762250"/>
            <a:chOff x="3095625" y="1952625"/>
            <a:chExt cx="6784432" cy="2762250"/>
          </a:xfrm>
        </p:grpSpPr>
        <p:sp>
          <p:nvSpPr>
            <p:cNvPr id="9" name="Ellipse 9"/>
            <p:cNvSpPr/>
            <p:nvPr/>
          </p:nvSpPr>
          <p:spPr>
            <a:xfrm>
              <a:off x="3095625" y="1952625"/>
              <a:ext cx="2762250" cy="276225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334125" y="1952625"/>
              <a:ext cx="2762250" cy="2762250"/>
            </a:xfrm>
            <a:prstGeom prst="ellipse">
              <a:avLst/>
            </a:prstGeom>
            <a:solidFill>
              <a:srgbClr val="E67E22">
                <a:alpha val="16000"/>
              </a:srgbClr>
            </a:solidFill>
            <a:ln w="28575">
              <a:solidFill>
                <a:srgbClr val="E67E22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195637" y="2319337"/>
              <a:ext cx="314325" cy="306387"/>
              <a:chOff x="3195637" y="2319337"/>
              <a:chExt cx="314325" cy="3063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265487" y="2616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48025" y="2354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352800" y="2319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9563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0518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7506" y="2343150"/>
              <a:ext cx="1637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2705100"/>
              <a:ext cx="1546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428341" y="23323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6256" y="2343150"/>
              <a:ext cx="973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106" y="2705100"/>
              <a:ext cx="151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переживания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8195" y="3124200"/>
              <a:ext cx="615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0972" y="3429000"/>
              <a:ext cx="15700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5338" y="3714750"/>
              <a:ext cx="1581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</p:grpSp>
      <p:grpSp>
        <p:nvGrpSpPr>
          <p:cNvPr id="55" name="p05-approaches"/>
          <p:cNvGrpSpPr/>
          <p:nvPr/>
        </p:nvGrpSpPr>
        <p:grpSpPr>
          <a:xfrm>
            <a:off x="1143000" y="5286375"/>
            <a:ext cx="9906000" cy="952500"/>
            <a:chOff x="1143000" y="5286375"/>
            <a:chExt cx="9906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1143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376362" y="5548312"/>
              <a:ext cx="257175" cy="257176"/>
              <a:chOff x="1376362" y="5548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404938" y="55483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76362" y="57197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62100" y="55501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0675" y="57219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62506" y="5534025"/>
              <a:ext cx="494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4356" y="5848350"/>
              <a:ext cx="1453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195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852862" y="5548312"/>
              <a:ext cx="257176" cy="257176"/>
              <a:chOff x="3852862" y="5548312"/>
              <a:chExt cx="257176" cy="2571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981450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881438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052888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81450" y="55483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852862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881438" y="55483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39006" y="5534025"/>
              <a:ext cx="14776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29362" y="5548312"/>
              <a:ext cx="257175" cy="257175"/>
              <a:chOff x="6329362" y="5548312"/>
              <a:chExt cx="257175" cy="2571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00800" y="5619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93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128588" y="242888"/>
                    </a:moveTo>
                    <a:lnTo>
                      <a:pt x="128588" y="257175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  <a:moveTo>
                      <a:pt x="210026" y="210026"/>
                    </a:moveTo>
                    <a:lnTo>
                      <a:pt x="220028" y="220028"/>
                    </a:lnTo>
                    <a:moveTo>
                      <a:pt x="47149" y="210026"/>
                    </a:moveTo>
                    <a:lnTo>
                      <a:pt x="37147" y="22002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15506" y="5534025"/>
              <a:ext cx="139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72500" y="5286375"/>
              <a:ext cx="24765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813221" y="5555671"/>
              <a:ext cx="242458" cy="242458"/>
              <a:chOff x="8813221" y="5555671"/>
              <a:chExt cx="242458" cy="24245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2387" y="5615680"/>
                <a:ext cx="123283" cy="123283"/>
              </a:xfrm>
              <a:custGeom>
                <a:avLst/>
                <a:gdLst/>
                <a:ahLst/>
                <a:cxnLst/>
                <a:rect l="l" t="t" r="r" b="b"/>
                <a:pathLst>
                  <a:path w="123283" h="123283">
                    <a:moveTo>
                      <a:pt x="102468" y="101625"/>
                    </a:moveTo>
                    <a:cubicBezTo>
                      <a:pt x="117325" y="87276"/>
                      <a:pt x="123283" y="66027"/>
                      <a:pt x="118053" y="46046"/>
                    </a:cubicBezTo>
                    <a:cubicBezTo>
                      <a:pt x="112823" y="26065"/>
                      <a:pt x="97218" y="10460"/>
                      <a:pt x="77237" y="5230"/>
                    </a:cubicBezTo>
                    <a:cubicBezTo>
                      <a:pt x="57256" y="0"/>
                      <a:pt x="36007" y="5958"/>
                      <a:pt x="21658" y="20815"/>
                    </a:cubicBezTo>
                    <a:cubicBezTo>
                      <a:pt x="0" y="43239"/>
                      <a:pt x="310" y="78884"/>
                      <a:pt x="22354" y="100929"/>
                    </a:cubicBezTo>
                    <a:cubicBezTo>
                      <a:pt x="44399" y="122973"/>
                      <a:pt x="80044" y="123283"/>
                      <a:pt x="102468" y="1016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13221" y="5694986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80824" y="103143"/>
                    </a:moveTo>
                    <a:cubicBezTo>
                      <a:pt x="103143" y="80824"/>
                      <a:pt x="103143" y="44638"/>
                      <a:pt x="80824" y="22319"/>
                    </a:cubicBezTo>
                    <a:cubicBezTo>
                      <a:pt x="58505" y="0"/>
                      <a:pt x="22319" y="0"/>
                      <a:pt x="0" y="22319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2536" y="5555671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22319" y="0"/>
                    </a:moveTo>
                    <a:cubicBezTo>
                      <a:pt x="0" y="22319"/>
                      <a:pt x="0" y="58505"/>
                      <a:pt x="22319" y="80824"/>
                    </a:cubicBezTo>
                    <a:cubicBezTo>
                      <a:pt x="44638" y="103143"/>
                      <a:pt x="80824" y="103143"/>
                      <a:pt x="103143" y="8082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192006" y="5534025"/>
              <a:ext cx="12612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Био-психо-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53856" y="5848350"/>
              <a:ext cx="1394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социальный</a:t>
              </a:r>
            </a:p>
          </p:txBody>
        </p:sp>
      </p:grpSp>
      <p:grpSp>
        <p:nvGrpSpPr>
          <p:cNvPr id="58" name="p05-note"/>
          <p:cNvGrpSpPr/>
          <p:nvPr/>
        </p:nvGrpSpPr>
        <p:grpSpPr>
          <a:xfrm>
            <a:off x="1133856" y="6248400"/>
            <a:ext cx="9960109" cy="636270"/>
            <a:chOff x="1133856" y="6248400"/>
            <a:chExt cx="9960109" cy="636270"/>
          </a:xfrm>
        </p:grpSpPr>
        <p:sp>
          <p:nvSpPr>
            <p:cNvPr id="56" name="TextBox 56"/>
            <p:cNvSpPr txBox="1"/>
            <p:nvPr/>
          </p:nvSpPr>
          <p:spPr>
            <a:xfrm>
              <a:off x="1133856" y="6248400"/>
              <a:ext cx="9960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Теория расширения и созидания: позитивные эмоции расширяют мышление и ресурсы</a:t>
              </a:r>
            </a:p>
          </p:txBody>
        </p:sp>
        <p:sp>
          <p:nvSpPr>
            <p:cNvPr id="57" name="credit"/>
            <p:cNvSpPr txBox="1"/>
            <p:nvPr/>
          </p:nvSpPr>
          <p:spPr>
            <a:xfrm>
              <a:off x="4183380" y="6591300"/>
              <a:ext cx="4766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YVC Biology Department / Wikimedia / CC BY 2.0</a:t>
              </a:r>
            </a:p>
          </p:txBody>
        </p:sp>
      </p:grpSp>
      <p:pic>
        <p:nvPicPr>
          <p:cNvPr id="59" name="PPT Master narration: narration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  <p:pic>
        <p:nvPicPr>
          <p:cNvPr id="9000" name="p06-video-movie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391025" y="1676400"/>
            <a:ext cx="3409950" cy="191452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p06-title"/>
          <p:cNvGrpSpPr/>
          <p:nvPr/>
        </p:nvGrpSpPr>
        <p:grpSpPr>
          <a:xfrm>
            <a:off x="743712" y="527050"/>
            <a:ext cx="6068561" cy="704088"/>
            <a:chOff x="743712" y="527050"/>
            <a:chExt cx="6068561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606856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Четыре гормона счастья</a:t>
              </a:r>
            </a:p>
          </p:txBody>
        </p:sp>
      </p:grpSp>
      <p:grpSp>
        <p:nvGrpSpPr>
          <p:cNvPr id="8" name="p06-caveat"/>
          <p:cNvGrpSpPr/>
          <p:nvPr/>
        </p:nvGrpSpPr>
        <p:grpSpPr>
          <a:xfrm>
            <a:off x="752856" y="1200150"/>
            <a:ext cx="10834672" cy="352044"/>
            <a:chOff x="752856" y="1200150"/>
            <a:chExt cx="1083467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1200150"/>
              <a:ext cx="10834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Упрощённая модель: дофамин — предвкушение, а не удовольствие (Berridge: liking vs wanting)</a:t>
              </a:r>
            </a:p>
          </p:txBody>
        </p:sp>
      </p:grpSp>
      <p:grpSp>
        <p:nvGrpSpPr>
          <p:cNvPr id="14" name="p06-dopamine"/>
          <p:cNvGrpSpPr/>
          <p:nvPr/>
        </p:nvGrpSpPr>
        <p:grpSpPr>
          <a:xfrm>
            <a:off x="762000" y="1666875"/>
            <a:ext cx="3429000" cy="1161669"/>
            <a:chOff x="762000" y="1666875"/>
            <a:chExt cx="3429000" cy="1161669"/>
          </a:xfrm>
        </p:grpSpPr>
        <p:sp>
          <p:nvSpPr>
            <p:cNvPr id="9" name="Rectangle 9"/>
            <p:cNvSpPr/>
            <p:nvPr/>
          </p:nvSpPr>
          <p:spPr>
            <a:xfrm>
              <a:off x="762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52513" y="2054225"/>
              <a:ext cx="350838" cy="330201"/>
            </a:xfrm>
            <a:custGeom>
              <a:avLst/>
              <a:gdLst/>
              <a:ahLst/>
              <a:cxnLst/>
              <a:rect l="l" t="t" r="r" b="b"/>
              <a:pathLst>
                <a:path w="350838" h="330201">
                  <a:moveTo>
                    <a:pt x="268288" y="288925"/>
                  </a:moveTo>
                  <a:cubicBezTo>
                    <a:pt x="291084" y="288925"/>
                    <a:pt x="309563" y="307405"/>
                    <a:pt x="309563" y="330201"/>
                  </a:cubicBezTo>
                  <a:cubicBezTo>
                    <a:pt x="309563" y="307405"/>
                    <a:pt x="328042" y="288925"/>
                    <a:pt x="350838" y="288925"/>
                  </a:cubicBezTo>
                  <a:cubicBezTo>
                    <a:pt x="328042" y="288925"/>
                    <a:pt x="309563" y="270446"/>
                    <a:pt x="309563" y="247650"/>
                  </a:cubicBezTo>
                  <a:cubicBezTo>
                    <a:pt x="309563" y="270446"/>
                    <a:pt x="291084" y="288925"/>
                    <a:pt x="268288" y="288925"/>
                  </a:cubicBezTo>
                  <a:moveTo>
                    <a:pt x="268288" y="41275"/>
                  </a:moveTo>
                  <a:cubicBezTo>
                    <a:pt x="291084" y="41275"/>
                    <a:pt x="309563" y="59755"/>
                    <a:pt x="309563" y="82550"/>
                  </a:cubicBezTo>
                  <a:cubicBezTo>
                    <a:pt x="309563" y="59755"/>
                    <a:pt x="328042" y="41275"/>
                    <a:pt x="350838" y="41275"/>
                  </a:cubicBezTo>
                  <a:cubicBezTo>
                    <a:pt x="328042" y="41275"/>
                    <a:pt x="309563" y="22796"/>
                    <a:pt x="309563" y="0"/>
                  </a:cubicBezTo>
                  <a:cubicBezTo>
                    <a:pt x="309563" y="22796"/>
                    <a:pt x="291084" y="41275"/>
                    <a:pt x="268288" y="41275"/>
                  </a:cubicBezTo>
                  <a:moveTo>
                    <a:pt x="123825" y="288925"/>
                  </a:moveTo>
                  <a:cubicBezTo>
                    <a:pt x="123825" y="220539"/>
                    <a:pt x="179264" y="165100"/>
                    <a:pt x="247650" y="165100"/>
                  </a:cubicBezTo>
                  <a:cubicBezTo>
                    <a:pt x="179264" y="165100"/>
                    <a:pt x="123825" y="109662"/>
                    <a:pt x="123825" y="41275"/>
                  </a:cubicBezTo>
                  <a:cubicBezTo>
                    <a:pt x="123825" y="109662"/>
                    <a:pt x="68387" y="165100"/>
                    <a:pt x="0" y="165100"/>
                  </a:cubicBezTo>
                  <a:cubicBezTo>
                    <a:pt x="68387" y="165100"/>
                    <a:pt x="123825" y="220539"/>
                    <a:pt x="123825" y="288925"/>
                  </a:cubicBez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7256" y="1914525"/>
              <a:ext cx="1169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67256" y="2209800"/>
              <a:ext cx="1437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7256" y="2476500"/>
              <a:ext cx="16494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предвкушение</a:t>
              </a:r>
            </a:p>
          </p:txBody>
        </p:sp>
      </p:grpSp>
      <p:grpSp>
        <p:nvGrpSpPr>
          <p:cNvPr id="21" name="p06-serotonin"/>
          <p:cNvGrpSpPr/>
          <p:nvPr/>
        </p:nvGrpSpPr>
        <p:grpSpPr>
          <a:xfrm>
            <a:off x="8001000" y="1666875"/>
            <a:ext cx="3429000" cy="1143000"/>
            <a:chOff x="8001000" y="1666875"/>
            <a:chExt cx="3429000" cy="1143000"/>
          </a:xfrm>
        </p:grpSpPr>
        <p:sp>
          <p:nvSpPr>
            <p:cNvPr id="15" name="Rectangle 15"/>
            <p:cNvSpPr/>
            <p:nvPr/>
          </p:nvSpPr>
          <p:spPr>
            <a:xfrm>
              <a:off x="8001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291513" y="2033588"/>
              <a:ext cx="371476" cy="371476"/>
              <a:chOff x="8291513" y="2033588"/>
              <a:chExt cx="371476" cy="37147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94700" y="2136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91513" y="2033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906256" y="1914525"/>
              <a:ext cx="13407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06256" y="2276475"/>
              <a:ext cx="19870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</p:grpSp>
      <p:grpSp>
        <p:nvGrpSpPr>
          <p:cNvPr id="30" name="p06-endorphins"/>
          <p:cNvGrpSpPr/>
          <p:nvPr/>
        </p:nvGrpSpPr>
        <p:grpSpPr>
          <a:xfrm>
            <a:off x="762000" y="3095625"/>
            <a:ext cx="3429000" cy="1143000"/>
            <a:chOff x="762000" y="3095625"/>
            <a:chExt cx="34290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762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073150" y="3462338"/>
              <a:ext cx="288926" cy="371475"/>
              <a:chOff x="1073150" y="3462338"/>
              <a:chExt cx="288926" cy="3714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217757" y="34623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73150" y="3740944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17613" y="3565525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35063" y="3565525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667256" y="3343275"/>
              <a:ext cx="1510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7256" y="3705225"/>
              <a:ext cx="2246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</p:grpSp>
      <p:grpSp>
        <p:nvGrpSpPr>
          <p:cNvPr id="35" name="p06-oxytocin"/>
          <p:cNvGrpSpPr/>
          <p:nvPr/>
        </p:nvGrpSpPr>
        <p:grpSpPr>
          <a:xfrm>
            <a:off x="8001000" y="3095625"/>
            <a:ext cx="3429000" cy="1143000"/>
            <a:chOff x="8001000" y="3095625"/>
            <a:chExt cx="34290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8001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284366" y="3477681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06256" y="3343275"/>
              <a:ext cx="13310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06256" y="3705225"/>
              <a:ext cx="22526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</p:grpSp>
      <p:grpSp>
        <p:nvGrpSpPr>
          <p:cNvPr id="40" name="p06-video"/>
          <p:cNvGrpSpPr/>
          <p:nvPr/>
        </p:nvGrpSpPr>
        <p:grpSpPr>
          <a:xfrm>
            <a:off x="4333875" y="1619250"/>
            <a:ext cx="3524250" cy="2019300"/>
            <a:chOff x="4333875" y="1619250"/>
            <a:chExt cx="35242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619250"/>
              <a:ext cx="3524250" cy="2019300"/>
            </a:xfrm>
            <a:prstGeom prst="roundRect">
              <a:avLst>
                <a:gd name="adj" fmla="val 660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rcRect l="0" t="93" r="0" b="93"/>
            <a:stretch>
              <a:fillRect/>
            </a:stretch>
          </p:blipFill>
          <p:spPr>
            <a:xfrm>
              <a:off x="4391025" y="1676400"/>
              <a:ext cx="3409950" cy="1914525"/>
            </a:xfrm>
            <a:prstGeom prst="rect">
              <a:avLst/>
            </a:prstGeom>
          </p:spPr>
        </p:pic>
        <p:sp>
          <p:nvSpPr>
            <p:cNvPr id="38" name="Ellipse 38"/>
            <p:cNvSpPr/>
            <p:nvPr/>
          </p:nvSpPr>
          <p:spPr>
            <a:xfrm>
              <a:off x="5772150" y="2305050"/>
              <a:ext cx="647700" cy="647700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000750" y="2476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6" name="p06-video-note"/>
          <p:cNvGrpSpPr/>
          <p:nvPr/>
        </p:nvGrpSpPr>
        <p:grpSpPr>
          <a:xfrm>
            <a:off x="4514850" y="3886200"/>
            <a:ext cx="3321521" cy="675894"/>
            <a:chOff x="4514850" y="3886200"/>
            <a:chExt cx="3321521" cy="675894"/>
          </a:xfrm>
        </p:grpSpPr>
        <p:grpSp>
          <p:nvGrpSpPr>
            <p:cNvPr id="43" name="Group 43"/>
            <p:cNvGrpSpPr/>
            <p:nvPr/>
          </p:nvGrpSpPr>
          <p:grpSpPr>
            <a:xfrm>
              <a:off x="4514850" y="4019550"/>
              <a:ext cx="228600" cy="152400"/>
              <a:chOff x="4514850" y="4019550"/>
              <a:chExt cx="228600" cy="1524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667250" y="40394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51485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886706" y="3886200"/>
              <a:ext cx="2949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Видео: нейросети мозга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86706" y="4210050"/>
              <a:ext cx="11134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12 секунд</a:t>
              </a:r>
            </a:p>
          </p:txBody>
        </p:sp>
      </p:grpSp>
      <p:grpSp>
        <p:nvGrpSpPr>
          <p:cNvPr id="68" name="p06-summary"/>
          <p:cNvGrpSpPr/>
          <p:nvPr/>
        </p:nvGrpSpPr>
        <p:grpSpPr>
          <a:xfrm>
            <a:off x="762000" y="4667250"/>
            <a:ext cx="10668000" cy="1333500"/>
            <a:chOff x="762000" y="4667250"/>
            <a:chExt cx="10668000" cy="1333500"/>
          </a:xfrm>
        </p:grpSpPr>
        <p:sp>
          <p:nvSpPr>
            <p:cNvPr id="47" name="Rectangle 47"/>
            <p:cNvSpPr/>
            <p:nvPr/>
          </p:nvSpPr>
          <p:spPr>
            <a:xfrm>
              <a:off x="762000" y="4667250"/>
              <a:ext cx="10668000" cy="1333500"/>
            </a:xfrm>
            <a:prstGeom prst="roundRect">
              <a:avLst>
                <a:gd name="adj" fmla="val 11429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7656" y="4838700"/>
              <a:ext cx="41037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гормонов поддерживают: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1114425" y="5331619"/>
              <a:ext cx="166688" cy="214312"/>
              <a:chOff x="1114425" y="5331619"/>
              <a:chExt cx="166688" cy="21431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1197852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14425" y="5492353"/>
                <a:ext cx="68461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68461" h="17859">
                    <a:moveTo>
                      <a:pt x="0" y="5953"/>
                    </a:moveTo>
                    <a:lnTo>
                      <a:pt x="59531" y="17859"/>
                    </a:lnTo>
                    <a:lnTo>
                      <a:pt x="68461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7769" y="5391150"/>
                <a:ext cx="476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54781">
                    <a:moveTo>
                      <a:pt x="47625" y="154781"/>
                    </a:moveTo>
                    <a:lnTo>
                      <a:pt x="47625" y="107156"/>
                    </a:lnTo>
                    <a:lnTo>
                      <a:pt x="0" y="71438"/>
                    </a:ln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50144" y="5391150"/>
                <a:ext cx="130969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47625">
                    <a:moveTo>
                      <a:pt x="0" y="47625"/>
                    </a:moveTo>
                    <a:lnTo>
                      <a:pt x="0" y="11906"/>
                    </a:lnTo>
                    <a:lnTo>
                      <a:pt x="59531" y="0"/>
                    </a:lnTo>
                    <a:lnTo>
                      <a:pt x="95250" y="35719"/>
                    </a:lnTo>
                    <a:lnTo>
                      <a:pt x="130969" y="47625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457706" y="5295900"/>
              <a:ext cx="6511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спорт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3172886" y="5331524"/>
              <a:ext cx="212216" cy="224591"/>
            </a:xfrm>
            <a:custGeom>
              <a:avLst/>
              <a:gdLst/>
              <a:ahLst/>
              <a:cxnLst/>
              <a:rect l="l" t="t" r="r" b="b"/>
              <a:pathLst>
                <a:path w="212216" h="224591">
                  <a:moveTo>
                    <a:pt x="113239" y="95"/>
                  </a:moveTo>
                  <a:cubicBezTo>
                    <a:pt x="114811" y="95"/>
                    <a:pt x="116371" y="95"/>
                    <a:pt x="117918" y="95"/>
                  </a:cubicBezTo>
                  <a:cubicBezTo>
                    <a:pt x="86357" y="29422"/>
                    <a:pt x="80236" y="77103"/>
                    <a:pt x="103366" y="113451"/>
                  </a:cubicBezTo>
                  <a:cubicBezTo>
                    <a:pt x="126496" y="149800"/>
                    <a:pt x="172281" y="164450"/>
                    <a:pt x="212216" y="148280"/>
                  </a:cubicBezTo>
                  <a:cubicBezTo>
                    <a:pt x="191586" y="197919"/>
                    <a:pt x="137371" y="224591"/>
                    <a:pt x="85458" y="210642"/>
                  </a:cubicBezTo>
                  <a:cubicBezTo>
                    <a:pt x="33544" y="196692"/>
                    <a:pt x="0" y="146438"/>
                    <a:pt x="7029" y="93145"/>
                  </a:cubicBezTo>
                  <a:cubicBezTo>
                    <a:pt x="14058" y="39851"/>
                    <a:pt x="59484" y="13"/>
                    <a:pt x="113239" y="0"/>
                  </a:cubicBezTo>
                  <a:lnTo>
                    <a:pt x="113239" y="95"/>
                  </a:lnTo>
                </a:path>
              </a:pathLst>
            </a:custGeom>
            <a:noFill/>
            <a:ln w="23812">
              <a:solidFill>
                <a:srgbClr val="27AE6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534156" y="5295900"/>
              <a:ext cx="408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сон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5095875" y="5331619"/>
              <a:ext cx="202406" cy="226219"/>
              <a:chOff x="5095875" y="5331619"/>
              <a:chExt cx="202406" cy="226219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107781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095875" y="5426869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11906" y="130969"/>
                    </a:moveTo>
                    <a:lnTo>
                      <a:pt x="11906" y="71438"/>
                    </a:lnTo>
                    <a:lnTo>
                      <a:pt x="0" y="59531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lnTo>
                      <a:pt x="59531" y="71438"/>
                    </a:lnTo>
                    <a:lnTo>
                      <a:pt x="59531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226844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203031" y="5426869"/>
                <a:ext cx="952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30969">
                    <a:moveTo>
                      <a:pt x="23812" y="130969"/>
                    </a:moveTo>
                    <a:lnTo>
                      <a:pt x="23812" y="83344"/>
                    </a:lnTo>
                    <a:lnTo>
                      <a:pt x="0" y="83344"/>
                    </a:lnTo>
                    <a:lnTo>
                      <a:pt x="23812" y="11906"/>
                    </a:lnTo>
                    <a:cubicBezTo>
                      <a:pt x="23812" y="5331"/>
                      <a:pt x="29143" y="0"/>
                      <a:pt x="35719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95250" y="83344"/>
                    </a:lnTo>
                    <a:lnTo>
                      <a:pt x="71438" y="83344"/>
                    </a:lnTo>
                    <a:lnTo>
                      <a:pt x="71438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5439156" y="5295900"/>
              <a:ext cx="1029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общение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489031" y="5343525"/>
              <a:ext cx="166688" cy="214312"/>
              <a:chOff x="7489031" y="5343525"/>
              <a:chExt cx="166688" cy="214312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489031" y="5343525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1906" y="0"/>
                    </a:move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166688"/>
                    </a:lnTo>
                    <a:cubicBezTo>
                      <a:pt x="166688" y="179839"/>
                      <a:pt x="156026" y="190500"/>
                      <a:pt x="142875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moveTo>
                      <a:pt x="47625" y="0"/>
                    </a:moveTo>
                    <a:lnTo>
                      <a:pt x="47625" y="214312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584281" y="53911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84281" y="5438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820406" y="5295900"/>
              <a:ext cx="2579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здоровый образ жизни</a:t>
              </a:r>
            </a:p>
          </p:txBody>
        </p:sp>
      </p:grpSp>
      <p:grpSp>
        <p:nvGrpSpPr>
          <p:cNvPr id="71" name="p06-credits"/>
          <p:cNvGrpSpPr/>
          <p:nvPr/>
        </p:nvGrpSpPr>
        <p:grpSpPr>
          <a:xfrm>
            <a:off x="752856" y="6197600"/>
            <a:ext cx="11033833" cy="555244"/>
            <a:chOff x="752856" y="6197600"/>
            <a:chExt cx="11033833" cy="555244"/>
          </a:xfrm>
        </p:grpSpPr>
        <p:sp>
          <p:nvSpPr>
            <p:cNvPr id="69" name="TextBox 69"/>
            <p:cNvSpPr txBox="1"/>
            <p:nvPr/>
          </p:nvSpPr>
          <p:spPr>
            <a:xfrm>
              <a:off x="753618" y="6197600"/>
              <a:ext cx="1103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Katherine Stember / Wikimedia / CC BY 4.0; видео — © JOGOS Public Assets / Wikimedia / CC BY-SA 4.0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2856" y="6400800"/>
              <a:ext cx="31209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Концепция счастья · ИС-24</a:t>
              </a:r>
            </a:p>
          </p:txBody>
        </p:sp>
      </p:grpSp>
      <p:sp>
        <p:nvSpPr>
          <p:cNvPr id="72" name="p06-num"/>
          <p:cNvSpPr txBox="1"/>
          <p:nvPr/>
        </p:nvSpPr>
        <p:spPr>
          <a:xfrm>
            <a:off x="11151304" y="64008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pic>
        <p:nvPicPr>
          <p:cNvPr id="73" name="PPT Master narration: narration6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300"/>
                  </p:stCondLst>
                </p:cTn>
                <p:tgtEl>
                  <p:spTgt spid="7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8_history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7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grpSp>
        <p:nvGrpSpPr>
          <p:cNvPr id="8" name="p07-title"/>
          <p:cNvGrpSpPr/>
          <p:nvPr/>
        </p:nvGrpSpPr>
        <p:grpSpPr>
          <a:xfrm>
            <a:off x="743712" y="565150"/>
            <a:ext cx="7608205" cy="704088"/>
            <a:chOff x="743712" y="565150"/>
            <a:chExt cx="7608205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760820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Семь вех в понимании счастья</a:t>
              </a:r>
            </a:p>
          </p:txBody>
        </p:sp>
      </p:grpSp>
      <p:grpSp>
        <p:nvGrpSpPr>
          <p:cNvPr id="43" name="p07-timeline"/>
          <p:cNvGrpSpPr/>
          <p:nvPr/>
        </p:nvGrpSpPr>
        <p:grpSpPr>
          <a:xfrm>
            <a:off x="748279" y="2019300"/>
            <a:ext cx="10907629" cy="2157857"/>
            <a:chOff x="748279" y="2019300"/>
            <a:chExt cx="10907629" cy="2157857"/>
          </a:xfrm>
        </p:grpSpPr>
        <p:sp>
          <p:nvSpPr>
            <p:cNvPr id="9" name="Line 9"/>
            <p:cNvSpPr/>
            <p:nvPr/>
          </p:nvSpPr>
          <p:spPr>
            <a:xfrm>
              <a:off x="1143000" y="28575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4" name="p07-c0"/>
            <p:cNvGrpSpPr/>
            <p:nvPr/>
          </p:nvGrpSpPr>
          <p:grpSpPr>
            <a:xfrm>
              <a:off x="748279" y="2019300"/>
              <a:ext cx="1456191" cy="1529207"/>
              <a:chOff x="748279" y="2019300"/>
              <a:chExt cx="1456191" cy="1529207"/>
            </a:xfrm>
          </p:grpSpPr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3"/>
              <a:srcRect l="0" t="15806" r="0" b="15807"/>
              <a:stretch>
                <a:fillRect/>
              </a:stretch>
            </p:blipFill>
            <p:spPr>
              <a:xfrm>
                <a:off x="111442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1" name="Ellipse 11"/>
              <p:cNvSpPr/>
              <p:nvPr/>
            </p:nvSpPr>
            <p:spPr>
              <a:xfrm>
                <a:off x="141922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8279" y="2933700"/>
                <a:ext cx="14561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Аристотель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4112" y="3225800"/>
                <a:ext cx="114452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эвдемония</a:t>
                </a:r>
              </a:p>
            </p:txBody>
          </p:sp>
        </p:grpSp>
        <p:grpSp>
          <p:nvGrpSpPr>
            <p:cNvPr id="19" name="p07-c1"/>
            <p:cNvGrpSpPr/>
            <p:nvPr/>
          </p:nvGrpSpPr>
          <p:grpSpPr>
            <a:xfrm>
              <a:off x="2448195" y="2019300"/>
              <a:ext cx="1294860" cy="2157857"/>
              <a:chOff x="2448195" y="2019300"/>
              <a:chExt cx="1294860" cy="2157857"/>
            </a:xfrm>
          </p:grpSpPr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4"/>
              <a:srcRect l="20099" t="0" r="20099" b="0"/>
              <a:stretch>
                <a:fillRect/>
              </a:stretch>
            </p:blipFill>
            <p:spPr>
              <a:xfrm>
                <a:off x="27336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6" name="Ellipse 16"/>
              <p:cNvSpPr/>
              <p:nvPr/>
            </p:nvSpPr>
            <p:spPr>
              <a:xfrm>
                <a:off x="30384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651958" y="3562350"/>
                <a:ext cx="8873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Стоики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448195" y="3854450"/>
                <a:ext cx="129486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спокойствие</a:t>
                </a:r>
              </a:p>
            </p:txBody>
          </p:sp>
        </p:grpSp>
        <p:grpSp>
          <p:nvGrpSpPr>
            <p:cNvPr id="23" name="p07-c2"/>
            <p:cNvGrpSpPr/>
            <p:nvPr/>
          </p:nvGrpSpPr>
          <p:grpSpPr>
            <a:xfrm>
              <a:off x="3957017" y="2019300"/>
              <a:ext cx="1515717" cy="1529207"/>
              <a:chOff x="3957017" y="2019300"/>
              <a:chExt cx="1515717" cy="1529207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352925" y="2019300"/>
                <a:ext cx="723900" cy="723900"/>
              </a:xfrm>
              <a:prstGeom prst="ellipse">
                <a:avLst/>
              </a:prstGeom>
              <a:solidFill>
                <a:schemeClr val="accent1">
                  <a:alpha val="12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319040" y="2933700"/>
                <a:ext cx="7916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Индия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957017" y="3225800"/>
                <a:ext cx="15157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освобождение</a:t>
                </a:r>
              </a:p>
            </p:txBody>
          </p:sp>
        </p:grpSp>
        <p:grpSp>
          <p:nvGrpSpPr>
            <p:cNvPr id="28" name="p07-c3"/>
            <p:cNvGrpSpPr/>
            <p:nvPr/>
          </p:nvGrpSpPr>
          <p:grpSpPr>
            <a:xfrm>
              <a:off x="5300750" y="2019300"/>
              <a:ext cx="2066750" cy="2157857"/>
              <a:chOff x="5300750" y="2019300"/>
              <a:chExt cx="2066750" cy="2157857"/>
            </a:xfrm>
          </p:grpSpPr>
          <p:pic>
            <p:nvPicPr>
              <p:cNvPr id="24" name="Image 24"/>
              <p:cNvPicPr>
                <a:picLocks noChangeAspect="1"/>
              </p:cNvPicPr>
              <p:nvPr/>
            </p:nvPicPr>
            <p:blipFill>
              <a:blip r:embed="rId5"/>
              <a:srcRect l="12500" t="0" r="12500" b="0"/>
              <a:stretch>
                <a:fillRect/>
              </a:stretch>
            </p:blipFill>
            <p:spPr>
              <a:xfrm>
                <a:off x="59721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5" name="Ellipse 25"/>
              <p:cNvSpPr/>
              <p:nvPr/>
            </p:nvSpPr>
            <p:spPr>
              <a:xfrm>
                <a:off x="62769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300750" y="3562350"/>
                <a:ext cx="206675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Фома Аквинский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69605" y="3854450"/>
                <a:ext cx="112904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дар Божий</a:t>
                </a:r>
              </a:p>
            </p:txBody>
          </p:sp>
        </p:grpSp>
        <p:grpSp>
          <p:nvGrpSpPr>
            <p:cNvPr id="33" name="p07-c4"/>
            <p:cNvGrpSpPr/>
            <p:nvPr/>
          </p:nvGrpSpPr>
          <p:grpSpPr>
            <a:xfrm>
              <a:off x="7054524" y="2019300"/>
              <a:ext cx="1797702" cy="1529207"/>
              <a:chOff x="7054524" y="2019300"/>
              <a:chExt cx="1797702" cy="1529207"/>
            </a:xfrm>
          </p:grpSpPr>
          <p:pic>
            <p:nvPicPr>
              <p:cNvPr id="29" name="Image 29"/>
              <p:cNvPicPr>
                <a:picLocks noChangeAspect="1"/>
              </p:cNvPicPr>
              <p:nvPr/>
            </p:nvPicPr>
            <p:blipFill>
              <a:blip r:embed="rId6"/>
              <a:srcRect l="271" t="0" r="271" b="0"/>
              <a:stretch>
                <a:fillRect/>
              </a:stretch>
            </p:blipFill>
            <p:spPr>
              <a:xfrm>
                <a:off x="759142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30" name="Ellipse 30"/>
              <p:cNvSpPr/>
              <p:nvPr/>
            </p:nvSpPr>
            <p:spPr>
              <a:xfrm>
                <a:off x="789622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132069" y="2933700"/>
                <a:ext cx="16426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Джефферсон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054524" y="3225800"/>
                <a:ext cx="17977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право на счастье</a:t>
                </a:r>
              </a:p>
            </p:txBody>
          </p:sp>
        </p:grpSp>
        <p:grpSp>
          <p:nvGrpSpPr>
            <p:cNvPr id="38" name="p07-c5"/>
            <p:cNvGrpSpPr/>
            <p:nvPr/>
          </p:nvGrpSpPr>
          <p:grpSpPr>
            <a:xfrm>
              <a:off x="8564502" y="2019300"/>
              <a:ext cx="2016246" cy="2157857"/>
              <a:chOff x="8564502" y="2019300"/>
              <a:chExt cx="2016246" cy="2157857"/>
            </a:xfrm>
          </p:grpSpPr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7"/>
              <a:srcRect l="1267" t="0" r="1267" b="0"/>
              <a:stretch>
                <a:fillRect/>
              </a:stretch>
            </p:blipFill>
            <p:spPr>
              <a:xfrm>
                <a:off x="9210675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35" name="Ellipse 35"/>
              <p:cNvSpPr/>
              <p:nvPr/>
            </p:nvSpPr>
            <p:spPr>
              <a:xfrm>
                <a:off x="9515475" y="2800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564502" y="3562350"/>
                <a:ext cx="201624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Бентам и Милль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849496" y="3854450"/>
                <a:ext cx="1446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удовольствие</a:t>
                </a:r>
              </a:p>
            </p:txBody>
          </p:sp>
        </p:grpSp>
        <p:grpSp>
          <p:nvGrpSpPr>
            <p:cNvPr id="42" name="p07-c6"/>
            <p:cNvGrpSpPr/>
            <p:nvPr/>
          </p:nvGrpSpPr>
          <p:grpSpPr>
            <a:xfrm>
              <a:off x="10061093" y="2019300"/>
              <a:ext cx="1594815" cy="1529207"/>
              <a:chOff x="10061093" y="2019300"/>
              <a:chExt cx="1594815" cy="1529207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10496550" y="2019300"/>
                <a:ext cx="723900" cy="723900"/>
              </a:xfrm>
              <a:prstGeom prst="ellipse">
                <a:avLst/>
              </a:prstGeom>
              <a:solidFill>
                <a:srgbClr val="E67E22">
                  <a:alpha val="12000"/>
                </a:srgbClr>
              </a:solidFill>
              <a:ln w="28575">
                <a:solidFill>
                  <a:srgbClr val="E67E2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405689" y="2933700"/>
                <a:ext cx="9056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XXI век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061093" y="3225800"/>
                <a:ext cx="15948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многомерность</a:t>
                </a:r>
              </a:p>
            </p:txBody>
          </p:sp>
        </p:grpSp>
      </p:grpSp>
      <p:grpSp>
        <p:nvGrpSpPr>
          <p:cNvPr id="48" name="p07-note"/>
          <p:cNvGrpSpPr/>
          <p:nvPr/>
        </p:nvGrpSpPr>
        <p:grpSpPr>
          <a:xfrm>
            <a:off x="762000" y="4286250"/>
            <a:ext cx="10668000" cy="857250"/>
            <a:chOff x="762000" y="4286250"/>
            <a:chExt cx="10668000" cy="857250"/>
          </a:xfrm>
        </p:grpSpPr>
        <p:sp>
          <p:nvSpPr>
            <p:cNvPr id="44" name="Rectangle 44"/>
            <p:cNvSpPr/>
            <p:nvPr/>
          </p:nvSpPr>
          <p:spPr>
            <a:xfrm>
              <a:off x="762000" y="42862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8212" y="4646380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14856" y="4419600"/>
              <a:ext cx="84173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Общее: счастье — не удача, а результат усилий и добродетельной жизни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14856" y="4743450"/>
              <a:ext cx="6984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Сегодня наука рассматривает его как многомерный феномен</a:t>
              </a:r>
            </a:p>
          </p:txBody>
        </p:sp>
      </p:grpSp>
      <p:sp>
        <p:nvSpPr>
          <p:cNvPr id="49" name="credit"/>
          <p:cNvSpPr txBox="1"/>
          <p:nvPr/>
        </p:nvSpPr>
        <p:spPr>
          <a:xfrm>
            <a:off x="753618" y="6521450"/>
            <a:ext cx="93478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Портреты: Wikimedia Commons — Public Domain / CC0; © Zde / Wikimedia / CC BY-SA 4.0</a:t>
            </a:r>
          </a:p>
        </p:txBody>
      </p:sp>
      <p:pic>
        <p:nvPicPr>
          <p:cNvPr id="50" name="PPT Master narration: narration7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8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9_hedonia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8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grpSp>
        <p:nvGrpSpPr>
          <p:cNvPr id="8" name="p08-title"/>
          <p:cNvGrpSpPr/>
          <p:nvPr/>
        </p:nvGrpSpPr>
        <p:grpSpPr>
          <a:xfrm>
            <a:off x="743712" y="565150"/>
            <a:ext cx="8911179" cy="704088"/>
            <a:chOff x="743712" y="565150"/>
            <a:chExt cx="8911179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9111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9" name="p08-hedonia"/>
          <p:cNvGrpSpPr/>
          <p:nvPr/>
        </p:nvGrpSpPr>
        <p:grpSpPr>
          <a:xfrm>
            <a:off x="762000" y="1714500"/>
            <a:ext cx="4953000" cy="3619500"/>
            <a:chOff x="762000" y="1714500"/>
            <a:chExt cx="4953000" cy="36195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E67E22">
                <a:alpha val="14000"/>
              </a:srgb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l="0" t="21912" r="0" b="21913"/>
            <a:stretch>
              <a:fillRect/>
            </a:stretch>
          </p:blipFill>
          <p:spPr>
            <a:xfrm>
              <a:off x="952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15" name="Group 15"/>
            <p:cNvGrpSpPr/>
            <p:nvPr/>
          </p:nvGrpSpPr>
          <p:grpSpPr>
            <a:xfrm>
              <a:off x="1038225" y="3857625"/>
              <a:ext cx="285751" cy="285751"/>
              <a:chOff x="1038225" y="3857625"/>
              <a:chExt cx="285751" cy="2857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8225" y="3857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347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2872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1413" y="4048125"/>
                <a:ext cx="79375" cy="16677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6677">
                    <a:moveTo>
                      <a:pt x="0" y="0"/>
                    </a:moveTo>
                    <a:cubicBezTo>
                      <a:pt x="10451" y="10666"/>
                      <a:pt x="24755" y="16677"/>
                      <a:pt x="39688" y="16677"/>
                    </a:cubicBezTo>
                    <a:cubicBezTo>
                      <a:pt x="54620" y="16677"/>
                      <a:pt x="68924" y="10666"/>
                      <a:pt x="79375" y="0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6756" y="3886200"/>
              <a:ext cx="1195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1456" y="4362450"/>
              <a:ext cx="27597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максимум удовольствия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1456" y="4686300"/>
              <a:ext cx="3015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</p:grpSp>
      <p:grpSp>
        <p:nvGrpSpPr>
          <p:cNvPr id="28" name="p08-eudaimonia"/>
          <p:cNvGrpSpPr/>
          <p:nvPr/>
        </p:nvGrpSpPr>
        <p:grpSpPr>
          <a:xfrm>
            <a:off x="6477000" y="1714500"/>
            <a:ext cx="4953000" cy="3619500"/>
            <a:chOff x="6477000" y="1714500"/>
            <a:chExt cx="4953000" cy="3619500"/>
          </a:xfrm>
        </p:grpSpPr>
        <p:sp>
          <p:nvSpPr>
            <p:cNvPr id="20" name="Rectangle 20"/>
            <p:cNvSpPr/>
            <p:nvPr/>
          </p:nvSpPr>
          <p:spPr>
            <a:xfrm>
              <a:off x="6477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rcRect l="0" t="25000" r="0" b="25000"/>
            <a:stretch>
              <a:fillRect/>
            </a:stretch>
          </p:blipFill>
          <p:spPr>
            <a:xfrm>
              <a:off x="6667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24" name="Group 24"/>
            <p:cNvGrpSpPr/>
            <p:nvPr/>
          </p:nvGrpSpPr>
          <p:grpSpPr>
            <a:xfrm>
              <a:off x="6746495" y="3841750"/>
              <a:ext cx="299200" cy="317501"/>
              <a:chOff x="6746495" y="3841750"/>
              <a:chExt cx="299200" cy="3175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48475" y="3952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6495" y="3841750"/>
                <a:ext cx="299200" cy="317501"/>
              </a:xfrm>
              <a:custGeom>
                <a:avLst/>
                <a:gdLst/>
                <a:ahLst/>
                <a:cxnLst/>
                <a:rect l="l" t="t" r="r" b="b"/>
                <a:pathLst>
                  <a:path w="299200" h="317501">
                    <a:moveTo>
                      <a:pt x="149605" y="0"/>
                    </a:moveTo>
                    <a:cubicBezTo>
                      <a:pt x="175908" y="0"/>
                      <a:pt x="197231" y="21322"/>
                      <a:pt x="197231" y="47625"/>
                    </a:cubicBezTo>
                    <a:cubicBezTo>
                      <a:pt x="197231" y="56547"/>
                      <a:pt x="193119" y="70517"/>
                      <a:pt x="184911" y="89535"/>
                    </a:cubicBezTo>
                    <a:lnTo>
                      <a:pt x="173418" y="111125"/>
                    </a:lnTo>
                    <a:lnTo>
                      <a:pt x="201358" y="81074"/>
                    </a:lnTo>
                    <a:cubicBezTo>
                      <a:pt x="209280" y="71549"/>
                      <a:pt x="215995" y="65199"/>
                      <a:pt x="221519" y="61944"/>
                    </a:cubicBezTo>
                    <a:cubicBezTo>
                      <a:pt x="232388" y="55634"/>
                      <a:pt x="245327" y="53927"/>
                      <a:pt x="257461" y="57203"/>
                    </a:cubicBezTo>
                    <a:cubicBezTo>
                      <a:pt x="269594" y="60479"/>
                      <a:pt x="279916" y="68467"/>
                      <a:pt x="286131" y="79391"/>
                    </a:cubicBezTo>
                    <a:cubicBezTo>
                      <a:pt x="299200" y="102150"/>
                      <a:pt x="291476" y="131189"/>
                      <a:pt x="268827" y="144447"/>
                    </a:cubicBezTo>
                    <a:cubicBezTo>
                      <a:pt x="262890" y="147892"/>
                      <a:pt x="253111" y="150733"/>
                      <a:pt x="239522" y="152940"/>
                    </a:cubicBezTo>
                    <a:lnTo>
                      <a:pt x="197231" y="158750"/>
                    </a:lnTo>
                    <a:lnTo>
                      <a:pt x="235331" y="163926"/>
                    </a:lnTo>
                    <a:cubicBezTo>
                      <a:pt x="251206" y="166227"/>
                      <a:pt x="262286" y="169275"/>
                      <a:pt x="268827" y="173070"/>
                    </a:cubicBezTo>
                    <a:cubicBezTo>
                      <a:pt x="291476" y="186328"/>
                      <a:pt x="299200" y="215367"/>
                      <a:pt x="286131" y="238125"/>
                    </a:cubicBezTo>
                    <a:cubicBezTo>
                      <a:pt x="279913" y="249046"/>
                      <a:pt x="269590" y="257031"/>
                      <a:pt x="257457" y="260304"/>
                    </a:cubicBezTo>
                    <a:cubicBezTo>
                      <a:pt x="245324" y="263578"/>
                      <a:pt x="232386" y="261868"/>
                      <a:pt x="221519" y="255556"/>
                    </a:cubicBezTo>
                    <a:cubicBezTo>
                      <a:pt x="215995" y="252350"/>
                      <a:pt x="209280" y="245968"/>
                      <a:pt x="201358" y="236427"/>
                    </a:cubicBezTo>
                    <a:lnTo>
                      <a:pt x="173418" y="206375"/>
                    </a:lnTo>
                    <a:lnTo>
                      <a:pt x="184911" y="227965"/>
                    </a:lnTo>
                    <a:cubicBezTo>
                      <a:pt x="193103" y="247000"/>
                      <a:pt x="197231" y="260970"/>
                      <a:pt x="197231" y="269876"/>
                    </a:cubicBezTo>
                    <a:cubicBezTo>
                      <a:pt x="197231" y="296178"/>
                      <a:pt x="175908" y="317501"/>
                      <a:pt x="149605" y="317501"/>
                    </a:cubicBezTo>
                    <a:cubicBezTo>
                      <a:pt x="123303" y="317501"/>
                      <a:pt x="101980" y="296178"/>
                      <a:pt x="101980" y="269876"/>
                    </a:cubicBezTo>
                    <a:cubicBezTo>
                      <a:pt x="101980" y="260954"/>
                      <a:pt x="106092" y="246984"/>
                      <a:pt x="114299" y="227965"/>
                    </a:cubicBezTo>
                    <a:lnTo>
                      <a:pt x="125793" y="206375"/>
                    </a:lnTo>
                    <a:lnTo>
                      <a:pt x="97853" y="236427"/>
                    </a:lnTo>
                    <a:cubicBezTo>
                      <a:pt x="89931" y="245968"/>
                      <a:pt x="83216" y="252302"/>
                      <a:pt x="77692" y="255556"/>
                    </a:cubicBezTo>
                    <a:cubicBezTo>
                      <a:pt x="66825" y="261868"/>
                      <a:pt x="53887" y="263578"/>
                      <a:pt x="41754" y="260304"/>
                    </a:cubicBezTo>
                    <a:cubicBezTo>
                      <a:pt x="29621" y="257031"/>
                      <a:pt x="19298" y="249046"/>
                      <a:pt x="13080" y="238125"/>
                    </a:cubicBezTo>
                    <a:cubicBezTo>
                      <a:pt x="11" y="215367"/>
                      <a:pt x="7735" y="186328"/>
                      <a:pt x="30384" y="173070"/>
                    </a:cubicBezTo>
                    <a:cubicBezTo>
                      <a:pt x="36321" y="169609"/>
                      <a:pt x="46100" y="166783"/>
                      <a:pt x="59689" y="164561"/>
                    </a:cubicBezTo>
                    <a:lnTo>
                      <a:pt x="101980" y="158750"/>
                    </a:lnTo>
                    <a:lnTo>
                      <a:pt x="63880" y="153591"/>
                    </a:lnTo>
                    <a:cubicBezTo>
                      <a:pt x="48005" y="151289"/>
                      <a:pt x="36924" y="148241"/>
                      <a:pt x="30384" y="144447"/>
                    </a:cubicBezTo>
                    <a:cubicBezTo>
                      <a:pt x="7725" y="131188"/>
                      <a:pt x="0" y="102137"/>
                      <a:pt x="13080" y="79375"/>
                    </a:cubicBezTo>
                    <a:cubicBezTo>
                      <a:pt x="19295" y="68452"/>
                      <a:pt x="29617" y="60464"/>
                      <a:pt x="41750" y="57187"/>
                    </a:cubicBezTo>
                    <a:cubicBezTo>
                      <a:pt x="53883" y="53911"/>
                      <a:pt x="66823" y="55618"/>
                      <a:pt x="77692" y="61928"/>
                    </a:cubicBezTo>
                    <a:cubicBezTo>
                      <a:pt x="83216" y="65151"/>
                      <a:pt x="89931" y="71517"/>
                      <a:pt x="97853" y="81058"/>
                    </a:cubicBezTo>
                    <a:lnTo>
                      <a:pt x="125793" y="111125"/>
                    </a:lnTo>
                    <a:cubicBezTo>
                      <a:pt x="109918" y="74740"/>
                      <a:pt x="101980" y="53578"/>
                      <a:pt x="101980" y="47625"/>
                    </a:cubicBezTo>
                    <a:cubicBezTo>
                      <a:pt x="101980" y="21322"/>
                      <a:pt x="123303" y="0"/>
                      <a:pt x="149605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191756" y="3886200"/>
              <a:ext cx="14008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6456" y="4362450"/>
              <a:ext cx="2495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456" y="4686300"/>
              <a:ext cx="3525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даёт глубокое удовлетворение</a:t>
              </a:r>
            </a:p>
          </p:txBody>
        </p:sp>
      </p:grpSp>
      <p:grpSp>
        <p:nvGrpSpPr>
          <p:cNvPr id="37" name="p08-scale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762000" y="5524500"/>
              <a:ext cx="10668000" cy="762000"/>
            </a:xfrm>
            <a:prstGeom prst="roundRect">
              <a:avLst>
                <a:gd name="adj" fmla="val 175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2987" y="5748337"/>
              <a:ext cx="314325" cy="306387"/>
              <a:chOff x="1042987" y="5748337"/>
              <a:chExt cx="314325" cy="3063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837" y="6045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95375" y="5783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00150" y="5748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298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5253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52956" y="5772150"/>
              <a:ext cx="5868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«Счастье находится по ту сторону слёз»</a:t>
              </a:r>
            </a:p>
          </p:txBody>
        </p:sp>
      </p:grpSp>
      <p:sp>
        <p:nvSpPr>
          <p:cNvPr id="38" name="credit"/>
          <p:cNvSpPr txBox="1"/>
          <p:nvPr/>
        </p:nvSpPr>
        <p:spPr>
          <a:xfrm>
            <a:off x="753618" y="6521450"/>
            <a:ext cx="94215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PattayaPatrol / CC BY-SA 4.0; © Shixart1985 / CC BY 2.0; фото помощи — Public Domain</a:t>
            </a:r>
          </a:p>
        </p:txBody>
      </p:sp>
      <p:pic>
        <p:nvPicPr>
          <p:cNvPr id="39" name="PPT Master narration: narration8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9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9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9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grpSp>
        <p:nvGrpSpPr>
          <p:cNvPr id="8" name="p09-title"/>
          <p:cNvGrpSpPr/>
          <p:nvPr/>
        </p:nvGrpSpPr>
        <p:grpSpPr>
          <a:xfrm>
            <a:off x="743712" y="565150"/>
            <a:ext cx="6631817" cy="704088"/>
            <a:chOff x="743712" y="565150"/>
            <a:chExt cx="663181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6318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50% + 40% + 10%</a:t>
              </a:r>
            </a:p>
          </p:txBody>
        </p:sp>
      </p:grpSp>
      <p:grpSp>
        <p:nvGrpSpPr>
          <p:cNvPr id="14" name="p09-pie"/>
          <p:cNvGrpSpPr/>
          <p:nvPr/>
        </p:nvGrpSpPr>
        <p:grpSpPr>
          <a:xfrm>
            <a:off x="1595470" y="2286000"/>
            <a:ext cx="2995580" cy="2857500"/>
            <a:chOff x="1595470" y="2286000"/>
            <a:chExt cx="2995580" cy="2857500"/>
          </a:xfrm>
        </p:grpSpPr>
        <p:sp>
          <p:nvSpPr>
            <p:cNvPr id="9" name="Freeform 9"/>
            <p:cNvSpPr/>
            <p:nvPr/>
          </p:nvSpPr>
          <p:spPr>
            <a:xfrm>
              <a:off x="3154680" y="2286000"/>
              <a:ext cx="1436370" cy="2857500"/>
            </a:xfrm>
            <a:custGeom>
              <a:avLst/>
              <a:gdLst/>
              <a:ahLst/>
              <a:cxnLst/>
              <a:rect l="l" t="t" r="r" b="b"/>
              <a:pathLst>
                <a:path w="1436370" h="2857500">
                  <a:moveTo>
                    <a:pt x="7620" y="0"/>
                  </a:moveTo>
                  <a:cubicBezTo>
                    <a:pt x="796697" y="0"/>
                    <a:pt x="1436370" y="639673"/>
                    <a:pt x="1436370" y="1428750"/>
                  </a:cubicBezTo>
                  <a:cubicBezTo>
                    <a:pt x="1436370" y="2217827"/>
                    <a:pt x="796697" y="2857500"/>
                    <a:pt x="7620" y="2857500"/>
                  </a:cubicBezTo>
                  <a:lnTo>
                    <a:pt x="0" y="2305050"/>
                  </a:lnTo>
                  <a:cubicBezTo>
                    <a:pt x="483967" y="2305050"/>
                    <a:pt x="876300" y="1912717"/>
                    <a:pt x="876300" y="1428750"/>
                  </a:cubicBezTo>
                  <a:cubicBezTo>
                    <a:pt x="876300" y="944783"/>
                    <a:pt x="483967" y="552450"/>
                    <a:pt x="0" y="5524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5470" y="2569845"/>
              <a:ext cx="1536350" cy="2573655"/>
            </a:xfrm>
            <a:custGeom>
              <a:avLst/>
              <a:gdLst/>
              <a:ahLst/>
              <a:cxnLst/>
              <a:rect l="l" t="t" r="r" b="b"/>
              <a:pathLst>
                <a:path w="1536350" h="2573655">
                  <a:moveTo>
                    <a:pt x="1528730" y="2573655"/>
                  </a:moveTo>
                  <a:cubicBezTo>
                    <a:pt x="916713" y="2565435"/>
                    <a:pt x="377918" y="2168292"/>
                    <a:pt x="188959" y="1586117"/>
                  </a:cubicBezTo>
                  <a:cubicBezTo>
                    <a:pt x="0" y="1003943"/>
                    <a:pt x="202858" y="366079"/>
                    <a:pt x="693387" y="0"/>
                  </a:cubicBezTo>
                  <a:lnTo>
                    <a:pt x="1023905" y="442913"/>
                  </a:lnTo>
                  <a:cubicBezTo>
                    <a:pt x="723218" y="667504"/>
                    <a:pt x="598935" y="1058639"/>
                    <a:pt x="714834" y="1415600"/>
                  </a:cubicBezTo>
                  <a:cubicBezTo>
                    <a:pt x="830734" y="1772561"/>
                    <a:pt x="1161080" y="2016086"/>
                    <a:pt x="1536350" y="2021205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18385" y="2286000"/>
              <a:ext cx="813435" cy="713422"/>
            </a:xfrm>
            <a:custGeom>
              <a:avLst/>
              <a:gdLst/>
              <a:ahLst/>
              <a:cxnLst/>
              <a:rect l="l" t="t" r="r" b="b"/>
              <a:pathLst>
                <a:path w="813435" h="713422">
                  <a:moveTo>
                    <a:pt x="0" y="261937"/>
                  </a:moveTo>
                  <a:cubicBezTo>
                    <a:pt x="235940" y="95153"/>
                    <a:pt x="516903" y="3824"/>
                    <a:pt x="805815" y="0"/>
                  </a:cubicBezTo>
                  <a:lnTo>
                    <a:pt x="813435" y="552450"/>
                  </a:lnTo>
                  <a:cubicBezTo>
                    <a:pt x="636163" y="554865"/>
                    <a:pt x="463792" y="610993"/>
                    <a:pt x="319088" y="713422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19515" y="3409950"/>
              <a:ext cx="1647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48146" y="3733800"/>
              <a:ext cx="1990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7" name="p09-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5" name="Rectangle 15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981700" y="220980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91656" y="219075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1656" y="2495550"/>
              <a:ext cx="4454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981700" y="344805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91656" y="3429000"/>
              <a:ext cx="31124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1656" y="3733800"/>
              <a:ext cx="25407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действия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981700" y="468630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1656" y="466725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1656" y="4972050"/>
              <a:ext cx="2740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29" name="p09-note"/>
          <p:cNvGrpSpPr/>
          <p:nvPr/>
        </p:nvGrpSpPr>
        <p:grpSpPr>
          <a:xfrm>
            <a:off x="1133856" y="6057900"/>
            <a:ext cx="8512526" cy="352044"/>
            <a:chOff x="1133856" y="6057900"/>
            <a:chExt cx="8512526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1133856" y="6057900"/>
              <a:ext cx="85125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Мета-анализы (Rohrer &amp; Schmukle, 2018) оспаривают разделение 50/10/40</a:t>
              </a:r>
            </a:p>
          </p:txBody>
        </p:sp>
      </p:grpSp>
      <p:pic>
        <p:nvPicPr>
          <p:cNvPr id="30" name="PPT Master narration: narration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0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0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0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8" name="p10-title"/>
          <p:cNvGrpSpPr/>
          <p:nvPr/>
        </p:nvGrpSpPr>
        <p:grpSpPr>
          <a:xfrm>
            <a:off x="743712" y="565150"/>
            <a:ext cx="8443098" cy="704088"/>
            <a:chOff x="743712" y="565150"/>
            <a:chExt cx="844309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4430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63" name="p10-tree"/>
          <p:cNvGrpSpPr/>
          <p:nvPr/>
        </p:nvGrpSpPr>
        <p:grpSpPr>
          <a:xfrm>
            <a:off x="762000" y="1600200"/>
            <a:ext cx="6667500" cy="4591050"/>
            <a:chOff x="762000" y="1600200"/>
            <a:chExt cx="6667500" cy="459105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81450" y="2571750"/>
              <a:ext cx="228600" cy="2762250"/>
            </a:xfrm>
            <a:prstGeom prst="rect">
              <a:avLst/>
            </a:prstGeom>
            <a:solidFill>
              <a:srgbClr val="8D6E6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62250" y="228600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1333500" y="762000"/>
                  </a:moveTo>
                  <a:lnTo>
                    <a:pt x="0" y="0"/>
                  </a:lnTo>
                  <a:moveTo>
                    <a:pt x="1333500" y="1143000"/>
                  </a:moveTo>
                  <a:lnTo>
                    <a:pt x="2667000" y="0"/>
                  </a:lnTo>
                  <a:moveTo>
                    <a:pt x="1333500" y="1524000"/>
                  </a:moveTo>
                  <a:lnTo>
                    <a:pt x="285750" y="857250"/>
                  </a:lnTo>
                  <a:moveTo>
                    <a:pt x="1333500" y="1905000"/>
                  </a:moveTo>
                  <a:lnTo>
                    <a:pt x="2667000" y="95250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rgbClr val="8D6E6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95500" y="1600200"/>
              <a:ext cx="4000500" cy="1181100"/>
            </a:xfrm>
            <a:prstGeom prst="ellipse">
              <a:avLst/>
            </a:prstGeom>
            <a:solidFill>
              <a:srgbClr val="27AE60">
                <a:alpha val="3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59441" y="2057400"/>
              <a:ext cx="22726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Внешние факторы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911475" y="1768475"/>
              <a:ext cx="215901" cy="215901"/>
              <a:chOff x="2911475" y="1768475"/>
              <a:chExt cx="215901" cy="2159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11475" y="1768475"/>
                <a:ext cx="202407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215901">
                    <a:moveTo>
                      <a:pt x="175419" y="53975"/>
                    </a:moveTo>
                    <a:lnTo>
                      <a:pt x="175419" y="13494"/>
                    </a:lnTo>
                    <a:cubicBezTo>
                      <a:pt x="175419" y="6041"/>
                      <a:pt x="169378" y="0"/>
                      <a:pt x="161925" y="0"/>
                    </a:cubicBez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lnTo>
                      <a:pt x="188913" y="53975"/>
                    </a:lnTo>
                    <a:cubicBezTo>
                      <a:pt x="196365" y="53975"/>
                      <a:pt x="202407" y="60016"/>
                      <a:pt x="202407" y="67469"/>
                    </a:cubicBezTo>
                    <a:lnTo>
                      <a:pt x="202407" y="107950"/>
                    </a:lnTo>
                    <a:moveTo>
                      <a:pt x="202407" y="161925"/>
                    </a:moveTo>
                    <a:lnTo>
                      <a:pt x="202407" y="202407"/>
                    </a:lnTo>
                    <a:cubicBezTo>
                      <a:pt x="202407" y="209859"/>
                      <a:pt x="196365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46413" y="187642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80963" y="0"/>
                    </a:moveTo>
                    <a:lnTo>
                      <a:pt x="80963" y="53975"/>
                    </a:ln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469481" y="1754981"/>
              <a:ext cx="242888" cy="229394"/>
              <a:chOff x="3469481" y="1754981"/>
              <a:chExt cx="242888" cy="2293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469481" y="1808956"/>
                <a:ext cx="24288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75419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48432"/>
                    </a:lnTo>
                    <a:cubicBezTo>
                      <a:pt x="242888" y="163336"/>
                      <a:pt x="230805" y="175419"/>
                      <a:pt x="215901" y="175419"/>
                    </a:cubicBezTo>
                    <a:lnTo>
                      <a:pt x="26988" y="175419"/>
                    </a:lnTo>
                    <a:cubicBezTo>
                      <a:pt x="12083" y="175419"/>
                      <a:pt x="0" y="163336"/>
                      <a:pt x="0" y="14843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536950" y="1754981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590925" y="1876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69481" y="1889919"/>
                <a:ext cx="242888" cy="3849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8492">
                    <a:moveTo>
                      <a:pt x="0" y="0"/>
                    </a:moveTo>
                    <a:cubicBezTo>
                      <a:pt x="76388" y="38492"/>
                      <a:pt x="166500" y="38492"/>
                      <a:pt x="242888" y="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4038507" y="1752507"/>
              <a:ext cx="248142" cy="254887"/>
              <a:chOff x="4038507" y="1752507"/>
              <a:chExt cx="248142" cy="254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135438" y="1849438"/>
                <a:ext cx="151211" cy="151180"/>
              </a:xfrm>
              <a:custGeom>
                <a:avLst/>
                <a:gdLst/>
                <a:ahLst/>
                <a:cxnLst/>
                <a:rect l="l" t="t" r="r" b="b"/>
                <a:pathLst>
                  <a:path w="151211" h="151180">
                    <a:moveTo>
                      <a:pt x="40481" y="0"/>
                    </a:moveTo>
                    <a:lnTo>
                      <a:pt x="140106" y="100097"/>
                    </a:lnTo>
                    <a:cubicBezTo>
                      <a:pt x="151211" y="111162"/>
                      <a:pt x="151211" y="129082"/>
                      <a:pt x="140106" y="140133"/>
                    </a:cubicBezTo>
                    <a:cubicBezTo>
                      <a:pt x="128999" y="151180"/>
                      <a:pt x="111055" y="151180"/>
                      <a:pt x="99948" y="140133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081463" y="18359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121944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040981" y="1997869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38507" y="1752507"/>
                <a:ext cx="180368" cy="180368"/>
              </a:xfrm>
              <a:custGeom>
                <a:avLst/>
                <a:gdLst/>
                <a:ahLst/>
                <a:cxnLst/>
                <a:rect l="l" t="t" r="r" b="b"/>
                <a:pathLst>
                  <a:path w="180368" h="180368">
                    <a:moveTo>
                      <a:pt x="53656" y="175100"/>
                    </a:moveTo>
                    <a:lnTo>
                      <a:pt x="5268" y="126712"/>
                    </a:lnTo>
                    <a:cubicBezTo>
                      <a:pt x="0" y="121442"/>
                      <a:pt x="0" y="112901"/>
                      <a:pt x="5268" y="107632"/>
                    </a:cubicBezTo>
                    <a:lnTo>
                      <a:pt x="36209" y="76690"/>
                    </a:lnTo>
                    <a:lnTo>
                      <a:pt x="42956" y="83437"/>
                    </a:lnTo>
                    <a:lnTo>
                      <a:pt x="83437" y="42956"/>
                    </a:lnTo>
                    <a:lnTo>
                      <a:pt x="76690" y="36209"/>
                    </a:lnTo>
                    <a:lnTo>
                      <a:pt x="107632" y="5268"/>
                    </a:lnTo>
                    <a:cubicBezTo>
                      <a:pt x="112901" y="0"/>
                      <a:pt x="121442" y="0"/>
                      <a:pt x="126712" y="5268"/>
                    </a:cubicBezTo>
                    <a:lnTo>
                      <a:pt x="175100" y="53656"/>
                    </a:lnTo>
                    <a:cubicBezTo>
                      <a:pt x="180368" y="58926"/>
                      <a:pt x="180368" y="67467"/>
                      <a:pt x="175100" y="72737"/>
                    </a:cubicBezTo>
                    <a:lnTo>
                      <a:pt x="144159" y="103678"/>
                    </a:lnTo>
                    <a:lnTo>
                      <a:pt x="137412" y="96931"/>
                    </a:lnTo>
                    <a:lnTo>
                      <a:pt x="96931" y="137412"/>
                    </a:lnTo>
                    <a:lnTo>
                      <a:pt x="103678" y="144159"/>
                    </a:lnTo>
                    <a:lnTo>
                      <a:pt x="72737" y="175100"/>
                    </a:lnTo>
                    <a:cubicBezTo>
                      <a:pt x="67467" y="180368"/>
                      <a:pt x="58926" y="180368"/>
                      <a:pt x="53656" y="17510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612481" y="1754981"/>
              <a:ext cx="242888" cy="242888"/>
              <a:chOff x="4612481" y="17549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2481" y="1754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20578" y="183594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20578" y="191690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0800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0672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183981" y="1754981"/>
              <a:ext cx="242888" cy="242888"/>
              <a:chOff x="5183981" y="1754981"/>
              <a:chExt cx="242888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278438" y="18629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51450" y="19573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45907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72894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10969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83981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394783" y="33909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86738" y="4724400"/>
              <a:ext cx="2618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Внутренние факторы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2231231" y="5183981"/>
              <a:ext cx="242888" cy="242888"/>
              <a:chOff x="2231231" y="518398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231231" y="518398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9" y="4452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79485" y="523795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20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7" y="46133"/>
                    </a:cubicBezTo>
                    <a:cubicBezTo>
                      <a:pt x="146380" y="73684"/>
                      <a:pt x="136904" y="104020"/>
                      <a:pt x="113671" y="121444"/>
                    </a:cubicBezTo>
                    <a:cubicBezTo>
                      <a:pt x="102987" y="132021"/>
                      <a:pt x="97976" y="147053"/>
                      <a:pt x="100178" y="161925"/>
                    </a:cubicBezTo>
                    <a:cubicBezTo>
                      <a:pt x="100178" y="176830"/>
                      <a:pt x="88095" y="188913"/>
                      <a:pt x="73190" y="188913"/>
                    </a:cubicBezTo>
                    <a:cubicBezTo>
                      <a:pt x="58285" y="188913"/>
                      <a:pt x="46203" y="176830"/>
                      <a:pt x="46203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21640" y="537289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Freeform 47"/>
            <p:cNvSpPr/>
            <p:nvPr/>
          </p:nvSpPr>
          <p:spPr>
            <a:xfrm>
              <a:off x="2893309" y="5194013"/>
              <a:ext cx="251989" cy="219362"/>
            </a:xfrm>
            <a:custGeom>
              <a:avLst/>
              <a:gdLst/>
              <a:ahLst/>
              <a:cxnLst/>
              <a:rect l="l" t="t" r="r" b="b"/>
              <a:pathLst>
                <a:path w="251989" h="219362">
                  <a:moveTo>
                    <a:pt x="227320" y="119130"/>
                  </a:moveTo>
                  <a:lnTo>
                    <a:pt x="126117" y="219362"/>
                  </a:lnTo>
                  <a:lnTo>
                    <a:pt x="24913" y="119130"/>
                  </a:lnTo>
                  <a:cubicBezTo>
                    <a:pt x="6714" y="101421"/>
                    <a:pt x="0" y="74993"/>
                    <a:pt x="7540" y="50744"/>
                  </a:cubicBezTo>
                  <a:cubicBezTo>
                    <a:pt x="15079" y="26496"/>
                    <a:pt x="35596" y="8535"/>
                    <a:pt x="60628" y="4267"/>
                  </a:cubicBezTo>
                  <a:cubicBezTo>
                    <a:pt x="85660" y="0"/>
                    <a:pt x="110969" y="10149"/>
                    <a:pt x="126117" y="30530"/>
                  </a:cubicBezTo>
                  <a:cubicBezTo>
                    <a:pt x="141328" y="10300"/>
                    <a:pt x="166582" y="286"/>
                    <a:pt x="191524" y="4593"/>
                  </a:cubicBezTo>
                  <a:cubicBezTo>
                    <a:pt x="216465" y="8900"/>
                    <a:pt x="236898" y="26805"/>
                    <a:pt x="244443" y="50965"/>
                  </a:cubicBezTo>
                  <a:cubicBezTo>
                    <a:pt x="251989" y="75125"/>
                    <a:pt x="245377" y="101475"/>
                    <a:pt x="227320" y="119211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3564731" y="5202769"/>
              <a:ext cx="252413" cy="197113"/>
              <a:chOff x="3564731" y="5202769"/>
              <a:chExt cx="252413" cy="197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564731" y="5378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564731" y="5202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64731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86175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807619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4244975" y="5183981"/>
              <a:ext cx="188913" cy="242888"/>
              <a:chOff x="4244975" y="5183981"/>
              <a:chExt cx="188913" cy="24288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339526" y="5183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244975" y="5366147"/>
                <a:ext cx="77589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77589" h="20241">
                    <a:moveTo>
                      <a:pt x="0" y="6747"/>
                    </a:moveTo>
                    <a:lnTo>
                      <a:pt x="67469" y="20241"/>
                    </a:lnTo>
                    <a:lnTo>
                      <a:pt x="77589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339432" y="5251450"/>
                <a:ext cx="5397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75419">
                    <a:moveTo>
                      <a:pt x="53975" y="175419"/>
                    </a:moveTo>
                    <a:lnTo>
                      <a:pt x="53975" y="121444"/>
                    </a:lnTo>
                    <a:lnTo>
                      <a:pt x="0" y="80963"/>
                    </a:ln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285456" y="5251450"/>
                <a:ext cx="14843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53975">
                    <a:moveTo>
                      <a:pt x="0" y="53975"/>
                    </a:moveTo>
                    <a:lnTo>
                      <a:pt x="0" y="13494"/>
                    </a:lnTo>
                    <a:lnTo>
                      <a:pt x="67469" y="0"/>
                    </a:lnTo>
                    <a:lnTo>
                      <a:pt x="107950" y="40481"/>
                    </a:lnTo>
                    <a:lnTo>
                      <a:pt x="148432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892511" y="5170488"/>
              <a:ext cx="254320" cy="269876"/>
              <a:chOff x="4892511" y="5170488"/>
              <a:chExt cx="254320" cy="26987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4979194" y="52649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892511" y="5170488"/>
                <a:ext cx="254320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54320" h="269876">
                    <a:moveTo>
                      <a:pt x="127165" y="0"/>
                    </a:moveTo>
                    <a:cubicBezTo>
                      <a:pt x="149522" y="0"/>
                      <a:pt x="167646" y="18124"/>
                      <a:pt x="167646" y="40481"/>
                    </a:cubicBezTo>
                    <a:cubicBezTo>
                      <a:pt x="167646" y="48065"/>
                      <a:pt x="164151" y="59939"/>
                      <a:pt x="157175" y="76105"/>
                    </a:cubicBezTo>
                    <a:lnTo>
                      <a:pt x="147405" y="94456"/>
                    </a:lnTo>
                    <a:lnTo>
                      <a:pt x="171154" y="68913"/>
                    </a:lnTo>
                    <a:cubicBezTo>
                      <a:pt x="177888" y="60816"/>
                      <a:pt x="183596" y="55419"/>
                      <a:pt x="188291" y="52653"/>
                    </a:cubicBezTo>
                    <a:cubicBezTo>
                      <a:pt x="197530" y="47289"/>
                      <a:pt x="208528" y="45838"/>
                      <a:pt x="218842" y="48623"/>
                    </a:cubicBezTo>
                    <a:cubicBezTo>
                      <a:pt x="229155" y="51408"/>
                      <a:pt x="237928" y="58197"/>
                      <a:pt x="243211" y="67482"/>
                    </a:cubicBezTo>
                    <a:cubicBezTo>
                      <a:pt x="254320" y="86827"/>
                      <a:pt x="247755" y="111511"/>
                      <a:pt x="228503" y="122780"/>
                    </a:cubicBezTo>
                    <a:cubicBezTo>
                      <a:pt x="223456" y="125708"/>
                      <a:pt x="215144" y="128123"/>
                      <a:pt x="203593" y="129999"/>
                    </a:cubicBezTo>
                    <a:lnTo>
                      <a:pt x="167646" y="134938"/>
                    </a:lnTo>
                    <a:lnTo>
                      <a:pt x="200031" y="139337"/>
                    </a:lnTo>
                    <a:cubicBezTo>
                      <a:pt x="213525" y="141293"/>
                      <a:pt x="222944" y="143884"/>
                      <a:pt x="228503" y="147109"/>
                    </a:cubicBezTo>
                    <a:cubicBezTo>
                      <a:pt x="247755" y="158378"/>
                      <a:pt x="254320" y="183062"/>
                      <a:pt x="243211" y="202407"/>
                    </a:cubicBezTo>
                    <a:cubicBezTo>
                      <a:pt x="237926" y="211690"/>
                      <a:pt x="229152" y="218476"/>
                      <a:pt x="218839" y="221259"/>
                    </a:cubicBezTo>
                    <a:cubicBezTo>
                      <a:pt x="208526" y="224041"/>
                      <a:pt x="197528" y="222588"/>
                      <a:pt x="188291" y="217223"/>
                    </a:cubicBezTo>
                    <a:cubicBezTo>
                      <a:pt x="183596" y="214497"/>
                      <a:pt x="177888" y="209073"/>
                      <a:pt x="171154" y="200963"/>
                    </a:cubicBezTo>
                    <a:lnTo>
                      <a:pt x="147405" y="175419"/>
                    </a:lnTo>
                    <a:lnTo>
                      <a:pt x="157175" y="193771"/>
                    </a:lnTo>
                    <a:cubicBezTo>
                      <a:pt x="164138" y="209950"/>
                      <a:pt x="167646" y="221824"/>
                      <a:pt x="167646" y="229394"/>
                    </a:cubicBezTo>
                    <a:cubicBezTo>
                      <a:pt x="167646" y="251752"/>
                      <a:pt x="149522" y="269876"/>
                      <a:pt x="127165" y="269876"/>
                    </a:cubicBezTo>
                    <a:cubicBezTo>
                      <a:pt x="104807" y="269876"/>
                      <a:pt x="86683" y="251752"/>
                      <a:pt x="86683" y="229394"/>
                    </a:cubicBezTo>
                    <a:cubicBezTo>
                      <a:pt x="86683" y="221811"/>
                      <a:pt x="90178" y="209936"/>
                      <a:pt x="97154" y="193771"/>
                    </a:cubicBezTo>
                    <a:lnTo>
                      <a:pt x="106924" y="175419"/>
                    </a:lnTo>
                    <a:lnTo>
                      <a:pt x="83175" y="200963"/>
                    </a:lnTo>
                    <a:cubicBezTo>
                      <a:pt x="76442" y="209073"/>
                      <a:pt x="70734" y="214457"/>
                      <a:pt x="66038" y="217223"/>
                    </a:cubicBezTo>
                    <a:cubicBezTo>
                      <a:pt x="56801" y="222588"/>
                      <a:pt x="45804" y="224041"/>
                      <a:pt x="35491" y="221259"/>
                    </a:cubicBezTo>
                    <a:cubicBezTo>
                      <a:pt x="25178" y="218476"/>
                      <a:pt x="16403" y="211690"/>
                      <a:pt x="11118" y="202407"/>
                    </a:cubicBezTo>
                    <a:cubicBezTo>
                      <a:pt x="9" y="183062"/>
                      <a:pt x="6575" y="158378"/>
                      <a:pt x="25826" y="147109"/>
                    </a:cubicBezTo>
                    <a:cubicBezTo>
                      <a:pt x="30873" y="144168"/>
                      <a:pt x="39185" y="141766"/>
                      <a:pt x="50736" y="139877"/>
                    </a:cubicBezTo>
                    <a:lnTo>
                      <a:pt x="86683" y="134938"/>
                    </a:lnTo>
                    <a:lnTo>
                      <a:pt x="54298" y="130552"/>
                    </a:lnTo>
                    <a:cubicBezTo>
                      <a:pt x="40804" y="128596"/>
                      <a:pt x="31386" y="126005"/>
                      <a:pt x="25826" y="122780"/>
                    </a:cubicBezTo>
                    <a:cubicBezTo>
                      <a:pt x="6566" y="111510"/>
                      <a:pt x="0" y="86817"/>
                      <a:pt x="11118" y="67469"/>
                    </a:cubicBezTo>
                    <a:cubicBezTo>
                      <a:pt x="16401" y="58184"/>
                      <a:pt x="25174" y="51394"/>
                      <a:pt x="35488" y="48609"/>
                    </a:cubicBezTo>
                    <a:cubicBezTo>
                      <a:pt x="45801" y="45824"/>
                      <a:pt x="56799" y="47275"/>
                      <a:pt x="66038" y="52639"/>
                    </a:cubicBezTo>
                    <a:cubicBezTo>
                      <a:pt x="70734" y="55378"/>
                      <a:pt x="76442" y="60789"/>
                      <a:pt x="83175" y="68899"/>
                    </a:cubicBezTo>
                    <a:lnTo>
                      <a:pt x="106924" y="94456"/>
                    </a:lnTo>
                    <a:cubicBezTo>
                      <a:pt x="93430" y="63529"/>
                      <a:pt x="86683" y="45542"/>
                      <a:pt x="86683" y="40481"/>
                    </a:cubicBezTo>
                    <a:cubicBezTo>
                      <a:pt x="86683" y="18124"/>
                      <a:pt x="104807" y="0"/>
                      <a:pt x="127165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2" name="Freeform 62"/>
            <p:cNvSpPr/>
            <p:nvPr/>
          </p:nvSpPr>
          <p:spPr>
            <a:xfrm>
              <a:off x="5558087" y="5183873"/>
              <a:ext cx="240512" cy="254537"/>
            </a:xfrm>
            <a:custGeom>
              <a:avLst/>
              <a:gdLst/>
              <a:ahLst/>
              <a:cxnLst/>
              <a:rect l="l" t="t" r="r" b="b"/>
              <a:pathLst>
                <a:path w="240512" h="254537">
                  <a:moveTo>
                    <a:pt x="128338" y="108"/>
                  </a:moveTo>
                  <a:cubicBezTo>
                    <a:pt x="130119" y="108"/>
                    <a:pt x="131887" y="108"/>
                    <a:pt x="133641" y="108"/>
                  </a:cubicBezTo>
                  <a:cubicBezTo>
                    <a:pt x="97871" y="33345"/>
                    <a:pt x="90934" y="87384"/>
                    <a:pt x="117148" y="128579"/>
                  </a:cubicBezTo>
                  <a:cubicBezTo>
                    <a:pt x="143363" y="169774"/>
                    <a:pt x="195253" y="186377"/>
                    <a:pt x="240512" y="168052"/>
                  </a:cubicBezTo>
                  <a:cubicBezTo>
                    <a:pt x="217131" y="224309"/>
                    <a:pt x="155688" y="254537"/>
                    <a:pt x="96852" y="238728"/>
                  </a:cubicBezTo>
                  <a:cubicBezTo>
                    <a:pt x="38017" y="222918"/>
                    <a:pt x="0" y="165964"/>
                    <a:pt x="7966" y="105564"/>
                  </a:cubicBezTo>
                  <a:cubicBezTo>
                    <a:pt x="15932" y="45165"/>
                    <a:pt x="67416" y="15"/>
                    <a:pt x="128338" y="0"/>
                  </a:cubicBezTo>
                  <a:lnTo>
                    <a:pt x="128338" y="108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</p:grpSp>
      <p:grpSp>
        <p:nvGrpSpPr>
          <p:cNvPr id="75" name="p10-list"/>
          <p:cNvGrpSpPr/>
          <p:nvPr/>
        </p:nvGrpSpPr>
        <p:grpSpPr>
          <a:xfrm>
            <a:off x="7810500" y="1714500"/>
            <a:ext cx="3619500" cy="4476750"/>
            <a:chOff x="7810500" y="1714500"/>
            <a:chExt cx="3619500" cy="4476750"/>
          </a:xfrm>
        </p:grpSpPr>
        <p:sp>
          <p:nvSpPr>
            <p:cNvPr id="64" name="Rectangle 64"/>
            <p:cNvSpPr/>
            <p:nvPr/>
          </p:nvSpPr>
          <p:spPr>
            <a:xfrm>
              <a:off x="7810500" y="171450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68056" y="1924050"/>
              <a:ext cx="1460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Внутренние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68056" y="2324100"/>
              <a:ext cx="1773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68056" y="2628900"/>
              <a:ext cx="1907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самореализация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68056" y="2933700"/>
              <a:ext cx="1064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68056" y="3238500"/>
              <a:ext cx="1694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810500" y="409575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68056" y="4305300"/>
              <a:ext cx="1115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Внешние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8056" y="4705350"/>
              <a:ext cx="32407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материальная стабильность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8056" y="5010150"/>
              <a:ext cx="18437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справедливость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68056" y="5314950"/>
              <a:ext cx="2938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интересная деятельность</a:t>
              </a:r>
            </a:p>
          </p:txBody>
        </p:sp>
      </p:grpSp>
      <p:pic>
        <p:nvPicPr>
          <p:cNvPr id="76" name="PPT Master narration: narration1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1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7" name="p11-title"/>
          <p:cNvGrpSpPr/>
          <p:nvPr/>
        </p:nvGrpSpPr>
        <p:grpSpPr>
          <a:xfrm>
            <a:off x="743712" y="527050"/>
            <a:ext cx="7840255" cy="967994"/>
            <a:chOff x="743712" y="527050"/>
            <a:chExt cx="7840255" cy="96799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78402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долларов — плато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1143000"/>
              <a:ext cx="75897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Парадокс Истерлина: рост дохода не всегда ведёт к росту счастья</a:t>
              </a:r>
            </a:p>
          </p:txBody>
        </p:sp>
      </p:grpSp>
      <p:grpSp>
        <p:nvGrpSpPr>
          <p:cNvPr id="19" name="p11-chart"/>
          <p:cNvGrpSpPr/>
          <p:nvPr/>
        </p:nvGrpSpPr>
        <p:grpSpPr>
          <a:xfrm>
            <a:off x="762000" y="1762125"/>
            <a:ext cx="7620000" cy="3905250"/>
            <a:chOff x="762000" y="1762125"/>
            <a:chExt cx="7620000" cy="3905250"/>
          </a:xfrm>
        </p:grpSpPr>
        <p:sp>
          <p:nvSpPr>
            <p:cNvPr id="8" name="Rectangle 8"/>
            <p:cNvSpPr/>
            <p:nvPr/>
          </p:nvSpPr>
          <p:spPr>
            <a:xfrm>
              <a:off x="762000" y="1762125"/>
              <a:ext cx="76200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43100"/>
              <a:ext cx="4856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 (Канеман–Дитон, 2010)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457450"/>
              <a:ext cx="9525" cy="2419350"/>
            </a:xfrm>
            <a:custGeom>
              <a:avLst/>
              <a:gdLst/>
              <a:ahLst/>
              <a:cxnLst/>
              <a:rect l="l" t="t" r="r" b="b"/>
              <a:pathLst>
                <a:path w="9525" h="2419350">
                  <a:moveTo>
                    <a:pt x="0" y="0"/>
                  </a:moveTo>
                  <a:lnTo>
                    <a:pt x="0" y="24193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876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Polyline 12"/>
            <p:cNvSpPr/>
            <p:nvPr/>
          </p:nvSpPr>
          <p:spPr>
            <a:xfrm>
              <a:off x="1428750" y="2638425"/>
              <a:ext cx="6619875" cy="1895475"/>
            </a:xfrm>
            <a:custGeom>
              <a:avLst/>
              <a:gdLst/>
              <a:ahLst/>
              <a:cxnLst/>
              <a:rect l="l" t="t" r="r" b="b"/>
              <a:pathLst>
                <a:path w="6619875" h="1895475">
                  <a:moveTo>
                    <a:pt x="0" y="1895475"/>
                  </a:moveTo>
                  <a:lnTo>
                    <a:pt x="1047750" y="1438275"/>
                  </a:lnTo>
                  <a:lnTo>
                    <a:pt x="2095500" y="904875"/>
                  </a:lnTo>
                  <a:lnTo>
                    <a:pt x="3143250" y="466725"/>
                  </a:lnTo>
                  <a:lnTo>
                    <a:pt x="4191000" y="180975"/>
                  </a:lnTo>
                  <a:lnTo>
                    <a:pt x="5238750" y="47625"/>
                  </a:lnTo>
                  <a:lnTo>
                    <a:pt x="6286500" y="9525"/>
                  </a:lnTo>
                  <a:lnTo>
                    <a:pt x="661987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448300" y="2647950"/>
              <a:ext cx="342900" cy="342900"/>
            </a:xfrm>
            <a:prstGeom prst="ellipse">
              <a:avLst/>
            </a:prstGeom>
            <a:noFill/>
            <a:ln w="57150">
              <a:solidFill>
                <a:srgbClr val="E74C3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619750" y="28194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300000" sp="3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38962" y="4972050"/>
              <a:ext cx="961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1506" y="2438400"/>
              <a:ext cx="9526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4648200"/>
              <a:ext cx="7741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9856" y="5314950"/>
              <a:ext cx="3498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Годовой доход, доллары США</a:t>
              </a:r>
            </a:p>
          </p:txBody>
        </p:sp>
      </p:grpSp>
      <p:grpSp>
        <p:nvGrpSpPr>
          <p:cNvPr id="24" name="p11-photos"/>
          <p:cNvGrpSpPr/>
          <p:nvPr/>
        </p:nvGrpSpPr>
        <p:grpSpPr>
          <a:xfrm>
            <a:off x="8563356" y="1762125"/>
            <a:ext cx="3438144" cy="3885819"/>
            <a:chOff x="8563356" y="1762125"/>
            <a:chExt cx="3438144" cy="388581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14528" r="0" b="14528"/>
            <a:stretch>
              <a:fillRect/>
            </a:stretch>
          </p:blipFill>
          <p:spPr>
            <a:xfrm>
              <a:off x="8572500" y="1762125"/>
              <a:ext cx="3429000" cy="16192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563356" y="3409950"/>
              <a:ext cx="233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средний доход: рост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rcRect l="0" t="26113" r="0" b="26113"/>
            <a:stretch>
              <a:fillRect/>
            </a:stretch>
          </p:blipFill>
          <p:spPr>
            <a:xfrm>
              <a:off x="8572500" y="3810000"/>
              <a:ext cx="3429000" cy="14287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8563356" y="5295900"/>
              <a:ext cx="24824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высокий доход: плато</a:t>
              </a:r>
            </a:p>
          </p:txBody>
        </p:sp>
      </p:grpSp>
      <p:grpSp>
        <p:nvGrpSpPr>
          <p:cNvPr id="28" name="p11-findings"/>
          <p:cNvGrpSpPr/>
          <p:nvPr/>
        </p:nvGrpSpPr>
        <p:grpSpPr>
          <a:xfrm>
            <a:off x="762000" y="5695950"/>
            <a:ext cx="7620000" cy="652907"/>
            <a:chOff x="762000" y="5695950"/>
            <a:chExt cx="7620000" cy="652907"/>
          </a:xfrm>
        </p:grpSpPr>
        <p:sp>
          <p:nvSpPr>
            <p:cNvPr id="25" name="Rectangle 25"/>
            <p:cNvSpPr/>
            <p:nvPr/>
          </p:nvSpPr>
          <p:spPr>
            <a:xfrm>
              <a:off x="762000" y="5695950"/>
              <a:ext cx="7620000" cy="628650"/>
            </a:xfrm>
            <a:prstGeom prst="roundRect">
              <a:avLst>
                <a:gd name="adj" fmla="val 21212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2218" y="5759450"/>
              <a:ext cx="61986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Killingsworth (2021, PNAS): счастье растёт и после 75 000 $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2218" y="6026150"/>
              <a:ext cx="6253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Канеман и Киллингсворт (2023): плато — у 20% несчастных</a:t>
              </a:r>
            </a:p>
          </p:txBody>
        </p:sp>
      </p:grpSp>
      <p:grpSp>
        <p:nvGrpSpPr>
          <p:cNvPr id="30" name="p11-credits"/>
          <p:cNvGrpSpPr/>
          <p:nvPr/>
        </p:nvGrpSpPr>
        <p:grpSpPr>
          <a:xfrm>
            <a:off x="755904" y="6343650"/>
            <a:ext cx="6648999" cy="387096"/>
            <a:chOff x="755904" y="6343650"/>
            <a:chExt cx="6648999" cy="387096"/>
          </a:xfrm>
        </p:grpSpPr>
        <p:sp>
          <p:nvSpPr>
            <p:cNvPr id="29" name="TextBox 29"/>
            <p:cNvSpPr txBox="1"/>
            <p:nvPr/>
          </p:nvSpPr>
          <p:spPr>
            <a:xfrm>
              <a:off x="755904" y="6343650"/>
              <a:ext cx="6648999" cy="387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120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Marek Ślusarczyk ( Tupungato ) Photo portfolio / CC BY 3.0; © ProperAndPolite / CC BY-SA 4.0</a:t>
              </a:r>
              <a:br>
                <a:rPr lang="en-US" sz="120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20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Pedro Ribeiro Simões from Lisboa, Portugal / CC BY 2.0</a:t>
              </a:r>
            </a:p>
          </p:txBody>
        </p:sp>
      </p:grpSp>
      <p:sp>
        <p:nvSpPr>
          <p:cNvPr id="31" name="p11-foot"/>
          <p:cNvSpPr txBox="1"/>
          <p:nvPr/>
        </p:nvSpPr>
        <p:spPr>
          <a:xfrm>
            <a:off x="6658356" y="655320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32" name="p11-num"/>
          <p:cNvSpPr txBox="1"/>
          <p:nvPr/>
        </p:nvSpPr>
        <p:spPr>
          <a:xfrm>
            <a:off x="11151304" y="65532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pic>
        <p:nvPicPr>
          <p:cNvPr id="33" name="PPT Master narration: narration11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p12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grpSp>
        <p:nvGrpSpPr>
          <p:cNvPr id="9" name="p12-title"/>
          <p:cNvGrpSpPr/>
          <p:nvPr/>
        </p:nvGrpSpPr>
        <p:grpSpPr>
          <a:xfrm>
            <a:off x="743712" y="527050"/>
            <a:ext cx="6195212" cy="967994"/>
            <a:chOff x="743712" y="527050"/>
            <a:chExt cx="6195212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6195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4645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Связь счастья и образования нелинейна</a:t>
              </a:r>
            </a:p>
          </p:txBody>
        </p:sp>
      </p:grpSp>
      <p:grpSp>
        <p:nvGrpSpPr>
          <p:cNvPr id="21" name="p12-chart"/>
          <p:cNvGrpSpPr/>
          <p:nvPr/>
        </p:nvGrpSpPr>
        <p:grpSpPr>
          <a:xfrm>
            <a:off x="1143000" y="1905000"/>
            <a:ext cx="6286500" cy="4276344"/>
            <a:chOff x="1143000" y="1905000"/>
            <a:chExt cx="6286500" cy="4276344"/>
          </a:xfrm>
        </p:grpSpPr>
        <p:sp>
          <p:nvSpPr>
            <p:cNvPr id="10" name="Rectangle 10"/>
            <p:cNvSpPr/>
            <p:nvPr/>
          </p:nvSpPr>
          <p:spPr>
            <a:xfrm>
              <a:off x="1143000" y="1905000"/>
              <a:ext cx="6286500" cy="4000500"/>
            </a:xfrm>
            <a:prstGeom prst="roundRect">
              <a:avLst>
                <a:gd name="adj" fmla="val 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5334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Polyline 13"/>
            <p:cNvSpPr/>
            <p:nvPr/>
          </p:nvSpPr>
          <p:spPr>
            <a:xfrm>
              <a:off x="1714500" y="27622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1047750" y="571500"/>
                  </a:lnTo>
                  <a:lnTo>
                    <a:pt x="2095500" y="1619250"/>
                  </a:lnTo>
                  <a:lnTo>
                    <a:pt x="3143250" y="2095500"/>
                  </a:lnTo>
                  <a:lnTo>
                    <a:pt x="4191000" y="1238250"/>
                  </a:lnTo>
                  <a:lnTo>
                    <a:pt x="5143500" y="5715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686300" y="4686300"/>
              <a:ext cx="342900" cy="342900"/>
            </a:xfrm>
            <a:prstGeom prst="ellipse">
              <a:avLst/>
            </a:prstGeom>
            <a:noFill/>
            <a:ln w="571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08584" y="4248150"/>
              <a:ext cx="898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9156" y="2247900"/>
              <a:ext cx="6503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выше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9156" y="5105400"/>
              <a:ext cx="5843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ниже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0606" y="5448300"/>
              <a:ext cx="9537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5448300"/>
              <a:ext cx="9063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2606" y="5829300"/>
              <a:ext cx="4724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 → уровень счастья</a:t>
              </a:r>
            </a:p>
          </p:txBody>
        </p:sp>
      </p:grpSp>
      <p:grpSp>
        <p:nvGrpSpPr>
          <p:cNvPr id="33" name="p12-list"/>
          <p:cNvGrpSpPr/>
          <p:nvPr/>
        </p:nvGrpSpPr>
        <p:grpSpPr>
          <a:xfrm>
            <a:off x="7810500" y="1905000"/>
            <a:ext cx="3619500" cy="4000500"/>
            <a:chOff x="7810500" y="1905000"/>
            <a:chExt cx="3619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7810500" y="1905000"/>
              <a:ext cx="3619500" cy="4000500"/>
            </a:xfrm>
            <a:prstGeom prst="roundRect">
              <a:avLst>
                <a:gd name="adj" fmla="val 4211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08950" y="2251075"/>
              <a:ext cx="317501" cy="222250"/>
              <a:chOff x="8108950" y="2251075"/>
              <a:chExt cx="317501" cy="2222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08950" y="2251075"/>
                <a:ext cx="31750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17501" h="158750">
                    <a:moveTo>
                      <a:pt x="317501" y="63500"/>
                    </a:moveTo>
                    <a:lnTo>
                      <a:pt x="158750" y="0"/>
                    </a:lnTo>
                    <a:lnTo>
                      <a:pt x="0" y="63500"/>
                    </a:lnTo>
                    <a:lnTo>
                      <a:pt x="158750" y="127000"/>
                    </a:lnTo>
                    <a:lnTo>
                      <a:pt x="317501" y="63500"/>
                    </a:lnTo>
                    <a:lnTo>
                      <a:pt x="317501" y="158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2450" y="2339975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12028"/>
                      <a:pt x="42645" y="133350"/>
                      <a:pt x="95250" y="133350"/>
                    </a:cubicBezTo>
                    <a:cubicBezTo>
                      <a:pt x="147855" y="133350"/>
                      <a:pt x="190500" y="112028"/>
                      <a:pt x="190500" y="857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63356" y="2247900"/>
              <a:ext cx="12813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важно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056" y="2914650"/>
              <a:ext cx="2403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8056" y="3409950"/>
              <a:ext cx="2103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056" y="3714750"/>
              <a:ext cx="15737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8056" y="4210050"/>
              <a:ext cx="1921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8056" y="4514850"/>
              <a:ext cx="1686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статус, навыки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8056" y="5010150"/>
              <a:ext cx="2648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34" name="credit"/>
          <p:cNvSpPr txBox="1"/>
          <p:nvPr/>
        </p:nvSpPr>
        <p:spPr>
          <a:xfrm>
            <a:off x="753618" y="6578600"/>
            <a:ext cx="44664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Kambai Akau / Wikimedia / CC BY-SA 4.0</a:t>
            </a:r>
          </a:p>
        </p:txBody>
      </p:sp>
      <p:pic>
        <p:nvPicPr>
          <p:cNvPr id="35" name="PPT Master narration: narration1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3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grpSp>
        <p:nvGrpSpPr>
          <p:cNvPr id="8" name="p13-title"/>
          <p:cNvGrpSpPr/>
          <p:nvPr/>
        </p:nvGrpSpPr>
        <p:grpSpPr>
          <a:xfrm>
            <a:off x="743712" y="565150"/>
            <a:ext cx="6159089" cy="704088"/>
            <a:chOff x="743712" y="565150"/>
            <a:chExt cx="6159089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15908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онлайн и офлайн</a:t>
              </a:r>
            </a:p>
          </p:txBody>
        </p:sp>
      </p:grpSp>
      <p:grpSp>
        <p:nvGrpSpPr>
          <p:cNvPr id="32" name="p13-plus"/>
          <p:cNvGrpSpPr/>
          <p:nvPr/>
        </p:nvGrpSpPr>
        <p:grpSpPr>
          <a:xfrm>
            <a:off x="762000" y="1809750"/>
            <a:ext cx="4572000" cy="3810000"/>
            <a:chOff x="762000" y="1809750"/>
            <a:chExt cx="4572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38225" y="2105025"/>
              <a:ext cx="285751" cy="285751"/>
              <a:chOff x="1038225" y="2105025"/>
              <a:chExt cx="285751" cy="285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8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33475" y="22161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76756" y="2133600"/>
              <a:ext cx="904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2900362"/>
              <a:ext cx="242888" cy="271462"/>
              <a:chOff x="1085850" y="2900362"/>
              <a:chExt cx="242888" cy="2714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00138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85850" y="3014662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14288" y="157162"/>
                    </a:moveTo>
                    <a:lnTo>
                      <a:pt x="14288" y="85725"/>
                    </a:ln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71438"/>
                    </a:lnTo>
                    <a:lnTo>
                      <a:pt x="71438" y="85725"/>
                    </a:lnTo>
                    <a:lnTo>
                      <a:pt x="71438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43012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14438" y="3014662"/>
                <a:ext cx="1143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7162">
                    <a:moveTo>
                      <a:pt x="28575" y="157162"/>
                    </a:moveTo>
                    <a:lnTo>
                      <a:pt x="28575" y="100012"/>
                    </a:lnTo>
                    <a:lnTo>
                      <a:pt x="0" y="100012"/>
                    </a:lnTo>
                    <a:lnTo>
                      <a:pt x="28575" y="14288"/>
                    </a:lnTo>
                    <a:cubicBezTo>
                      <a:pt x="28575" y="6397"/>
                      <a:pt x="34972" y="0"/>
                      <a:pt x="42862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114300" y="100012"/>
                    </a:lnTo>
                    <a:lnTo>
                      <a:pt x="85725" y="100012"/>
                    </a:lnTo>
                    <a:lnTo>
                      <a:pt x="85725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514856" y="2914650"/>
              <a:ext cx="1962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66615" y="353963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14856" y="3543300"/>
              <a:ext cx="24024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помощь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00138" y="4171950"/>
              <a:ext cx="200025" cy="228600"/>
              <a:chOff x="1100138" y="4171950"/>
              <a:chExt cx="20002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0138" y="4171950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200025" y="0"/>
                    </a:moveTo>
                    <a:lnTo>
                      <a:pt x="200025" y="228600"/>
                    </a:ln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0138" y="4343400"/>
                <a:ext cx="2000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8575">
                    <a:moveTo>
                      <a:pt x="2000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57288" y="42291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4856" y="4171950"/>
              <a:ext cx="19663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71562" y="4786312"/>
              <a:ext cx="257175" cy="257176"/>
              <a:chOff x="1071562" y="4786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71562" y="4800600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8575" y="0"/>
                    </a:moveTo>
                    <a:lnTo>
                      <a:pt x="85725" y="0"/>
                    </a:lnTo>
                    <a:lnTo>
                      <a:pt x="114300" y="71438"/>
                    </a:lnTo>
                    <a:lnTo>
                      <a:pt x="78581" y="92869"/>
                    </a:lnTo>
                    <a:cubicBezTo>
                      <a:pt x="93883" y="123894"/>
                      <a:pt x="118993" y="149005"/>
                      <a:pt x="150019" y="164306"/>
                    </a:cubicBezTo>
                    <a:lnTo>
                      <a:pt x="171450" y="128588"/>
                    </a:lnTo>
                    <a:lnTo>
                      <a:pt x="242888" y="157162"/>
                    </a:lnTo>
                    <a:lnTo>
                      <a:pt x="242888" y="214312"/>
                    </a:lnTo>
                    <a:cubicBezTo>
                      <a:pt x="242888" y="230094"/>
                      <a:pt x="230094" y="242888"/>
                      <a:pt x="214312" y="242888"/>
                    </a:cubicBezTo>
                    <a:cubicBezTo>
                      <a:pt x="98979" y="235879"/>
                      <a:pt x="7009" y="143909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3012" y="48434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cubicBezTo>
                      <a:pt x="15782" y="0"/>
                      <a:pt x="28575" y="12793"/>
                      <a:pt x="28575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243012" y="4786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cubicBezTo>
                      <a:pt x="47345" y="0"/>
                      <a:pt x="85725" y="38380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4856" y="4800600"/>
              <a:ext cx="1826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46" name="p13-phone"/>
          <p:cNvGrpSpPr/>
          <p:nvPr/>
        </p:nvGrpSpPr>
        <p:grpSpPr>
          <a:xfrm>
            <a:off x="5619750" y="2381250"/>
            <a:ext cx="952500" cy="2857500"/>
            <a:chOff x="5619750" y="2381250"/>
            <a:chExt cx="952500" cy="2857500"/>
          </a:xfrm>
        </p:grpSpPr>
        <p:sp>
          <p:nvSpPr>
            <p:cNvPr id="33" name="Rectangle 33"/>
            <p:cNvSpPr/>
            <p:nvPr/>
          </p:nvSpPr>
          <p:spPr>
            <a:xfrm>
              <a:off x="5619750" y="2381250"/>
              <a:ext cx="952500" cy="2857500"/>
            </a:xfrm>
            <a:prstGeom prst="roundRect">
              <a:avLst>
                <a:gd name="adj" fmla="val 1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590800"/>
              <a:ext cx="685800" cy="24384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943600" y="3409950"/>
              <a:ext cx="304800" cy="304800"/>
              <a:chOff x="5943600" y="3409950"/>
              <a:chExt cx="304800" cy="304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943600" y="3486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81700" y="34099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981700" y="35623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57900" y="3600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96000" y="34099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96000" y="3676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72200" y="3429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1030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10300" y="35052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45" name="Ellipse 45"/>
            <p:cNvSpPr/>
            <p:nvPr/>
          </p:nvSpPr>
          <p:spPr>
            <a:xfrm>
              <a:off x="6029325" y="5038725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6" name="p13-minus"/>
          <p:cNvGrpSpPr/>
          <p:nvPr/>
        </p:nvGrpSpPr>
        <p:grpSpPr>
          <a:xfrm>
            <a:off x="6858000" y="1809750"/>
            <a:ext cx="4572000" cy="3810000"/>
            <a:chOff x="6858000" y="1809750"/>
            <a:chExt cx="4572000" cy="3810000"/>
          </a:xfrm>
        </p:grpSpPr>
        <p:sp>
          <p:nvSpPr>
            <p:cNvPr id="47" name="Rectangle 47"/>
            <p:cNvSpPr/>
            <p:nvPr/>
          </p:nvSpPr>
          <p:spPr>
            <a:xfrm>
              <a:off x="6858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34225" y="2105025"/>
              <a:ext cx="285751" cy="285751"/>
              <a:chOff x="7134225" y="2105025"/>
              <a:chExt cx="285751" cy="2857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34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45350" y="2216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  <a:moveTo>
                      <a:pt x="6350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72756" y="2133600"/>
              <a:ext cx="1001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167562" y="2943225"/>
              <a:ext cx="257175" cy="171450"/>
              <a:chOff x="7167562" y="2943225"/>
              <a:chExt cx="257175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67575" y="3000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67562" y="29432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10856" y="2914650"/>
              <a:ext cx="23891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167562" y="3529012"/>
              <a:ext cx="257175" cy="257175"/>
              <a:chOff x="7167562" y="3529012"/>
              <a:chExt cx="257175" cy="2571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67562" y="35290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53288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339012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0431" y="3689025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15009"/>
                    </a:moveTo>
                    <a:cubicBezTo>
                      <a:pt x="9406" y="5410"/>
                      <a:pt x="22279" y="0"/>
                      <a:pt x="35719" y="0"/>
                    </a:cubicBezTo>
                    <a:cubicBezTo>
                      <a:pt x="49158" y="0"/>
                      <a:pt x="62032" y="5410"/>
                      <a:pt x="71438" y="15009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10856" y="3543300"/>
              <a:ext cx="26771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страх упустить (FOMO)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162615" y="416828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0856" y="4171950"/>
              <a:ext cx="2517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снижение самооценки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60263" y="4786198"/>
              <a:ext cx="254659" cy="269509"/>
            </a:xfrm>
            <a:custGeom>
              <a:avLst/>
              <a:gdLst/>
              <a:ahLst/>
              <a:cxnLst/>
              <a:rect l="l" t="t" r="r" b="b"/>
              <a:pathLst>
                <a:path w="254659" h="269509">
                  <a:moveTo>
                    <a:pt x="135887" y="114"/>
                  </a:moveTo>
                  <a:cubicBezTo>
                    <a:pt x="137773" y="114"/>
                    <a:pt x="139645" y="114"/>
                    <a:pt x="141502" y="114"/>
                  </a:cubicBezTo>
                  <a:cubicBezTo>
                    <a:pt x="103628" y="35307"/>
                    <a:pt x="96283" y="92524"/>
                    <a:pt x="124039" y="136142"/>
                  </a:cubicBezTo>
                  <a:cubicBezTo>
                    <a:pt x="151795" y="179760"/>
                    <a:pt x="206738" y="197340"/>
                    <a:pt x="254659" y="177937"/>
                  </a:cubicBezTo>
                  <a:cubicBezTo>
                    <a:pt x="229903" y="237503"/>
                    <a:pt x="164845" y="269509"/>
                    <a:pt x="102549" y="252770"/>
                  </a:cubicBezTo>
                  <a:cubicBezTo>
                    <a:pt x="40253" y="236030"/>
                    <a:pt x="0" y="175726"/>
                    <a:pt x="8435" y="111774"/>
                  </a:cubicBezTo>
                  <a:cubicBezTo>
                    <a:pt x="16869" y="47821"/>
                    <a:pt x="71381" y="16"/>
                    <a:pt x="135887" y="0"/>
                  </a:cubicBezTo>
                  <a:lnTo>
                    <a:pt x="135887" y="114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10856" y="4800600"/>
              <a:ext cx="2411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 и тревога</a:t>
              </a:r>
            </a:p>
          </p:txBody>
        </p:sp>
      </p:grpSp>
      <p:grpSp>
        <p:nvGrpSpPr>
          <p:cNvPr id="70" name="p13-note"/>
          <p:cNvGrpSpPr/>
          <p:nvPr/>
        </p:nvGrpSpPr>
        <p:grpSpPr>
          <a:xfrm>
            <a:off x="762000" y="5810250"/>
            <a:ext cx="10668000" cy="666750"/>
            <a:chOff x="762000" y="5810250"/>
            <a:chExt cx="10668000" cy="666750"/>
          </a:xfrm>
        </p:grpSpPr>
        <p:sp>
          <p:nvSpPr>
            <p:cNvPr id="67" name="Rectangle 67"/>
            <p:cNvSpPr/>
            <p:nvPr/>
          </p:nvSpPr>
          <p:spPr>
            <a:xfrm>
              <a:off x="762000" y="5810250"/>
              <a:ext cx="10668000" cy="6667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8225" y="6016625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27AE6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514856" y="6000750"/>
              <a:ext cx="9104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контента и цифровой детокс повышают благополучие</a:t>
              </a:r>
            </a:p>
          </p:txBody>
        </p:sp>
      </p:grpSp>
      <p:pic>
        <p:nvPicPr>
          <p:cNvPr id="71" name="PPT Master narration: 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4-foot"/>
          <p:cNvSpPr txBox="1"/>
          <p:nvPr/>
        </p:nvSpPr>
        <p:spPr>
          <a:xfrm>
            <a:off x="752856" y="6343650"/>
            <a:ext cx="31209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8" name="p14-title"/>
          <p:cNvGrpSpPr/>
          <p:nvPr/>
        </p:nvGrpSpPr>
        <p:grpSpPr>
          <a:xfrm>
            <a:off x="743712" y="565150"/>
            <a:ext cx="6051035" cy="704088"/>
            <a:chOff x="743712" y="565150"/>
            <a:chExt cx="6051035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05103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Восемь шагов к счастью</a:t>
              </a:r>
            </a:p>
          </p:txBody>
        </p:sp>
      </p:grpSp>
      <p:grpSp>
        <p:nvGrpSpPr>
          <p:cNvPr id="80" name="p14-checklist"/>
          <p:cNvGrpSpPr/>
          <p:nvPr/>
        </p:nvGrpSpPr>
        <p:grpSpPr>
          <a:xfrm>
            <a:off x="762000" y="1714500"/>
            <a:ext cx="10858500" cy="4429125"/>
            <a:chOff x="762000" y="1714500"/>
            <a:chExt cx="10858500" cy="4429125"/>
          </a:xfrm>
        </p:grpSpPr>
        <p:grpSp>
          <p:nvGrpSpPr>
            <p:cNvPr id="13" name="p14-s1"/>
            <p:cNvGrpSpPr/>
            <p:nvPr/>
          </p:nvGrpSpPr>
          <p:grpSpPr>
            <a:xfrm>
              <a:off x="762000" y="1714500"/>
              <a:ext cx="3429000" cy="1381125"/>
              <a:chOff x="762000" y="1714500"/>
              <a:chExt cx="3429000" cy="13811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2315" y="2006110"/>
                <a:ext cx="266811" cy="232265"/>
              </a:xfrm>
              <a:custGeom>
                <a:avLst/>
                <a:gdLst/>
                <a:ahLst/>
                <a:cxnLst/>
                <a:rect l="l" t="t" r="r" b="b"/>
                <a:pathLst>
                  <a:path w="266811" h="232265">
                    <a:moveTo>
                      <a:pt x="240691" y="126138"/>
                    </a:moveTo>
                    <a:lnTo>
                      <a:pt x="133535" y="232265"/>
                    </a:lnTo>
                    <a:lnTo>
                      <a:pt x="26379" y="126138"/>
                    </a:lnTo>
                    <a:cubicBezTo>
                      <a:pt x="7109" y="107387"/>
                      <a:pt x="0" y="79404"/>
                      <a:pt x="7983" y="53729"/>
                    </a:cubicBezTo>
                    <a:cubicBezTo>
                      <a:pt x="15966" y="28055"/>
                      <a:pt x="37689" y="9037"/>
                      <a:pt x="64194" y="4518"/>
                    </a:cubicBezTo>
                    <a:cubicBezTo>
                      <a:pt x="90699" y="0"/>
                      <a:pt x="117496" y="10746"/>
                      <a:pt x="133535" y="32326"/>
                    </a:cubicBezTo>
                    <a:cubicBezTo>
                      <a:pt x="149641" y="10906"/>
                      <a:pt x="176381" y="302"/>
                      <a:pt x="202789" y="4863"/>
                    </a:cubicBezTo>
                    <a:cubicBezTo>
                      <a:pt x="229198" y="9424"/>
                      <a:pt x="250833" y="28381"/>
                      <a:pt x="258822" y="53962"/>
                    </a:cubicBezTo>
                    <a:cubicBezTo>
                      <a:pt x="266811" y="79543"/>
                      <a:pt x="259811" y="107444"/>
                      <a:pt x="240691" y="126224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81506" y="2085975"/>
                <a:ext cx="17182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Инвестируйте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81506" y="2524125"/>
                <a:ext cx="14582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 отношения</a:t>
                </a:r>
              </a:p>
            </p:txBody>
          </p:sp>
        </p:grpSp>
        <p:grpSp>
          <p:nvGrpSpPr>
            <p:cNvPr id="21" name="p14-s2"/>
            <p:cNvGrpSpPr/>
            <p:nvPr/>
          </p:nvGrpSpPr>
          <p:grpSpPr>
            <a:xfrm>
              <a:off x="4476750" y="1714500"/>
              <a:ext cx="3429000" cy="1381125"/>
              <a:chOff x="4476750" y="1714500"/>
              <a:chExt cx="3429000" cy="1381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7675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4700588" y="2009775"/>
                <a:ext cx="200025" cy="257175"/>
                <a:chOff x="4700588" y="2009775"/>
                <a:chExt cx="200025" cy="25717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4700588" y="2009775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4288" y="0"/>
                      </a:moveTo>
                      <a:lnTo>
                        <a:pt x="171450" y="0"/>
                      </a:lnTo>
                      <a:cubicBezTo>
                        <a:pt x="187232" y="0"/>
                        <a:pt x="200025" y="12793"/>
                        <a:pt x="200025" y="28575"/>
                      </a:cubicBezTo>
                      <a:lnTo>
                        <a:pt x="200025" y="200025"/>
                      </a:lnTo>
                      <a:cubicBezTo>
                        <a:pt x="200025" y="215807"/>
                        <a:pt x="187232" y="228600"/>
                        <a:pt x="171450" y="228600"/>
                      </a:cubicBezTo>
                      <a:lnTo>
                        <a:pt x="14288" y="228600"/>
                      </a:lnTo>
                      <a:cubicBezTo>
                        <a:pt x="6397" y="228600"/>
                        <a:pt x="0" y="222203"/>
                        <a:pt x="0" y="214312"/>
                      </a:cubicBez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moveTo>
                        <a:pt x="57150" y="0"/>
                      </a:moveTo>
                      <a:lnTo>
                        <a:pt x="57150" y="257175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4814888" y="20669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814888" y="21240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5096256" y="2085975"/>
                <a:ext cx="15304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Практикуйте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96256" y="2524125"/>
                <a:ext cx="16943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благодарность</a:t>
                </a:r>
              </a:p>
            </p:txBody>
          </p:sp>
        </p:grpSp>
        <p:grpSp>
          <p:nvGrpSpPr>
            <p:cNvPr id="30" name="p14-s3"/>
            <p:cNvGrpSpPr/>
            <p:nvPr/>
          </p:nvGrpSpPr>
          <p:grpSpPr>
            <a:xfrm>
              <a:off x="8191500" y="1714500"/>
              <a:ext cx="3429000" cy="1381125"/>
              <a:chOff x="8191500" y="1714500"/>
              <a:chExt cx="3429000" cy="1381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191500" y="1714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401050" y="1995488"/>
                <a:ext cx="200024" cy="257175"/>
                <a:chOff x="8401050" y="1995488"/>
                <a:chExt cx="200024" cy="257175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501163" y="1995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401050" y="2188369"/>
                  <a:ext cx="82153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53" h="21431">
                      <a:moveTo>
                        <a:pt x="0" y="7144"/>
                      </a:moveTo>
                      <a:lnTo>
                        <a:pt x="71438" y="21431"/>
                      </a:lnTo>
                      <a:lnTo>
                        <a:pt x="82153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501062" y="2066925"/>
                  <a:ext cx="5715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85738">
                      <a:moveTo>
                        <a:pt x="57150" y="185738"/>
                      </a:moveTo>
                      <a:lnTo>
                        <a:pt x="57150" y="128588"/>
                      </a:lnTo>
                      <a:lnTo>
                        <a:pt x="0" y="85725"/>
                      </a:lnTo>
                      <a:lnTo>
                        <a:pt x="14288" y="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43912" y="2066925"/>
                  <a:ext cx="157162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57150">
                      <a:moveTo>
                        <a:pt x="0" y="57150"/>
                      </a:moveTo>
                      <a:lnTo>
                        <a:pt x="0" y="14288"/>
                      </a:lnTo>
                      <a:lnTo>
                        <a:pt x="71438" y="0"/>
                      </a:lnTo>
                      <a:lnTo>
                        <a:pt x="114300" y="42862"/>
                      </a:lnTo>
                      <a:lnTo>
                        <a:pt x="157162" y="57150"/>
                      </a:lnTo>
                    </a:path>
                  </a:pathLst>
                </a:custGeom>
                <a:noFill/>
                <a:ln w="28575">
                  <a:solidFill>
                    <a:srgbClr val="27AE60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811006" y="2085975"/>
                <a:ext cx="1608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Занимайтесь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11006" y="2524125"/>
                <a:ext cx="9525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спортом</a:t>
                </a:r>
              </a:p>
            </p:txBody>
          </p:sp>
        </p:grpSp>
        <p:grpSp>
          <p:nvGrpSpPr>
            <p:cNvPr id="37" name="p14-s4"/>
            <p:cNvGrpSpPr/>
            <p:nvPr/>
          </p:nvGrpSpPr>
          <p:grpSpPr>
            <a:xfrm>
              <a:off x="762000" y="3238500"/>
              <a:ext cx="3429000" cy="1381125"/>
              <a:chOff x="762000" y="3238500"/>
              <a:chExt cx="3429000" cy="1381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6200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951205" y="3505200"/>
                <a:ext cx="269280" cy="285750"/>
                <a:chOff x="951205" y="3505200"/>
                <a:chExt cx="269280" cy="2857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1042988" y="36052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51205" y="3505200"/>
                  <a:ext cx="26928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80" h="285750">
                      <a:moveTo>
                        <a:pt x="134645" y="0"/>
                      </a:moveTo>
                      <a:cubicBezTo>
                        <a:pt x="158317" y="0"/>
                        <a:pt x="177507" y="19190"/>
                        <a:pt x="177507" y="42862"/>
                      </a:cubicBezTo>
                      <a:cubicBezTo>
                        <a:pt x="177507" y="50892"/>
                        <a:pt x="173807" y="63465"/>
                        <a:pt x="166420" y="80581"/>
                      </a:cubicBezTo>
                      <a:lnTo>
                        <a:pt x="156076" y="100012"/>
                      </a:lnTo>
                      <a:lnTo>
                        <a:pt x="181222" y="72966"/>
                      </a:lnTo>
                      <a:cubicBezTo>
                        <a:pt x="188351" y="64394"/>
                        <a:pt x="194395" y="58679"/>
                        <a:pt x="199367" y="55750"/>
                      </a:cubicBezTo>
                      <a:cubicBezTo>
                        <a:pt x="209149" y="50070"/>
                        <a:pt x="220794" y="48534"/>
                        <a:pt x="231714" y="51483"/>
                      </a:cubicBezTo>
                      <a:cubicBezTo>
                        <a:pt x="242634" y="54431"/>
                        <a:pt x="251924" y="61621"/>
                        <a:pt x="257517" y="71452"/>
                      </a:cubicBezTo>
                      <a:cubicBezTo>
                        <a:pt x="269280" y="91934"/>
                        <a:pt x="262328" y="118070"/>
                        <a:pt x="241944" y="130002"/>
                      </a:cubicBezTo>
                      <a:cubicBezTo>
                        <a:pt x="236600" y="133102"/>
                        <a:pt x="227799" y="135660"/>
                        <a:pt x="215569" y="137646"/>
                      </a:cubicBezTo>
                      <a:lnTo>
                        <a:pt x="177507" y="142875"/>
                      </a:lnTo>
                      <a:lnTo>
                        <a:pt x="211797" y="147533"/>
                      </a:lnTo>
                      <a:cubicBezTo>
                        <a:pt x="226085" y="149604"/>
                        <a:pt x="236057" y="152348"/>
                        <a:pt x="241944" y="155762"/>
                      </a:cubicBezTo>
                      <a:cubicBezTo>
                        <a:pt x="262328" y="167694"/>
                        <a:pt x="269280" y="193830"/>
                        <a:pt x="257517" y="214312"/>
                      </a:cubicBezTo>
                      <a:cubicBezTo>
                        <a:pt x="251921" y="224141"/>
                        <a:pt x="242631" y="231327"/>
                        <a:pt x="231711" y="234273"/>
                      </a:cubicBezTo>
                      <a:cubicBezTo>
                        <a:pt x="220791" y="237219"/>
                        <a:pt x="209147" y="235681"/>
                        <a:pt x="199367" y="230000"/>
                      </a:cubicBezTo>
                      <a:cubicBezTo>
                        <a:pt x="194395" y="227114"/>
                        <a:pt x="188351" y="221371"/>
                        <a:pt x="181222" y="212784"/>
                      </a:cubicBezTo>
                      <a:lnTo>
                        <a:pt x="156076" y="185738"/>
                      </a:lnTo>
                      <a:lnTo>
                        <a:pt x="166420" y="205169"/>
                      </a:lnTo>
                      <a:cubicBezTo>
                        <a:pt x="173792" y="222299"/>
                        <a:pt x="177507" y="234872"/>
                        <a:pt x="177507" y="242888"/>
                      </a:cubicBezTo>
                      <a:cubicBezTo>
                        <a:pt x="177507" y="266560"/>
                        <a:pt x="158317" y="285750"/>
                        <a:pt x="134645" y="285750"/>
                      </a:cubicBezTo>
                      <a:cubicBezTo>
                        <a:pt x="110972" y="285750"/>
                        <a:pt x="91782" y="266560"/>
                        <a:pt x="91782" y="242888"/>
                      </a:cubicBezTo>
                      <a:cubicBezTo>
                        <a:pt x="91782" y="234858"/>
                        <a:pt x="95483" y="222285"/>
                        <a:pt x="102869" y="205169"/>
                      </a:cubicBezTo>
                      <a:lnTo>
                        <a:pt x="113213" y="185738"/>
                      </a:lnTo>
                      <a:lnTo>
                        <a:pt x="88067" y="212784"/>
                      </a:lnTo>
                      <a:cubicBezTo>
                        <a:pt x="80938" y="221371"/>
                        <a:pt x="74894" y="227071"/>
                        <a:pt x="69922" y="230000"/>
                      </a:cubicBezTo>
                      <a:cubicBezTo>
                        <a:pt x="60142" y="235681"/>
                        <a:pt x="48498" y="237219"/>
                        <a:pt x="37578" y="234273"/>
                      </a:cubicBezTo>
                      <a:cubicBezTo>
                        <a:pt x="26658" y="231327"/>
                        <a:pt x="17368" y="224141"/>
                        <a:pt x="11772" y="214312"/>
                      </a:cubicBezTo>
                      <a:cubicBezTo>
                        <a:pt x="10" y="193830"/>
                        <a:pt x="6961" y="167694"/>
                        <a:pt x="27345" y="155762"/>
                      </a:cubicBezTo>
                      <a:cubicBezTo>
                        <a:pt x="32689" y="152648"/>
                        <a:pt x="41490" y="150104"/>
                        <a:pt x="53720" y="148104"/>
                      </a:cubicBezTo>
                      <a:lnTo>
                        <a:pt x="91782" y="142875"/>
                      </a:lnTo>
                      <a:lnTo>
                        <a:pt x="57492" y="138232"/>
                      </a:lnTo>
                      <a:cubicBezTo>
                        <a:pt x="43205" y="136160"/>
                        <a:pt x="33232" y="133417"/>
                        <a:pt x="27345" y="130002"/>
                      </a:cubicBezTo>
                      <a:cubicBezTo>
                        <a:pt x="6953" y="118069"/>
                        <a:pt x="0" y="91923"/>
                        <a:pt x="11772" y="71438"/>
                      </a:cubicBezTo>
                      <a:cubicBezTo>
                        <a:pt x="17366" y="61606"/>
                        <a:pt x="26655" y="54417"/>
                        <a:pt x="37575" y="51468"/>
                      </a:cubicBezTo>
                      <a:cubicBezTo>
                        <a:pt x="48495" y="48520"/>
                        <a:pt x="60140" y="50056"/>
                        <a:pt x="69922" y="55736"/>
                      </a:cubicBezTo>
                      <a:cubicBezTo>
                        <a:pt x="74894" y="58636"/>
                        <a:pt x="80938" y="64365"/>
                        <a:pt x="88067" y="72952"/>
                      </a:cubicBezTo>
                      <a:lnTo>
                        <a:pt x="113213" y="100012"/>
                      </a:lnTo>
                      <a:cubicBezTo>
                        <a:pt x="98926" y="67266"/>
                        <a:pt x="91782" y="48220"/>
                        <a:pt x="91782" y="42862"/>
                      </a:cubicBezTo>
                      <a:cubicBezTo>
                        <a:pt x="91782" y="19190"/>
                        <a:pt x="110972" y="0"/>
                        <a:pt x="134645" y="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381506" y="3609975"/>
                <a:ext cx="16187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Медитируйте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81506" y="4048125"/>
                <a:ext cx="1549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осознанность</a:t>
                </a:r>
              </a:p>
            </p:txBody>
          </p:sp>
        </p:grpSp>
        <p:grpSp>
          <p:nvGrpSpPr>
            <p:cNvPr id="45" name="p14-s5"/>
            <p:cNvGrpSpPr/>
            <p:nvPr/>
          </p:nvGrpSpPr>
          <p:grpSpPr>
            <a:xfrm>
              <a:off x="4476750" y="3238500"/>
              <a:ext cx="3429000" cy="1381125"/>
              <a:chOff x="4476750" y="3238500"/>
              <a:chExt cx="3429000" cy="13811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47675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672012" y="3519488"/>
                <a:ext cx="257175" cy="257175"/>
                <a:chOff x="4672012" y="3519488"/>
                <a:chExt cx="257175" cy="2571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4786312" y="36337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729162" y="3576638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672012" y="3519488"/>
                  <a:ext cx="25717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257175">
                      <a:moveTo>
                        <a:pt x="0" y="128588"/>
                      </a:moveTo>
                      <a:cubicBezTo>
                        <a:pt x="0" y="199604"/>
                        <a:pt x="57571" y="257175"/>
                        <a:pt x="128588" y="257175"/>
                      </a:cubicBezTo>
                      <a:cubicBezTo>
                        <a:pt x="199604" y="257175"/>
                        <a:pt x="257175" y="199604"/>
                        <a:pt x="257175" y="128588"/>
                      </a:cubicBezTo>
                      <a:cubicBezTo>
                        <a:pt x="257175" y="57571"/>
                        <a:pt x="199604" y="0"/>
                        <a:pt x="128588" y="0"/>
                      </a:cubicBezTo>
                      <a:cubicBezTo>
                        <a:pt x="57571" y="0"/>
                        <a:pt x="0" y="57571"/>
                        <a:pt x="0" y="12858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5096256" y="3609975"/>
                <a:ext cx="16605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Ставьте цели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096256" y="4048125"/>
                <a:ext cx="17281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смысл и планы</a:t>
                </a:r>
              </a:p>
            </p:txBody>
          </p:sp>
        </p:grpSp>
        <p:grpSp>
          <p:nvGrpSpPr>
            <p:cNvPr id="54" name="p14-s6"/>
            <p:cNvGrpSpPr/>
            <p:nvPr/>
          </p:nvGrpSpPr>
          <p:grpSpPr>
            <a:xfrm>
              <a:off x="8191500" y="3238500"/>
              <a:ext cx="3429000" cy="1381125"/>
              <a:chOff x="8191500" y="3238500"/>
              <a:chExt cx="3429000" cy="1381125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191500" y="3238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8386762" y="3519488"/>
                <a:ext cx="257175" cy="257175"/>
                <a:chOff x="8386762" y="3519488"/>
                <a:chExt cx="257175" cy="25717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415338" y="351948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386762" y="369093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572500" y="3521345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601075" y="3693081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E67E22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811006" y="3609975"/>
                <a:ext cx="13139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Помогайте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811006" y="4048125"/>
                <a:ext cx="16356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другим людям</a:t>
                </a:r>
              </a:p>
            </p:txBody>
          </p:sp>
        </p:grpSp>
        <p:grpSp>
          <p:nvGrpSpPr>
            <p:cNvPr id="62" name="p14-s7"/>
            <p:cNvGrpSpPr/>
            <p:nvPr/>
          </p:nvGrpSpPr>
          <p:grpSpPr>
            <a:xfrm>
              <a:off x="762000" y="4762500"/>
              <a:ext cx="3429000" cy="1381125"/>
              <a:chOff x="762000" y="4762500"/>
              <a:chExt cx="3429000" cy="1381125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6200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1000125" y="5043488"/>
                <a:ext cx="171450" cy="257175"/>
                <a:chOff x="1000125" y="5043488"/>
                <a:chExt cx="171450" cy="257175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1000125" y="5043488"/>
                  <a:ext cx="1714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571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228600"/>
                      </a:lnTo>
                      <a:cubicBezTo>
                        <a:pt x="171450" y="244382"/>
                        <a:pt x="158657" y="257175"/>
                        <a:pt x="142875" y="257175"/>
                      </a:cubicBez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071562" y="50577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085850" y="52435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381506" y="5133975"/>
                <a:ext cx="14369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Ограничьте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381506" y="5572125"/>
                <a:ext cx="9152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соцсети</a:t>
                </a:r>
              </a:p>
            </p:txBody>
          </p:sp>
        </p:grpSp>
        <p:grpSp>
          <p:nvGrpSpPr>
            <p:cNvPr id="71" name="p14-s8"/>
            <p:cNvGrpSpPr/>
            <p:nvPr/>
          </p:nvGrpSpPr>
          <p:grpSpPr>
            <a:xfrm>
              <a:off x="4476750" y="4762500"/>
              <a:ext cx="3429000" cy="1381125"/>
              <a:chOff x="4476750" y="4762500"/>
              <a:chExt cx="3429000" cy="1381125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47675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4657725" y="5100638"/>
                <a:ext cx="285750" cy="142875"/>
                <a:chOff x="4657725" y="5100638"/>
                <a:chExt cx="285750" cy="14287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700588" y="510063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657725" y="5200650"/>
                  <a:ext cx="285750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42862">
                      <a:moveTo>
                        <a:pt x="285750" y="42862"/>
                      </a:moveTo>
                      <a:lnTo>
                        <a:pt x="28575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657725" y="5114925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800600" y="5129212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142875" y="71438"/>
                      </a:lnTo>
                      <a:lnTo>
                        <a:pt x="142875" y="42862"/>
                      </a:lnTo>
                      <a:cubicBezTo>
                        <a:pt x="142875" y="19190"/>
                        <a:pt x="123685" y="0"/>
                        <a:pt x="100012" y="0"/>
                      </a:cubicBezTo>
                      <a:lnTo>
                        <a:pt x="0" y="0"/>
                      </a:lnTo>
                      <a:lnTo>
                        <a:pt x="0" y="71438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5096256" y="5133975"/>
                <a:ext cx="7502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Спите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096256" y="5572125"/>
                <a:ext cx="11356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7–8 часов</a:t>
                </a:r>
              </a:p>
            </p:txBody>
          </p:sp>
        </p:grpSp>
        <p:grpSp>
          <p:nvGrpSpPr>
            <p:cNvPr id="79" name="p14-apteka"/>
            <p:cNvGrpSpPr/>
            <p:nvPr/>
          </p:nvGrpSpPr>
          <p:grpSpPr>
            <a:xfrm>
              <a:off x="8191500" y="4762500"/>
              <a:ext cx="3429000" cy="1381125"/>
              <a:chOff x="8191500" y="4762500"/>
              <a:chExt cx="3429000" cy="1381125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8191500" y="4762500"/>
                <a:ext cx="3429000" cy="1381125"/>
              </a:xfrm>
              <a:prstGeom prst="roundRect">
                <a:avLst>
                  <a:gd name="adj" fmla="val 11034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8386762" y="5043488"/>
                <a:ext cx="257175" cy="257175"/>
                <a:chOff x="8386762" y="5043488"/>
                <a:chExt cx="257175" cy="257175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8386762" y="5043488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14288" y="128588"/>
                      </a:lnTo>
                      <a:moveTo>
                        <a:pt x="128588" y="0"/>
                      </a:moveTo>
                      <a:lnTo>
                        <a:pt x="128588" y="14288"/>
                      </a:lnTo>
                      <a:moveTo>
                        <a:pt x="242888" y="128588"/>
                      </a:moveTo>
                      <a:lnTo>
                        <a:pt x="257175" y="128588"/>
                      </a:lnTo>
                      <a:moveTo>
                        <a:pt x="37147" y="37147"/>
                      </a:moveTo>
                      <a:lnTo>
                        <a:pt x="47149" y="47149"/>
                      </a:lnTo>
                      <a:moveTo>
                        <a:pt x="220028" y="37147"/>
                      </a:moveTo>
                      <a:lnTo>
                        <a:pt x="210026" y="47149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8437855" y="5100638"/>
                  <a:ext cx="15499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90" h="200025">
                      <a:moveTo>
                        <a:pt x="34633" y="128588"/>
                      </a:moveTo>
                      <a:cubicBezTo>
                        <a:pt x="10034" y="110138"/>
                        <a:pt x="0" y="78018"/>
                        <a:pt x="9724" y="48847"/>
                      </a:cubicBezTo>
                      <a:cubicBezTo>
                        <a:pt x="19447" y="19676"/>
                        <a:pt x="46746" y="0"/>
                        <a:pt x="77495" y="0"/>
                      </a:cubicBezTo>
                      <a:cubicBezTo>
                        <a:pt x="108244" y="0"/>
                        <a:pt x="135543" y="19676"/>
                        <a:pt x="145267" y="48847"/>
                      </a:cubicBezTo>
                      <a:cubicBezTo>
                        <a:pt x="154990" y="78018"/>
                        <a:pt x="144957" y="110138"/>
                        <a:pt x="120358" y="128588"/>
                      </a:cubicBezTo>
                      <a:cubicBezTo>
                        <a:pt x="109044" y="139786"/>
                        <a:pt x="103739" y="155703"/>
                        <a:pt x="106070" y="171450"/>
                      </a:cubicBezTo>
                      <a:cubicBezTo>
                        <a:pt x="106070" y="187232"/>
                        <a:pt x="93277" y="200025"/>
                        <a:pt x="77495" y="200025"/>
                      </a:cubicBezTo>
                      <a:cubicBezTo>
                        <a:pt x="61714" y="200025"/>
                        <a:pt x="48920" y="187232"/>
                        <a:pt x="48920" y="171450"/>
                      </a:cubicBezTo>
                      <a:cubicBezTo>
                        <a:pt x="51252" y="155703"/>
                        <a:pt x="45946" y="139786"/>
                        <a:pt x="34633" y="1285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8482489" y="5243512"/>
                  <a:ext cx="6572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23" h="9525">
                      <a:moveTo>
                        <a:pt x="0" y="0"/>
                      </a:moveTo>
                      <a:lnTo>
                        <a:pt x="65723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8811006" y="5133975"/>
                <a:ext cx="1143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Apteka.ru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811006" y="5572125"/>
                <a:ext cx="24306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материалы о счастье</a:t>
                </a:r>
              </a:p>
            </p:txBody>
          </p:sp>
        </p:grpSp>
      </p:grpSp>
      <p:sp>
        <p:nvSpPr>
          <p:cNvPr id="81" name="credit"/>
          <p:cNvSpPr txBox="1"/>
          <p:nvPr/>
        </p:nvSpPr>
        <p:spPr>
          <a:xfrm>
            <a:off x="753618" y="6578600"/>
            <a:ext cx="37173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Rick Obst / Wikimedia / CC BY 2.0</a:t>
            </a:r>
          </a:p>
        </p:txBody>
      </p:sp>
      <p:pic>
        <p:nvPicPr>
          <p:cNvPr id="82" name="PPT Master narration: narration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5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5-foot"/>
          <p:cNvSpPr txBox="1"/>
          <p:nvPr/>
        </p:nvSpPr>
        <p:spPr>
          <a:xfrm>
            <a:off x="753618" y="6407150"/>
            <a:ext cx="28609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5-num"/>
          <p:cNvSpPr txBox="1"/>
          <p:nvPr/>
        </p:nvSpPr>
        <p:spPr>
          <a:xfrm>
            <a:off x="11174528" y="640715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grpSp>
        <p:nvGrpSpPr>
          <p:cNvPr id="8" name="p15-title"/>
          <p:cNvGrpSpPr/>
          <p:nvPr/>
        </p:nvGrpSpPr>
        <p:grpSpPr>
          <a:xfrm>
            <a:off x="743712" y="488950"/>
            <a:ext cx="5214853" cy="704088"/>
            <a:chOff x="743712" y="488950"/>
            <a:chExt cx="5214853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488950"/>
              <a:ext cx="52148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 и источники</a:t>
              </a:r>
            </a:p>
          </p:txBody>
        </p:sp>
      </p:grpSp>
      <p:grpSp>
        <p:nvGrpSpPr>
          <p:cNvPr id="16" name="p15-conclusions"/>
          <p:cNvGrpSpPr/>
          <p:nvPr/>
        </p:nvGrpSpPr>
        <p:grpSpPr>
          <a:xfrm>
            <a:off x="762000" y="1238250"/>
            <a:ext cx="10668000" cy="2038350"/>
            <a:chOff x="762000" y="1238250"/>
            <a:chExt cx="10668000" cy="203835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10668000" cy="2038350"/>
            </a:xfrm>
            <a:prstGeom prst="roundRect">
              <a:avLst>
                <a:gd name="adj" fmla="val 747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9180" y="1390650"/>
              <a:ext cx="2396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Пять главных выводов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9180" y="1752600"/>
              <a:ext cx="5398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Счастье многомерно: гены, обстоятельства, действия.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180" y="2019300"/>
              <a:ext cx="4761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Качество отношений — сильнейший предиктор.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9180" y="2286000"/>
              <a:ext cx="4656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Деньги важны лишь до определённого уровня.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180" y="2552700"/>
              <a:ext cx="3429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Смысл устойчивее удовольствия.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2819400"/>
              <a:ext cx="4885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Счастье — это навык, который можно развивать.</a:t>
              </a:r>
            </a:p>
          </p:txBody>
        </p:sp>
      </p:grpSp>
      <p:grpSp>
        <p:nvGrpSpPr>
          <p:cNvPr id="25" name="p15-sources"/>
          <p:cNvGrpSpPr/>
          <p:nvPr/>
        </p:nvGrpSpPr>
        <p:grpSpPr>
          <a:xfrm>
            <a:off x="762000" y="3409950"/>
            <a:ext cx="6286500" cy="2552700"/>
            <a:chOff x="762000" y="3409950"/>
            <a:chExt cx="6286500" cy="2552700"/>
          </a:xfrm>
        </p:grpSpPr>
        <p:sp>
          <p:nvSpPr>
            <p:cNvPr id="17" name="Rectangle 17"/>
            <p:cNvSpPr/>
            <p:nvPr/>
          </p:nvSpPr>
          <p:spPr>
            <a:xfrm>
              <a:off x="762000" y="3409950"/>
              <a:ext cx="6286500" cy="2552700"/>
            </a:xfrm>
            <a:prstGeom prst="roundRect">
              <a:avLst>
                <a:gd name="adj" fmla="val 597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2980" y="3543300"/>
              <a:ext cx="281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главных источников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2980" y="3829050"/>
              <a:ext cx="3088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1. World Happiness Report (ВОЗ)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980" y="4076700"/>
              <a:ext cx="2719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2. Killingsworth, PNAS (2021)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2980" y="4324350"/>
              <a:ext cx="307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3. Канеман и Дитон (2010, 2023)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2980" y="4572000"/>
              <a:ext cx="3356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4. Селигман, «Подлинное счастье»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980" y="4819650"/>
              <a:ext cx="2692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5. Рувики, статья «Счастье»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980" y="5067300"/>
              <a:ext cx="2985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6. Skillbox, «Что такое счастье»</a:t>
              </a:r>
            </a:p>
          </p:txBody>
        </p:sp>
      </p:grpSp>
      <p:grpSp>
        <p:nvGrpSpPr>
          <p:cNvPr id="31" name="p15-qr"/>
          <p:cNvGrpSpPr/>
          <p:nvPr/>
        </p:nvGrpSpPr>
        <p:grpSpPr>
          <a:xfrm>
            <a:off x="7429500" y="3409950"/>
            <a:ext cx="4000500" cy="2552700"/>
            <a:chOff x="7429500" y="3409950"/>
            <a:chExt cx="4000500" cy="2552700"/>
          </a:xfrm>
        </p:grpSpPr>
        <p:sp>
          <p:nvSpPr>
            <p:cNvPr id="26" name="Rectangle 26"/>
            <p:cNvSpPr/>
            <p:nvPr/>
          </p:nvSpPr>
          <p:spPr>
            <a:xfrm>
              <a:off x="7429500" y="3409950"/>
              <a:ext cx="4000500" cy="2552700"/>
            </a:xfrm>
            <a:prstGeom prst="roundRect">
              <a:avLst>
                <a:gd name="adj" fmla="val 597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8580" y="3543300"/>
              <a:ext cx="2815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 источников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5375" y="3848100"/>
              <a:ext cx="1428750" cy="142875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386344" y="5334000"/>
              <a:ext cx="2086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Отсканируйте QR-код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95817" y="5600700"/>
              <a:ext cx="30678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github.com/Pavel1778/Presentation-happy</a:t>
              </a:r>
            </a:p>
          </p:txBody>
        </p:sp>
      </p:grpSp>
      <p:pic>
        <p:nvPicPr>
          <p:cNvPr id="32" name="PPT Master narration: narration15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0" fill="hold" display="0">
                  <p:stCondLst>
                    <p:cond delay="300"/>
                  </p:st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2026-10-08T10:38:40Z</dcterms:created>
  <dcterms:modified xsi:type="dcterms:W3CDTF">2026-10-08T10:38:40Z</dcterms:modified>
  <cp:category/>
  <cp:contentStatus/>
</cp:coreProperties>
</file>