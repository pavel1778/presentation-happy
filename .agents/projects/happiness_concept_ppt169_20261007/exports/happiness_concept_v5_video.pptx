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Default Extension="svg" ContentType="image/svg+xml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Default Extension="mp4" ContentType="video/mp4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 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 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 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Спасибо за внимание.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  <Relationship Id="rId4" Type="http://schemas.microsoft.com/office/2007/relationships/media" Target="../media/narration1.mp3"/>
  <Relationship Id="rId5" Type="http://schemas.openxmlformats.org/officeDocument/2006/relationships/audio" Target="../media/narration1.mp3"/>
  <Relationship Id="rId6" Type="http://schemas.openxmlformats.org/officeDocument/2006/relationships/image" Target="../media/narration_poster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  <Relationship Id="rId4" Type="http://schemas.microsoft.com/office/2007/relationships/media" Target="../media/narration2.mp3"/>
  <Relationship Id="rId5" Type="http://schemas.openxmlformats.org/officeDocument/2006/relationships/audio" Target="../media/narration2.mp3"/>
  <Relationship Id="rId6" Type="http://schemas.openxmlformats.org/officeDocument/2006/relationships/image" Target="../media/narration_poster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  <Relationship Id="rId4" Type="http://schemas.microsoft.com/office/2007/relationships/media" Target="../media/narration3.mp3"/>
  <Relationship Id="rId5" Type="http://schemas.openxmlformats.org/officeDocument/2006/relationships/audio" Target="../media/narration3.mp3"/>
  <Relationship Id="rId6" Type="http://schemas.openxmlformats.org/officeDocument/2006/relationships/image" Target="../media/narration_poster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  <Relationship Id="rId4" Type="http://schemas.microsoft.com/office/2007/relationships/media" Target="../media/narration4.mp3"/>
  <Relationship Id="rId5" Type="http://schemas.openxmlformats.org/officeDocument/2006/relationships/audio" Target="../media/narration4.mp3"/>
  <Relationship Id="rId6" Type="http://schemas.openxmlformats.org/officeDocument/2006/relationships/image" Target="../media/narration_poster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  <Relationship Id="rId4" Type="http://schemas.microsoft.com/office/2007/relationships/media" Target="../media/narration5.mp3"/>
  <Relationship Id="rId5" Type="http://schemas.openxmlformats.org/officeDocument/2006/relationships/audio" Target="../media/narration5.mp3"/>
  <Relationship Id="rId6" Type="http://schemas.openxmlformats.org/officeDocument/2006/relationships/image" Target="../media/narration_poster.png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e9e6ce085776bf7b.jpg"/>
  <Relationship Id="rId4" Type="http://schemas.openxmlformats.org/officeDocument/2006/relationships/notesSlide" Target="../notesSlides/notesSlide6.xml"/>
  <Relationship Id="rId5" Type="http://schemas.microsoft.com/office/2007/relationships/media" Target="../media/narration6.mp3"/>
  <Relationship Id="rId6" Type="http://schemas.openxmlformats.org/officeDocument/2006/relationships/audio" Target="../media/narration6.mp3"/>
  <Relationship Id="rId7" Type="http://schemas.openxmlformats.org/officeDocument/2006/relationships/image" Target="../media/narration_poster.png"/>
<Relationship Id="rId8" Type="http://schemas.microsoft.com/office/2007/relationships/media" Target="../media/media1.mp4"/><Relationship Id="rId9" Type="http://schemas.openxmlformats.org/officeDocument/2006/relationships/video" Target="../media/media1.mp4"/><Relationship Id="rId10" Type="http://schemas.openxmlformats.org/officeDocument/2006/relationships/image" Target="../media/image1.jpg"/>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  <Relationship Id="rId4" Type="http://schemas.microsoft.com/office/2007/relationships/media" Target="../media/narration7.mp3"/>
  <Relationship Id="rId5" Type="http://schemas.openxmlformats.org/officeDocument/2006/relationships/audio" Target="../media/narration7.mp3"/>
  <Relationship Id="rId6" Type="http://schemas.openxmlformats.org/officeDocument/2006/relationships/image" Target="../media/narration_poster.png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  <Relationship Id="rId6" Type="http://schemas.microsoft.com/office/2007/relationships/media" Target="../media/narration8.mp3"/>
  <Relationship Id="rId7" Type="http://schemas.openxmlformats.org/officeDocument/2006/relationships/audio" Target="../media/narration8.mp3"/>
  <Relationship Id="rId8" Type="http://schemas.openxmlformats.org/officeDocument/2006/relationships/image" Target="../media/narration_poster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  <Relationship Id="rId4" Type="http://schemas.microsoft.com/office/2007/relationships/media" Target="../media/narration9.mp3"/>
  <Relationship Id="rId5" Type="http://schemas.openxmlformats.org/officeDocument/2006/relationships/audio" Target="../media/narration9.mp3"/>
  <Relationship Id="rId6" Type="http://schemas.openxmlformats.org/officeDocument/2006/relationships/image" Target="../media/narration_poster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  <Relationship Id="rId5" Type="http://schemas.microsoft.com/office/2007/relationships/media" Target="../media/narration10.mp3"/>
  <Relationship Id="rId6" Type="http://schemas.openxmlformats.org/officeDocument/2006/relationships/audio" Target="../media/narration10.mp3"/>
  <Relationship Id="rId7" Type="http://schemas.openxmlformats.org/officeDocument/2006/relationships/image" Target="../media/narration_poster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  <Relationship Id="rId4" Type="http://schemas.microsoft.com/office/2007/relationships/media" Target="../media/narration11.mp3"/>
  <Relationship Id="rId5" Type="http://schemas.openxmlformats.org/officeDocument/2006/relationships/audio" Target="../media/narration11.mp3"/>
  <Relationship Id="rId6" Type="http://schemas.openxmlformats.org/officeDocument/2006/relationships/image" Target="../media/narration_poster.png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  <Relationship Id="rId4" Type="http://schemas.microsoft.com/office/2007/relationships/media" Target="../media/narration12.mp3"/>
  <Relationship Id="rId5" Type="http://schemas.openxmlformats.org/officeDocument/2006/relationships/audio" Target="../media/narration12.mp3"/>
  <Relationship Id="rId6" Type="http://schemas.openxmlformats.org/officeDocument/2006/relationships/image" Target="../media/narration_poster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  <Relationship Id="rId4" Type="http://schemas.microsoft.com/office/2007/relationships/media" Target="../media/narration13.mp3"/>
  <Relationship Id="rId5" Type="http://schemas.openxmlformats.org/officeDocument/2006/relationships/audio" Target="../media/narration13.mp3"/>
  <Relationship Id="rId6" Type="http://schemas.openxmlformats.org/officeDocument/2006/relationships/image" Target="../media/narration_poster.png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  <Relationship Id="rId4" Type="http://schemas.microsoft.com/office/2007/relationships/media" Target="../media/narration14.mp3"/>
  <Relationship Id="rId5" Type="http://schemas.openxmlformats.org/officeDocument/2006/relationships/audio" Target="../media/narration14.mp3"/>
  <Relationship Id="rId6" Type="http://schemas.openxmlformats.org/officeDocument/2006/relationships/image" Target="../media/narration_poster.png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24e0dca5fc560e17.svg"/>
  <Relationship Id="rId4" Type="http://schemas.openxmlformats.org/officeDocument/2006/relationships/notesSlide" Target="../notesSlides/notesSlide15.xml"/>
  <Relationship Id="rId5" Type="http://schemas.microsoft.com/office/2007/relationships/media" Target="../media/narration15.mp3"/>
  <Relationship Id="rId6" Type="http://schemas.openxmlformats.org/officeDocument/2006/relationships/audio" Target="../media/narration15.mp3"/>
  <Relationship Id="rId7" Type="http://schemas.openxmlformats.org/officeDocument/2006/relationships/image" Target="../media/narration_poster.png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096250" y="2762250"/>
            <a:ext cx="4381500" cy="43815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-476250"/>
            <a:ext cx="3238500" cy="32385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sp>
        <p:nvSpPr>
          <p:cNvPr id="6" name="cover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9" name="cover-header"/>
          <p:cNvGrpSpPr/>
          <p:nvPr/>
        </p:nvGrpSpPr>
        <p:grpSpPr>
          <a:xfrm>
            <a:off x="743712" y="1130300"/>
            <a:ext cx="7984017" cy="2367788"/>
            <a:chOff x="743712" y="1130300"/>
            <a:chExt cx="7984017" cy="2367788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1612900"/>
              <a:ext cx="7374819" cy="18851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40307"/>
            <a:chOff x="762000" y="3905250"/>
            <a:chExt cx="4749125" cy="1440307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9704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  <a:b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pic>
        <p:nvPicPr>
          <p:cNvPr id="24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800"/>
                  </p:st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648072" cy="704088"/>
            <a:chOff x="743712" y="565150"/>
            <a:chExt cx="664807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6480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pic>
        <p:nvPicPr>
          <p:cNvPr id="25" name="PPT Master narration: narration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4269967" cy="704088"/>
            <a:chOff x="743712" y="565150"/>
            <a:chExt cx="42699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42699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pic>
        <p:nvPicPr>
          <p:cNvPr id="67" name="PPT Master narration: narration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67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10257629" cy="704088"/>
            <a:chOff x="743712" y="565150"/>
            <a:chExt cx="1025762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102576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18" name="chart-dep"/>
          <p:cNvGrpSpPr/>
          <p:nvPr/>
        </p:nvGrpSpPr>
        <p:grpSpPr>
          <a:xfrm>
            <a:off x="762000" y="1762125"/>
            <a:ext cx="5238750" cy="3810000"/>
            <a:chOff x="762000" y="1762125"/>
            <a:chExt cx="523875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812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553402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48918" y="25781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6736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56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135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9368" y="52451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</p:grpSp>
      <p:grpSp>
        <p:nvGrpSpPr>
          <p:cNvPr id="30" name="chart-hap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19" name="Rectangle 19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3106" y="19812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69532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953250" y="48387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3" name="Polyline 23"/>
            <p:cNvSpPr/>
            <p:nvPr/>
          </p:nvSpPr>
          <p:spPr>
            <a:xfrm>
              <a:off x="6953250" y="3619500"/>
              <a:ext cx="3714750" cy="95250"/>
            </a:xfrm>
            <a:custGeom>
              <a:avLst/>
              <a:gdLst/>
              <a:ahLst/>
              <a:cxnLst/>
              <a:rect l="l" t="t" r="r" b="b"/>
              <a:pathLst>
                <a:path w="3714750" h="95250">
                  <a:moveTo>
                    <a:pt x="0" y="76200"/>
                  </a:moveTo>
                  <a:lnTo>
                    <a:pt x="742950" y="0"/>
                  </a:lnTo>
                  <a:lnTo>
                    <a:pt x="1485900" y="95250"/>
                  </a:lnTo>
                  <a:lnTo>
                    <a:pt x="2228850" y="19050"/>
                  </a:lnTo>
                  <a:lnTo>
                    <a:pt x="2971800" y="76200"/>
                  </a:lnTo>
                  <a:lnTo>
                    <a:pt x="371475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0582275" y="3571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54368" y="25781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54368" y="46736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40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88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3868" y="5245100"/>
              <a:ext cx="18635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плато с 2005 года</a:t>
              </a:r>
            </a:p>
          </p:txBody>
        </p:sp>
      </p:grpSp>
      <p:grpSp>
        <p:nvGrpSpPr>
          <p:cNvPr id="35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33" name="Group 33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pic>
        <p:nvPicPr>
          <p:cNvPr id="36" name="PPT Master narration: narration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27957" cy="704088"/>
            <a:chOff x="743712" y="565150"/>
            <a:chExt cx="822795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2795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</p:grpSp>
      <p:grpSp>
        <p:nvGrpSpPr>
          <p:cNvPr id="38" name="approaches"/>
          <p:cNvGrpSpPr/>
          <p:nvPr/>
        </p:nvGrpSpPr>
        <p:grpSpPr>
          <a:xfrm>
            <a:off x="762000" y="3810000"/>
            <a:ext cx="10791825" cy="1123950"/>
            <a:chOff x="762000" y="3810000"/>
            <a:chExt cx="10791825" cy="1123950"/>
          </a:xfrm>
        </p:grpSpPr>
        <p:sp>
          <p:nvSpPr>
            <p:cNvPr id="26" name="Rectangle 26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96302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400293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81431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pic>
        <p:nvPicPr>
          <p:cNvPr id="46" name="PPT Master narration: narration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809367" cy="704088"/>
            <a:chOff x="743712" y="565150"/>
            <a:chExt cx="88093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8093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11" name="video"/>
          <p:cNvGrpSpPr/>
          <p:nvPr/>
        </p:nvGrpSpPr>
        <p:grpSpPr>
          <a:xfrm>
            <a:off x="4476750" y="2000250"/>
            <a:ext cx="3238500" cy="2381250"/>
            <a:chOff x="4476750" y="2000250"/>
            <a:chExt cx="3238500" cy="2381250"/>
          </a:xfrm>
        </p:grpSpPr>
        <p:sp>
          <p:nvSpPr>
            <p:cNvPr id="7" name="Rectangle 7"/>
            <p:cNvSpPr/>
            <p:nvPr/>
          </p:nvSpPr>
          <p:spPr>
            <a:xfrm>
              <a:off x="4476750" y="2000250"/>
              <a:ext cx="3238500" cy="2381250"/>
            </a:xfrm>
            <a:prstGeom prst="roundRect">
              <a:avLst>
                <a:gd name="adj" fmla="val 6400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10870" t="0" r="10869" b="0"/>
            <a:stretch>
              <a:fillRect/>
            </a:stretch>
          </p:blipFill>
          <p:spPr>
            <a:xfrm>
              <a:off x="4572000" y="2095500"/>
              <a:ext cx="3048000" cy="2190750"/>
            </a:xfrm>
            <a:prstGeom prst="rect">
              <a:avLst/>
            </a:prstGeom>
          </p:spPr>
        </p:pic>
        <p:sp>
          <p:nvSpPr>
            <p:cNvPr id="9" name="Ellipse 9"/>
            <p:cNvSpPr/>
            <p:nvPr/>
          </p:nvSpPr>
          <p:spPr>
            <a:xfrm>
              <a:off x="5753100" y="2847975"/>
              <a:ext cx="685800" cy="685800"/>
            </a:xfrm>
            <a:prstGeom prst="ellipse">
              <a:avLst/>
            </a:prstGeom>
            <a:solidFill>
              <a:srgbClr val="FFFFFF">
                <a:alpha val="88000"/>
              </a:srgbClr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5981700" y="3019425"/>
              <a:ext cx="304800" cy="342900"/>
            </a:xfrm>
            <a:custGeom>
              <a:avLst/>
              <a:gdLst/>
              <a:ahLst/>
              <a:cxnLst/>
              <a:rect l="l" t="t" r="r" b="b"/>
              <a:pathLst>
                <a:path w="304800" h="342900">
                  <a:moveTo>
                    <a:pt x="0" y="0"/>
                  </a:moveTo>
                  <a:lnTo>
                    <a:pt x="304800" y="17145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16" name="video-note"/>
          <p:cNvGrpSpPr/>
          <p:nvPr/>
        </p:nvGrpSpPr>
        <p:grpSpPr>
          <a:xfrm>
            <a:off x="4345781" y="4559300"/>
            <a:ext cx="3055047" cy="322707"/>
            <a:chOff x="4345781" y="4559300"/>
            <a:chExt cx="3055047" cy="322707"/>
          </a:xfrm>
        </p:grpSpPr>
        <p:grpSp>
          <p:nvGrpSpPr>
            <p:cNvPr id="14" name="Group 14"/>
            <p:cNvGrpSpPr/>
            <p:nvPr/>
          </p:nvGrpSpPr>
          <p:grpSpPr>
            <a:xfrm>
              <a:off x="4345781" y="4595813"/>
              <a:ext cx="242889" cy="161925"/>
              <a:chOff x="4345781" y="4595813"/>
              <a:chExt cx="242889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4507707" y="4616986"/>
                <a:ext cx="80963" cy="119578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119578">
                    <a:moveTo>
                      <a:pt x="0" y="32801"/>
                    </a:moveTo>
                    <a:lnTo>
                      <a:pt x="61437" y="2090"/>
                    </a:lnTo>
                    <a:cubicBezTo>
                      <a:pt x="65619" y="0"/>
                      <a:pt x="70584" y="224"/>
                      <a:pt x="74561" y="2681"/>
                    </a:cubicBezTo>
                    <a:cubicBezTo>
                      <a:pt x="78538" y="5138"/>
                      <a:pt x="80960" y="9478"/>
                      <a:pt x="80963" y="14153"/>
                    </a:cubicBezTo>
                    <a:lnTo>
                      <a:pt x="80963" y="105425"/>
                    </a:lnTo>
                    <a:cubicBezTo>
                      <a:pt x="80960" y="110100"/>
                      <a:pt x="78538" y="114440"/>
                      <a:pt x="74561" y="116897"/>
                    </a:cubicBezTo>
                    <a:cubicBezTo>
                      <a:pt x="70584" y="119354"/>
                      <a:pt x="65619" y="119578"/>
                      <a:pt x="61437" y="117488"/>
                    </a:cubicBezTo>
                    <a:lnTo>
                      <a:pt x="0" y="86777"/>
                    </a:lnTo>
                    <a:lnTo>
                      <a:pt x="0" y="32801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4345781" y="4595813"/>
                <a:ext cx="161925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161925">
                    <a:moveTo>
                      <a:pt x="0" y="26988"/>
                    </a:moveTo>
                    <a:cubicBezTo>
                      <a:pt x="0" y="12083"/>
                      <a:pt x="12083" y="0"/>
                      <a:pt x="26988" y="0"/>
                    </a:cubicBezTo>
                    <a:lnTo>
                      <a:pt x="134938" y="0"/>
                    </a:lnTo>
                    <a:cubicBezTo>
                      <a:pt x="149843" y="0"/>
                      <a:pt x="161925" y="12083"/>
                      <a:pt x="161925" y="26988"/>
                    </a:cubicBezTo>
                    <a:lnTo>
                      <a:pt x="161925" y="134938"/>
                    </a:lnTo>
                    <a:cubicBezTo>
                      <a:pt x="161925" y="149843"/>
                      <a:pt x="149843" y="161925"/>
                      <a:pt x="134938" y="161925"/>
                    </a:cubicBezTo>
                    <a:lnTo>
                      <a:pt x="26988" y="161925"/>
                    </a:lnTo>
                    <a:cubicBezTo>
                      <a:pt x="12083" y="161925"/>
                      <a:pt x="0" y="149843"/>
                      <a:pt x="0" y="134938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4696968" y="4559300"/>
              <a:ext cx="2703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</p:grpSp>
      <p:grpSp>
        <p:nvGrpSpPr>
          <p:cNvPr id="21" name="dopamine"/>
          <p:cNvGrpSpPr/>
          <p:nvPr/>
        </p:nvGrpSpPr>
        <p:grpSpPr>
          <a:xfrm>
            <a:off x="762000" y="1714500"/>
            <a:ext cx="3238500" cy="1143000"/>
            <a:chOff x="762000" y="1714500"/>
            <a:chExt cx="3238500" cy="1143000"/>
          </a:xfrm>
        </p:grpSpPr>
        <p:sp>
          <p:nvSpPr>
            <p:cNvPr id="17" name="Rectangle 17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30" name="serotonin"/>
          <p:cNvGrpSpPr/>
          <p:nvPr/>
        </p:nvGrpSpPr>
        <p:grpSpPr>
          <a:xfrm>
            <a:off x="8191500" y="1714500"/>
            <a:ext cx="3238500" cy="1143000"/>
            <a:chOff x="8191500" y="1714500"/>
            <a:chExt cx="3238500" cy="1143000"/>
          </a:xfrm>
        </p:grpSpPr>
        <p:sp>
          <p:nvSpPr>
            <p:cNvPr id="22" name="Rectangle 22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9" name="endorphins"/>
          <p:cNvGrpSpPr/>
          <p:nvPr/>
        </p:nvGrpSpPr>
        <p:grpSpPr>
          <a:xfrm>
            <a:off x="762000" y="3810000"/>
            <a:ext cx="3238500" cy="1143000"/>
            <a:chOff x="762000" y="3810000"/>
            <a:chExt cx="3238500" cy="1143000"/>
          </a:xfrm>
        </p:grpSpPr>
        <p:sp>
          <p:nvSpPr>
            <p:cNvPr id="31" name="Rectangle 31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44" name="oxytocin"/>
          <p:cNvGrpSpPr/>
          <p:nvPr/>
        </p:nvGrpSpPr>
        <p:grpSpPr>
          <a:xfrm>
            <a:off x="8191500" y="3810000"/>
            <a:ext cx="3238500" cy="1143000"/>
            <a:chOff x="8191500" y="3810000"/>
            <a:chExt cx="3238500" cy="1143000"/>
          </a:xfrm>
        </p:grpSpPr>
        <p:sp>
          <p:nvSpPr>
            <p:cNvPr id="40" name="Rectangle 40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51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45" name="Rectangle 45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1122397" y="5419725"/>
              <a:ext cx="193606" cy="285751"/>
              <a:chOff x="1122397" y="5419725"/>
              <a:chExt cx="193606" cy="285751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171575" y="54197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87450" y="55149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122397" y="54197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553718" y="53848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pic>
        <p:nvPicPr>
          <p:cNvPr id="52" name="PPT Master narration: narration6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pic>
        <p:nvPicPr>
          <p:cNvPr id="9000" name="p06-video-movie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476750" y="2000250"/>
            <a:ext cx="3238500" cy="238125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16297" cy="704088"/>
            <a:chOff x="743712" y="565150"/>
            <a:chExt cx="821629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1629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26406" y="3930650"/>
              <a:ext cx="18541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пользы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pic>
        <p:nvPicPr>
          <p:cNvPr id="71" name="PPT Master narration: narration7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71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911179" cy="704088"/>
            <a:chOff x="743712" y="565150"/>
            <a:chExt cx="891117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91117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pic>
        <p:nvPicPr>
          <p:cNvPr id="24" name="PPT Master narration: narration8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12" name="donut"/>
          <p:cNvGrpSpPr/>
          <p:nvPr/>
        </p:nvGrpSpPr>
        <p:grpSpPr>
          <a:xfrm>
            <a:off x="1592120" y="2114354"/>
            <a:ext cx="2979880" cy="2858099"/>
            <a:chOff x="1592120" y="2114354"/>
            <a:chExt cx="2979880" cy="2858099"/>
          </a:xfrm>
        </p:grpSpPr>
        <p:sp>
          <p:nvSpPr>
            <p:cNvPr id="7" name="Freeform 7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5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3" name="Rectangle 13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1" name="note"/>
          <p:cNvGrpSpPr/>
          <p:nvPr/>
        </p:nvGrpSpPr>
        <p:grpSpPr>
          <a:xfrm>
            <a:off x="998727" y="5899150"/>
            <a:ext cx="9262868" cy="617982"/>
            <a:chOff x="998727" y="5899150"/>
            <a:chExt cx="9262868" cy="617982"/>
          </a:xfrm>
        </p:grpSpPr>
        <p:grpSp>
          <p:nvGrpSpPr>
            <p:cNvPr id="29" name="Group 29"/>
            <p:cNvGrpSpPr/>
            <p:nvPr/>
          </p:nvGrpSpPr>
          <p:grpSpPr>
            <a:xfrm>
              <a:off x="998727" y="5929312"/>
              <a:ext cx="174245" cy="257175"/>
              <a:chOff x="998727" y="5929312"/>
              <a:chExt cx="174245" cy="25717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042988" y="592931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057275" y="601503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998727" y="592931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401318" y="5899150"/>
              <a:ext cx="8860277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 предложена в 2000-х. Мета-анализы (Rohrer &amp; Schmukle, 2018) уточняют: гены 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среда взаимодействуют, а не суммируются</a:t>
              </a:r>
            </a:p>
          </p:txBody>
        </p:sp>
      </p:grpSp>
      <p:pic>
        <p:nvPicPr>
          <p:cNvPr id="32" name="PPT Master narration: narration9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2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443098" cy="704088"/>
            <a:chOff x="743712" y="565150"/>
            <a:chExt cx="8443098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44309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pic>
        <p:nvPicPr>
          <p:cNvPr id="42" name="PPT Master narration: narration10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2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036262" cy="704088"/>
            <a:chOff x="743712" y="565150"/>
            <a:chExt cx="603626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03626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9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3" name="Ellipse 13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6" name="theses"/>
          <p:cNvGrpSpPr/>
          <p:nvPr/>
        </p:nvGrpSpPr>
        <p:grpSpPr>
          <a:xfrm>
            <a:off x="8572500" y="1666875"/>
            <a:ext cx="3429000" cy="3905250"/>
            <a:chOff x="8572500" y="1666875"/>
            <a:chExt cx="3429000" cy="3905250"/>
          </a:xfrm>
        </p:grpSpPr>
        <p:sp>
          <p:nvSpPr>
            <p:cNvPr id="20" name="Rectangle 20"/>
            <p:cNvSpPr/>
            <p:nvPr/>
          </p:nvSpPr>
          <p:spPr>
            <a:xfrm>
              <a:off x="8572500" y="1666875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8308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308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572500" y="3714750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830818" y="4006850"/>
              <a:ext cx="29152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(2021, PNAS)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308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pic>
        <p:nvPicPr>
          <p:cNvPr id="27" name="PPT Master narration: narration1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195212" cy="704088"/>
            <a:chOff x="743712" y="565150"/>
            <a:chExt cx="619521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19521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8" name="chart"/>
          <p:cNvGrpSpPr/>
          <p:nvPr/>
        </p:nvGrpSpPr>
        <p:grpSpPr>
          <a:xfrm>
            <a:off x="952500" y="1762125"/>
            <a:ext cx="6477000" cy="4476750"/>
            <a:chOff x="952500" y="1762125"/>
            <a:chExt cx="6477000" cy="4476750"/>
          </a:xfrm>
        </p:grpSpPr>
        <p:sp>
          <p:nvSpPr>
            <p:cNvPr id="7" name="Rectangle 7"/>
            <p:cNvSpPr/>
            <p:nvPr/>
          </p:nvSpPr>
          <p:spPr>
            <a:xfrm>
              <a:off x="952500" y="1762125"/>
              <a:ext cx="64770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Polyline 10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27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19" name="Rectangle 19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pic>
        <p:nvPicPr>
          <p:cNvPr id="28" name="PPT Master narration: narration1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9490893" cy="704088"/>
            <a:chOff x="743712" y="565150"/>
            <a:chExt cx="9490893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94908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pic>
        <p:nvPicPr>
          <p:cNvPr id="34" name="PPT Master narration: narration1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4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5351817" cy="704088"/>
            <a:chOff x="743712" y="565150"/>
            <a:chExt cx="535181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53518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48" name="recs"/>
          <p:cNvGrpSpPr/>
          <p:nvPr/>
        </p:nvGrpSpPr>
        <p:grpSpPr>
          <a:xfrm>
            <a:off x="762000" y="1714500"/>
            <a:ext cx="10668000" cy="4286250"/>
            <a:chOff x="762000" y="1714500"/>
            <a:chExt cx="10668000" cy="4286250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</p:grpSp>
      <p:pic>
        <p:nvPicPr>
          <p:cNvPr id="49" name="PPT Master narration: narration1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49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7376124" cy="704088"/>
            <a:chOff x="743712" y="565150"/>
            <a:chExt cx="737612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7376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114550"/>
            <a:chOff x="762000" y="1238250"/>
            <a:chExt cx="10668000" cy="211455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114550"/>
            </a:xfrm>
            <a:prstGeom prst="roundRect">
              <a:avLst>
                <a:gd name="adj" fmla="val 7207"/>
              </a:avLst>
            </a:prstGeom>
            <a:solidFill>
              <a:srgbClr val="FFFFFF">
                <a:alpha val="88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4780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1135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1135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2733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2733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63525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6" name="sources"/>
          <p:cNvGrpSpPr/>
          <p:nvPr/>
        </p:nvGrpSpPr>
        <p:grpSpPr>
          <a:xfrm>
            <a:off x="981456" y="3638550"/>
            <a:ext cx="3692903" cy="2310257"/>
            <a:chOff x="981456" y="3638550"/>
            <a:chExt cx="3692903" cy="2310257"/>
          </a:xfrm>
        </p:grpSpPr>
        <p:sp>
          <p:nvSpPr>
            <p:cNvPr id="19" name="TextBox 19"/>
            <p:cNvSpPr txBox="1"/>
            <p:nvPr/>
          </p:nvSpPr>
          <p:spPr>
            <a:xfrm>
              <a:off x="981456" y="363855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218" y="4006850"/>
              <a:ext cx="27061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World Happiness Report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2218" y="4330700"/>
              <a:ext cx="29914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Killingsworth, PNAS (2021)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218" y="4654550"/>
              <a:ext cx="3382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Канеман и Дитон (2010, 2023)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978400"/>
              <a:ext cx="36921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Селигман, «Подлинное 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5302250"/>
              <a:ext cx="22276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Рувики, «Счастье»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218" y="5626100"/>
              <a:ext cx="3284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Skillbox, «Что такое счастье»</a:t>
              </a:r>
            </a:p>
          </p:txBody>
        </p:sp>
      </p:grpSp>
      <p:grpSp>
        <p:nvGrpSpPr>
          <p:cNvPr id="30" name="qr"/>
          <p:cNvGrpSpPr/>
          <p:nvPr/>
        </p:nvGrpSpPr>
        <p:grpSpPr>
          <a:xfrm>
            <a:off x="8095241" y="3676650"/>
            <a:ext cx="1907019" cy="2538857"/>
            <a:chOff x="8095241" y="3676650"/>
            <a:chExt cx="1907019" cy="2538857"/>
          </a:xfrm>
        </p:grpSpPr>
        <p:sp>
          <p:nvSpPr>
            <p:cNvPr id="27" name="TextBox 27"/>
            <p:cNvSpPr txBox="1"/>
            <p:nvPr/>
          </p:nvSpPr>
          <p:spPr>
            <a:xfrm>
              <a:off x="8095241" y="3676650"/>
              <a:ext cx="19070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095750"/>
              <a:ext cx="1714500" cy="171450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137857" y="5892800"/>
              <a:ext cx="18217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</a:t>
              </a:r>
            </a:p>
          </p:txBody>
        </p:sp>
      </p:grpSp>
      <p:pic>
        <p:nvPicPr>
          <p:cNvPr id="31" name="PPT Master narration: narration15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2026-10-08T11:14:40Z</dcterms:created>
  <dcterms:modified xsi:type="dcterms:W3CDTF">2026-10-08T11:14:40Z</dcterms:modified>
  <cp:category/>
  <cp:contentStatus/>
</cp:coreProperties>
</file>