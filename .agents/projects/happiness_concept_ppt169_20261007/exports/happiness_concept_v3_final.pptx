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narration1.mp3" ContentType="audio/mpeg"/>
  <Override PartName="/ppt/media/narration10.mp3" ContentType="audio/mpeg"/>
  <Override PartName="/ppt/media/narration11.mp3" ContentType="audio/mpeg"/>
  <Override PartName="/ppt/media/narration12.mp3" ContentType="audio/mpeg"/>
  <Override PartName="/ppt/media/narration13.mp3" ContentType="audio/mpeg"/>
  <Override PartName="/ppt/media/narration14.mp3" ContentType="audio/mpeg"/>
  <Override PartName="/ppt/media/narration15.mp3" ContentType="audio/mpeg"/>
  <Override PartName="/ppt/media/narration2.mp3" ContentType="audio/mpeg"/>
  <Override PartName="/ppt/media/narration3.mp3" ContentType="audio/mpeg"/>
  <Override PartName="/ppt/media/narration4.mp3" ContentType="audio/mpeg"/>
  <Override PartName="/ppt/media/narration5.mp3" ContentType="audio/mpeg"/>
  <Override PartName="/ppt/media/narration6.mp3" ContentType="audio/mpeg"/>
  <Override PartName="/ppt/media/narration7.mp3" ContentType="audio/mpeg"/>
  <Override PartName="/ppt/media/narration8.mp3" ContentType="audio/mpeg"/>
  <Override PartName="/ppt/media/narration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ru"/>
    </a:defPPr>
    <a:lvl1pPr marL="0" algn="l" defTabSz="457200" rtl="0" eaLnBrk="1" latinLnBrk="0" hangingPunct="1">
      <a:defRPr sz="1800" kern="1200" lang="ru">
        <a:solidFill>
          <a:schemeClr val="tx1"/>
        </a:solidFill>
        <a:latin typeface="+mn-lt"/>
        <a:ea typeface="+mn-ea"/>
        <a:cs typeface="+mn-cs"/>
      </a:defRPr>
    </a:lvl1pPr>
    <a:lvl2pPr marL="457200" algn="l" defTabSz="457200" rtl="0" eaLnBrk="1" latinLnBrk="0" hangingPunct="1">
      <a:defRPr sz="1800" kern="1200" lang="ru">
        <a:solidFill>
          <a:schemeClr val="tx1"/>
        </a:solidFill>
        <a:latin typeface="+mn-lt"/>
        <a:ea typeface="+mn-ea"/>
        <a:cs typeface="+mn-cs"/>
      </a:defRPr>
    </a:lvl2pPr>
    <a:lvl3pPr marL="914400" algn="l" defTabSz="457200" rtl="0" eaLnBrk="1" latinLnBrk="0" hangingPunct="1">
      <a:defRPr sz="1800" kern="1200" lang="ru">
        <a:solidFill>
          <a:schemeClr val="tx1"/>
        </a:solidFill>
        <a:latin typeface="+mn-lt"/>
        <a:ea typeface="+mn-ea"/>
        <a:cs typeface="+mn-cs"/>
      </a:defRPr>
    </a:lvl3pPr>
    <a:lvl4pPr marL="1371600" algn="l" defTabSz="457200" rtl="0" eaLnBrk="1" latinLnBrk="0" hangingPunct="1">
      <a:defRPr sz="1800" kern="1200" lang="ru">
        <a:solidFill>
          <a:schemeClr val="tx1"/>
        </a:solidFill>
        <a:latin typeface="+mn-lt"/>
        <a:ea typeface="+mn-ea"/>
        <a:cs typeface="+mn-cs"/>
      </a:defRPr>
    </a:lvl4pPr>
    <a:lvl5pPr marL="1828800" algn="l" defTabSz="457200" rtl="0" eaLnBrk="1" latinLnBrk="0" hangingPunct="1">
      <a:defRPr sz="1800" kern="1200" lang="ru">
        <a:solidFill>
          <a:schemeClr val="tx1"/>
        </a:solidFill>
        <a:latin typeface="+mn-lt"/>
        <a:ea typeface="+mn-ea"/>
        <a:cs typeface="+mn-cs"/>
      </a:defRPr>
    </a:lvl5pPr>
    <a:lvl6pPr marL="2286000" algn="l" defTabSz="457200" rtl="0" eaLnBrk="1" latinLnBrk="0" hangingPunct="1">
      <a:defRPr sz="1800" kern="1200" lang="ru">
        <a:solidFill>
          <a:schemeClr val="tx1"/>
        </a:solidFill>
        <a:latin typeface="+mn-lt"/>
        <a:ea typeface="+mn-ea"/>
        <a:cs typeface="+mn-cs"/>
      </a:defRPr>
    </a:lvl6pPr>
    <a:lvl7pPr marL="2743200" algn="l" defTabSz="457200" rtl="0" eaLnBrk="1" latinLnBrk="0" hangingPunct="1">
      <a:defRPr sz="1800" kern="1200" lang="ru">
        <a:solidFill>
          <a:schemeClr val="tx1"/>
        </a:solidFill>
        <a:latin typeface="+mn-lt"/>
        <a:ea typeface="+mn-ea"/>
        <a:cs typeface="+mn-cs"/>
      </a:defRPr>
    </a:lvl7pPr>
    <a:lvl8pPr marL="3200400" algn="l" defTabSz="457200" rtl="0" eaLnBrk="1" latinLnBrk="0" hangingPunct="1">
      <a:defRPr sz="1800" kern="1200" lang="ru">
        <a:solidFill>
          <a:schemeClr val="tx1"/>
        </a:solidFill>
        <a:latin typeface="+mn-lt"/>
        <a:ea typeface="+mn-ea"/>
        <a:cs typeface="+mn-cs"/>
      </a:defRPr>
    </a:lvl8pPr>
    <a:lvl9pPr marL="3657600" algn="l" defTabSz="457200" rtl="0" eaLnBrk="1" latinLnBrk="0" hangingPunct="1">
      <a:defRPr sz="1800" kern="1200" lang="ru">
        <a:solidFill>
          <a:schemeClr val="tx1"/>
        </a:solidFill>
        <a:latin typeface="+mn-lt"/>
        <a:ea typeface="+mn-ea"/>
        <a:cs typeface="+mn-cs"/>
      </a:defRPr>
    </a:lvl9pPr>
  </p:defaultTextStyle>
</p:presentation>
</file>

<file path=ppt/presProps.xml><?xml version="1.0" encoding="utf-8"?>
<p:presentationPr xmlns:p="http://schemas.openxmlformats.org/presentationml/2006/main" xmlns:p14="http://schemas.microsoft.com/office/powerpoint/2010/main">
  <p:showPr useTimings="1"/>
  <p:extLst>
    <p:ext uri="{E76CE94A-603C-4142-B9EB-6D1370010A27}">
      <p14:discardImageEditData val="0"/>
    </p:ext>
    <p:ext uri="{D31A062A-798A-4329-ABDD-BBA856620510}">
      <p14:defaultImageDpi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ru"/>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ru"/>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ru"/>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ru"/>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ru"/>
          </a:p>
        </p:txBody>
      </p:sp>
    </p:spTree>
  </p:cSld>
  <p:clrMap bg1="lt1" tx1="dk1" bg2="lt2" tx2="dk2" accent1="accent1" accent2="accent2" accent3="accent3" accent4="accent4" accent5="accent5" accent6="accent6" hlink="hlink" folHlink="folHlink"/>
  <p:hf/>
  <p:notesStyle>
    <a:lvl1pPr marL="0" algn="l">
      <a:defRPr sz="1200" lang="ru"/>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Здравствуйте. Тема моего доклада — концепция счастья: что делает людей счастливыми в современном мире. За последние десятилетия учёные выяснили: деньги, успех и даже образование не гарантируют счастья. Почему так? И что действительно важно? Об этом мы поговорим.</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Цель нашей презентации — выяснить, что делает людей счастливыми. Мы рассмотрим научные подходы к счастью, выявим ключевые факторы и дадим практические рекомендации.</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Мы рассмотрим счастье с точки зрения философии, психологии, нейробиологии и экономики. Узнаем формулу Селигмана, парадокс Истерлина, влияние образования и цифровых технологий.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Счастье — одна из главных целей человеческой жизни. Аристотель считал его деятельностью души в полноте добродетели. Но Всемирная организация здравоохранения регистрирует рост депрессии: по данным Центров по контролю заболеваний США, доля людей с депрессией выросла с восьми целых двух десятых процента до тринадцати целых одной десятой процента за десять лет. При этом уровень счастья в мире не растёт. Парадокс: литературы по позитивной психологии много, а счастливых людей меньше. Само слово «счастье» происходит от праславянского — «хороший удел».</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Счастье — состояние внутреннего благополучия. В психологии это субъективное благополучие. Оно включает когнитивный компонент — оценку жизни, и эмоциональный — положительные и отрицательные эмоции. Барбара Фредриксон доказала: для благополучия положительные эмоции должны преобладать над отрицательными примерно в соотношении три к одному. В психологии счастье рассматривают по-разному. Психоанализ Юнга — через самореализацию. Когнитивное направление — через работу с мышлением. Позитивная психология — через раскрытие потенциала и состояние потока. Биологический, психологический, социальный и духовный подход — через духовное развитие. Важно и различие: счастье как эмоция быстротечно, как чувство — устойчиво.</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Физиология счастья связана с гормонами. Дофамин — система поощрения, мотивация и обучение. Серотонин — фон долговременной удовлетворённости, сон и настроение. Эндорфины — кратковременная эйфория и лёгкость. Окситоцин — доверие, привязанность и эмпатия. На слайде показан короткий видеоролик о работе этих нейромедиаторов. Здоровый образ жизни, спорт и общение поддерживают их баланс.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Аристотель определял счастье как деятельность души в полноте добродетели. Стоики, Сенека и Марк Аврелий, — как внутреннее спокойствие. Индийская философия — как освобождение от страданий. Фома Аквинский считал, что в земной жизни счастье недостижимо. Просвещение провозгласило его естественным правом: Джефферсон писал о стремлении к счастью. Утилитаризм Бентама и Милля — это максимизация удовольствия. В литературе братья Стругацкие иронично определяли счастье как отсутствие несчастья. В двадцать первом веке счастье понимают как многомерный феномен.</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Гедонизм: счастье — это максимум удовольствия и минимум страданий. Он связан с потребительской культурой. Риск — гедонистическая адаптация и давление пропаганды счастья. Эвдемония: счастье — это реализация потенциала, смысл и добродетели. Эвдемонизм как этическое направление признаёт критерием нравственности стремление человека к счастью. Канадский психолог Гордон Ньюфелд говорит: «Счастье находится по ту сторону слёз».</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Мартин Селигман вывел формулу: счастье равно наследственности плюс волевая деятельность плюс обстоятельства. Пятьдесят процентов — генетика, десять процентов — внешние обстоятельства, сорок процентов — намеренные действия. Соня Любомирски назвала это теорией сорока процентов: фокус на себе эффективнее изменения обстоятельств. Но есть критика: Барбара Эренрейх, Стивенсон и Вольферс напоминают, что игнорировать социальное неравенство и доход нельзя. Даже Канеман признавал, что позитивная психология может уводить от реальных проблем.</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Сильнейший предиктор счастья — качество отношений. Одиночество сильно снижает счастье. Дэниел Хейброн выделяет источники благополучия: безопасность, самостоятельность, отношения и реализацию в профессии. Внутренние факторы — это осмысленность, самореализация, здоровье и благодарность. Внешние — материальная стабильность, справедливость и интересная деятельность. Сьюзан Краусс Уитборн подчёркивает: для долгосрочного благополучия важно, сколько дней в году вы были счастливы. Протоиерей Димитрий Смирнов говорил, что настоящее счастье возможно прежде всего в семье.</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Парадокс Истерлина: рост дохода не всегда ведёт к росту счастья. Канеман и Дитон в две тысячи десятом году выявили порог — семьдесят пять тысяч долларов в год. После него влияние дохода на эмоциональное благополучие прекращается. На макроуровне богатые страны счастливее бедных. Причина в гедонистической адаптации: люди быстро привыкают к улучшениям.</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Связь счастья и образования сложна. На индивидуальном уровне прямая связь слабая. Есть нелинейность: самая низкая удовлетворённость — у людей со средним специальным образованием. Косвенные эффекты — доход, социальный статус, когнитивные навыки. И ещё один парадокс: рост образования повышает требования к жизни, что может снижать удовлетворённость.</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Социальные сети дают связь с близкими, поддержку и доступ к знаниям. Но есть и риски: сравнение с другими, страх упустить важное, снижение самооценки. Цифровой детокс и осознанное потребление контента повышают счастье. Онлайн-терапия и приложения для медитации — инструменты улучшения благополучия. Баланс онлайн и офлайн критически важен.</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Восемь шагов к счастью. Инвестируйте в отношения. Практикуйте благодарность. Занимайтесь физической активностью. Медитируйте. Ставьте цели. Помогайте другим. Ограничьте соцсети. Спите достаточно. Пять направлений терапии работают с категорией счастья и смысла: позитивная психология, гуманистический подход, логотерапия, экзистенциальная и христианская психология.</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Счастье — многомерный феномен. На него влияют генетика, обстоятельства и намеренные действия. Качество отношений — сильнейший предиктор. Деньги важны лишь до определённого уровня. Образование влияет нелинейно. Цифровые технологии амбивалентны. Счастье можно развивать через осознанные практики. Культурный контекст определяет понимание счастья. Стрессоустойчивость помогает переживать трудности. Главный вывод: счастье — это результат осознанных усилий, а не случайной удачи.</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happiness_concep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ru" smtClean="0"/>
              <a:t>1/27/13</a:t>
            </a:fld>
            <a:endParaRPr lang="ru"/>
          </a:p>
        </p:txBody>
      </p:sp>
      <p:sp>
        <p:nvSpPr>
          <p:cNvPr id="3" name="Footer Placeholder 2"/>
          <p:cNvSpPr>
            <a:spLocks noGrp="1"/>
          </p:cNvSpPr>
          <p:nvPr>
            <p:ph type="ftr" sz="quarter" idx="11"/>
          </p:nvPr>
        </p:nvSpPr>
        <p:spPr/>
        <p:txBody>
          <a:bodyPr/>
          <a:lstStyle/>
          <a:p>
            <a:endParaRPr lang="ru"/>
          </a:p>
        </p:txBody>
      </p:sp>
      <p:sp>
        <p:nvSpPr>
          <p:cNvPr id="4" name="Slide Number Placeholder 3"/>
          <p:cNvSpPr>
            <a:spLocks noGrp="1"/>
          </p:cNvSpPr>
          <p:nvPr>
            <p:ph type="sldNum" sz="quarter" idx="12"/>
          </p:nvPr>
        </p:nvSpPr>
        <p:spPr/>
        <p:txBody>
          <a:bodyPr/>
          <a:lstStyle/>
          <a:p>
            <a:fld id="{C1FF6DA9-008F-8B48-92A6-B652298478BF}" type="slidenum">
              <a:rPr lang="ru" smtClean="0"/>
              <a:t>‹#›</a:t>
            </a:fld>
            <a:endParaRPr lang="ru"/>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happiness_concep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ru">
                <a:solidFill>
                  <a:schemeClr val="tx1">
                    <a:tint val="75000"/>
                  </a:schemeClr>
                </a:solidFill>
              </a:defRPr>
            </a:lvl1pPr>
          </a:lstStyle>
          <a:p>
            <a:fld id="{5BCAD085-E8A6-8845-BD4E-CB4CCA059FC4}" type="datetimeFigureOut">
              <a:rPr lang="ru" smtClean="0"/>
              <a:t>1/27/13</a:t>
            </a:fld>
            <a:endParaRPr lang="r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ru">
                <a:solidFill>
                  <a:schemeClr val="tx1">
                    <a:tint val="75000"/>
                  </a:schemeClr>
                </a:solidFill>
              </a:defRPr>
            </a:lvl1pPr>
          </a:lstStyle>
          <a:p>
            <a:endParaRPr lang="r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ru">
                <a:solidFill>
                  <a:schemeClr val="tx1">
                    <a:tint val="75000"/>
                  </a:schemeClr>
                </a:solidFill>
              </a:defRPr>
            </a:lvl1pPr>
          </a:lstStyle>
          <a:p>
            <a:fld id="{C1FF6DA9-008F-8B48-92A6-B652298478BF}" type="slidenum">
              <a:rPr lang="ru" smtClean="0"/>
              <a:t>‹#›</a:t>
            </a:fld>
            <a:endParaRPr lang="ru"/>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lang="ru">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ru">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ru">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ru">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ru">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ru">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ru">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ru">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ru">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ru">
          <a:solidFill>
            <a:schemeClr val="tx1"/>
          </a:solidFill>
          <a:latin typeface="+mn-lt"/>
          <a:ea typeface="+mn-ea"/>
          <a:cs typeface="+mn-cs"/>
        </a:defRPr>
      </a:lvl9pPr>
    </p:bodyStyle>
    <p:otherStyle>
      <a:defPPr>
        <a:defRPr lang="ru"/>
      </a:defPPr>
      <a:lvl1pPr marL="0" algn="l" defTabSz="457200" rtl="0" eaLnBrk="1" latinLnBrk="0" hangingPunct="1">
        <a:defRPr sz="1800" kern="1200" lang="ru">
          <a:solidFill>
            <a:schemeClr val="tx1"/>
          </a:solidFill>
          <a:latin typeface="+mn-lt"/>
          <a:ea typeface="+mn-ea"/>
          <a:cs typeface="+mn-cs"/>
        </a:defRPr>
      </a:lvl1pPr>
      <a:lvl2pPr marL="457200" algn="l" defTabSz="457200" rtl="0" eaLnBrk="1" latinLnBrk="0" hangingPunct="1">
        <a:defRPr sz="1700" kern="1200" lang="ru">
          <a:solidFill>
            <a:schemeClr val="tx1"/>
          </a:solidFill>
          <a:latin typeface="+mn-lt"/>
          <a:ea typeface="+mn-ea"/>
          <a:cs typeface="+mn-cs"/>
        </a:defRPr>
      </a:lvl2pPr>
      <a:lvl3pPr marL="914400" algn="l" defTabSz="457200" rtl="0" eaLnBrk="1" latinLnBrk="0" hangingPunct="1">
        <a:defRPr sz="1600" kern="1200" lang="ru">
          <a:solidFill>
            <a:schemeClr val="tx1"/>
          </a:solidFill>
          <a:latin typeface="+mn-lt"/>
          <a:ea typeface="+mn-ea"/>
          <a:cs typeface="+mn-cs"/>
        </a:defRPr>
      </a:lvl3pPr>
      <a:lvl4pPr marL="1371600" algn="l" defTabSz="457200" rtl="0" eaLnBrk="1" latinLnBrk="0" hangingPunct="1">
        <a:defRPr sz="1450" kern="1200" lang="ru">
          <a:solidFill>
            <a:schemeClr val="tx1"/>
          </a:solidFill>
          <a:latin typeface="+mn-lt"/>
          <a:ea typeface="+mn-ea"/>
          <a:cs typeface="+mn-cs"/>
        </a:defRPr>
      </a:lvl4pPr>
      <a:lvl5pPr marL="1828800" algn="l" defTabSz="457200" rtl="0" eaLnBrk="1" latinLnBrk="0" hangingPunct="1">
        <a:defRPr sz="1350" kern="1200" lang="ru">
          <a:solidFill>
            <a:schemeClr val="tx1"/>
          </a:solidFill>
          <a:latin typeface="+mn-lt"/>
          <a:ea typeface="+mn-ea"/>
          <a:cs typeface="+mn-cs"/>
        </a:defRPr>
      </a:lvl5pPr>
      <a:lvl6pPr marL="2286000" algn="l" defTabSz="457200" rtl="0" eaLnBrk="1" latinLnBrk="0" hangingPunct="1">
        <a:defRPr sz="1250" kern="1200" lang="ru">
          <a:solidFill>
            <a:schemeClr val="tx1"/>
          </a:solidFill>
          <a:latin typeface="+mn-lt"/>
          <a:ea typeface="+mn-ea"/>
          <a:cs typeface="+mn-cs"/>
        </a:defRPr>
      </a:lvl6pPr>
      <a:lvl7pPr marL="2743200" algn="l" defTabSz="457200" rtl="0" eaLnBrk="1" latinLnBrk="0" hangingPunct="1">
        <a:defRPr sz="1100" kern="1200" lang="ru">
          <a:solidFill>
            <a:schemeClr val="tx1"/>
          </a:solidFill>
          <a:latin typeface="+mn-lt"/>
          <a:ea typeface="+mn-ea"/>
          <a:cs typeface="+mn-cs"/>
        </a:defRPr>
      </a:lvl7pPr>
      <a:lvl8pPr marL="3200400" algn="l" defTabSz="457200" rtl="0" eaLnBrk="1" latinLnBrk="0" hangingPunct="1">
        <a:defRPr sz="1000" kern="1200" lang="ru">
          <a:solidFill>
            <a:schemeClr val="tx1"/>
          </a:solidFill>
          <a:latin typeface="+mn-lt"/>
          <a:ea typeface="+mn-ea"/>
          <a:cs typeface="+mn-cs"/>
        </a:defRPr>
      </a:lvl8pPr>
      <a:lvl9pPr marL="3657600" algn="l" defTabSz="457200" rtl="0" eaLnBrk="1" latinLnBrk="0" hangingPunct="1">
        <a:defRPr sz="900" kern="1200" lang="ru">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18ade41bd9de0e7.jpg"/><Relationship Id="rId3" Type="http://schemas.openxmlformats.org/officeDocument/2006/relationships/notesSlide" Target="../notesSlides/notesSlide1.xml"/><Relationship Id="rId4" Type="http://schemas.microsoft.com/office/2007/relationships/media" Target="../media/narration1.mp3"/><Relationship Id="rId5" Type="http://schemas.openxmlformats.org/officeDocument/2006/relationships/audio" Target="../media/narration1.mp3"/><Relationship Id="rId6" Type="http://schemas.openxmlformats.org/officeDocument/2006/relationships/image" Target="../media/narration_poster.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bd4a9df1376ac73e.jpg"/><Relationship Id="rId3" Type="http://schemas.openxmlformats.org/officeDocument/2006/relationships/notesSlide" Target="../notesSlides/notesSlide2.xml"/><Relationship Id="rId4" Type="http://schemas.microsoft.com/office/2007/relationships/media" Target="../media/narration2.mp3"/><Relationship Id="rId5" Type="http://schemas.openxmlformats.org/officeDocument/2006/relationships/audio" Target="../media/narration2.mp3"/><Relationship Id="rId6" Type="http://schemas.openxmlformats.org/officeDocument/2006/relationships/image" Target="../media/narration_poster.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e4e7b3384ccf1767.jpg"/><Relationship Id="rId3" Type="http://schemas.openxmlformats.org/officeDocument/2006/relationships/notesSlide" Target="../notesSlides/notesSlide3.xml"/><Relationship Id="rId4" Type="http://schemas.microsoft.com/office/2007/relationships/media" Target="../media/narration3.mp3"/><Relationship Id="rId5" Type="http://schemas.openxmlformats.org/officeDocument/2006/relationships/audio" Target="../media/narration3.mp3"/><Relationship Id="rId6" Type="http://schemas.openxmlformats.org/officeDocument/2006/relationships/image" Target="../media/narration_poster.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92f55618fceb4ce6.jpg"/><Relationship Id="rId3" Type="http://schemas.openxmlformats.org/officeDocument/2006/relationships/notesSlide" Target="../notesSlides/notesSlide4.xml"/><Relationship Id="rId4" Type="http://schemas.microsoft.com/office/2007/relationships/media" Target="../media/narration4.mp3"/><Relationship Id="rId5" Type="http://schemas.openxmlformats.org/officeDocument/2006/relationships/audio" Target="../media/narration4.mp3"/><Relationship Id="rId6" Type="http://schemas.openxmlformats.org/officeDocument/2006/relationships/image" Target="../media/narration_poster.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57e2e7a59c4bea4.jpg"/><Relationship Id="rId3" Type="http://schemas.openxmlformats.org/officeDocument/2006/relationships/notesSlide" Target="../notesSlides/notesSlide5.xml"/><Relationship Id="rId4" Type="http://schemas.microsoft.com/office/2007/relationships/media" Target="../media/narration5.mp3"/><Relationship Id="rId5" Type="http://schemas.openxmlformats.org/officeDocument/2006/relationships/audio" Target="../media/narration5.mp3"/><Relationship Id="rId6" Type="http://schemas.openxmlformats.org/officeDocument/2006/relationships/image" Target="../media/narration_poster.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21692c47bf8da53.jpg"/><Relationship Id="rId3" Type="http://schemas.openxmlformats.org/officeDocument/2006/relationships/image" Target="../media/image_fb9a4fe6da9ea8ca.jpg"/><Relationship Id="rId4" Type="http://schemas.openxmlformats.org/officeDocument/2006/relationships/notesSlide" Target="../notesSlides/notesSlide6.xml"/><Relationship Id="rId5" Type="http://schemas.microsoft.com/office/2007/relationships/media" Target="../media/narration6.mp3"/><Relationship Id="rId6" Type="http://schemas.openxmlformats.org/officeDocument/2006/relationships/audio" Target="../media/narration6.mp3"/><Relationship Id="rId7" Type="http://schemas.openxmlformats.org/officeDocument/2006/relationships/image" Target="../media/narration_poster.png"/><Relationship Id="rId8" Type="http://schemas.microsoft.com/office/2007/relationships/media" Target="../media/media1.mp4"/><Relationship Id="rId9" Type="http://schemas.openxmlformats.org/officeDocument/2006/relationships/video" Target="../media/media1.mp4"/><Relationship Id="rId10"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288d118ee0905d5.jpg"/><Relationship Id="rId3" Type="http://schemas.openxmlformats.org/officeDocument/2006/relationships/image" Target="../media/image_b45662b9cbfa98ee.jpg"/><Relationship Id="rId4" Type="http://schemas.openxmlformats.org/officeDocument/2006/relationships/image" Target="../media/image_57b71a4dc378653d.jpg"/><Relationship Id="rId5" Type="http://schemas.openxmlformats.org/officeDocument/2006/relationships/image" Target="../media/image_cabb1b339030b4ed.jpg"/><Relationship Id="rId6" Type="http://schemas.openxmlformats.org/officeDocument/2006/relationships/image" Target="../media/image_b792826eaa622c8f.jpg"/><Relationship Id="rId7" Type="http://schemas.openxmlformats.org/officeDocument/2006/relationships/image" Target="../media/image_afd9db9fff54cca2.jpg"/><Relationship Id="rId8" Type="http://schemas.openxmlformats.org/officeDocument/2006/relationships/notesSlide" Target="../notesSlides/notesSlide7.xml"/><Relationship Id="rId9" Type="http://schemas.microsoft.com/office/2007/relationships/media" Target="../media/narration7.mp3"/><Relationship Id="rId10" Type="http://schemas.openxmlformats.org/officeDocument/2006/relationships/audio" Target="../media/narration7.mp3"/><Relationship Id="rId11" Type="http://schemas.openxmlformats.org/officeDocument/2006/relationships/image" Target="../media/narration_poster.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b44499b2209e30ac.jpg"/><Relationship Id="rId3" Type="http://schemas.openxmlformats.org/officeDocument/2006/relationships/image" Target="../media/image_a2f711d4eb699204.jpg"/><Relationship Id="rId4" Type="http://schemas.openxmlformats.org/officeDocument/2006/relationships/image" Target="../media/image_852cb707c4f2b7ad.jpg"/><Relationship Id="rId5" Type="http://schemas.openxmlformats.org/officeDocument/2006/relationships/notesSlide" Target="../notesSlides/notesSlide8.xml"/><Relationship Id="rId6" Type="http://schemas.microsoft.com/office/2007/relationships/media" Target="../media/narration8.mp3"/><Relationship Id="rId7" Type="http://schemas.openxmlformats.org/officeDocument/2006/relationships/audio" Target="../media/narration8.mp3"/><Relationship Id="rId8" Type="http://schemas.openxmlformats.org/officeDocument/2006/relationships/image" Target="../media/narration_poster.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459ada776e4b6156.jpg"/><Relationship Id="rId3" Type="http://schemas.openxmlformats.org/officeDocument/2006/relationships/notesSlide" Target="../notesSlides/notesSlide9.xml"/><Relationship Id="rId4" Type="http://schemas.microsoft.com/office/2007/relationships/media" Target="../media/narration9.mp3"/><Relationship Id="rId5" Type="http://schemas.openxmlformats.org/officeDocument/2006/relationships/audio" Target="../media/narration9.mp3"/><Relationship Id="rId6" Type="http://schemas.openxmlformats.org/officeDocument/2006/relationships/image" Target="../media/narration_poster.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d8daedaf61ee7641.jpg"/><Relationship Id="rId3" Type="http://schemas.openxmlformats.org/officeDocument/2006/relationships/notesSlide" Target="../notesSlides/notesSlide10.xml"/><Relationship Id="rId4" Type="http://schemas.microsoft.com/office/2007/relationships/media" Target="../media/narration10.mp3"/><Relationship Id="rId5" Type="http://schemas.openxmlformats.org/officeDocument/2006/relationships/audio" Target="../media/narration10.mp3"/><Relationship Id="rId6" Type="http://schemas.openxmlformats.org/officeDocument/2006/relationships/image" Target="../media/narration_poster.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3b3bfd2e122e64d.jpg"/><Relationship Id="rId3" Type="http://schemas.openxmlformats.org/officeDocument/2006/relationships/image" Target="../media/image_3c78ba75b72158e1.jpg"/><Relationship Id="rId4" Type="http://schemas.openxmlformats.org/officeDocument/2006/relationships/image" Target="../media/image_970dd5afa7fe1255.jpg"/><Relationship Id="rId5" Type="http://schemas.openxmlformats.org/officeDocument/2006/relationships/notesSlide" Target="../notesSlides/notesSlide11.xml"/><Relationship Id="rId6" Type="http://schemas.microsoft.com/office/2007/relationships/media" Target="../media/narration11.mp3"/><Relationship Id="rId7" Type="http://schemas.openxmlformats.org/officeDocument/2006/relationships/audio" Target="../media/narration11.mp3"/><Relationship Id="rId8" Type="http://schemas.openxmlformats.org/officeDocument/2006/relationships/image" Target="../media/narration_poster.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678ebc45bf979982.jpg"/><Relationship Id="rId3" Type="http://schemas.openxmlformats.org/officeDocument/2006/relationships/notesSlide" Target="../notesSlides/notesSlide12.xml"/><Relationship Id="rId4" Type="http://schemas.microsoft.com/office/2007/relationships/media" Target="../media/narration12.mp3"/><Relationship Id="rId5" Type="http://schemas.openxmlformats.org/officeDocument/2006/relationships/audio" Target="../media/narration12.mp3"/><Relationship Id="rId6" Type="http://schemas.openxmlformats.org/officeDocument/2006/relationships/image" Target="../media/narration_poster.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973e39d10fae920a.jpg"/><Relationship Id="rId3" Type="http://schemas.openxmlformats.org/officeDocument/2006/relationships/notesSlide" Target="../notesSlides/notesSlide13.xml"/><Relationship Id="rId4" Type="http://schemas.microsoft.com/office/2007/relationships/media" Target="../media/narration13.mp3"/><Relationship Id="rId5" Type="http://schemas.openxmlformats.org/officeDocument/2006/relationships/audio" Target="../media/narration13.mp3"/><Relationship Id="rId6" Type="http://schemas.openxmlformats.org/officeDocument/2006/relationships/image" Target="../media/narration_poster.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6d3fe47d56c9303.jpg"/><Relationship Id="rId3" Type="http://schemas.openxmlformats.org/officeDocument/2006/relationships/notesSlide" Target="../notesSlides/notesSlide14.xml"/><Relationship Id="rId4" Type="http://schemas.microsoft.com/office/2007/relationships/media" Target="../media/narration14.mp3"/><Relationship Id="rId5" Type="http://schemas.openxmlformats.org/officeDocument/2006/relationships/audio" Target="../media/narration14.mp3"/><Relationship Id="rId6" Type="http://schemas.openxmlformats.org/officeDocument/2006/relationships/image" Target="../media/narration_poster.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e943bc3fa4d211d5.jpg"/><Relationship Id="rId3" Type="http://schemas.openxmlformats.org/officeDocument/2006/relationships/notesSlide" Target="../notesSlides/notesSlide15.xml"/><Relationship Id="rId4" Type="http://schemas.microsoft.com/office/2007/relationships/media" Target="../media/narration15.mp3"/><Relationship Id="rId5" Type="http://schemas.openxmlformats.org/officeDocument/2006/relationships/audio" Target="../media/narration15.mp3"/><Relationship Id="rId6" Type="http://schemas.openxmlformats.org/officeDocument/2006/relationships/image" Target="../media/narration_poster.png"/></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cover-photo"/>
          <p:cNvPicPr>
            <a:picLocks noChangeAspect="1"/>
          </p:cNvPicPr>
          <p:nvPr/>
        </p:nvPicPr>
        <p:blipFill>
          <a:blip r:embed="rId2"/>
          <a:srcRect l="0" t="5003" r="0" b="5003"/>
          <a:stretch>
            <a:fillRect/>
          </a:stretch>
        </p:blipFill>
        <p:spPr>
          <a:xfrm>
            <a:off x="0" y="0"/>
            <a:ext cx="12192000" cy="6858000"/>
          </a:xfrm>
          <a:prstGeom prst="rect">
            <a:avLst/>
          </a:prstGeom>
        </p:spPr>
      </p:pic>
      <p:sp>
        <p:nvSpPr>
          <p:cNvPr id="3" name="cover-bg"/>
          <p:cNvSpPr/>
          <p:nvPr/>
        </p:nvSpPr>
        <p:spPr>
          <a:xfrm>
            <a:off x="0" y="0"/>
            <a:ext cx="12192000" cy="6858000"/>
          </a:xfrm>
          <a:prstGeom prst="rect">
            <a:avLst/>
          </a:prstGeom>
          <a:gradFill>
            <a:gsLst>
              <a:gs pos="0">
                <a:srgbClr val="D6EAF8">
                  <a:alpha val="82000"/>
                </a:srgbClr>
              </a:gs>
              <a:gs pos="100000">
                <a:srgbClr val="F5E6D3">
                  <a:alpha val="82000"/>
                </a:srgbClr>
              </a:gs>
            </a:gsLst>
            <a:lin ang="2700000" scaled="1"/>
          </a:gradFill>
          <a:ln>
            <a:noFill/>
          </a:ln>
        </p:spPr>
      </p:sp>
      <p:sp>
        <p:nvSpPr>
          <p:cNvPr id="4" name="cover-orb"/>
          <p:cNvSpPr/>
          <p:nvPr/>
        </p:nvSpPr>
        <p:spPr>
          <a:xfrm>
            <a:off x="8382000" y="-762000"/>
            <a:ext cx="4191000" cy="4191000"/>
          </a:xfrm>
          <a:prstGeom prst="ellipse">
            <a:avLst/>
          </a:prstGeom>
          <a:solidFill>
            <a:srgbClr val="FFFFFF">
              <a:alpha val="35000"/>
            </a:srgbClr>
          </a:solidFill>
          <a:ln>
            <a:noFill/>
          </a:ln>
        </p:spPr>
      </p:sp>
      <p:sp>
        <p:nvSpPr>
          <p:cNvPr id="5" name="cover-orb-2"/>
          <p:cNvSpPr/>
          <p:nvPr/>
        </p:nvSpPr>
        <p:spPr>
          <a:xfrm>
            <a:off x="95250" y="4667250"/>
            <a:ext cx="3048000" cy="3048000"/>
          </a:xfrm>
          <a:prstGeom prst="ellipse">
            <a:avLst/>
          </a:prstGeom>
          <a:solidFill>
            <a:srgbClr val="27AE60">
              <a:alpha val="8000"/>
            </a:srgbClr>
          </a:solidFill>
          <a:ln>
            <a:noFill/>
          </a:ln>
        </p:spPr>
      </p:sp>
      <p:grpSp>
        <p:nvGrpSpPr>
          <p:cNvPr id="10" name="cover-header"/>
          <p:cNvGrpSpPr/>
          <p:nvPr/>
        </p:nvGrpSpPr>
        <p:grpSpPr>
          <a:xfrm>
            <a:off x="743712" y="1104900"/>
            <a:ext cx="7437343" cy="2450338"/>
            <a:chOff x="743712" y="1104900"/>
            <a:chExt cx="7437343" cy="2450338"/>
          </a:xfrm>
        </p:grpSpPr>
        <p:sp>
          <p:nvSpPr>
            <p:cNvPr id="6" name="TextBox 6"/>
            <p:cNvSpPr txBox="1"/>
            <p:nvPr/>
          </p:nvSpPr>
          <p:spPr>
            <a:xfrm>
              <a:off x="752856" y="1104900"/>
              <a:ext cx="7066132" cy="352044"/>
            </a:xfrm>
            <a:prstGeom prst="rect">
              <a:avLst/>
            </a:prstGeom>
            <a:noFill/>
            <a:ln>
              <a:noFill/>
            </a:ln>
          </p:spPr>
          <p:txBody>
            <a:bodyPr wrap="none" lIns="0" tIns="0" rIns="0" bIns="0" anchor="t" anchorCtr="0">
              <a:spAutoFit/>
            </a:bodyPr>
            <a:lstStyle/>
            <a:p>
              <a:pPr algn="l"/>
              <a:r>
                <a:rPr lang="ru" sz="1800" spc="150" dirty="0">
                  <a:solidFill>
                    <a:srgbClr val="5D6D7E"/>
                  </a:solidFill>
                  <a:latin typeface="+mn-lt"/>
                  <a:ea typeface="+mn-ea"/>
                  <a:cs typeface="+mn-cs"/>
                </a:rPr>
                <a:t>РОСТОВСКИЙ-НА-ДОНУ КОЛЛЕДЖ СВЯЗИ И ИНФОРМАТИКИ</a:t>
              </a:r>
            </a:p>
          </p:txBody>
        </p:sp>
        <p:sp>
          <p:nvSpPr>
            <p:cNvPr id="7" name="TextBox 7"/>
            <p:cNvSpPr txBox="1"/>
            <p:nvPr/>
          </p:nvSpPr>
          <p:spPr>
            <a:xfrm>
              <a:off x="743712" y="1727200"/>
              <a:ext cx="4827478"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Концепция счастья:</a:t>
              </a:r>
            </a:p>
          </p:txBody>
        </p:sp>
        <p:sp>
          <p:nvSpPr>
            <p:cNvPr id="8" name="TextBox 8"/>
            <p:cNvSpPr txBox="1"/>
            <p:nvPr/>
          </p:nvSpPr>
          <p:spPr>
            <a:xfrm>
              <a:off x="743712" y="2336800"/>
              <a:ext cx="7437343"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что делает людей счастливыми</a:t>
              </a:r>
            </a:p>
          </p:txBody>
        </p:sp>
        <p:sp>
          <p:nvSpPr>
            <p:cNvPr id="9" name="TextBox 9"/>
            <p:cNvSpPr txBox="1"/>
            <p:nvPr/>
          </p:nvSpPr>
          <p:spPr>
            <a:xfrm>
              <a:off x="743712" y="2851150"/>
              <a:ext cx="5079850"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в современном мире?</a:t>
              </a:r>
            </a:p>
          </p:txBody>
        </p:sp>
      </p:grpSp>
      <p:grpSp>
        <p:nvGrpSpPr>
          <p:cNvPr id="16" name="cover-author"/>
          <p:cNvGrpSpPr/>
          <p:nvPr/>
        </p:nvGrpSpPr>
        <p:grpSpPr>
          <a:xfrm>
            <a:off x="762000" y="4000500"/>
            <a:ext cx="4330332" cy="1609344"/>
            <a:chOff x="762000" y="4000500"/>
            <a:chExt cx="4330332" cy="1609344"/>
          </a:xfrm>
        </p:grpSpPr>
        <p:sp>
          <p:nvSpPr>
            <p:cNvPr id="11" name="Rectangle 11"/>
            <p:cNvSpPr/>
            <p:nvPr/>
          </p:nvSpPr>
          <p:spPr>
            <a:xfrm>
              <a:off x="762000" y="4000500"/>
              <a:ext cx="57150" cy="1524000"/>
            </a:xfrm>
            <a:prstGeom prst="roundRect">
              <a:avLst>
                <a:gd name="adj" fmla="val 50000"/>
              </a:avLst>
            </a:prstGeom>
            <a:solidFill>
              <a:srgbClr val="27AE60"/>
            </a:solidFill>
            <a:ln>
              <a:noFill/>
            </a:ln>
          </p:spPr>
        </p:sp>
        <p:sp>
          <p:nvSpPr>
            <p:cNvPr id="12" name="TextBox 12"/>
            <p:cNvSpPr txBox="1"/>
            <p:nvPr/>
          </p:nvSpPr>
          <p:spPr>
            <a:xfrm>
              <a:off x="1057656" y="4171950"/>
              <a:ext cx="297538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Сабадаш Павел Андреевич</a:t>
              </a:r>
            </a:p>
          </p:txBody>
        </p:sp>
        <p:sp>
          <p:nvSpPr>
            <p:cNvPr id="13" name="TextBox 13"/>
            <p:cNvSpPr txBox="1"/>
            <p:nvPr/>
          </p:nvSpPr>
          <p:spPr>
            <a:xfrm>
              <a:off x="1057656" y="4533900"/>
              <a:ext cx="1533532"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Группа ИС-24</a:t>
              </a:r>
            </a:p>
          </p:txBody>
        </p:sp>
        <p:sp>
          <p:nvSpPr>
            <p:cNvPr id="14" name="TextBox 14"/>
            <p:cNvSpPr txBox="1"/>
            <p:nvPr/>
          </p:nvSpPr>
          <p:spPr>
            <a:xfrm>
              <a:off x="1057656" y="4895850"/>
              <a:ext cx="2823750" cy="352044"/>
            </a:xfrm>
            <a:prstGeom prst="rect">
              <a:avLst/>
            </a:prstGeom>
            <a:noFill/>
            <a:ln>
              <a:noFill/>
            </a:ln>
          </p:spPr>
          <p:txBody>
            <a:bodyPr wrap="none" lIns="0" tIns="0" rIns="0" bIns="0" anchor="t" anchorCtr="0">
              <a:spAutoFit/>
            </a:bodyPr>
            <a:lstStyle/>
            <a:p>
              <a:pPr algn="l"/>
              <a:r>
                <a:rPr lang="en-US" sz="1800" dirty="0">
                  <a:solidFill>
                    <a:srgbClr val="5D6D7E"/>
                  </a:solidFill>
                  <a:latin typeface="+mn-lt"/>
                  <a:ea typeface="+mn-ea"/>
                  <a:cs typeface="+mn-cs"/>
                </a:rPr>
                <a:t>sabadaspaha@gmail.com</a:t>
              </a:r>
            </a:p>
          </p:txBody>
        </p:sp>
        <p:sp>
          <p:nvSpPr>
            <p:cNvPr id="15" name="TextBox 15"/>
            <p:cNvSpPr txBox="1"/>
            <p:nvPr/>
          </p:nvSpPr>
          <p:spPr>
            <a:xfrm>
              <a:off x="1057656" y="5257800"/>
              <a:ext cx="4034676"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Защита учебной презентации, 2026</a:t>
              </a:r>
            </a:p>
          </p:txBody>
        </p:sp>
      </p:grpSp>
      <p:grpSp>
        <p:nvGrpSpPr>
          <p:cNvPr id="34" name="cover-icons"/>
          <p:cNvGrpSpPr/>
          <p:nvPr/>
        </p:nvGrpSpPr>
        <p:grpSpPr>
          <a:xfrm>
            <a:off x="8375904" y="4824413"/>
            <a:ext cx="2725485" cy="801433"/>
            <a:chOff x="8375904" y="4824413"/>
            <a:chExt cx="2725485" cy="801433"/>
          </a:xfrm>
        </p:grpSpPr>
        <p:grpSp>
          <p:nvGrpSpPr>
            <p:cNvPr id="23" name="Group 23"/>
            <p:cNvGrpSpPr/>
            <p:nvPr/>
          </p:nvGrpSpPr>
          <p:grpSpPr>
            <a:xfrm>
              <a:off x="8443913" y="4824413"/>
              <a:ext cx="371475" cy="371475"/>
              <a:chOff x="8443913" y="4824413"/>
              <a:chExt cx="371475" cy="371475"/>
            </a:xfrm>
          </p:grpSpPr>
          <p:sp>
            <p:nvSpPr>
              <p:cNvPr id="17" name="Freeform 17"/>
              <p:cNvSpPr/>
              <p:nvPr/>
            </p:nvSpPr>
            <p:spPr>
              <a:xfrm>
                <a:off x="8629650" y="5030788"/>
                <a:ext cx="144463" cy="165100"/>
              </a:xfrm>
              <a:custGeom>
                <a:avLst/>
                <a:gdLst/>
                <a:ahLst/>
                <a:cxnLst/>
                <a:rect l="l" t="t" r="r" b="b"/>
                <a:pathLst>
                  <a:path w="144463" h="165100">
                    <a:moveTo>
                      <a:pt x="72231" y="0"/>
                    </a:moveTo>
                    <a:cubicBezTo>
                      <a:pt x="32339" y="0"/>
                      <a:pt x="0" y="32339"/>
                      <a:pt x="0" y="72231"/>
                    </a:cubicBezTo>
                    <a:lnTo>
                      <a:pt x="0" y="92869"/>
                    </a:lnTo>
                    <a:cubicBezTo>
                      <a:pt x="0" y="132761"/>
                      <a:pt x="32339" y="165100"/>
                      <a:pt x="72231" y="165100"/>
                    </a:cubicBezTo>
                    <a:cubicBezTo>
                      <a:pt x="112124" y="165100"/>
                      <a:pt x="144463" y="132761"/>
                      <a:pt x="144463" y="92869"/>
                    </a:cubicBezTo>
                    <a:lnTo>
                      <a:pt x="144463" y="55721"/>
                    </a:lnTo>
                  </a:path>
                </a:pathLst>
              </a:custGeom>
              <a:noFill/>
              <a:ln w="41275">
                <a:solidFill>
                  <a:schemeClr val="accent1"/>
                </a:solidFill>
              </a:ln>
            </p:spPr>
          </p:sp>
          <p:sp>
            <p:nvSpPr>
              <p:cNvPr id="18" name="Freeform 18"/>
              <p:cNvSpPr/>
              <p:nvPr/>
            </p:nvSpPr>
            <p:spPr>
              <a:xfrm>
                <a:off x="8485188" y="5030788"/>
                <a:ext cx="144463" cy="165100"/>
              </a:xfrm>
              <a:custGeom>
                <a:avLst/>
                <a:gdLst/>
                <a:ahLst/>
                <a:cxnLst/>
                <a:rect l="l" t="t" r="r" b="b"/>
                <a:pathLst>
                  <a:path w="144463" h="165100">
                    <a:moveTo>
                      <a:pt x="72231" y="0"/>
                    </a:moveTo>
                    <a:cubicBezTo>
                      <a:pt x="112124" y="0"/>
                      <a:pt x="144463" y="32339"/>
                      <a:pt x="144463" y="72231"/>
                    </a:cubicBezTo>
                    <a:lnTo>
                      <a:pt x="144463" y="92869"/>
                    </a:lnTo>
                    <a:cubicBezTo>
                      <a:pt x="144463" y="132761"/>
                      <a:pt x="112124" y="165100"/>
                      <a:pt x="72231" y="165100"/>
                    </a:cubicBezTo>
                    <a:cubicBezTo>
                      <a:pt x="32339" y="165100"/>
                      <a:pt x="0" y="132761"/>
                      <a:pt x="0" y="92869"/>
                    </a:cubicBezTo>
                    <a:lnTo>
                      <a:pt x="0" y="55721"/>
                    </a:lnTo>
                  </a:path>
                </a:pathLst>
              </a:custGeom>
              <a:noFill/>
              <a:ln w="41275">
                <a:solidFill>
                  <a:schemeClr val="accent1"/>
                </a:solidFill>
              </a:ln>
            </p:spPr>
          </p:sp>
          <p:sp>
            <p:nvSpPr>
              <p:cNvPr id="19" name="Freeform 19"/>
              <p:cNvSpPr/>
              <p:nvPr/>
            </p:nvSpPr>
            <p:spPr>
              <a:xfrm>
                <a:off x="8732838" y="4948238"/>
                <a:ext cx="82550" cy="144463"/>
              </a:xfrm>
              <a:custGeom>
                <a:avLst/>
                <a:gdLst/>
                <a:ahLst/>
                <a:cxnLst/>
                <a:rect l="l" t="t" r="r" b="b"/>
                <a:pathLst>
                  <a:path w="82550" h="144463">
                    <a:moveTo>
                      <a:pt x="10319" y="144463"/>
                    </a:moveTo>
                    <a:cubicBezTo>
                      <a:pt x="50211" y="144463"/>
                      <a:pt x="82550" y="112124"/>
                      <a:pt x="82550" y="72231"/>
                    </a:cubicBezTo>
                    <a:cubicBezTo>
                      <a:pt x="82550" y="32339"/>
                      <a:pt x="50211" y="0"/>
                      <a:pt x="10319" y="0"/>
                    </a:cubicBezTo>
                    <a:lnTo>
                      <a:pt x="0" y="0"/>
                    </a:lnTo>
                  </a:path>
                </a:pathLst>
              </a:custGeom>
              <a:noFill/>
              <a:ln w="41275">
                <a:solidFill>
                  <a:schemeClr val="accent1"/>
                </a:solidFill>
              </a:ln>
            </p:spPr>
          </p:sp>
          <p:sp>
            <p:nvSpPr>
              <p:cNvPr id="20" name="Freeform 20"/>
              <p:cNvSpPr/>
              <p:nvPr/>
            </p:nvSpPr>
            <p:spPr>
              <a:xfrm>
                <a:off x="8629650" y="4824413"/>
                <a:ext cx="144463" cy="130016"/>
              </a:xfrm>
              <a:custGeom>
                <a:avLst/>
                <a:gdLst/>
                <a:ahLst/>
                <a:cxnLst/>
                <a:rect l="l" t="t" r="r" b="b"/>
                <a:pathLst>
                  <a:path w="144463" h="130016">
                    <a:moveTo>
                      <a:pt x="144463" y="130016"/>
                    </a:moveTo>
                    <a:lnTo>
                      <a:pt x="144463" y="72231"/>
                    </a:lnTo>
                    <a:cubicBezTo>
                      <a:pt x="144463" y="32339"/>
                      <a:pt x="112124" y="0"/>
                      <a:pt x="72231" y="0"/>
                    </a:cubicBezTo>
                    <a:cubicBezTo>
                      <a:pt x="32339" y="0"/>
                      <a:pt x="0" y="32339"/>
                      <a:pt x="0" y="72231"/>
                    </a:cubicBezTo>
                  </a:path>
                </a:pathLst>
              </a:custGeom>
              <a:noFill/>
              <a:ln w="41275">
                <a:solidFill>
                  <a:schemeClr val="accent1"/>
                </a:solidFill>
              </a:ln>
            </p:spPr>
          </p:sp>
          <p:sp>
            <p:nvSpPr>
              <p:cNvPr id="21" name="Freeform 21"/>
              <p:cNvSpPr/>
              <p:nvPr/>
            </p:nvSpPr>
            <p:spPr>
              <a:xfrm>
                <a:off x="8443913" y="4948238"/>
                <a:ext cx="82550" cy="144463"/>
              </a:xfrm>
              <a:custGeom>
                <a:avLst/>
                <a:gdLst/>
                <a:ahLst/>
                <a:cxnLst/>
                <a:rect l="l" t="t" r="r" b="b"/>
                <a:pathLst>
                  <a:path w="82550" h="144463">
                    <a:moveTo>
                      <a:pt x="72231" y="144463"/>
                    </a:moveTo>
                    <a:cubicBezTo>
                      <a:pt x="32339" y="144463"/>
                      <a:pt x="0" y="112124"/>
                      <a:pt x="0" y="72231"/>
                    </a:cubicBezTo>
                    <a:cubicBezTo>
                      <a:pt x="0" y="32339"/>
                      <a:pt x="32339" y="0"/>
                      <a:pt x="72231" y="0"/>
                    </a:cubicBezTo>
                    <a:lnTo>
                      <a:pt x="82550" y="0"/>
                    </a:lnTo>
                  </a:path>
                </a:pathLst>
              </a:custGeom>
              <a:noFill/>
              <a:ln w="41275">
                <a:solidFill>
                  <a:schemeClr val="accent1"/>
                </a:solidFill>
              </a:ln>
            </p:spPr>
          </p:sp>
          <p:sp>
            <p:nvSpPr>
              <p:cNvPr id="22" name="Freeform 22"/>
              <p:cNvSpPr/>
              <p:nvPr/>
            </p:nvSpPr>
            <p:spPr>
              <a:xfrm>
                <a:off x="8485188" y="4824413"/>
                <a:ext cx="144463" cy="278607"/>
              </a:xfrm>
              <a:custGeom>
                <a:avLst/>
                <a:gdLst/>
                <a:ahLst/>
                <a:cxnLst/>
                <a:rect l="l" t="t" r="r" b="b"/>
                <a:pathLst>
                  <a:path w="144463" h="278607">
                    <a:moveTo>
                      <a:pt x="0" y="130016"/>
                    </a:moveTo>
                    <a:lnTo>
                      <a:pt x="0" y="72231"/>
                    </a:lnTo>
                    <a:cubicBezTo>
                      <a:pt x="0" y="32339"/>
                      <a:pt x="32339" y="0"/>
                      <a:pt x="72231" y="0"/>
                    </a:cubicBezTo>
                    <a:cubicBezTo>
                      <a:pt x="112124" y="0"/>
                      <a:pt x="144463" y="32339"/>
                      <a:pt x="144463" y="72231"/>
                    </a:cubicBezTo>
                    <a:lnTo>
                      <a:pt x="144463" y="278607"/>
                    </a:lnTo>
                  </a:path>
                </a:pathLst>
              </a:custGeom>
              <a:noFill/>
              <a:ln w="41275">
                <a:solidFill>
                  <a:schemeClr val="accent1"/>
                </a:solidFill>
              </a:ln>
            </p:spPr>
          </p:sp>
        </p:grpSp>
        <p:sp>
          <p:nvSpPr>
            <p:cNvPr id="24" name="Freeform 24"/>
            <p:cNvSpPr/>
            <p:nvPr/>
          </p:nvSpPr>
          <p:spPr>
            <a:xfrm>
              <a:off x="9198766" y="4839756"/>
              <a:ext cx="385394" cy="335495"/>
            </a:xfrm>
            <a:custGeom>
              <a:avLst/>
              <a:gdLst/>
              <a:ahLst/>
              <a:cxnLst/>
              <a:rect l="l" t="t" r="r" b="b"/>
              <a:pathLst>
                <a:path w="385394" h="335495">
                  <a:moveTo>
                    <a:pt x="347665" y="182199"/>
                  </a:moveTo>
                  <a:lnTo>
                    <a:pt x="192884" y="335495"/>
                  </a:lnTo>
                  <a:lnTo>
                    <a:pt x="38102" y="182199"/>
                  </a:lnTo>
                  <a:cubicBezTo>
                    <a:pt x="10269" y="155114"/>
                    <a:pt x="0" y="114695"/>
                    <a:pt x="11531" y="77609"/>
                  </a:cubicBezTo>
                  <a:cubicBezTo>
                    <a:pt x="23062" y="40523"/>
                    <a:pt x="54440" y="13053"/>
                    <a:pt x="92725" y="6527"/>
                  </a:cubicBezTo>
                  <a:cubicBezTo>
                    <a:pt x="131010" y="0"/>
                    <a:pt x="169717" y="15523"/>
                    <a:pt x="192884" y="46693"/>
                  </a:cubicBezTo>
                  <a:cubicBezTo>
                    <a:pt x="216148" y="15753"/>
                    <a:pt x="254772" y="437"/>
                    <a:pt x="292918" y="7024"/>
                  </a:cubicBezTo>
                  <a:cubicBezTo>
                    <a:pt x="331064" y="13612"/>
                    <a:pt x="362314" y="40995"/>
                    <a:pt x="373854" y="77946"/>
                  </a:cubicBezTo>
                  <a:cubicBezTo>
                    <a:pt x="385394" y="114896"/>
                    <a:pt x="375282" y="155197"/>
                    <a:pt x="347665" y="182323"/>
                  </a:cubicBezTo>
                </a:path>
              </a:pathLst>
            </a:custGeom>
            <a:noFill/>
            <a:ln w="41275">
              <a:solidFill>
                <a:srgbClr val="E74C3C"/>
              </a:solidFill>
            </a:ln>
          </p:spPr>
        </p:sp>
        <p:grpSp>
          <p:nvGrpSpPr>
            <p:cNvPr id="27" name="Group 27"/>
            <p:cNvGrpSpPr/>
            <p:nvPr/>
          </p:nvGrpSpPr>
          <p:grpSpPr>
            <a:xfrm>
              <a:off x="9967913" y="4824413"/>
              <a:ext cx="371476" cy="371476"/>
              <a:chOff x="9967913" y="4824413"/>
              <a:chExt cx="371476" cy="371476"/>
            </a:xfrm>
          </p:grpSpPr>
          <p:sp>
            <p:nvSpPr>
              <p:cNvPr id="25" name="Freeform 25"/>
              <p:cNvSpPr/>
              <p:nvPr/>
            </p:nvSpPr>
            <p:spPr>
              <a:xfrm>
                <a:off x="10071100" y="4927600"/>
                <a:ext cx="165100" cy="165100"/>
              </a:xfrm>
              <a:custGeom>
                <a:avLst/>
                <a:gdLst/>
                <a:ahLst/>
                <a:cxnLst/>
                <a:rect l="l" t="t" r="r" b="b"/>
                <a:pathLst>
                  <a:path w="165100" h="165100">
                    <a:moveTo>
                      <a:pt x="0" y="82550"/>
                    </a:moveTo>
                    <a:cubicBezTo>
                      <a:pt x="0" y="128141"/>
                      <a:pt x="36959" y="165100"/>
                      <a:pt x="82550" y="165100"/>
                    </a:cubicBezTo>
                    <a:cubicBezTo>
                      <a:pt x="128141" y="165100"/>
                      <a:pt x="165100" y="128141"/>
                      <a:pt x="165100" y="82550"/>
                    </a:cubicBezTo>
                    <a:cubicBezTo>
                      <a:pt x="165100" y="36959"/>
                      <a:pt x="128141" y="0"/>
                      <a:pt x="82550" y="0"/>
                    </a:cubicBezTo>
                    <a:cubicBezTo>
                      <a:pt x="36959" y="0"/>
                      <a:pt x="0" y="36959"/>
                      <a:pt x="0" y="82550"/>
                    </a:cubicBezTo>
                  </a:path>
                </a:pathLst>
              </a:custGeom>
              <a:noFill/>
              <a:ln w="41275">
                <a:solidFill>
                  <a:srgbClr val="E67E22"/>
                </a:solidFill>
              </a:ln>
            </p:spPr>
          </p:sp>
          <p:sp>
            <p:nvSpPr>
              <p:cNvPr id="26" name="Freeform 26"/>
              <p:cNvSpPr/>
              <p:nvPr/>
            </p:nvSpPr>
            <p:spPr>
              <a:xfrm>
                <a:off x="9967913" y="4824413"/>
                <a:ext cx="371476" cy="371476"/>
              </a:xfrm>
              <a:custGeom>
                <a:avLst/>
                <a:gdLst/>
                <a:ahLst/>
                <a:cxnLst/>
                <a:rect l="l" t="t" r="r" b="b"/>
                <a:pathLst>
                  <a:path w="371476" h="371476">
                    <a:moveTo>
                      <a:pt x="0" y="185738"/>
                    </a:moveTo>
                    <a:lnTo>
                      <a:pt x="20638" y="185738"/>
                    </a:lnTo>
                    <a:moveTo>
                      <a:pt x="185738" y="0"/>
                    </a:moveTo>
                    <a:lnTo>
                      <a:pt x="185738" y="20638"/>
                    </a:lnTo>
                    <a:moveTo>
                      <a:pt x="350838" y="185738"/>
                    </a:moveTo>
                    <a:lnTo>
                      <a:pt x="371476" y="185738"/>
                    </a:lnTo>
                    <a:moveTo>
                      <a:pt x="185738" y="350838"/>
                    </a:moveTo>
                    <a:lnTo>
                      <a:pt x="185738" y="371476"/>
                    </a:lnTo>
                    <a:moveTo>
                      <a:pt x="53658" y="53658"/>
                    </a:moveTo>
                    <a:lnTo>
                      <a:pt x="68104" y="68104"/>
                    </a:lnTo>
                    <a:moveTo>
                      <a:pt x="317818" y="53658"/>
                    </a:moveTo>
                    <a:lnTo>
                      <a:pt x="303372" y="68104"/>
                    </a:lnTo>
                    <a:moveTo>
                      <a:pt x="303372" y="303372"/>
                    </a:moveTo>
                    <a:lnTo>
                      <a:pt x="317818" y="317818"/>
                    </a:lnTo>
                    <a:moveTo>
                      <a:pt x="68104" y="303372"/>
                    </a:moveTo>
                    <a:lnTo>
                      <a:pt x="53658" y="317818"/>
                    </a:lnTo>
                  </a:path>
                </a:pathLst>
              </a:custGeom>
              <a:noFill/>
              <a:ln w="41275">
                <a:solidFill>
                  <a:srgbClr val="E67E22"/>
                </a:solidFill>
              </a:ln>
            </p:spPr>
          </p:sp>
        </p:grpSp>
        <p:grpSp>
          <p:nvGrpSpPr>
            <p:cNvPr id="32" name="Group 32"/>
            <p:cNvGrpSpPr/>
            <p:nvPr/>
          </p:nvGrpSpPr>
          <p:grpSpPr>
            <a:xfrm>
              <a:off x="10729913" y="4824413"/>
              <a:ext cx="371476" cy="371476"/>
              <a:chOff x="10729913" y="4824413"/>
              <a:chExt cx="371476" cy="371476"/>
            </a:xfrm>
          </p:grpSpPr>
          <p:sp>
            <p:nvSpPr>
              <p:cNvPr id="28" name="Freeform 28"/>
              <p:cNvSpPr/>
              <p:nvPr/>
            </p:nvSpPr>
            <p:spPr>
              <a:xfrm>
                <a:off x="10771188" y="4824413"/>
                <a:ext cx="165100" cy="165100"/>
              </a:xfrm>
              <a:custGeom>
                <a:avLst/>
                <a:gdLst/>
                <a:ahLst/>
                <a:cxnLst/>
                <a:rect l="l" t="t" r="r" b="b"/>
                <a:pathLst>
                  <a:path w="165100" h="165100">
                    <a:moveTo>
                      <a:pt x="0" y="82550"/>
                    </a:moveTo>
                    <a:cubicBezTo>
                      <a:pt x="0" y="128141"/>
                      <a:pt x="36959" y="165100"/>
                      <a:pt x="82550" y="165100"/>
                    </a:cubicBezTo>
                    <a:cubicBezTo>
                      <a:pt x="128141" y="165100"/>
                      <a:pt x="165100" y="128141"/>
                      <a:pt x="165100" y="82550"/>
                    </a:cubicBezTo>
                    <a:cubicBezTo>
                      <a:pt x="165100" y="36959"/>
                      <a:pt x="128141" y="0"/>
                      <a:pt x="82550" y="0"/>
                    </a:cubicBezTo>
                    <a:cubicBezTo>
                      <a:pt x="36959" y="0"/>
                      <a:pt x="0" y="36959"/>
                      <a:pt x="0" y="82550"/>
                    </a:cubicBezTo>
                  </a:path>
                </a:pathLst>
              </a:custGeom>
              <a:noFill/>
              <a:ln w="41275">
                <a:solidFill>
                  <a:srgbClr val="27AE60"/>
                </a:solidFill>
              </a:ln>
            </p:spPr>
          </p:sp>
          <p:sp>
            <p:nvSpPr>
              <p:cNvPr id="29" name="Freeform 29"/>
              <p:cNvSpPr/>
              <p:nvPr/>
            </p:nvSpPr>
            <p:spPr>
              <a:xfrm>
                <a:off x="10729913" y="5072063"/>
                <a:ext cx="247650" cy="123825"/>
              </a:xfrm>
              <a:custGeom>
                <a:avLst/>
                <a:gdLst/>
                <a:ahLst/>
                <a:cxnLst/>
                <a:rect l="l" t="t" r="r" b="b"/>
                <a:pathLst>
                  <a:path w="247650" h="123825">
                    <a:moveTo>
                      <a:pt x="0" y="123825"/>
                    </a:moveTo>
                    <a:lnTo>
                      <a:pt x="0" y="82550"/>
                    </a:lnTo>
                    <a:cubicBezTo>
                      <a:pt x="0" y="36959"/>
                      <a:pt x="36959" y="0"/>
                      <a:pt x="82550" y="0"/>
                    </a:cubicBezTo>
                    <a:lnTo>
                      <a:pt x="165100" y="0"/>
                    </a:lnTo>
                    <a:cubicBezTo>
                      <a:pt x="210691" y="0"/>
                      <a:pt x="247650" y="36959"/>
                      <a:pt x="247650" y="82550"/>
                    </a:cubicBezTo>
                    <a:lnTo>
                      <a:pt x="247650" y="123825"/>
                    </a:lnTo>
                  </a:path>
                </a:pathLst>
              </a:custGeom>
              <a:noFill/>
              <a:ln w="41275">
                <a:solidFill>
                  <a:srgbClr val="27AE60"/>
                </a:solidFill>
              </a:ln>
            </p:spPr>
          </p:sp>
          <p:sp>
            <p:nvSpPr>
              <p:cNvPr id="30" name="Freeform 30"/>
              <p:cNvSpPr/>
              <p:nvPr/>
            </p:nvSpPr>
            <p:spPr>
              <a:xfrm>
                <a:off x="10998201" y="4827095"/>
                <a:ext cx="62074" cy="159941"/>
              </a:xfrm>
              <a:custGeom>
                <a:avLst/>
                <a:gdLst/>
                <a:ahLst/>
                <a:cxnLst/>
                <a:rect l="l" t="t" r="r" b="b"/>
                <a:pathLst>
                  <a:path w="62074" h="159941">
                    <a:moveTo>
                      <a:pt x="0" y="0"/>
                    </a:moveTo>
                    <a:cubicBezTo>
                      <a:pt x="36527" y="9352"/>
                      <a:pt x="62074" y="42265"/>
                      <a:pt x="62074" y="79970"/>
                    </a:cubicBezTo>
                    <a:cubicBezTo>
                      <a:pt x="62074" y="117675"/>
                      <a:pt x="36527" y="150589"/>
                      <a:pt x="0" y="159941"/>
                    </a:cubicBezTo>
                  </a:path>
                </a:pathLst>
              </a:custGeom>
              <a:noFill/>
              <a:ln w="41275">
                <a:solidFill>
                  <a:srgbClr val="27AE60"/>
                </a:solidFill>
              </a:ln>
            </p:spPr>
          </p:sp>
          <p:sp>
            <p:nvSpPr>
              <p:cNvPr id="31" name="Freeform 31"/>
              <p:cNvSpPr/>
              <p:nvPr/>
            </p:nvSpPr>
            <p:spPr>
              <a:xfrm>
                <a:off x="11039476" y="5075159"/>
                <a:ext cx="61913" cy="120730"/>
              </a:xfrm>
              <a:custGeom>
                <a:avLst/>
                <a:gdLst/>
                <a:ahLst/>
                <a:cxnLst/>
                <a:rect l="l" t="t" r="r" b="b"/>
                <a:pathLst>
                  <a:path w="61913" h="120730">
                    <a:moveTo>
                      <a:pt x="61913" y="120730"/>
                    </a:moveTo>
                    <a:lnTo>
                      <a:pt x="61913" y="79454"/>
                    </a:lnTo>
                    <a:cubicBezTo>
                      <a:pt x="61697" y="41989"/>
                      <a:pt x="36277" y="9366"/>
                      <a:pt x="0" y="0"/>
                    </a:cubicBezTo>
                  </a:path>
                </a:pathLst>
              </a:custGeom>
              <a:noFill/>
              <a:ln w="41275">
                <a:solidFill>
                  <a:srgbClr val="27AE60"/>
                </a:solidFill>
              </a:ln>
            </p:spPr>
          </p:sp>
        </p:grpSp>
        <p:sp>
          <p:nvSpPr>
            <p:cNvPr id="33" name="TextBox 33"/>
            <p:cNvSpPr txBox="1"/>
            <p:nvPr/>
          </p:nvSpPr>
          <p:spPr>
            <a:xfrm>
              <a:off x="8375904" y="5391150"/>
              <a:ext cx="2308669" cy="234696"/>
            </a:xfrm>
            <a:prstGeom prst="rect">
              <a:avLst/>
            </a:prstGeom>
            <a:noFill/>
            <a:ln>
              <a:noFill/>
            </a:ln>
          </p:spPr>
          <p:txBody>
            <a:bodyPr wrap="none" lIns="0" tIns="0" rIns="0" bIns="0" anchor="t" anchorCtr="0">
              <a:spAutoFit/>
            </a:bodyPr>
            <a:lstStyle/>
            <a:p>
              <a:pPr algn="l"/>
              <a:r>
                <a:rPr lang="ru" sz="1200" dirty="0">
                  <a:solidFill>
                    <a:srgbClr val="5D6D7E"/>
                  </a:solidFill>
                  <a:latin typeface="+mn-lt"/>
                  <a:ea typeface="+mn-ea"/>
                  <a:cs typeface="+mn-cs"/>
                </a:rPr>
                <a:t>мозг · сердце · солнце · семья</a:t>
              </a:r>
            </a:p>
          </p:txBody>
        </p:sp>
      </p:grpSp>
      <p:grpSp>
        <p:nvGrpSpPr>
          <p:cNvPr id="36" name="cover-question"/>
          <p:cNvGrpSpPr/>
          <p:nvPr/>
        </p:nvGrpSpPr>
        <p:grpSpPr>
          <a:xfrm>
            <a:off x="752856" y="6115050"/>
            <a:ext cx="4695346" cy="352044"/>
            <a:chOff x="752856" y="6115050"/>
            <a:chExt cx="4695346" cy="352044"/>
          </a:xfrm>
        </p:grpSpPr>
        <p:sp>
          <p:nvSpPr>
            <p:cNvPr id="35" name="TextBox 35"/>
            <p:cNvSpPr txBox="1"/>
            <p:nvPr/>
          </p:nvSpPr>
          <p:spPr>
            <a:xfrm>
              <a:off x="752856" y="6115050"/>
              <a:ext cx="4695346" cy="352044"/>
            </a:xfrm>
            <a:prstGeom prst="rect">
              <a:avLst/>
            </a:prstGeom>
            <a:noFill/>
            <a:ln>
              <a:noFill/>
            </a:ln>
          </p:spPr>
          <p:txBody>
            <a:bodyPr wrap="none" lIns="0" tIns="0" rIns="0" bIns="0" anchor="t" anchorCtr="0">
              <a:spAutoFit/>
            </a:bodyPr>
            <a:lstStyle/>
            <a:p>
              <a:pPr algn="l"/>
              <a:r>
                <a:rPr lang="ru" sz="1800" i="1" dirty="0">
                  <a:solidFill>
                    <a:srgbClr val="E67E22"/>
                  </a:solidFill>
                  <a:latin typeface="+mn-lt"/>
                  <a:ea typeface="+mn-ea"/>
                  <a:cs typeface="+mn-cs"/>
                </a:rPr>
                <a:t>Почему деньги не гарантируют счастья?</a:t>
              </a:r>
            </a:p>
          </p:txBody>
        </p:sp>
      </p:grpSp>
      <p:sp>
        <p:nvSpPr>
          <p:cNvPr id="37" name="credit"/>
          <p:cNvSpPr txBox="1"/>
          <p:nvPr/>
        </p:nvSpPr>
        <p:spPr>
          <a:xfrm>
            <a:off x="755904" y="6629400"/>
            <a:ext cx="3172435"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Basile Morin / Wikimedia / CC BY-SA 4.0</a:t>
            </a:r>
          </a:p>
        </p:txBody>
      </p:sp>
      <p:pic>
        <p:nvPicPr>
          <p:cNvPr id="38" name="PPT Master narration: narration1.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23432">
    <p:fade/>
  </p:transition>
  <p:timing>
    <p:tnLst>
      <p:par>
        <p:cTn id="1" dur="indefinite" restart="never" nodeType="tmRoot">
          <p:childTnLst>
            <p:audio>
              <p:cMediaNode vol="80000">
                <p:cTn id="2" fill="hold" display="0">
                  <p:stCondLst>
                    <p:cond delay="300"/>
                  </p:stCondLst>
                </p:cTn>
                <p:tgtEl>
                  <p:spTgt spid="38"/>
                </p:tgtEl>
              </p:cMediaNode>
            </p:audio>
          </p:childTnLst>
        </p:cTn>
      </p:par>
    </p:tnLst>
  </p:timing>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2-photo"/>
          <p:cNvPicPr>
            <a:picLocks noChangeAspect="1"/>
          </p:cNvPicPr>
          <p:nvPr/>
        </p:nvPicPr>
        <p:blipFill>
          <a:blip r:embed="rId2"/>
          <a:srcRect l="0" t="7858" r="0" b="7859"/>
          <a:stretch>
            <a:fillRect/>
          </a:stretch>
        </p:blipFill>
        <p:spPr>
          <a:xfrm>
            <a:off x="0" y="0"/>
            <a:ext cx="12192000" cy="6858000"/>
          </a:xfrm>
          <a:prstGeom prst="rect">
            <a:avLst/>
          </a:prstGeom>
        </p:spPr>
      </p:pic>
      <p:sp>
        <p:nvSpPr>
          <p:cNvPr id="3" name="p02-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2-accent"/>
          <p:cNvSpPr/>
          <p:nvPr/>
        </p:nvSpPr>
        <p:spPr>
          <a:xfrm>
            <a:off x="0" y="0"/>
            <a:ext cx="12192000" cy="57150"/>
          </a:xfrm>
          <a:prstGeom prst="rect">
            <a:avLst/>
          </a:prstGeom>
          <a:solidFill>
            <a:srgbClr val="27AE60"/>
          </a:solidFill>
          <a:ln>
            <a:noFill/>
          </a:ln>
        </p:spPr>
      </p:sp>
      <p:sp>
        <p:nvSpPr>
          <p:cNvPr id="5" name="p02-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02-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02</a:t>
            </a:r>
          </a:p>
        </p:txBody>
      </p:sp>
      <p:grpSp>
        <p:nvGrpSpPr>
          <p:cNvPr id="8" name="p02-title"/>
          <p:cNvGrpSpPr/>
          <p:nvPr/>
        </p:nvGrpSpPr>
        <p:grpSpPr>
          <a:xfrm>
            <a:off x="743712" y="565150"/>
            <a:ext cx="4376193" cy="704088"/>
            <a:chOff x="743712" y="565150"/>
            <a:chExt cx="4376193" cy="704088"/>
          </a:xfrm>
        </p:grpSpPr>
        <p:sp>
          <p:nvSpPr>
            <p:cNvPr id="7" name="TextBox 7"/>
            <p:cNvSpPr txBox="1"/>
            <p:nvPr/>
          </p:nvSpPr>
          <p:spPr>
            <a:xfrm>
              <a:off x="743712" y="565150"/>
              <a:ext cx="4376193"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Цель и три задачи</a:t>
              </a:r>
            </a:p>
          </p:txBody>
        </p:sp>
      </p:grpSp>
      <p:grpSp>
        <p:nvGrpSpPr>
          <p:cNvPr id="21" name="p02-goal"/>
          <p:cNvGrpSpPr/>
          <p:nvPr/>
        </p:nvGrpSpPr>
        <p:grpSpPr>
          <a:xfrm>
            <a:off x="762000" y="1619250"/>
            <a:ext cx="4000500" cy="4095750"/>
            <a:chOff x="762000" y="1619250"/>
            <a:chExt cx="4000500" cy="4095750"/>
          </a:xfrm>
        </p:grpSpPr>
        <p:sp>
          <p:nvSpPr>
            <p:cNvPr id="9" name="Rectangle 9"/>
            <p:cNvSpPr/>
            <p:nvPr/>
          </p:nvSpPr>
          <p:spPr>
            <a:xfrm>
              <a:off x="762000" y="1619250"/>
              <a:ext cx="4000500" cy="4095750"/>
            </a:xfrm>
            <a:prstGeom prst="roundRect">
              <a:avLst>
                <a:gd name="adj" fmla="val 4286"/>
              </a:avLst>
            </a:prstGeom>
            <a:solidFill>
              <a:srgbClr val="FFFFFF">
                <a:alpha val="85000"/>
              </a:srgbClr>
            </a:solidFill>
            <a:ln>
              <a:noFill/>
            </a:ln>
          </p:spPr>
        </p:sp>
        <p:grpSp>
          <p:nvGrpSpPr>
            <p:cNvPr id="13" name="Group 13"/>
            <p:cNvGrpSpPr/>
            <p:nvPr/>
          </p:nvGrpSpPr>
          <p:grpSpPr>
            <a:xfrm>
              <a:off x="1219200" y="2076450"/>
              <a:ext cx="457201" cy="457201"/>
              <a:chOff x="1219200" y="2076450"/>
              <a:chExt cx="457201" cy="457201"/>
            </a:xfrm>
          </p:grpSpPr>
          <p:sp>
            <p:nvSpPr>
              <p:cNvPr id="10" name="Freeform 10"/>
              <p:cNvSpPr/>
              <p:nvPr/>
            </p:nvSpPr>
            <p:spPr>
              <a:xfrm>
                <a:off x="1422400" y="22796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50800">
                <a:solidFill>
                  <a:srgbClr val="27AE60"/>
                </a:solidFill>
              </a:ln>
            </p:spPr>
          </p:sp>
          <p:sp>
            <p:nvSpPr>
              <p:cNvPr id="11" name="Freeform 11"/>
              <p:cNvSpPr/>
              <p:nvPr/>
            </p:nvSpPr>
            <p:spPr>
              <a:xfrm>
                <a:off x="1320800" y="2178050"/>
                <a:ext cx="254000" cy="254000"/>
              </a:xfrm>
              <a:custGeom>
                <a:avLst/>
                <a:gdLst/>
                <a:ahLst/>
                <a:cxnLst/>
                <a:rect l="l" t="t" r="r" b="b"/>
                <a:pathLst>
                  <a:path w="254000" h="254000">
                    <a:moveTo>
                      <a:pt x="0" y="127000"/>
                    </a:moveTo>
                    <a:cubicBezTo>
                      <a:pt x="0" y="197140"/>
                      <a:pt x="56860" y="254000"/>
                      <a:pt x="127000" y="254000"/>
                    </a:cubicBezTo>
                    <a:cubicBezTo>
                      <a:pt x="197140" y="254000"/>
                      <a:pt x="254000" y="197140"/>
                      <a:pt x="254000" y="127000"/>
                    </a:cubicBezTo>
                    <a:cubicBezTo>
                      <a:pt x="254000" y="56860"/>
                      <a:pt x="197140" y="0"/>
                      <a:pt x="127000" y="0"/>
                    </a:cubicBezTo>
                    <a:cubicBezTo>
                      <a:pt x="56860" y="0"/>
                      <a:pt x="0" y="56860"/>
                      <a:pt x="0" y="127000"/>
                    </a:cubicBezTo>
                  </a:path>
                </a:pathLst>
              </a:custGeom>
              <a:noFill/>
              <a:ln w="50800">
                <a:solidFill>
                  <a:srgbClr val="27AE60"/>
                </a:solidFill>
              </a:ln>
            </p:spPr>
          </p:sp>
          <p:sp>
            <p:nvSpPr>
              <p:cNvPr id="12" name="Freeform 12"/>
              <p:cNvSpPr/>
              <p:nvPr/>
            </p:nvSpPr>
            <p:spPr>
              <a:xfrm>
                <a:off x="1219200" y="2076450"/>
                <a:ext cx="457201" cy="457201"/>
              </a:xfrm>
              <a:custGeom>
                <a:avLst/>
                <a:gdLst/>
                <a:ahLst/>
                <a:cxnLst/>
                <a:rect l="l" t="t" r="r" b="b"/>
                <a:pathLst>
                  <a:path w="457201" h="457201">
                    <a:moveTo>
                      <a:pt x="0" y="228600"/>
                    </a:moveTo>
                    <a:cubicBezTo>
                      <a:pt x="0" y="354853"/>
                      <a:pt x="102348" y="457201"/>
                      <a:pt x="228600" y="457201"/>
                    </a:cubicBezTo>
                    <a:cubicBezTo>
                      <a:pt x="354853" y="457201"/>
                      <a:pt x="457201" y="354853"/>
                      <a:pt x="457201" y="228600"/>
                    </a:cubicBezTo>
                    <a:cubicBezTo>
                      <a:pt x="457201" y="102348"/>
                      <a:pt x="354853" y="0"/>
                      <a:pt x="228600" y="0"/>
                    </a:cubicBezTo>
                    <a:cubicBezTo>
                      <a:pt x="102348" y="0"/>
                      <a:pt x="0" y="102348"/>
                      <a:pt x="0" y="228600"/>
                    </a:cubicBezTo>
                  </a:path>
                </a:pathLst>
              </a:custGeom>
              <a:noFill/>
              <a:ln w="50800">
                <a:solidFill>
                  <a:srgbClr val="27AE60"/>
                </a:solidFill>
              </a:ln>
            </p:spPr>
          </p:sp>
        </p:grpSp>
        <p:sp>
          <p:nvSpPr>
            <p:cNvPr id="14" name="TextBox 14"/>
            <p:cNvSpPr txBox="1"/>
            <p:nvPr/>
          </p:nvSpPr>
          <p:spPr>
            <a:xfrm>
              <a:off x="1895856" y="2209800"/>
              <a:ext cx="609722" cy="352044"/>
            </a:xfrm>
            <a:prstGeom prst="rect">
              <a:avLst/>
            </a:prstGeom>
            <a:noFill/>
            <a:ln>
              <a:noFill/>
            </a:ln>
          </p:spPr>
          <p:txBody>
            <a:bodyPr wrap="none" lIns="0" tIns="0" rIns="0" bIns="0" anchor="t" anchorCtr="0">
              <a:spAutoFit/>
            </a:bodyPr>
            <a:lstStyle/>
            <a:p>
              <a:pPr algn="l"/>
              <a:r>
                <a:rPr lang="ru" sz="1800" b="1" dirty="0">
                  <a:solidFill>
                    <a:srgbClr val="27AE60"/>
                  </a:solidFill>
                  <a:latin typeface="+mn-lt"/>
                  <a:ea typeface="+mn-ea"/>
                  <a:cs typeface="+mn-cs"/>
                </a:rPr>
                <a:t>ЦЕЛЬ</a:t>
              </a:r>
            </a:p>
          </p:txBody>
        </p:sp>
        <p:sp>
          <p:nvSpPr>
            <p:cNvPr id="15" name="TextBox 15"/>
            <p:cNvSpPr txBox="1"/>
            <p:nvPr/>
          </p:nvSpPr>
          <p:spPr>
            <a:xfrm>
              <a:off x="1133856" y="2971800"/>
              <a:ext cx="249410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Выяснить, что делает</a:t>
              </a:r>
            </a:p>
          </p:txBody>
        </p:sp>
        <p:sp>
          <p:nvSpPr>
            <p:cNvPr id="16" name="TextBox 16"/>
            <p:cNvSpPr txBox="1"/>
            <p:nvPr/>
          </p:nvSpPr>
          <p:spPr>
            <a:xfrm>
              <a:off x="1133856" y="3295650"/>
              <a:ext cx="2217984"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людей счастливыми</a:t>
              </a:r>
            </a:p>
          </p:txBody>
        </p:sp>
        <p:sp>
          <p:nvSpPr>
            <p:cNvPr id="17" name="TextBox 17"/>
            <p:cNvSpPr txBox="1"/>
            <p:nvPr/>
          </p:nvSpPr>
          <p:spPr>
            <a:xfrm>
              <a:off x="1133856" y="3619500"/>
              <a:ext cx="228530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в современном мире</a:t>
              </a:r>
            </a:p>
          </p:txBody>
        </p:sp>
        <p:sp>
          <p:nvSpPr>
            <p:cNvPr id="18" name="Line 18"/>
            <p:cNvSpPr/>
            <p:nvPr/>
          </p:nvSpPr>
          <p:spPr>
            <a:xfrm>
              <a:off x="1143000" y="4191000"/>
              <a:ext cx="3238500" cy="9525"/>
            </a:xfrm>
            <a:custGeom>
              <a:avLst/>
              <a:gdLst/>
              <a:ahLst/>
              <a:cxnLst/>
              <a:rect l="l" t="t" r="r" b="b"/>
              <a:pathLst>
                <a:path w="3238500" h="9525">
                  <a:moveTo>
                    <a:pt x="0" y="0"/>
                  </a:moveTo>
                  <a:lnTo>
                    <a:pt x="3238500" y="0"/>
                  </a:lnTo>
                </a:path>
              </a:pathLst>
            </a:custGeom>
            <a:noFill/>
            <a:ln w="19050">
              <a:solidFill>
                <a:srgbClr val="95A5A6"/>
              </a:solidFill>
            </a:ln>
          </p:spPr>
        </p:sp>
        <p:sp>
          <p:nvSpPr>
            <p:cNvPr id="19" name="TextBox 19"/>
            <p:cNvSpPr txBox="1"/>
            <p:nvPr/>
          </p:nvSpPr>
          <p:spPr>
            <a:xfrm>
              <a:off x="1133856" y="4438650"/>
              <a:ext cx="2492287"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Учебная презентация</a:t>
              </a:r>
            </a:p>
          </p:txBody>
        </p:sp>
        <p:sp>
          <p:nvSpPr>
            <p:cNvPr id="20" name="TextBox 20"/>
            <p:cNvSpPr txBox="1"/>
            <p:nvPr/>
          </p:nvSpPr>
          <p:spPr>
            <a:xfrm>
              <a:off x="1133856" y="4762500"/>
              <a:ext cx="2285300"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для защиты проекта</a:t>
              </a:r>
            </a:p>
          </p:txBody>
        </p:sp>
      </p:grpSp>
      <p:grpSp>
        <p:nvGrpSpPr>
          <p:cNvPr id="46" name="p02-tasks"/>
          <p:cNvGrpSpPr/>
          <p:nvPr/>
        </p:nvGrpSpPr>
        <p:grpSpPr>
          <a:xfrm>
            <a:off x="5143500" y="1619250"/>
            <a:ext cx="6286500" cy="4095750"/>
            <a:chOff x="5143500" y="1619250"/>
            <a:chExt cx="6286500" cy="4095750"/>
          </a:xfrm>
        </p:grpSpPr>
        <p:grpSp>
          <p:nvGrpSpPr>
            <p:cNvPr id="29" name="p02-task1"/>
            <p:cNvGrpSpPr/>
            <p:nvPr/>
          </p:nvGrpSpPr>
          <p:grpSpPr>
            <a:xfrm>
              <a:off x="5143500" y="1619250"/>
              <a:ext cx="6286500" cy="1238250"/>
              <a:chOff x="5143500" y="1619250"/>
              <a:chExt cx="6286500" cy="1238250"/>
            </a:xfrm>
          </p:grpSpPr>
          <p:sp>
            <p:nvSpPr>
              <p:cNvPr id="22" name="Rectangle 22"/>
              <p:cNvSpPr/>
              <p:nvPr/>
            </p:nvSpPr>
            <p:spPr>
              <a:xfrm>
                <a:off x="5143500" y="1619250"/>
                <a:ext cx="6286500" cy="1238250"/>
              </a:xfrm>
              <a:prstGeom prst="roundRect">
                <a:avLst>
                  <a:gd name="adj" fmla="val 12308"/>
                </a:avLst>
              </a:prstGeom>
              <a:solidFill>
                <a:srgbClr val="FFFFFF">
                  <a:alpha val="85000"/>
                </a:srgbClr>
              </a:solidFill>
              <a:ln>
                <a:noFill/>
              </a:ln>
            </p:spPr>
          </p:sp>
          <p:sp>
            <p:nvSpPr>
              <p:cNvPr id="23" name="Ellipse 23"/>
              <p:cNvSpPr/>
              <p:nvPr/>
            </p:nvSpPr>
            <p:spPr>
              <a:xfrm>
                <a:off x="5429250" y="1952625"/>
                <a:ext cx="571500" cy="571500"/>
              </a:xfrm>
              <a:prstGeom prst="ellipse">
                <a:avLst/>
              </a:prstGeom>
              <a:noFill/>
              <a:ln w="38100">
                <a:solidFill>
                  <a:srgbClr val="E67E22"/>
                </a:solidFill>
              </a:ln>
            </p:spPr>
          </p:sp>
          <p:sp>
            <p:nvSpPr>
              <p:cNvPr id="24" name="Ellipse 24"/>
              <p:cNvSpPr/>
              <p:nvPr/>
            </p:nvSpPr>
            <p:spPr>
              <a:xfrm>
                <a:off x="5553075" y="2076450"/>
                <a:ext cx="323850" cy="323850"/>
              </a:xfrm>
              <a:prstGeom prst="ellipse">
                <a:avLst/>
              </a:prstGeom>
              <a:noFill/>
              <a:ln w="38100">
                <a:solidFill>
                  <a:srgbClr val="E67E22"/>
                </a:solidFill>
              </a:ln>
            </p:spPr>
          </p:sp>
          <p:sp>
            <p:nvSpPr>
              <p:cNvPr id="25" name="Ellipse 25"/>
              <p:cNvSpPr/>
              <p:nvPr/>
            </p:nvSpPr>
            <p:spPr>
              <a:xfrm>
                <a:off x="5667375" y="2190750"/>
                <a:ext cx="95250" cy="95250"/>
              </a:xfrm>
              <a:prstGeom prst="ellipse">
                <a:avLst/>
              </a:prstGeom>
              <a:solidFill>
                <a:srgbClr val="E67E22"/>
              </a:solidFill>
              <a:ln>
                <a:noFill/>
              </a:ln>
            </p:spPr>
          </p:sp>
          <p:sp>
            <p:nvSpPr>
              <p:cNvPr id="26" name="TextBox 26"/>
              <p:cNvSpPr txBox="1"/>
              <p:nvPr/>
            </p:nvSpPr>
            <p:spPr>
              <a:xfrm>
                <a:off x="5638468" y="2095500"/>
                <a:ext cx="153064" cy="352044"/>
              </a:xfrm>
              <a:prstGeom prst="rect">
                <a:avLst/>
              </a:prstGeom>
              <a:noFill/>
              <a:ln>
                <a:noFill/>
              </a:ln>
            </p:spPr>
            <p:txBody>
              <a:bodyPr wrap="none" lIns="0" tIns="0" rIns="0" bIns="0" anchor="t" anchorCtr="0">
                <a:spAutoFit/>
              </a:bodyPr>
              <a:lstStyle/>
              <a:p>
                <a:pPr algn="ctr"/>
                <a:r>
                  <a:rPr lang="ru" sz="1800" b="1" dirty="0">
                    <a:solidFill>
                      <a:srgbClr val="E67E22"/>
                    </a:solidFill>
                    <a:latin typeface="+mn-lt"/>
                    <a:ea typeface="+mn-ea"/>
                    <a:cs typeface="+mn-cs"/>
                  </a:rPr>
                  <a:t>1</a:t>
                </a:r>
              </a:p>
            </p:txBody>
          </p:sp>
          <p:sp>
            <p:nvSpPr>
              <p:cNvPr id="27" name="TextBox 27"/>
              <p:cNvSpPr txBox="1"/>
              <p:nvPr/>
            </p:nvSpPr>
            <p:spPr>
              <a:xfrm>
                <a:off x="6277356" y="1943100"/>
                <a:ext cx="261261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Рассмотреть подходы</a:t>
                </a:r>
              </a:p>
            </p:txBody>
          </p:sp>
          <p:sp>
            <p:nvSpPr>
              <p:cNvPr id="28" name="TextBox 28"/>
              <p:cNvSpPr txBox="1"/>
              <p:nvPr/>
            </p:nvSpPr>
            <p:spPr>
              <a:xfrm>
                <a:off x="6277356" y="2266950"/>
                <a:ext cx="281839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научные теории счастья</a:t>
                </a:r>
              </a:p>
            </p:txBody>
          </p:sp>
        </p:grpSp>
        <p:grpSp>
          <p:nvGrpSpPr>
            <p:cNvPr id="37" name="p02-task2"/>
            <p:cNvGrpSpPr/>
            <p:nvPr/>
          </p:nvGrpSpPr>
          <p:grpSpPr>
            <a:xfrm>
              <a:off x="5143500" y="3048000"/>
              <a:ext cx="6286500" cy="1238250"/>
              <a:chOff x="5143500" y="3048000"/>
              <a:chExt cx="6286500" cy="1238250"/>
            </a:xfrm>
          </p:grpSpPr>
          <p:sp>
            <p:nvSpPr>
              <p:cNvPr id="30" name="Rectangle 30"/>
              <p:cNvSpPr/>
              <p:nvPr/>
            </p:nvSpPr>
            <p:spPr>
              <a:xfrm>
                <a:off x="5143500" y="3048000"/>
                <a:ext cx="6286500" cy="1238250"/>
              </a:xfrm>
              <a:prstGeom prst="roundRect">
                <a:avLst>
                  <a:gd name="adj" fmla="val 12308"/>
                </a:avLst>
              </a:prstGeom>
              <a:solidFill>
                <a:srgbClr val="FFFFFF">
                  <a:alpha val="85000"/>
                </a:srgbClr>
              </a:solidFill>
              <a:ln>
                <a:noFill/>
              </a:ln>
            </p:spPr>
          </p:sp>
          <p:sp>
            <p:nvSpPr>
              <p:cNvPr id="31" name="Ellipse 31"/>
              <p:cNvSpPr/>
              <p:nvPr/>
            </p:nvSpPr>
            <p:spPr>
              <a:xfrm>
                <a:off x="5429250" y="3381375"/>
                <a:ext cx="571500" cy="571500"/>
              </a:xfrm>
              <a:prstGeom prst="ellipse">
                <a:avLst/>
              </a:prstGeom>
              <a:noFill/>
              <a:ln w="38100">
                <a:solidFill>
                  <a:srgbClr val="E67E22"/>
                </a:solidFill>
              </a:ln>
            </p:spPr>
          </p:sp>
          <p:sp>
            <p:nvSpPr>
              <p:cNvPr id="32" name="Ellipse 32"/>
              <p:cNvSpPr/>
              <p:nvPr/>
            </p:nvSpPr>
            <p:spPr>
              <a:xfrm>
                <a:off x="5553075" y="3505200"/>
                <a:ext cx="323850" cy="323850"/>
              </a:xfrm>
              <a:prstGeom prst="ellipse">
                <a:avLst/>
              </a:prstGeom>
              <a:noFill/>
              <a:ln w="38100">
                <a:solidFill>
                  <a:srgbClr val="E67E22"/>
                </a:solidFill>
              </a:ln>
            </p:spPr>
          </p:sp>
          <p:sp>
            <p:nvSpPr>
              <p:cNvPr id="33" name="Ellipse 33"/>
              <p:cNvSpPr/>
              <p:nvPr/>
            </p:nvSpPr>
            <p:spPr>
              <a:xfrm>
                <a:off x="5667375" y="3619500"/>
                <a:ext cx="95250" cy="95250"/>
              </a:xfrm>
              <a:prstGeom prst="ellipse">
                <a:avLst/>
              </a:prstGeom>
              <a:solidFill>
                <a:srgbClr val="E67E22"/>
              </a:solidFill>
              <a:ln>
                <a:noFill/>
              </a:ln>
            </p:spPr>
          </p:sp>
          <p:sp>
            <p:nvSpPr>
              <p:cNvPr id="34" name="TextBox 34"/>
              <p:cNvSpPr txBox="1"/>
              <p:nvPr/>
            </p:nvSpPr>
            <p:spPr>
              <a:xfrm>
                <a:off x="5638468" y="3524250"/>
                <a:ext cx="153064" cy="352044"/>
              </a:xfrm>
              <a:prstGeom prst="rect">
                <a:avLst/>
              </a:prstGeom>
              <a:noFill/>
              <a:ln>
                <a:noFill/>
              </a:ln>
            </p:spPr>
            <p:txBody>
              <a:bodyPr wrap="none" lIns="0" tIns="0" rIns="0" bIns="0" anchor="t" anchorCtr="0">
                <a:spAutoFit/>
              </a:bodyPr>
              <a:lstStyle/>
              <a:p>
                <a:pPr algn="ctr"/>
                <a:r>
                  <a:rPr lang="ru" sz="1800" b="1" dirty="0">
                    <a:solidFill>
                      <a:srgbClr val="E67E22"/>
                    </a:solidFill>
                    <a:latin typeface="+mn-lt"/>
                    <a:ea typeface="+mn-ea"/>
                    <a:cs typeface="+mn-cs"/>
                  </a:rPr>
                  <a:t>2</a:t>
                </a:r>
              </a:p>
            </p:txBody>
          </p:sp>
          <p:sp>
            <p:nvSpPr>
              <p:cNvPr id="35" name="TextBox 35"/>
              <p:cNvSpPr txBox="1"/>
              <p:nvPr/>
            </p:nvSpPr>
            <p:spPr>
              <a:xfrm>
                <a:off x="6277356" y="3371850"/>
                <a:ext cx="205292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Выявить факторы</a:t>
                </a:r>
              </a:p>
            </p:txBody>
          </p:sp>
          <p:sp>
            <p:nvSpPr>
              <p:cNvPr id="36" name="TextBox 36"/>
              <p:cNvSpPr txBox="1"/>
              <p:nvPr/>
            </p:nvSpPr>
            <p:spPr>
              <a:xfrm>
                <a:off x="6277356" y="3695700"/>
                <a:ext cx="308494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что действительно влияет</a:t>
                </a:r>
              </a:p>
            </p:txBody>
          </p:sp>
        </p:grpSp>
        <p:grpSp>
          <p:nvGrpSpPr>
            <p:cNvPr id="45" name="p02-task3"/>
            <p:cNvGrpSpPr/>
            <p:nvPr/>
          </p:nvGrpSpPr>
          <p:grpSpPr>
            <a:xfrm>
              <a:off x="5143500" y="4476750"/>
              <a:ext cx="6286500" cy="1238250"/>
              <a:chOff x="5143500" y="4476750"/>
              <a:chExt cx="6286500" cy="1238250"/>
            </a:xfrm>
          </p:grpSpPr>
          <p:sp>
            <p:nvSpPr>
              <p:cNvPr id="38" name="Rectangle 38"/>
              <p:cNvSpPr/>
              <p:nvPr/>
            </p:nvSpPr>
            <p:spPr>
              <a:xfrm>
                <a:off x="5143500" y="4476750"/>
                <a:ext cx="6286500" cy="1238250"/>
              </a:xfrm>
              <a:prstGeom prst="roundRect">
                <a:avLst>
                  <a:gd name="adj" fmla="val 12308"/>
                </a:avLst>
              </a:prstGeom>
              <a:solidFill>
                <a:srgbClr val="FFFFFF">
                  <a:alpha val="85000"/>
                </a:srgbClr>
              </a:solidFill>
              <a:ln>
                <a:noFill/>
              </a:ln>
            </p:spPr>
          </p:sp>
          <p:sp>
            <p:nvSpPr>
              <p:cNvPr id="39" name="Ellipse 39"/>
              <p:cNvSpPr/>
              <p:nvPr/>
            </p:nvSpPr>
            <p:spPr>
              <a:xfrm>
                <a:off x="5429250" y="4810125"/>
                <a:ext cx="571500" cy="571500"/>
              </a:xfrm>
              <a:prstGeom prst="ellipse">
                <a:avLst/>
              </a:prstGeom>
              <a:noFill/>
              <a:ln w="38100">
                <a:solidFill>
                  <a:srgbClr val="E67E22"/>
                </a:solidFill>
              </a:ln>
            </p:spPr>
          </p:sp>
          <p:sp>
            <p:nvSpPr>
              <p:cNvPr id="40" name="Ellipse 40"/>
              <p:cNvSpPr/>
              <p:nvPr/>
            </p:nvSpPr>
            <p:spPr>
              <a:xfrm>
                <a:off x="5553075" y="4933950"/>
                <a:ext cx="323850" cy="323850"/>
              </a:xfrm>
              <a:prstGeom prst="ellipse">
                <a:avLst/>
              </a:prstGeom>
              <a:noFill/>
              <a:ln w="38100">
                <a:solidFill>
                  <a:srgbClr val="E67E22"/>
                </a:solidFill>
              </a:ln>
            </p:spPr>
          </p:sp>
          <p:sp>
            <p:nvSpPr>
              <p:cNvPr id="41" name="Ellipse 41"/>
              <p:cNvSpPr/>
              <p:nvPr/>
            </p:nvSpPr>
            <p:spPr>
              <a:xfrm>
                <a:off x="5667375" y="5048250"/>
                <a:ext cx="95250" cy="95250"/>
              </a:xfrm>
              <a:prstGeom prst="ellipse">
                <a:avLst/>
              </a:prstGeom>
              <a:solidFill>
                <a:srgbClr val="E67E22"/>
              </a:solidFill>
              <a:ln>
                <a:noFill/>
              </a:ln>
            </p:spPr>
          </p:sp>
          <p:sp>
            <p:nvSpPr>
              <p:cNvPr id="42" name="TextBox 42"/>
              <p:cNvSpPr txBox="1"/>
              <p:nvPr/>
            </p:nvSpPr>
            <p:spPr>
              <a:xfrm>
                <a:off x="5638468" y="4953000"/>
                <a:ext cx="153064" cy="352044"/>
              </a:xfrm>
              <a:prstGeom prst="rect">
                <a:avLst/>
              </a:prstGeom>
              <a:noFill/>
              <a:ln>
                <a:noFill/>
              </a:ln>
            </p:spPr>
            <p:txBody>
              <a:bodyPr wrap="none" lIns="0" tIns="0" rIns="0" bIns="0" anchor="t" anchorCtr="0">
                <a:spAutoFit/>
              </a:bodyPr>
              <a:lstStyle/>
              <a:p>
                <a:pPr algn="ctr"/>
                <a:r>
                  <a:rPr lang="ru" sz="1800" b="1" dirty="0">
                    <a:solidFill>
                      <a:srgbClr val="E67E22"/>
                    </a:solidFill>
                    <a:latin typeface="+mn-lt"/>
                    <a:ea typeface="+mn-ea"/>
                    <a:cs typeface="+mn-cs"/>
                  </a:rPr>
                  <a:t>3</a:t>
                </a:r>
              </a:p>
            </p:txBody>
          </p:sp>
          <p:sp>
            <p:nvSpPr>
              <p:cNvPr id="43" name="TextBox 43"/>
              <p:cNvSpPr txBox="1"/>
              <p:nvPr/>
            </p:nvSpPr>
            <p:spPr>
              <a:xfrm>
                <a:off x="6277356" y="4800600"/>
                <a:ext cx="2332762"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Дать рекомендации</a:t>
                </a:r>
              </a:p>
            </p:txBody>
          </p:sp>
          <p:sp>
            <p:nvSpPr>
              <p:cNvPr id="44" name="TextBox 44"/>
              <p:cNvSpPr txBox="1"/>
              <p:nvPr/>
            </p:nvSpPr>
            <p:spPr>
              <a:xfrm>
                <a:off x="6277356" y="5124450"/>
                <a:ext cx="2217984"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практические шаги</a:t>
                </a:r>
              </a:p>
            </p:txBody>
          </p:sp>
        </p:grpSp>
      </p:grpSp>
      <p:sp>
        <p:nvSpPr>
          <p:cNvPr id="47" name="credit"/>
          <p:cNvSpPr txBox="1"/>
          <p:nvPr/>
        </p:nvSpPr>
        <p:spPr>
          <a:xfrm>
            <a:off x="755904" y="6629400"/>
            <a:ext cx="3136055"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Wacky1976 / Wikimedia / CC BY-SA 4.0</a:t>
            </a:r>
          </a:p>
        </p:txBody>
      </p:sp>
      <p:pic>
        <p:nvPicPr>
          <p:cNvPr id="48" name="PPT Master narration: narration2.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1335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childTnLst>
                          </p:cTn>
                        </p:par>
                        <p:par>
                          <p:cTn id="12" fill="hold">
                            <p:stCondLst>
                              <p:cond delay="1300"/>
                            </p:stCondLst>
                            <p:childTnLst>
                              <p:par>
                                <p:cTn id="13" presetID="10" presetClass="entr" presetSubtype="0" fill="hold" grpId="0" nodeType="afterEffect">
                                  <p:stCondLst>
                                    <p:cond delay="50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48"/>
                </p:tgtEl>
              </p:cMediaNode>
            </p:audio>
          </p:childTnLst>
        </p:cTn>
      </p:par>
    </p:tnLst>
  </p:timing>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3"/>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03-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3-accent"/>
          <p:cNvSpPr/>
          <p:nvPr/>
        </p:nvSpPr>
        <p:spPr>
          <a:xfrm>
            <a:off x="0" y="0"/>
            <a:ext cx="12192000" cy="57150"/>
          </a:xfrm>
          <a:prstGeom prst="rect">
            <a:avLst/>
          </a:prstGeom>
          <a:solidFill>
            <a:srgbClr val="27AE60"/>
          </a:solidFill>
          <a:ln>
            <a:noFill/>
          </a:ln>
        </p:spPr>
      </p:sp>
      <p:sp>
        <p:nvSpPr>
          <p:cNvPr id="5" name="p03-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03-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03</a:t>
            </a:r>
          </a:p>
        </p:txBody>
      </p:sp>
      <p:grpSp>
        <p:nvGrpSpPr>
          <p:cNvPr id="8" name="p03-title"/>
          <p:cNvGrpSpPr/>
          <p:nvPr/>
        </p:nvGrpSpPr>
        <p:grpSpPr>
          <a:xfrm>
            <a:off x="743712" y="565150"/>
            <a:ext cx="3961227" cy="704088"/>
            <a:chOff x="743712" y="565150"/>
            <a:chExt cx="3961227" cy="704088"/>
          </a:xfrm>
        </p:grpSpPr>
        <p:sp>
          <p:nvSpPr>
            <p:cNvPr id="7" name="TextBox 7"/>
            <p:cNvSpPr txBox="1"/>
            <p:nvPr/>
          </p:nvSpPr>
          <p:spPr>
            <a:xfrm>
              <a:off x="743712" y="565150"/>
              <a:ext cx="3961227"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Что мы разберём</a:t>
              </a:r>
            </a:p>
          </p:txBody>
        </p:sp>
      </p:grpSp>
      <p:grpSp>
        <p:nvGrpSpPr>
          <p:cNvPr id="107" name="p03-grid"/>
          <p:cNvGrpSpPr/>
          <p:nvPr/>
        </p:nvGrpSpPr>
        <p:grpSpPr>
          <a:xfrm>
            <a:off x="762000" y="1714500"/>
            <a:ext cx="10715625" cy="3524250"/>
            <a:chOff x="762000" y="1714500"/>
            <a:chExt cx="10715625" cy="3524250"/>
          </a:xfrm>
        </p:grpSpPr>
        <p:grpSp>
          <p:nvGrpSpPr>
            <p:cNvPr id="13" name="p03-t01"/>
            <p:cNvGrpSpPr/>
            <p:nvPr/>
          </p:nvGrpSpPr>
          <p:grpSpPr>
            <a:xfrm>
              <a:off x="762000" y="1714500"/>
              <a:ext cx="2571750" cy="1047750"/>
              <a:chOff x="762000" y="1714500"/>
              <a:chExt cx="2571750" cy="1047750"/>
            </a:xfrm>
          </p:grpSpPr>
          <p:sp>
            <p:nvSpPr>
              <p:cNvPr id="9" name="Rectangle 9"/>
              <p:cNvSpPr/>
              <p:nvPr/>
            </p:nvSpPr>
            <p:spPr>
              <a:xfrm>
                <a:off x="762000" y="1714500"/>
                <a:ext cx="2571750" cy="1047750"/>
              </a:xfrm>
              <a:prstGeom prst="roundRect">
                <a:avLst>
                  <a:gd name="adj" fmla="val 12727"/>
                </a:avLst>
              </a:prstGeom>
              <a:solidFill>
                <a:srgbClr val="FFFFFF">
                  <a:alpha val="85000"/>
                </a:srgbClr>
              </a:solidFill>
              <a:ln>
                <a:noFill/>
              </a:ln>
            </p:spPr>
          </p:sp>
          <p:sp>
            <p:nvSpPr>
              <p:cNvPr id="10" name="Freeform 10"/>
              <p:cNvSpPr/>
              <p:nvPr/>
            </p:nvSpPr>
            <p:spPr>
              <a:xfrm>
                <a:off x="1038225" y="1987550"/>
                <a:ext cx="285751" cy="254001"/>
              </a:xfrm>
              <a:custGeom>
                <a:avLst/>
                <a:gdLst/>
                <a:ahLst/>
                <a:cxnLst/>
                <a:rect l="l" t="t" r="r" b="b"/>
                <a:pathLst>
                  <a:path w="285751" h="254001">
                    <a:moveTo>
                      <a:pt x="0" y="127000"/>
                    </a:moveTo>
                    <a:lnTo>
                      <a:pt x="63500" y="127000"/>
                    </a:lnTo>
                    <a:lnTo>
                      <a:pt x="111125" y="254001"/>
                    </a:lnTo>
                    <a:lnTo>
                      <a:pt x="174625" y="0"/>
                    </a:lnTo>
                    <a:lnTo>
                      <a:pt x="222250" y="127000"/>
                    </a:lnTo>
                    <a:lnTo>
                      <a:pt x="285751" y="127000"/>
                    </a:lnTo>
                  </a:path>
                </a:pathLst>
              </a:custGeom>
              <a:noFill/>
              <a:ln w="31750">
                <a:solidFill>
                  <a:srgbClr val="27AE60"/>
                </a:solidFill>
              </a:ln>
            </p:spPr>
          </p:sp>
          <p:sp>
            <p:nvSpPr>
              <p:cNvPr id="11" name="TextBox 11"/>
              <p:cNvSpPr txBox="1"/>
              <p:nvPr/>
            </p:nvSpPr>
            <p:spPr>
              <a:xfrm>
                <a:off x="1495806" y="1981200"/>
                <a:ext cx="169275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Зачем изучать</a:t>
                </a:r>
              </a:p>
            </p:txBody>
          </p:sp>
          <p:sp>
            <p:nvSpPr>
              <p:cNvPr id="12" name="TextBox 12"/>
              <p:cNvSpPr txBox="1"/>
              <p:nvPr/>
            </p:nvSpPr>
            <p:spPr>
              <a:xfrm>
                <a:off x="981456" y="2362200"/>
                <a:ext cx="95120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счастье</a:t>
                </a:r>
              </a:p>
            </p:txBody>
          </p:sp>
        </p:grpSp>
        <p:grpSp>
          <p:nvGrpSpPr>
            <p:cNvPr id="23" name="p03-t02"/>
            <p:cNvGrpSpPr/>
            <p:nvPr/>
          </p:nvGrpSpPr>
          <p:grpSpPr>
            <a:xfrm>
              <a:off x="3476625" y="1714500"/>
              <a:ext cx="2571750" cy="1047750"/>
              <a:chOff x="3476625" y="1714500"/>
              <a:chExt cx="2571750" cy="1047750"/>
            </a:xfrm>
          </p:grpSpPr>
          <p:sp>
            <p:nvSpPr>
              <p:cNvPr id="14" name="Rectangle 14"/>
              <p:cNvSpPr/>
              <p:nvPr/>
            </p:nvSpPr>
            <p:spPr>
              <a:xfrm>
                <a:off x="3476625" y="1714500"/>
                <a:ext cx="2571750" cy="1047750"/>
              </a:xfrm>
              <a:prstGeom prst="roundRect">
                <a:avLst>
                  <a:gd name="adj" fmla="val 12727"/>
                </a:avLst>
              </a:prstGeom>
              <a:solidFill>
                <a:srgbClr val="FFFFFF">
                  <a:alpha val="85000"/>
                </a:srgbClr>
              </a:solidFill>
              <a:ln>
                <a:noFill/>
              </a:ln>
            </p:spPr>
          </p:sp>
          <p:grpSp>
            <p:nvGrpSpPr>
              <p:cNvPr id="20" name="Group 20"/>
              <p:cNvGrpSpPr/>
              <p:nvPr/>
            </p:nvGrpSpPr>
            <p:grpSpPr>
              <a:xfrm>
                <a:off x="3752850" y="1971675"/>
                <a:ext cx="285750" cy="279401"/>
                <a:chOff x="3752850" y="1971675"/>
                <a:chExt cx="285750" cy="279401"/>
              </a:xfrm>
            </p:grpSpPr>
            <p:sp>
              <p:nvSpPr>
                <p:cNvPr id="15" name="Freeform 15"/>
                <p:cNvSpPr/>
                <p:nvPr/>
              </p:nvSpPr>
              <p:spPr>
                <a:xfrm>
                  <a:off x="3816350" y="2241551"/>
                  <a:ext cx="158750" cy="9525"/>
                </a:xfrm>
                <a:custGeom>
                  <a:avLst/>
                  <a:gdLst/>
                  <a:ahLst/>
                  <a:cxnLst/>
                  <a:rect l="l" t="t" r="r" b="b"/>
                  <a:pathLst>
                    <a:path w="158750" h="9525">
                      <a:moveTo>
                        <a:pt x="0" y="0"/>
                      </a:moveTo>
                      <a:lnTo>
                        <a:pt x="158750" y="0"/>
                      </a:lnTo>
                    </a:path>
                  </a:pathLst>
                </a:custGeom>
                <a:noFill/>
                <a:ln w="31750">
                  <a:solidFill>
                    <a:srgbClr val="27AE60"/>
                  </a:solidFill>
                </a:ln>
              </p:spPr>
            </p:sp>
            <p:sp>
              <p:nvSpPr>
                <p:cNvPr id="16" name="Freeform 16"/>
                <p:cNvSpPr/>
                <p:nvPr/>
              </p:nvSpPr>
              <p:spPr>
                <a:xfrm>
                  <a:off x="3800475" y="2003425"/>
                  <a:ext cx="190500" cy="15875"/>
                </a:xfrm>
                <a:custGeom>
                  <a:avLst/>
                  <a:gdLst/>
                  <a:ahLst/>
                  <a:cxnLst/>
                  <a:rect l="l" t="t" r="r" b="b"/>
                  <a:pathLst>
                    <a:path w="190500" h="15875">
                      <a:moveTo>
                        <a:pt x="0" y="15875"/>
                      </a:moveTo>
                      <a:lnTo>
                        <a:pt x="95250" y="0"/>
                      </a:lnTo>
                      <a:lnTo>
                        <a:pt x="190500" y="15875"/>
                      </a:lnTo>
                    </a:path>
                  </a:pathLst>
                </a:custGeom>
                <a:noFill/>
                <a:ln w="31750">
                  <a:solidFill>
                    <a:srgbClr val="27AE60"/>
                  </a:solidFill>
                </a:ln>
              </p:spPr>
            </p:sp>
            <p:sp>
              <p:nvSpPr>
                <p:cNvPr id="17" name="Freeform 17"/>
                <p:cNvSpPr/>
                <p:nvPr/>
              </p:nvSpPr>
              <p:spPr>
                <a:xfrm>
                  <a:off x="3895725" y="1971675"/>
                  <a:ext cx="9525" cy="269876"/>
                </a:xfrm>
                <a:custGeom>
                  <a:avLst/>
                  <a:gdLst/>
                  <a:ahLst/>
                  <a:cxnLst/>
                  <a:rect l="l" t="t" r="r" b="b"/>
                  <a:pathLst>
                    <a:path w="9525" h="269876">
                      <a:moveTo>
                        <a:pt x="0" y="0"/>
                      </a:moveTo>
                      <a:lnTo>
                        <a:pt x="0" y="269876"/>
                      </a:lnTo>
                    </a:path>
                  </a:pathLst>
                </a:custGeom>
                <a:noFill/>
                <a:ln w="31750">
                  <a:solidFill>
                    <a:srgbClr val="27AE60"/>
                  </a:solidFill>
                </a:ln>
              </p:spPr>
            </p:sp>
            <p:sp>
              <p:nvSpPr>
                <p:cNvPr id="18" name="Freeform 18"/>
                <p:cNvSpPr/>
                <p:nvPr/>
              </p:nvSpPr>
              <p:spPr>
                <a:xfrm>
                  <a:off x="3752850" y="20193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rgbClr val="27AE60"/>
                  </a:solidFill>
                </a:ln>
              </p:spPr>
            </p:sp>
            <p:sp>
              <p:nvSpPr>
                <p:cNvPr id="19" name="Freeform 19"/>
                <p:cNvSpPr/>
                <p:nvPr/>
              </p:nvSpPr>
              <p:spPr>
                <a:xfrm>
                  <a:off x="3943350" y="20193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rgbClr val="27AE60"/>
                  </a:solidFill>
                </a:ln>
              </p:spPr>
            </p:sp>
          </p:grpSp>
          <p:sp>
            <p:nvSpPr>
              <p:cNvPr id="21" name="TextBox 21"/>
              <p:cNvSpPr txBox="1"/>
              <p:nvPr/>
            </p:nvSpPr>
            <p:spPr>
              <a:xfrm>
                <a:off x="4210431" y="1981200"/>
                <a:ext cx="95874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Научный</a:t>
                </a:r>
              </a:p>
            </p:txBody>
          </p:sp>
          <p:sp>
            <p:nvSpPr>
              <p:cNvPr id="22" name="TextBox 22"/>
              <p:cNvSpPr txBox="1"/>
              <p:nvPr/>
            </p:nvSpPr>
            <p:spPr>
              <a:xfrm>
                <a:off x="3696081" y="2362200"/>
                <a:ext cx="81793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подход</a:t>
                </a:r>
              </a:p>
            </p:txBody>
          </p:sp>
        </p:grpSp>
        <p:grpSp>
          <p:nvGrpSpPr>
            <p:cNvPr id="33" name="p03-t03"/>
            <p:cNvGrpSpPr/>
            <p:nvPr/>
          </p:nvGrpSpPr>
          <p:grpSpPr>
            <a:xfrm>
              <a:off x="6191250" y="1714500"/>
              <a:ext cx="2571750" cy="1047750"/>
              <a:chOff x="6191250" y="1714500"/>
              <a:chExt cx="2571750" cy="1047750"/>
            </a:xfrm>
          </p:grpSpPr>
          <p:sp>
            <p:nvSpPr>
              <p:cNvPr id="24" name="Rectangle 24"/>
              <p:cNvSpPr/>
              <p:nvPr/>
            </p:nvSpPr>
            <p:spPr>
              <a:xfrm>
                <a:off x="6191250" y="1714500"/>
                <a:ext cx="2571750" cy="1047750"/>
              </a:xfrm>
              <a:prstGeom prst="roundRect">
                <a:avLst>
                  <a:gd name="adj" fmla="val 12727"/>
                </a:avLst>
              </a:prstGeom>
              <a:solidFill>
                <a:srgbClr val="FFFFFF">
                  <a:alpha val="85000"/>
                </a:srgbClr>
              </a:solidFill>
              <a:ln>
                <a:noFill/>
              </a:ln>
            </p:spPr>
          </p:sp>
          <p:grpSp>
            <p:nvGrpSpPr>
              <p:cNvPr id="31" name="Group 31"/>
              <p:cNvGrpSpPr/>
              <p:nvPr/>
            </p:nvGrpSpPr>
            <p:grpSpPr>
              <a:xfrm>
                <a:off x="6467475" y="1971675"/>
                <a:ext cx="285751" cy="285750"/>
                <a:chOff x="6467475" y="1971675"/>
                <a:chExt cx="285751" cy="285750"/>
              </a:xfrm>
            </p:grpSpPr>
            <p:sp>
              <p:nvSpPr>
                <p:cNvPr id="25" name="Freeform 25"/>
                <p:cNvSpPr/>
                <p:nvPr/>
              </p:nvSpPr>
              <p:spPr>
                <a:xfrm>
                  <a:off x="6610350" y="2130425"/>
                  <a:ext cx="111125" cy="127000"/>
                </a:xfrm>
                <a:custGeom>
                  <a:avLst/>
                  <a:gdLst/>
                  <a:ahLst/>
                  <a:cxnLst/>
                  <a:rect l="l" t="t" r="r" b="b"/>
                  <a:pathLst>
                    <a:path w="111125" h="127000">
                      <a:moveTo>
                        <a:pt x="55563" y="0"/>
                      </a:moveTo>
                      <a:cubicBezTo>
                        <a:pt x="24876" y="0"/>
                        <a:pt x="0" y="24876"/>
                        <a:pt x="0" y="55563"/>
                      </a:cubicBezTo>
                      <a:lnTo>
                        <a:pt x="0" y="71438"/>
                      </a:lnTo>
                      <a:cubicBezTo>
                        <a:pt x="0" y="102124"/>
                        <a:pt x="24876" y="127000"/>
                        <a:pt x="55563" y="127000"/>
                      </a:cubicBezTo>
                      <a:cubicBezTo>
                        <a:pt x="86249" y="127000"/>
                        <a:pt x="111125" y="102124"/>
                        <a:pt x="111125" y="71438"/>
                      </a:cubicBezTo>
                      <a:lnTo>
                        <a:pt x="111125" y="42863"/>
                      </a:lnTo>
                    </a:path>
                  </a:pathLst>
                </a:custGeom>
                <a:noFill/>
                <a:ln w="31750">
                  <a:solidFill>
                    <a:srgbClr val="27AE60"/>
                  </a:solidFill>
                </a:ln>
              </p:spPr>
            </p:sp>
            <p:sp>
              <p:nvSpPr>
                <p:cNvPr id="26" name="Freeform 26"/>
                <p:cNvSpPr/>
                <p:nvPr/>
              </p:nvSpPr>
              <p:spPr>
                <a:xfrm>
                  <a:off x="6499225" y="2130425"/>
                  <a:ext cx="111125" cy="127000"/>
                </a:xfrm>
                <a:custGeom>
                  <a:avLst/>
                  <a:gdLst/>
                  <a:ahLst/>
                  <a:cxnLst/>
                  <a:rect l="l" t="t" r="r" b="b"/>
                  <a:pathLst>
                    <a:path w="111125" h="127000">
                      <a:moveTo>
                        <a:pt x="55563" y="0"/>
                      </a:moveTo>
                      <a:cubicBezTo>
                        <a:pt x="86249" y="0"/>
                        <a:pt x="111125" y="24876"/>
                        <a:pt x="111125" y="55563"/>
                      </a:cubicBezTo>
                      <a:lnTo>
                        <a:pt x="111125" y="71438"/>
                      </a:lnTo>
                      <a:cubicBezTo>
                        <a:pt x="111125" y="102124"/>
                        <a:pt x="86249" y="127000"/>
                        <a:pt x="55563" y="127000"/>
                      </a:cubicBezTo>
                      <a:cubicBezTo>
                        <a:pt x="24876" y="127000"/>
                        <a:pt x="0" y="102124"/>
                        <a:pt x="0" y="71438"/>
                      </a:cubicBezTo>
                      <a:lnTo>
                        <a:pt x="0" y="42863"/>
                      </a:lnTo>
                    </a:path>
                  </a:pathLst>
                </a:custGeom>
                <a:noFill/>
                <a:ln w="31750">
                  <a:solidFill>
                    <a:srgbClr val="27AE60"/>
                  </a:solidFill>
                </a:ln>
              </p:spPr>
            </p:sp>
            <p:sp>
              <p:nvSpPr>
                <p:cNvPr id="27" name="Freeform 27"/>
                <p:cNvSpPr/>
                <p:nvPr/>
              </p:nvSpPr>
              <p:spPr>
                <a:xfrm>
                  <a:off x="6689726" y="2066925"/>
                  <a:ext cx="63500" cy="111125"/>
                </a:xfrm>
                <a:custGeom>
                  <a:avLst/>
                  <a:gdLst/>
                  <a:ahLst/>
                  <a:cxnLst/>
                  <a:rect l="l" t="t" r="r" b="b"/>
                  <a:pathLst>
                    <a:path w="63500" h="111125">
                      <a:moveTo>
                        <a:pt x="7938" y="111125"/>
                      </a:moveTo>
                      <a:cubicBezTo>
                        <a:pt x="38624" y="111125"/>
                        <a:pt x="63500" y="86249"/>
                        <a:pt x="63500" y="55563"/>
                      </a:cubicBezTo>
                      <a:cubicBezTo>
                        <a:pt x="63500" y="24876"/>
                        <a:pt x="38624" y="0"/>
                        <a:pt x="7938" y="0"/>
                      </a:cubicBezTo>
                      <a:lnTo>
                        <a:pt x="0" y="0"/>
                      </a:lnTo>
                    </a:path>
                  </a:pathLst>
                </a:custGeom>
                <a:noFill/>
                <a:ln w="31750">
                  <a:solidFill>
                    <a:srgbClr val="27AE60"/>
                  </a:solidFill>
                </a:ln>
              </p:spPr>
            </p:sp>
            <p:sp>
              <p:nvSpPr>
                <p:cNvPr id="28" name="Freeform 28"/>
                <p:cNvSpPr/>
                <p:nvPr/>
              </p:nvSpPr>
              <p:spPr>
                <a:xfrm>
                  <a:off x="6610350" y="1971675"/>
                  <a:ext cx="111125" cy="100013"/>
                </a:xfrm>
                <a:custGeom>
                  <a:avLst/>
                  <a:gdLst/>
                  <a:ahLst/>
                  <a:cxnLst/>
                  <a:rect l="l" t="t" r="r" b="b"/>
                  <a:pathLst>
                    <a:path w="111125" h="100013">
                      <a:moveTo>
                        <a:pt x="111125" y="100013"/>
                      </a:moveTo>
                      <a:lnTo>
                        <a:pt x="111125" y="55563"/>
                      </a:lnTo>
                      <a:cubicBezTo>
                        <a:pt x="111125" y="24876"/>
                        <a:pt x="86249" y="0"/>
                        <a:pt x="55563" y="0"/>
                      </a:cubicBezTo>
                      <a:cubicBezTo>
                        <a:pt x="24876" y="0"/>
                        <a:pt x="0" y="24876"/>
                        <a:pt x="0" y="55563"/>
                      </a:cubicBezTo>
                    </a:path>
                  </a:pathLst>
                </a:custGeom>
                <a:noFill/>
                <a:ln w="31750">
                  <a:solidFill>
                    <a:srgbClr val="27AE60"/>
                  </a:solidFill>
                </a:ln>
              </p:spPr>
            </p:sp>
            <p:sp>
              <p:nvSpPr>
                <p:cNvPr id="29" name="Freeform 29"/>
                <p:cNvSpPr/>
                <p:nvPr/>
              </p:nvSpPr>
              <p:spPr>
                <a:xfrm>
                  <a:off x="6467475" y="2066925"/>
                  <a:ext cx="63500" cy="111125"/>
                </a:xfrm>
                <a:custGeom>
                  <a:avLst/>
                  <a:gdLst/>
                  <a:ahLst/>
                  <a:cxnLst/>
                  <a:rect l="l" t="t" r="r" b="b"/>
                  <a:pathLst>
                    <a:path w="63500" h="111125">
                      <a:moveTo>
                        <a:pt x="55563" y="111125"/>
                      </a:moveTo>
                      <a:cubicBezTo>
                        <a:pt x="24876" y="111125"/>
                        <a:pt x="0" y="86249"/>
                        <a:pt x="0" y="55563"/>
                      </a:cubicBezTo>
                      <a:cubicBezTo>
                        <a:pt x="0" y="24876"/>
                        <a:pt x="24876" y="0"/>
                        <a:pt x="55563" y="0"/>
                      </a:cubicBezTo>
                      <a:lnTo>
                        <a:pt x="63500" y="0"/>
                      </a:lnTo>
                    </a:path>
                  </a:pathLst>
                </a:custGeom>
                <a:noFill/>
                <a:ln w="31750">
                  <a:solidFill>
                    <a:srgbClr val="27AE60"/>
                  </a:solidFill>
                </a:ln>
              </p:spPr>
            </p:sp>
            <p:sp>
              <p:nvSpPr>
                <p:cNvPr id="30" name="Freeform 30"/>
                <p:cNvSpPr/>
                <p:nvPr/>
              </p:nvSpPr>
              <p:spPr>
                <a:xfrm>
                  <a:off x="6499225" y="1971675"/>
                  <a:ext cx="111125" cy="214313"/>
                </a:xfrm>
                <a:custGeom>
                  <a:avLst/>
                  <a:gdLst/>
                  <a:ahLst/>
                  <a:cxnLst/>
                  <a:rect l="l" t="t" r="r" b="b"/>
                  <a:pathLst>
                    <a:path w="111125" h="214313">
                      <a:moveTo>
                        <a:pt x="0" y="100013"/>
                      </a:moveTo>
                      <a:lnTo>
                        <a:pt x="0" y="55563"/>
                      </a:lnTo>
                      <a:cubicBezTo>
                        <a:pt x="0" y="24876"/>
                        <a:pt x="24876" y="0"/>
                        <a:pt x="55563" y="0"/>
                      </a:cubicBezTo>
                      <a:cubicBezTo>
                        <a:pt x="86249" y="0"/>
                        <a:pt x="111125" y="24876"/>
                        <a:pt x="111125" y="55563"/>
                      </a:cubicBezTo>
                      <a:lnTo>
                        <a:pt x="111125" y="214313"/>
                      </a:lnTo>
                    </a:path>
                  </a:pathLst>
                </a:custGeom>
                <a:noFill/>
                <a:ln w="31750">
                  <a:solidFill>
                    <a:srgbClr val="27AE60"/>
                  </a:solidFill>
                </a:ln>
              </p:spPr>
            </p:sp>
          </p:grpSp>
          <p:sp>
            <p:nvSpPr>
              <p:cNvPr id="32" name="TextBox 32"/>
              <p:cNvSpPr txBox="1"/>
              <p:nvPr/>
            </p:nvSpPr>
            <p:spPr>
              <a:xfrm>
                <a:off x="6925056" y="1981200"/>
                <a:ext cx="135857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Физиология</a:t>
                </a:r>
              </a:p>
            </p:txBody>
          </p:sp>
        </p:grpSp>
        <p:grpSp>
          <p:nvGrpSpPr>
            <p:cNvPr id="43" name="p03-t04"/>
            <p:cNvGrpSpPr/>
            <p:nvPr/>
          </p:nvGrpSpPr>
          <p:grpSpPr>
            <a:xfrm>
              <a:off x="8905875" y="1714500"/>
              <a:ext cx="2571750" cy="1047750"/>
              <a:chOff x="8905875" y="1714500"/>
              <a:chExt cx="2571750" cy="1047750"/>
            </a:xfrm>
          </p:grpSpPr>
          <p:sp>
            <p:nvSpPr>
              <p:cNvPr id="34" name="Rectangle 34"/>
              <p:cNvSpPr/>
              <p:nvPr/>
            </p:nvSpPr>
            <p:spPr>
              <a:xfrm>
                <a:off x="8905875" y="1714500"/>
                <a:ext cx="2571750" cy="1047750"/>
              </a:xfrm>
              <a:prstGeom prst="roundRect">
                <a:avLst>
                  <a:gd name="adj" fmla="val 12727"/>
                </a:avLst>
              </a:prstGeom>
              <a:solidFill>
                <a:srgbClr val="FFFFFF">
                  <a:alpha val="85000"/>
                </a:srgbClr>
              </a:solidFill>
              <a:ln>
                <a:noFill/>
              </a:ln>
            </p:spPr>
          </p:sp>
          <p:grpSp>
            <p:nvGrpSpPr>
              <p:cNvPr id="40" name="Group 40"/>
              <p:cNvGrpSpPr/>
              <p:nvPr/>
            </p:nvGrpSpPr>
            <p:grpSpPr>
              <a:xfrm>
                <a:off x="9182100" y="2035175"/>
                <a:ext cx="285751" cy="158750"/>
                <a:chOff x="9182100" y="2035175"/>
                <a:chExt cx="285751" cy="158750"/>
              </a:xfrm>
            </p:grpSpPr>
            <p:sp>
              <p:nvSpPr>
                <p:cNvPr id="35" name="Freeform 35"/>
                <p:cNvSpPr/>
                <p:nvPr/>
              </p:nvSpPr>
              <p:spPr>
                <a:xfrm>
                  <a:off x="9197975" y="2051050"/>
                  <a:ext cx="254001" cy="127000"/>
                </a:xfrm>
                <a:custGeom>
                  <a:avLst/>
                  <a:gdLst/>
                  <a:ahLst/>
                  <a:cxnLst/>
                  <a:rect l="l" t="t" r="r" b="b"/>
                  <a:pathLst>
                    <a:path w="254001" h="127000">
                      <a:moveTo>
                        <a:pt x="0" y="127000"/>
                      </a:moveTo>
                      <a:lnTo>
                        <a:pt x="95250" y="15875"/>
                      </a:lnTo>
                      <a:lnTo>
                        <a:pt x="174625" y="95250"/>
                      </a:lnTo>
                      <a:lnTo>
                        <a:pt x="254001" y="0"/>
                      </a:lnTo>
                    </a:path>
                  </a:pathLst>
                </a:custGeom>
                <a:noFill/>
                <a:ln w="31750">
                  <a:solidFill>
                    <a:srgbClr val="27AE60"/>
                  </a:solidFill>
                </a:ln>
              </p:spPr>
            </p:sp>
            <p:sp>
              <p:nvSpPr>
                <p:cNvPr id="36" name="Freeform 36"/>
                <p:cNvSpPr/>
                <p:nvPr/>
              </p:nvSpPr>
              <p:spPr>
                <a:xfrm>
                  <a:off x="9356725" y="213042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rgbClr val="27AE60"/>
                  </a:solidFill>
                </a:ln>
              </p:spPr>
            </p:sp>
            <p:sp>
              <p:nvSpPr>
                <p:cNvPr id="37" name="Freeform 37"/>
                <p:cNvSpPr/>
                <p:nvPr/>
              </p:nvSpPr>
              <p:spPr>
                <a:xfrm>
                  <a:off x="9277350" y="205105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rgbClr val="27AE60"/>
                  </a:solidFill>
                </a:ln>
              </p:spPr>
            </p:sp>
            <p:sp>
              <p:nvSpPr>
                <p:cNvPr id="38" name="Freeform 38"/>
                <p:cNvSpPr/>
                <p:nvPr/>
              </p:nvSpPr>
              <p:spPr>
                <a:xfrm>
                  <a:off x="9182100" y="21621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rgbClr val="27AE60"/>
                  </a:solidFill>
                </a:ln>
              </p:spPr>
            </p:sp>
            <p:sp>
              <p:nvSpPr>
                <p:cNvPr id="39" name="Freeform 39"/>
                <p:cNvSpPr/>
                <p:nvPr/>
              </p:nvSpPr>
              <p:spPr>
                <a:xfrm>
                  <a:off x="9436101" y="203517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rgbClr val="27AE60"/>
                  </a:solidFill>
                </a:ln>
              </p:spPr>
            </p:sp>
          </p:grpSp>
          <p:sp>
            <p:nvSpPr>
              <p:cNvPr id="41" name="TextBox 41"/>
              <p:cNvSpPr txBox="1"/>
              <p:nvPr/>
            </p:nvSpPr>
            <p:spPr>
              <a:xfrm>
                <a:off x="9639681" y="1981200"/>
                <a:ext cx="95874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История</a:t>
                </a:r>
              </a:p>
            </p:txBody>
          </p:sp>
          <p:sp>
            <p:nvSpPr>
              <p:cNvPr id="42" name="TextBox 42"/>
              <p:cNvSpPr txBox="1"/>
              <p:nvPr/>
            </p:nvSpPr>
            <p:spPr>
              <a:xfrm>
                <a:off x="9125331" y="2362200"/>
                <a:ext cx="108447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взглядов</a:t>
                </a:r>
              </a:p>
            </p:txBody>
          </p:sp>
        </p:grpSp>
        <p:grpSp>
          <p:nvGrpSpPr>
            <p:cNvPr id="52" name="p03-t05"/>
            <p:cNvGrpSpPr/>
            <p:nvPr/>
          </p:nvGrpSpPr>
          <p:grpSpPr>
            <a:xfrm>
              <a:off x="762000" y="2952750"/>
              <a:ext cx="2571750" cy="1047750"/>
              <a:chOff x="762000" y="2952750"/>
              <a:chExt cx="2571750" cy="1047750"/>
            </a:xfrm>
          </p:grpSpPr>
          <p:sp>
            <p:nvSpPr>
              <p:cNvPr id="44" name="Rectangle 44"/>
              <p:cNvSpPr/>
              <p:nvPr/>
            </p:nvSpPr>
            <p:spPr>
              <a:xfrm>
                <a:off x="762000" y="2952750"/>
                <a:ext cx="2571750" cy="1047750"/>
              </a:xfrm>
              <a:prstGeom prst="roundRect">
                <a:avLst>
                  <a:gd name="adj" fmla="val 12727"/>
                </a:avLst>
              </a:prstGeom>
              <a:solidFill>
                <a:srgbClr val="FFFFFF">
                  <a:alpha val="85000"/>
                </a:srgbClr>
              </a:solidFill>
              <a:ln>
                <a:noFill/>
              </a:ln>
            </p:spPr>
          </p:sp>
          <p:grpSp>
            <p:nvGrpSpPr>
              <p:cNvPr id="49" name="Group 49"/>
              <p:cNvGrpSpPr/>
              <p:nvPr/>
            </p:nvGrpSpPr>
            <p:grpSpPr>
              <a:xfrm>
                <a:off x="1038225" y="3209925"/>
                <a:ext cx="285751" cy="285751"/>
                <a:chOff x="1038225" y="3209925"/>
                <a:chExt cx="285751" cy="285751"/>
              </a:xfrm>
            </p:grpSpPr>
            <p:sp>
              <p:nvSpPr>
                <p:cNvPr id="45" name="Freeform 45"/>
                <p:cNvSpPr/>
                <p:nvPr/>
              </p:nvSpPr>
              <p:spPr>
                <a:xfrm>
                  <a:off x="1038225" y="32099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rgbClr val="E67E22"/>
                  </a:solidFill>
                </a:ln>
              </p:spPr>
            </p:sp>
            <p:sp>
              <p:nvSpPr>
                <p:cNvPr id="46" name="Freeform 46"/>
                <p:cNvSpPr/>
                <p:nvPr/>
              </p:nvSpPr>
              <p:spPr>
                <a:xfrm>
                  <a:off x="1133475" y="3321050"/>
                  <a:ext cx="9525" cy="9525"/>
                </a:xfrm>
                <a:custGeom>
                  <a:avLst/>
                  <a:gdLst/>
                  <a:ahLst/>
                  <a:cxnLst/>
                  <a:rect l="l" t="t" r="r" b="b"/>
                  <a:pathLst>
                    <a:path w="9525" h="9525">
                      <a:moveTo>
                        <a:pt x="0" y="0"/>
                      </a:moveTo>
                      <a:lnTo>
                        <a:pt x="159" y="0"/>
                      </a:lnTo>
                    </a:path>
                  </a:pathLst>
                </a:custGeom>
                <a:noFill/>
                <a:ln w="31750">
                  <a:solidFill>
                    <a:srgbClr val="E67E22"/>
                  </a:solidFill>
                </a:ln>
              </p:spPr>
            </p:sp>
            <p:sp>
              <p:nvSpPr>
                <p:cNvPr id="47" name="Freeform 47"/>
                <p:cNvSpPr/>
                <p:nvPr/>
              </p:nvSpPr>
              <p:spPr>
                <a:xfrm>
                  <a:off x="1228725" y="3321050"/>
                  <a:ext cx="9525" cy="9525"/>
                </a:xfrm>
                <a:custGeom>
                  <a:avLst/>
                  <a:gdLst/>
                  <a:ahLst/>
                  <a:cxnLst/>
                  <a:rect l="l" t="t" r="r" b="b"/>
                  <a:pathLst>
                    <a:path w="9525" h="9525">
                      <a:moveTo>
                        <a:pt x="0" y="0"/>
                      </a:moveTo>
                      <a:lnTo>
                        <a:pt x="159" y="0"/>
                      </a:lnTo>
                    </a:path>
                  </a:pathLst>
                </a:custGeom>
                <a:noFill/>
                <a:ln w="31750">
                  <a:solidFill>
                    <a:srgbClr val="E67E22"/>
                  </a:solidFill>
                </a:ln>
              </p:spPr>
            </p:sp>
            <p:sp>
              <p:nvSpPr>
                <p:cNvPr id="48" name="Freeform 48"/>
                <p:cNvSpPr/>
                <p:nvPr/>
              </p:nvSpPr>
              <p:spPr>
                <a:xfrm>
                  <a:off x="1141413" y="3400425"/>
                  <a:ext cx="79375" cy="16677"/>
                </a:xfrm>
                <a:custGeom>
                  <a:avLst/>
                  <a:gdLst/>
                  <a:ahLst/>
                  <a:cxnLst/>
                  <a:rect l="l" t="t" r="r" b="b"/>
                  <a:pathLst>
                    <a:path w="79375" h="16677">
                      <a:moveTo>
                        <a:pt x="0" y="0"/>
                      </a:moveTo>
                      <a:cubicBezTo>
                        <a:pt x="10451" y="10666"/>
                        <a:pt x="24755" y="16677"/>
                        <a:pt x="39688" y="16677"/>
                      </a:cubicBezTo>
                      <a:cubicBezTo>
                        <a:pt x="54620" y="16677"/>
                        <a:pt x="68924" y="10666"/>
                        <a:pt x="79375" y="0"/>
                      </a:cubicBezTo>
                    </a:path>
                  </a:pathLst>
                </a:custGeom>
                <a:noFill/>
                <a:ln w="31750">
                  <a:solidFill>
                    <a:srgbClr val="E67E22"/>
                  </a:solidFill>
                </a:ln>
              </p:spPr>
            </p:sp>
          </p:grpSp>
          <p:sp>
            <p:nvSpPr>
              <p:cNvPr id="50" name="TextBox 50"/>
              <p:cNvSpPr txBox="1"/>
              <p:nvPr/>
            </p:nvSpPr>
            <p:spPr>
              <a:xfrm>
                <a:off x="1495806" y="3219450"/>
                <a:ext cx="109202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Гедонизм</a:t>
                </a:r>
              </a:p>
            </p:txBody>
          </p:sp>
          <p:sp>
            <p:nvSpPr>
              <p:cNvPr id="51" name="TextBox 51"/>
              <p:cNvSpPr txBox="1"/>
              <p:nvPr/>
            </p:nvSpPr>
            <p:spPr>
              <a:xfrm>
                <a:off x="981456" y="3600450"/>
                <a:ext cx="141834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и эвдемония</a:t>
                </a:r>
              </a:p>
            </p:txBody>
          </p:sp>
        </p:grpSp>
        <p:grpSp>
          <p:nvGrpSpPr>
            <p:cNvPr id="59" name="p03-t06"/>
            <p:cNvGrpSpPr/>
            <p:nvPr/>
          </p:nvGrpSpPr>
          <p:grpSpPr>
            <a:xfrm>
              <a:off x="3476625" y="2952750"/>
              <a:ext cx="2571750" cy="1047750"/>
              <a:chOff x="3476625" y="2952750"/>
              <a:chExt cx="2571750" cy="1047750"/>
            </a:xfrm>
          </p:grpSpPr>
          <p:sp>
            <p:nvSpPr>
              <p:cNvPr id="53" name="Rectangle 53"/>
              <p:cNvSpPr/>
              <p:nvPr/>
            </p:nvSpPr>
            <p:spPr>
              <a:xfrm>
                <a:off x="3476625" y="2952750"/>
                <a:ext cx="2571750" cy="1047750"/>
              </a:xfrm>
              <a:prstGeom prst="roundRect">
                <a:avLst>
                  <a:gd name="adj" fmla="val 12727"/>
                </a:avLst>
              </a:prstGeom>
              <a:solidFill>
                <a:srgbClr val="FFFFFF">
                  <a:alpha val="85000"/>
                </a:srgbClr>
              </a:solidFill>
              <a:ln>
                <a:noFill/>
              </a:ln>
            </p:spPr>
          </p:sp>
          <p:grpSp>
            <p:nvGrpSpPr>
              <p:cNvPr id="56" name="Group 56"/>
              <p:cNvGrpSpPr/>
              <p:nvPr/>
            </p:nvGrpSpPr>
            <p:grpSpPr>
              <a:xfrm>
                <a:off x="3748425" y="3212655"/>
                <a:ext cx="287001" cy="287446"/>
                <a:chOff x="3748425" y="3212655"/>
                <a:chExt cx="287001" cy="287446"/>
              </a:xfrm>
            </p:grpSpPr>
            <p:sp>
              <p:nvSpPr>
                <p:cNvPr id="54" name="Freeform 54"/>
                <p:cNvSpPr/>
                <p:nvPr/>
              </p:nvSpPr>
              <p:spPr>
                <a:xfrm>
                  <a:off x="3748425" y="3212655"/>
                  <a:ext cx="287001" cy="287446"/>
                </a:xfrm>
                <a:custGeom>
                  <a:avLst/>
                  <a:gdLst/>
                  <a:ahLst/>
                  <a:cxnLst/>
                  <a:rect l="l" t="t" r="r" b="b"/>
                  <a:pathLst>
                    <a:path w="287001" h="287446">
                      <a:moveTo>
                        <a:pt x="115550" y="445"/>
                      </a:moveTo>
                      <a:cubicBezTo>
                        <a:pt x="46812" y="16380"/>
                        <a:pt x="0" y="80110"/>
                        <a:pt x="5353" y="150468"/>
                      </a:cubicBezTo>
                      <a:cubicBezTo>
                        <a:pt x="10706" y="220826"/>
                        <a:pt x="66620" y="276740"/>
                        <a:pt x="136978" y="282093"/>
                      </a:cubicBezTo>
                      <a:cubicBezTo>
                        <a:pt x="207336" y="287446"/>
                        <a:pt x="271065" y="240634"/>
                        <a:pt x="287001" y="171896"/>
                      </a:cubicBezTo>
                      <a:cubicBezTo>
                        <a:pt x="287001" y="163128"/>
                        <a:pt x="279893" y="156021"/>
                        <a:pt x="271126" y="156021"/>
                      </a:cubicBezTo>
                      <a:lnTo>
                        <a:pt x="163175" y="156021"/>
                      </a:lnTo>
                      <a:cubicBezTo>
                        <a:pt x="145640" y="156021"/>
                        <a:pt x="131425" y="141806"/>
                        <a:pt x="131425" y="124271"/>
                      </a:cubicBezTo>
                      <a:lnTo>
                        <a:pt x="131425" y="13145"/>
                      </a:lnTo>
                      <a:cubicBezTo>
                        <a:pt x="131027" y="9346"/>
                        <a:pt x="129124" y="5865"/>
                        <a:pt x="126141" y="3479"/>
                      </a:cubicBezTo>
                      <a:cubicBezTo>
                        <a:pt x="123158" y="1092"/>
                        <a:pt x="119344" y="0"/>
                        <a:pt x="115550" y="445"/>
                      </a:cubicBezTo>
                    </a:path>
                  </a:pathLst>
                </a:custGeom>
                <a:noFill/>
                <a:ln w="31750">
                  <a:solidFill>
                    <a:srgbClr val="E67E22"/>
                  </a:solidFill>
                </a:ln>
              </p:spPr>
            </p:sp>
            <p:sp>
              <p:nvSpPr>
                <p:cNvPr id="55" name="Freeform 55"/>
                <p:cNvSpPr/>
                <p:nvPr/>
              </p:nvSpPr>
              <p:spPr>
                <a:xfrm>
                  <a:off x="3943350" y="3217863"/>
                  <a:ext cx="87313" cy="87313"/>
                </a:xfrm>
                <a:custGeom>
                  <a:avLst/>
                  <a:gdLst/>
                  <a:ahLst/>
                  <a:cxnLst/>
                  <a:rect l="l" t="t" r="r" b="b"/>
                  <a:pathLst>
                    <a:path w="87313" h="87313">
                      <a:moveTo>
                        <a:pt x="0" y="0"/>
                      </a:moveTo>
                      <a:cubicBezTo>
                        <a:pt x="40827" y="14376"/>
                        <a:pt x="72937" y="46485"/>
                        <a:pt x="87313" y="87313"/>
                      </a:cubicBezTo>
                      <a:lnTo>
                        <a:pt x="15875" y="87313"/>
                      </a:lnTo>
                      <a:cubicBezTo>
                        <a:pt x="7107" y="87313"/>
                        <a:pt x="0" y="80205"/>
                        <a:pt x="0" y="71438"/>
                      </a:cubicBezTo>
                      <a:lnTo>
                        <a:pt x="0" y="0"/>
                      </a:lnTo>
                    </a:path>
                  </a:pathLst>
                </a:custGeom>
                <a:noFill/>
                <a:ln w="31750">
                  <a:solidFill>
                    <a:srgbClr val="E67E22"/>
                  </a:solidFill>
                </a:ln>
              </p:spPr>
            </p:sp>
          </p:grpSp>
          <p:sp>
            <p:nvSpPr>
              <p:cNvPr id="57" name="TextBox 57"/>
              <p:cNvSpPr txBox="1"/>
              <p:nvPr/>
            </p:nvSpPr>
            <p:spPr>
              <a:xfrm>
                <a:off x="4210431" y="3219450"/>
                <a:ext cx="95874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Формула</a:t>
                </a:r>
              </a:p>
            </p:txBody>
          </p:sp>
          <p:sp>
            <p:nvSpPr>
              <p:cNvPr id="58" name="TextBox 58"/>
              <p:cNvSpPr txBox="1"/>
              <p:nvPr/>
            </p:nvSpPr>
            <p:spPr>
              <a:xfrm>
                <a:off x="3696081" y="3600450"/>
                <a:ext cx="95120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счастья</a:t>
                </a:r>
              </a:p>
            </p:txBody>
          </p:sp>
        </p:grpSp>
        <p:grpSp>
          <p:nvGrpSpPr>
            <p:cNvPr id="68" name="p03-t07"/>
            <p:cNvGrpSpPr/>
            <p:nvPr/>
          </p:nvGrpSpPr>
          <p:grpSpPr>
            <a:xfrm>
              <a:off x="6191250" y="2952750"/>
              <a:ext cx="2571750" cy="1047750"/>
              <a:chOff x="6191250" y="2952750"/>
              <a:chExt cx="2571750" cy="1047750"/>
            </a:xfrm>
          </p:grpSpPr>
          <p:sp>
            <p:nvSpPr>
              <p:cNvPr id="60" name="Rectangle 60"/>
              <p:cNvSpPr/>
              <p:nvPr/>
            </p:nvSpPr>
            <p:spPr>
              <a:xfrm>
                <a:off x="6191250" y="2952750"/>
                <a:ext cx="2571750" cy="1047750"/>
              </a:xfrm>
              <a:prstGeom prst="roundRect">
                <a:avLst>
                  <a:gd name="adj" fmla="val 12727"/>
                </a:avLst>
              </a:prstGeom>
              <a:solidFill>
                <a:srgbClr val="FFFFFF">
                  <a:alpha val="85000"/>
                </a:srgbClr>
              </a:solidFill>
              <a:ln>
                <a:noFill/>
              </a:ln>
            </p:spPr>
          </p:sp>
          <p:grpSp>
            <p:nvGrpSpPr>
              <p:cNvPr id="65" name="Group 65"/>
              <p:cNvGrpSpPr/>
              <p:nvPr/>
            </p:nvGrpSpPr>
            <p:grpSpPr>
              <a:xfrm>
                <a:off x="6514253" y="3205914"/>
                <a:ext cx="192190" cy="289761"/>
                <a:chOff x="6514253" y="3205914"/>
                <a:chExt cx="192190" cy="289761"/>
              </a:xfrm>
            </p:grpSpPr>
            <p:sp>
              <p:nvSpPr>
                <p:cNvPr id="61" name="Freeform 61"/>
                <p:cNvSpPr/>
                <p:nvPr/>
              </p:nvSpPr>
              <p:spPr>
                <a:xfrm>
                  <a:off x="6578600" y="3336925"/>
                  <a:ext cx="31750" cy="31750"/>
                </a:xfrm>
                <a:custGeom>
                  <a:avLst/>
                  <a:gdLst/>
                  <a:ahLst/>
                  <a:cxnLst/>
                  <a:rect l="l" t="t" r="r" b="b"/>
                  <a:pathLst>
                    <a:path w="31750" h="31750">
                      <a:moveTo>
                        <a:pt x="31750" y="31750"/>
                      </a:moveTo>
                      <a:lnTo>
                        <a:pt x="0" y="0"/>
                      </a:lnTo>
                    </a:path>
                  </a:pathLst>
                </a:custGeom>
                <a:noFill/>
                <a:ln w="31750">
                  <a:solidFill>
                    <a:srgbClr val="E67E22"/>
                  </a:solidFill>
                </a:ln>
              </p:spPr>
            </p:sp>
            <p:sp>
              <p:nvSpPr>
                <p:cNvPr id="62" name="Freeform 62"/>
                <p:cNvSpPr/>
                <p:nvPr/>
              </p:nvSpPr>
              <p:spPr>
                <a:xfrm>
                  <a:off x="6610350" y="3321050"/>
                  <a:ext cx="31750" cy="31750"/>
                </a:xfrm>
                <a:custGeom>
                  <a:avLst/>
                  <a:gdLst/>
                  <a:ahLst/>
                  <a:cxnLst/>
                  <a:rect l="l" t="t" r="r" b="b"/>
                  <a:pathLst>
                    <a:path w="31750" h="31750">
                      <a:moveTo>
                        <a:pt x="0" y="31750"/>
                      </a:moveTo>
                      <a:lnTo>
                        <a:pt x="31750" y="0"/>
                      </a:lnTo>
                    </a:path>
                  </a:pathLst>
                </a:custGeom>
                <a:noFill/>
                <a:ln w="31750">
                  <a:solidFill>
                    <a:srgbClr val="E67E22"/>
                  </a:solidFill>
                </a:ln>
              </p:spPr>
            </p:sp>
            <p:sp>
              <p:nvSpPr>
                <p:cNvPr id="63" name="Freeform 63"/>
                <p:cNvSpPr/>
                <p:nvPr/>
              </p:nvSpPr>
              <p:spPr>
                <a:xfrm>
                  <a:off x="6610350" y="3289300"/>
                  <a:ext cx="9525" cy="206375"/>
                </a:xfrm>
                <a:custGeom>
                  <a:avLst/>
                  <a:gdLst/>
                  <a:ahLst/>
                  <a:cxnLst/>
                  <a:rect l="l" t="t" r="r" b="b"/>
                  <a:pathLst>
                    <a:path w="9525" h="206375">
                      <a:moveTo>
                        <a:pt x="0" y="206375"/>
                      </a:moveTo>
                      <a:lnTo>
                        <a:pt x="0" y="0"/>
                      </a:lnTo>
                    </a:path>
                  </a:pathLst>
                </a:custGeom>
                <a:noFill/>
                <a:ln w="31750">
                  <a:solidFill>
                    <a:srgbClr val="E67E22"/>
                  </a:solidFill>
                </a:ln>
              </p:spPr>
            </p:sp>
            <p:sp>
              <p:nvSpPr>
                <p:cNvPr id="64" name="Freeform 64"/>
                <p:cNvSpPr/>
                <p:nvPr/>
              </p:nvSpPr>
              <p:spPr>
                <a:xfrm>
                  <a:off x="6514253" y="3205914"/>
                  <a:ext cx="192190" cy="210469"/>
                </a:xfrm>
                <a:custGeom>
                  <a:avLst/>
                  <a:gdLst/>
                  <a:ahLst/>
                  <a:cxnLst/>
                  <a:rect l="l" t="t" r="r" b="b"/>
                  <a:pathLst>
                    <a:path w="192190" h="210469">
                      <a:moveTo>
                        <a:pt x="61553" y="210386"/>
                      </a:moveTo>
                      <a:cubicBezTo>
                        <a:pt x="47493" y="209563"/>
                        <a:pt x="34518" y="202559"/>
                        <a:pt x="26116" y="191255"/>
                      </a:cubicBezTo>
                      <a:cubicBezTo>
                        <a:pt x="17713" y="179952"/>
                        <a:pt x="14745" y="165509"/>
                        <a:pt x="18008" y="151807"/>
                      </a:cubicBezTo>
                      <a:cubicBezTo>
                        <a:pt x="6335" y="142087"/>
                        <a:pt x="0" y="127381"/>
                        <a:pt x="954" y="112221"/>
                      </a:cubicBezTo>
                      <a:cubicBezTo>
                        <a:pt x="1907" y="97061"/>
                        <a:pt x="10035" y="83265"/>
                        <a:pt x="22834" y="75083"/>
                      </a:cubicBezTo>
                      <a:cubicBezTo>
                        <a:pt x="11404" y="54778"/>
                        <a:pt x="16345" y="29184"/>
                        <a:pt x="34511" y="14592"/>
                      </a:cubicBezTo>
                      <a:cubicBezTo>
                        <a:pt x="52678" y="0"/>
                        <a:pt x="78735" y="695"/>
                        <a:pt x="96097" y="16235"/>
                      </a:cubicBezTo>
                      <a:cubicBezTo>
                        <a:pt x="113463" y="720"/>
                        <a:pt x="139502" y="39"/>
                        <a:pt x="157656" y="14624"/>
                      </a:cubicBezTo>
                      <a:cubicBezTo>
                        <a:pt x="175809" y="29209"/>
                        <a:pt x="180754" y="54783"/>
                        <a:pt x="169345" y="75083"/>
                      </a:cubicBezTo>
                      <a:cubicBezTo>
                        <a:pt x="182146" y="83262"/>
                        <a:pt x="190277" y="97057"/>
                        <a:pt x="191234" y="112217"/>
                      </a:cubicBezTo>
                      <a:cubicBezTo>
                        <a:pt x="192190" y="127377"/>
                        <a:pt x="185858" y="142084"/>
                        <a:pt x="174187" y="151807"/>
                      </a:cubicBezTo>
                      <a:cubicBezTo>
                        <a:pt x="177563" y="165985"/>
                        <a:pt x="174262" y="180927"/>
                        <a:pt x="165228" y="192363"/>
                      </a:cubicBezTo>
                      <a:cubicBezTo>
                        <a:pt x="156194" y="203799"/>
                        <a:pt x="142421" y="210469"/>
                        <a:pt x="127847" y="210466"/>
                      </a:cubicBezTo>
                      <a:lnTo>
                        <a:pt x="64347" y="210466"/>
                      </a:lnTo>
                      <a:lnTo>
                        <a:pt x="61553" y="210386"/>
                      </a:lnTo>
                    </a:path>
                  </a:pathLst>
                </a:custGeom>
                <a:noFill/>
                <a:ln w="31750">
                  <a:solidFill>
                    <a:srgbClr val="E67E22"/>
                  </a:solidFill>
                </a:ln>
              </p:spPr>
            </p:sp>
          </p:grpSp>
          <p:sp>
            <p:nvSpPr>
              <p:cNvPr id="66" name="TextBox 66"/>
              <p:cNvSpPr txBox="1"/>
              <p:nvPr/>
            </p:nvSpPr>
            <p:spPr>
              <a:xfrm>
                <a:off x="6925056" y="3219450"/>
                <a:ext cx="95874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Факторы</a:t>
                </a:r>
              </a:p>
            </p:txBody>
          </p:sp>
          <p:sp>
            <p:nvSpPr>
              <p:cNvPr id="67" name="TextBox 67"/>
              <p:cNvSpPr txBox="1"/>
              <p:nvPr/>
            </p:nvSpPr>
            <p:spPr>
              <a:xfrm>
                <a:off x="6410706" y="3600450"/>
                <a:ext cx="95120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счастья</a:t>
                </a:r>
              </a:p>
            </p:txBody>
          </p:sp>
        </p:grpSp>
        <p:grpSp>
          <p:nvGrpSpPr>
            <p:cNvPr id="76" name="p03-t08"/>
            <p:cNvGrpSpPr/>
            <p:nvPr/>
          </p:nvGrpSpPr>
          <p:grpSpPr>
            <a:xfrm>
              <a:off x="8905875" y="2952750"/>
              <a:ext cx="2571750" cy="1047750"/>
              <a:chOff x="8905875" y="2952750"/>
              <a:chExt cx="2571750" cy="1047750"/>
            </a:xfrm>
          </p:grpSpPr>
          <p:sp>
            <p:nvSpPr>
              <p:cNvPr id="69" name="Rectangle 69"/>
              <p:cNvSpPr/>
              <p:nvPr/>
            </p:nvSpPr>
            <p:spPr>
              <a:xfrm>
                <a:off x="8905875" y="2952750"/>
                <a:ext cx="2571750" cy="1047750"/>
              </a:xfrm>
              <a:prstGeom prst="roundRect">
                <a:avLst>
                  <a:gd name="adj" fmla="val 12727"/>
                </a:avLst>
              </a:prstGeom>
              <a:solidFill>
                <a:srgbClr val="FFFFFF">
                  <a:alpha val="85000"/>
                </a:srgbClr>
              </a:solidFill>
              <a:ln>
                <a:noFill/>
              </a:ln>
            </p:spPr>
          </p:sp>
          <p:grpSp>
            <p:nvGrpSpPr>
              <p:cNvPr id="73" name="Group 73"/>
              <p:cNvGrpSpPr/>
              <p:nvPr/>
            </p:nvGrpSpPr>
            <p:grpSpPr>
              <a:xfrm>
                <a:off x="9182100" y="3209925"/>
                <a:ext cx="285751" cy="285751"/>
                <a:chOff x="9182100" y="3209925"/>
                <a:chExt cx="285751" cy="285751"/>
              </a:xfrm>
            </p:grpSpPr>
            <p:sp>
              <p:nvSpPr>
                <p:cNvPr id="70" name="Freeform 70"/>
                <p:cNvSpPr/>
                <p:nvPr/>
              </p:nvSpPr>
              <p:spPr>
                <a:xfrm>
                  <a:off x="9182100" y="32099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rgbClr val="E67E22"/>
                  </a:solidFill>
                </a:ln>
              </p:spPr>
            </p:sp>
            <p:sp>
              <p:nvSpPr>
                <p:cNvPr id="71" name="Freeform 71"/>
                <p:cNvSpPr/>
                <p:nvPr/>
              </p:nvSpPr>
              <p:spPr>
                <a:xfrm>
                  <a:off x="9277350" y="3288905"/>
                  <a:ext cx="95250" cy="127790"/>
                </a:xfrm>
                <a:custGeom>
                  <a:avLst/>
                  <a:gdLst/>
                  <a:ahLst/>
                  <a:cxnLst/>
                  <a:rect l="l" t="t" r="r" b="b"/>
                  <a:pathLst>
                    <a:path w="95250" h="127790">
                      <a:moveTo>
                        <a:pt x="92075" y="16270"/>
                      </a:moveTo>
                      <a:cubicBezTo>
                        <a:pt x="86215" y="6105"/>
                        <a:pt x="75227" y="0"/>
                        <a:pt x="63500" y="395"/>
                      </a:cubicBezTo>
                      <a:lnTo>
                        <a:pt x="31750" y="395"/>
                      </a:lnTo>
                      <a:cubicBezTo>
                        <a:pt x="14215" y="395"/>
                        <a:pt x="0" y="14610"/>
                        <a:pt x="0" y="32145"/>
                      </a:cubicBezTo>
                      <a:cubicBezTo>
                        <a:pt x="0" y="49680"/>
                        <a:pt x="14215" y="63895"/>
                        <a:pt x="31750" y="63895"/>
                      </a:cubicBezTo>
                      <a:lnTo>
                        <a:pt x="63500" y="63895"/>
                      </a:lnTo>
                      <a:cubicBezTo>
                        <a:pt x="81035" y="63895"/>
                        <a:pt x="95250" y="78110"/>
                        <a:pt x="95250" y="95645"/>
                      </a:cubicBezTo>
                      <a:cubicBezTo>
                        <a:pt x="95250" y="113180"/>
                        <a:pt x="81035" y="127395"/>
                        <a:pt x="63500" y="127395"/>
                      </a:cubicBezTo>
                      <a:lnTo>
                        <a:pt x="31750" y="127395"/>
                      </a:lnTo>
                      <a:cubicBezTo>
                        <a:pt x="20023" y="127790"/>
                        <a:pt x="9035" y="121685"/>
                        <a:pt x="3175" y="111520"/>
                      </a:cubicBezTo>
                    </a:path>
                  </a:pathLst>
                </a:custGeom>
                <a:noFill/>
                <a:ln w="31750">
                  <a:solidFill>
                    <a:srgbClr val="E67E22"/>
                  </a:solidFill>
                </a:ln>
              </p:spPr>
            </p:sp>
            <p:sp>
              <p:nvSpPr>
                <p:cNvPr id="72" name="Freeform 72"/>
                <p:cNvSpPr/>
                <p:nvPr/>
              </p:nvSpPr>
              <p:spPr>
                <a:xfrm>
                  <a:off x="9324975" y="3273425"/>
                  <a:ext cx="9525" cy="158750"/>
                </a:xfrm>
                <a:custGeom>
                  <a:avLst/>
                  <a:gdLst/>
                  <a:ahLst/>
                  <a:cxnLst/>
                  <a:rect l="l" t="t" r="r" b="b"/>
                  <a:pathLst>
                    <a:path w="9525" h="158750">
                      <a:moveTo>
                        <a:pt x="0" y="0"/>
                      </a:moveTo>
                      <a:lnTo>
                        <a:pt x="0" y="158750"/>
                      </a:lnTo>
                    </a:path>
                  </a:pathLst>
                </a:custGeom>
                <a:noFill/>
                <a:ln w="31750">
                  <a:solidFill>
                    <a:srgbClr val="E67E22"/>
                  </a:solidFill>
                </a:ln>
              </p:spPr>
            </p:sp>
          </p:grpSp>
          <p:sp>
            <p:nvSpPr>
              <p:cNvPr id="74" name="TextBox 74"/>
              <p:cNvSpPr txBox="1"/>
              <p:nvPr/>
            </p:nvSpPr>
            <p:spPr>
              <a:xfrm>
                <a:off x="9639681" y="3219450"/>
                <a:ext cx="109202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Парадокс</a:t>
                </a:r>
              </a:p>
            </p:txBody>
          </p:sp>
          <p:sp>
            <p:nvSpPr>
              <p:cNvPr id="75" name="TextBox 75"/>
              <p:cNvSpPr txBox="1"/>
              <p:nvPr/>
            </p:nvSpPr>
            <p:spPr>
              <a:xfrm>
                <a:off x="9125331" y="3600450"/>
                <a:ext cx="1225296"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Истерлина</a:t>
                </a:r>
              </a:p>
            </p:txBody>
          </p:sp>
        </p:grpSp>
        <p:grpSp>
          <p:nvGrpSpPr>
            <p:cNvPr id="83" name="p03-t09"/>
            <p:cNvGrpSpPr/>
            <p:nvPr/>
          </p:nvGrpSpPr>
          <p:grpSpPr>
            <a:xfrm>
              <a:off x="762000" y="4191000"/>
              <a:ext cx="2571750" cy="1047750"/>
              <a:chOff x="762000" y="4191000"/>
              <a:chExt cx="2571750" cy="1047750"/>
            </a:xfrm>
          </p:grpSpPr>
          <p:sp>
            <p:nvSpPr>
              <p:cNvPr id="77" name="Rectangle 77"/>
              <p:cNvSpPr/>
              <p:nvPr/>
            </p:nvSpPr>
            <p:spPr>
              <a:xfrm>
                <a:off x="762000" y="4191000"/>
                <a:ext cx="2571750" cy="1047750"/>
              </a:xfrm>
              <a:prstGeom prst="roundRect">
                <a:avLst>
                  <a:gd name="adj" fmla="val 12727"/>
                </a:avLst>
              </a:prstGeom>
              <a:solidFill>
                <a:srgbClr val="FFFFFF">
                  <a:alpha val="85000"/>
                </a:srgbClr>
              </a:solidFill>
              <a:ln>
                <a:noFill/>
              </a:ln>
            </p:spPr>
          </p:sp>
          <p:grpSp>
            <p:nvGrpSpPr>
              <p:cNvPr id="80" name="Group 80"/>
              <p:cNvGrpSpPr/>
              <p:nvPr/>
            </p:nvGrpSpPr>
            <p:grpSpPr>
              <a:xfrm>
                <a:off x="1022350" y="4479925"/>
                <a:ext cx="317501" cy="222250"/>
                <a:chOff x="1022350" y="4479925"/>
                <a:chExt cx="317501" cy="222250"/>
              </a:xfrm>
            </p:grpSpPr>
            <p:sp>
              <p:nvSpPr>
                <p:cNvPr id="78" name="Freeform 78"/>
                <p:cNvSpPr/>
                <p:nvPr/>
              </p:nvSpPr>
              <p:spPr>
                <a:xfrm>
                  <a:off x="1022350" y="4479925"/>
                  <a:ext cx="317501" cy="158750"/>
                </a:xfrm>
                <a:custGeom>
                  <a:avLst/>
                  <a:gdLst/>
                  <a:ahLst/>
                  <a:cxnLst/>
                  <a:rect l="l" t="t" r="r" b="b"/>
                  <a:pathLst>
                    <a:path w="317501" h="158750">
                      <a:moveTo>
                        <a:pt x="317501" y="63500"/>
                      </a:moveTo>
                      <a:lnTo>
                        <a:pt x="158750" y="0"/>
                      </a:lnTo>
                      <a:lnTo>
                        <a:pt x="0" y="63500"/>
                      </a:lnTo>
                      <a:lnTo>
                        <a:pt x="158750" y="127000"/>
                      </a:lnTo>
                      <a:lnTo>
                        <a:pt x="317501" y="63500"/>
                      </a:lnTo>
                      <a:lnTo>
                        <a:pt x="317501" y="158750"/>
                      </a:lnTo>
                    </a:path>
                  </a:pathLst>
                </a:custGeom>
                <a:noFill/>
                <a:ln w="31750">
                  <a:solidFill>
                    <a:srgbClr val="E74C3C"/>
                  </a:solidFill>
                </a:ln>
              </p:spPr>
            </p:sp>
            <p:sp>
              <p:nvSpPr>
                <p:cNvPr id="79" name="Freeform 79"/>
                <p:cNvSpPr/>
                <p:nvPr/>
              </p:nvSpPr>
              <p:spPr>
                <a:xfrm>
                  <a:off x="1085850" y="4568825"/>
                  <a:ext cx="190500" cy="133350"/>
                </a:xfrm>
                <a:custGeom>
                  <a:avLst/>
                  <a:gdLst/>
                  <a:ahLst/>
                  <a:cxnLst/>
                  <a:rect l="l" t="t" r="r" b="b"/>
                  <a:pathLst>
                    <a:path w="190500" h="133350">
                      <a:moveTo>
                        <a:pt x="0" y="0"/>
                      </a:moveTo>
                      <a:lnTo>
                        <a:pt x="0" y="85725"/>
                      </a:lnTo>
                      <a:cubicBezTo>
                        <a:pt x="0" y="112028"/>
                        <a:pt x="42645" y="133350"/>
                        <a:pt x="95250" y="133350"/>
                      </a:cubicBezTo>
                      <a:cubicBezTo>
                        <a:pt x="147855" y="133350"/>
                        <a:pt x="190500" y="112028"/>
                        <a:pt x="190500" y="85725"/>
                      </a:cubicBezTo>
                      <a:lnTo>
                        <a:pt x="190500" y="0"/>
                      </a:lnTo>
                    </a:path>
                  </a:pathLst>
                </a:custGeom>
                <a:noFill/>
                <a:ln w="31750">
                  <a:solidFill>
                    <a:srgbClr val="E74C3C"/>
                  </a:solidFill>
                </a:ln>
              </p:spPr>
            </p:sp>
          </p:grpSp>
          <p:sp>
            <p:nvSpPr>
              <p:cNvPr id="81" name="TextBox 81"/>
              <p:cNvSpPr txBox="1"/>
              <p:nvPr/>
            </p:nvSpPr>
            <p:spPr>
              <a:xfrm>
                <a:off x="1495806" y="4457700"/>
                <a:ext cx="95874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Счастье</a:t>
                </a:r>
              </a:p>
            </p:txBody>
          </p:sp>
          <p:sp>
            <p:nvSpPr>
              <p:cNvPr id="82" name="TextBox 82"/>
              <p:cNvSpPr txBox="1"/>
              <p:nvPr/>
            </p:nvSpPr>
            <p:spPr>
              <a:xfrm>
                <a:off x="981456" y="4838700"/>
                <a:ext cx="168488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и образование</a:t>
                </a:r>
              </a:p>
            </p:txBody>
          </p:sp>
        </p:grpSp>
        <p:grpSp>
          <p:nvGrpSpPr>
            <p:cNvPr id="91" name="p03-t10"/>
            <p:cNvGrpSpPr/>
            <p:nvPr/>
          </p:nvGrpSpPr>
          <p:grpSpPr>
            <a:xfrm>
              <a:off x="3476625" y="4191000"/>
              <a:ext cx="2571750" cy="1047750"/>
              <a:chOff x="3476625" y="4191000"/>
              <a:chExt cx="2571750" cy="1047750"/>
            </a:xfrm>
          </p:grpSpPr>
          <p:sp>
            <p:nvSpPr>
              <p:cNvPr id="84" name="Rectangle 84"/>
              <p:cNvSpPr/>
              <p:nvPr/>
            </p:nvSpPr>
            <p:spPr>
              <a:xfrm>
                <a:off x="3476625" y="4191000"/>
                <a:ext cx="2571750" cy="1047750"/>
              </a:xfrm>
              <a:prstGeom prst="roundRect">
                <a:avLst>
                  <a:gd name="adj" fmla="val 12727"/>
                </a:avLst>
              </a:prstGeom>
              <a:solidFill>
                <a:srgbClr val="FFFFFF">
                  <a:alpha val="85000"/>
                </a:srgbClr>
              </a:solidFill>
              <a:ln>
                <a:noFill/>
              </a:ln>
            </p:spPr>
          </p:sp>
          <p:grpSp>
            <p:nvGrpSpPr>
              <p:cNvPr id="88" name="Group 88"/>
              <p:cNvGrpSpPr/>
              <p:nvPr/>
            </p:nvGrpSpPr>
            <p:grpSpPr>
              <a:xfrm>
                <a:off x="3800475" y="4448175"/>
                <a:ext cx="190500" cy="285751"/>
                <a:chOff x="3800475" y="4448175"/>
                <a:chExt cx="190500" cy="285751"/>
              </a:xfrm>
            </p:grpSpPr>
            <p:sp>
              <p:nvSpPr>
                <p:cNvPr id="85" name="Freeform 85"/>
                <p:cNvSpPr/>
                <p:nvPr/>
              </p:nvSpPr>
              <p:spPr>
                <a:xfrm>
                  <a:off x="3800475" y="4448175"/>
                  <a:ext cx="190500" cy="285751"/>
                </a:xfrm>
                <a:custGeom>
                  <a:avLst/>
                  <a:gdLst/>
                  <a:ahLst/>
                  <a:cxnLst/>
                  <a:rect l="l" t="t" r="r" b="b"/>
                  <a:pathLst>
                    <a:path w="190500" h="285751">
                      <a:moveTo>
                        <a:pt x="0" y="31750"/>
                      </a:moveTo>
                      <a:cubicBezTo>
                        <a:pt x="0" y="14215"/>
                        <a:pt x="14215" y="0"/>
                        <a:pt x="31750" y="0"/>
                      </a:cubicBezTo>
                      <a:lnTo>
                        <a:pt x="158750" y="0"/>
                      </a:lnTo>
                      <a:cubicBezTo>
                        <a:pt x="176285" y="0"/>
                        <a:pt x="190500" y="14215"/>
                        <a:pt x="190500" y="31750"/>
                      </a:cubicBezTo>
                      <a:lnTo>
                        <a:pt x="190500" y="254001"/>
                      </a:lnTo>
                      <a:cubicBezTo>
                        <a:pt x="190500" y="271536"/>
                        <a:pt x="176285" y="285751"/>
                        <a:pt x="158750" y="285751"/>
                      </a:cubicBezTo>
                      <a:lnTo>
                        <a:pt x="31750" y="285751"/>
                      </a:lnTo>
                      <a:cubicBezTo>
                        <a:pt x="14215" y="285751"/>
                        <a:pt x="0" y="271536"/>
                        <a:pt x="0" y="254001"/>
                      </a:cubicBezTo>
                      <a:lnTo>
                        <a:pt x="0" y="31750"/>
                      </a:lnTo>
                    </a:path>
                  </a:pathLst>
                </a:custGeom>
                <a:noFill/>
                <a:ln w="31750">
                  <a:solidFill>
                    <a:srgbClr val="E74C3C"/>
                  </a:solidFill>
                </a:ln>
              </p:spPr>
            </p:sp>
            <p:sp>
              <p:nvSpPr>
                <p:cNvPr id="86" name="Freeform 86"/>
                <p:cNvSpPr/>
                <p:nvPr/>
              </p:nvSpPr>
              <p:spPr>
                <a:xfrm>
                  <a:off x="3879850" y="4464050"/>
                  <a:ext cx="31750" cy="9525"/>
                </a:xfrm>
                <a:custGeom>
                  <a:avLst/>
                  <a:gdLst/>
                  <a:ahLst/>
                  <a:cxnLst/>
                  <a:rect l="l" t="t" r="r" b="b"/>
                  <a:pathLst>
                    <a:path w="31750" h="9525">
                      <a:moveTo>
                        <a:pt x="0" y="0"/>
                      </a:moveTo>
                      <a:lnTo>
                        <a:pt x="31750" y="0"/>
                      </a:lnTo>
                    </a:path>
                  </a:pathLst>
                </a:custGeom>
                <a:noFill/>
                <a:ln w="31750">
                  <a:solidFill>
                    <a:srgbClr val="E74C3C"/>
                  </a:solidFill>
                </a:ln>
              </p:spPr>
            </p:sp>
            <p:sp>
              <p:nvSpPr>
                <p:cNvPr id="87" name="Freeform 87"/>
                <p:cNvSpPr/>
                <p:nvPr/>
              </p:nvSpPr>
              <p:spPr>
                <a:xfrm>
                  <a:off x="3895725" y="4670426"/>
                  <a:ext cx="9525" cy="9525"/>
                </a:xfrm>
                <a:custGeom>
                  <a:avLst/>
                  <a:gdLst/>
                  <a:ahLst/>
                  <a:cxnLst/>
                  <a:rect l="l" t="t" r="r" b="b"/>
                  <a:pathLst>
                    <a:path w="9525" h="9525">
                      <a:moveTo>
                        <a:pt x="0" y="0"/>
                      </a:moveTo>
                      <a:lnTo>
                        <a:pt x="0" y="159"/>
                      </a:lnTo>
                    </a:path>
                  </a:pathLst>
                </a:custGeom>
                <a:noFill/>
                <a:ln w="31750">
                  <a:solidFill>
                    <a:srgbClr val="E74C3C"/>
                  </a:solidFill>
                </a:ln>
              </p:spPr>
            </p:sp>
          </p:grpSp>
          <p:sp>
            <p:nvSpPr>
              <p:cNvPr id="89" name="TextBox 89"/>
              <p:cNvSpPr txBox="1"/>
              <p:nvPr/>
            </p:nvSpPr>
            <p:spPr>
              <a:xfrm>
                <a:off x="4210431" y="4457700"/>
                <a:ext cx="109202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Цифровая</a:t>
                </a:r>
              </a:p>
            </p:txBody>
          </p:sp>
          <p:sp>
            <p:nvSpPr>
              <p:cNvPr id="90" name="TextBox 90"/>
              <p:cNvSpPr txBox="1"/>
              <p:nvPr/>
            </p:nvSpPr>
            <p:spPr>
              <a:xfrm>
                <a:off x="3696081" y="4838700"/>
                <a:ext cx="68465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эпоха</a:t>
                </a:r>
              </a:p>
            </p:txBody>
          </p:sp>
        </p:grpSp>
        <p:grpSp>
          <p:nvGrpSpPr>
            <p:cNvPr id="99" name="p03-t11"/>
            <p:cNvGrpSpPr/>
            <p:nvPr/>
          </p:nvGrpSpPr>
          <p:grpSpPr>
            <a:xfrm>
              <a:off x="6191250" y="4191000"/>
              <a:ext cx="2571750" cy="1047750"/>
              <a:chOff x="6191250" y="4191000"/>
              <a:chExt cx="2571750" cy="1047750"/>
            </a:xfrm>
          </p:grpSpPr>
          <p:sp>
            <p:nvSpPr>
              <p:cNvPr id="92" name="Rectangle 92"/>
              <p:cNvSpPr/>
              <p:nvPr/>
            </p:nvSpPr>
            <p:spPr>
              <a:xfrm>
                <a:off x="6191250" y="4191000"/>
                <a:ext cx="2571750" cy="1047750"/>
              </a:xfrm>
              <a:prstGeom prst="roundRect">
                <a:avLst>
                  <a:gd name="adj" fmla="val 12727"/>
                </a:avLst>
              </a:prstGeom>
              <a:solidFill>
                <a:srgbClr val="FFFFFF">
                  <a:alpha val="85000"/>
                </a:srgbClr>
              </a:solidFill>
              <a:ln>
                <a:noFill/>
              </a:ln>
            </p:spPr>
          </p:sp>
          <p:grpSp>
            <p:nvGrpSpPr>
              <p:cNvPr id="96" name="Group 96"/>
              <p:cNvGrpSpPr/>
              <p:nvPr/>
            </p:nvGrpSpPr>
            <p:grpSpPr>
              <a:xfrm>
                <a:off x="6499225" y="4448175"/>
                <a:ext cx="222250" cy="285751"/>
                <a:chOff x="6499225" y="4448175"/>
                <a:chExt cx="222250" cy="285751"/>
              </a:xfrm>
            </p:grpSpPr>
            <p:sp>
              <p:nvSpPr>
                <p:cNvPr id="93" name="Freeform 93"/>
                <p:cNvSpPr/>
                <p:nvPr/>
              </p:nvSpPr>
              <p:spPr>
                <a:xfrm>
                  <a:off x="6499225" y="4479925"/>
                  <a:ext cx="222250" cy="254001"/>
                </a:xfrm>
                <a:custGeom>
                  <a:avLst/>
                  <a:gdLst/>
                  <a:ahLst/>
                  <a:cxnLst/>
                  <a:rect l="l" t="t" r="r" b="b"/>
                  <a:pathLst>
                    <a:path w="222250" h="254001">
                      <a:moveTo>
                        <a:pt x="63500" y="0"/>
                      </a:moveTo>
                      <a:lnTo>
                        <a:pt x="31750" y="0"/>
                      </a:lnTo>
                      <a:cubicBezTo>
                        <a:pt x="14215" y="0"/>
                        <a:pt x="0" y="14215"/>
                        <a:pt x="0" y="31750"/>
                      </a:cubicBezTo>
                      <a:lnTo>
                        <a:pt x="0" y="222250"/>
                      </a:lnTo>
                      <a:cubicBezTo>
                        <a:pt x="0" y="239786"/>
                        <a:pt x="14215" y="254001"/>
                        <a:pt x="31750" y="254001"/>
                      </a:cubicBezTo>
                      <a:lnTo>
                        <a:pt x="190500" y="254001"/>
                      </a:lnTo>
                      <a:cubicBezTo>
                        <a:pt x="208035" y="254001"/>
                        <a:pt x="222250" y="239786"/>
                        <a:pt x="222250" y="222250"/>
                      </a:cubicBezTo>
                      <a:lnTo>
                        <a:pt x="222250" y="31750"/>
                      </a:lnTo>
                      <a:cubicBezTo>
                        <a:pt x="222250" y="14215"/>
                        <a:pt x="208035" y="0"/>
                        <a:pt x="190500" y="0"/>
                      </a:cubicBezTo>
                      <a:lnTo>
                        <a:pt x="158750" y="0"/>
                      </a:lnTo>
                    </a:path>
                  </a:pathLst>
                </a:custGeom>
                <a:noFill/>
                <a:ln w="31750">
                  <a:solidFill>
                    <a:srgbClr val="E74C3C"/>
                  </a:solidFill>
                </a:ln>
              </p:spPr>
            </p:sp>
            <p:sp>
              <p:nvSpPr>
                <p:cNvPr id="94" name="Freeform 94"/>
                <p:cNvSpPr/>
                <p:nvPr/>
              </p:nvSpPr>
              <p:spPr>
                <a:xfrm>
                  <a:off x="6562725" y="4448175"/>
                  <a:ext cx="95250" cy="63500"/>
                </a:xfrm>
                <a:custGeom>
                  <a:avLst/>
                  <a:gdLst/>
                  <a:ahLst/>
                  <a:cxnLst/>
                  <a:rect l="l" t="t" r="r" b="b"/>
                  <a:pathLst>
                    <a:path w="95250" h="63500">
                      <a:moveTo>
                        <a:pt x="0" y="31750"/>
                      </a:moveTo>
                      <a:cubicBezTo>
                        <a:pt x="0" y="14215"/>
                        <a:pt x="14215" y="0"/>
                        <a:pt x="31750" y="0"/>
                      </a:cubicBezTo>
                      <a:lnTo>
                        <a:pt x="63500" y="0"/>
                      </a:lnTo>
                      <a:cubicBezTo>
                        <a:pt x="81035" y="0"/>
                        <a:pt x="95250" y="14215"/>
                        <a:pt x="95250" y="31750"/>
                      </a:cubicBezTo>
                      <a:cubicBezTo>
                        <a:pt x="95250" y="49285"/>
                        <a:pt x="81035" y="63500"/>
                        <a:pt x="63500" y="63500"/>
                      </a:cubicBezTo>
                      <a:lnTo>
                        <a:pt x="31750" y="63500"/>
                      </a:lnTo>
                      <a:cubicBezTo>
                        <a:pt x="14215" y="63500"/>
                        <a:pt x="0" y="49285"/>
                        <a:pt x="0" y="31750"/>
                      </a:cubicBezTo>
                    </a:path>
                  </a:pathLst>
                </a:custGeom>
                <a:noFill/>
                <a:ln w="31750">
                  <a:solidFill>
                    <a:srgbClr val="E74C3C"/>
                  </a:solidFill>
                </a:ln>
              </p:spPr>
            </p:sp>
            <p:sp>
              <p:nvSpPr>
                <p:cNvPr id="95" name="Freeform 95"/>
                <p:cNvSpPr/>
                <p:nvPr/>
              </p:nvSpPr>
              <p:spPr>
                <a:xfrm>
                  <a:off x="6562725" y="4591050"/>
                  <a:ext cx="95250" cy="63500"/>
                </a:xfrm>
                <a:custGeom>
                  <a:avLst/>
                  <a:gdLst/>
                  <a:ahLst/>
                  <a:cxnLst/>
                  <a:rect l="l" t="t" r="r" b="b"/>
                  <a:pathLst>
                    <a:path w="95250" h="63500">
                      <a:moveTo>
                        <a:pt x="0" y="31750"/>
                      </a:moveTo>
                      <a:lnTo>
                        <a:pt x="31750" y="63500"/>
                      </a:lnTo>
                      <a:lnTo>
                        <a:pt x="95250" y="0"/>
                      </a:lnTo>
                    </a:path>
                  </a:pathLst>
                </a:custGeom>
                <a:noFill/>
                <a:ln w="31750">
                  <a:solidFill>
                    <a:srgbClr val="E74C3C"/>
                  </a:solidFill>
                </a:ln>
              </p:spPr>
            </p:sp>
          </p:grpSp>
          <p:sp>
            <p:nvSpPr>
              <p:cNvPr id="97" name="TextBox 97"/>
              <p:cNvSpPr txBox="1"/>
              <p:nvPr/>
            </p:nvSpPr>
            <p:spPr>
              <a:xfrm>
                <a:off x="6925056" y="4457700"/>
                <a:ext cx="104009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Рекомен-</a:t>
                </a:r>
              </a:p>
            </p:txBody>
          </p:sp>
          <p:sp>
            <p:nvSpPr>
              <p:cNvPr id="98" name="TextBox 98"/>
              <p:cNvSpPr txBox="1"/>
              <p:nvPr/>
            </p:nvSpPr>
            <p:spPr>
              <a:xfrm>
                <a:off x="6410706" y="4838700"/>
                <a:ext cx="68465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дации</a:t>
                </a:r>
              </a:p>
            </p:txBody>
          </p:sp>
        </p:grpSp>
        <p:grpSp>
          <p:nvGrpSpPr>
            <p:cNvPr id="106" name="p03-t12"/>
            <p:cNvGrpSpPr/>
            <p:nvPr/>
          </p:nvGrpSpPr>
          <p:grpSpPr>
            <a:xfrm>
              <a:off x="8905875" y="4191000"/>
              <a:ext cx="2571750" cy="1047750"/>
              <a:chOff x="8905875" y="4191000"/>
              <a:chExt cx="2571750" cy="1047750"/>
            </a:xfrm>
          </p:grpSpPr>
          <p:sp>
            <p:nvSpPr>
              <p:cNvPr id="100" name="Rectangle 100"/>
              <p:cNvSpPr/>
              <p:nvPr/>
            </p:nvSpPr>
            <p:spPr>
              <a:xfrm>
                <a:off x="8905875" y="4191000"/>
                <a:ext cx="2571750" cy="1047750"/>
              </a:xfrm>
              <a:prstGeom prst="roundRect">
                <a:avLst>
                  <a:gd name="adj" fmla="val 12727"/>
                </a:avLst>
              </a:prstGeom>
              <a:solidFill>
                <a:srgbClr val="FFFFFF">
                  <a:alpha val="85000"/>
                </a:srgbClr>
              </a:solidFill>
              <a:ln>
                <a:noFill/>
              </a:ln>
            </p:spPr>
          </p:sp>
          <p:grpSp>
            <p:nvGrpSpPr>
              <p:cNvPr id="104" name="Group 104"/>
              <p:cNvGrpSpPr/>
              <p:nvPr/>
            </p:nvGrpSpPr>
            <p:grpSpPr>
              <a:xfrm>
                <a:off x="9188482" y="4448175"/>
                <a:ext cx="272955" cy="284004"/>
                <a:chOff x="9188482" y="4448175"/>
                <a:chExt cx="272955" cy="284004"/>
              </a:xfrm>
            </p:grpSpPr>
            <p:sp>
              <p:nvSpPr>
                <p:cNvPr id="101" name="Freeform 101"/>
                <p:cNvSpPr/>
                <p:nvPr/>
              </p:nvSpPr>
              <p:spPr>
                <a:xfrm>
                  <a:off x="9229725" y="4448175"/>
                  <a:ext cx="190500" cy="190500"/>
                </a:xfrm>
                <a:custGeom>
                  <a:avLst/>
                  <a:gdLst/>
                  <a:ahLst/>
                  <a:cxnLst/>
                  <a:rect l="l" t="t" r="r" b="b"/>
                  <a:pathLst>
                    <a:path w="190500" h="190500">
                      <a:moveTo>
                        <a:pt x="0" y="95250"/>
                      </a:moveTo>
                      <a:cubicBezTo>
                        <a:pt x="0" y="147855"/>
                        <a:pt x="42645" y="190500"/>
                        <a:pt x="95250" y="190500"/>
                      </a:cubicBezTo>
                      <a:cubicBezTo>
                        <a:pt x="147855" y="190500"/>
                        <a:pt x="190500" y="147855"/>
                        <a:pt x="190500" y="95250"/>
                      </a:cubicBezTo>
                      <a:cubicBezTo>
                        <a:pt x="190500" y="42645"/>
                        <a:pt x="147855" y="0"/>
                        <a:pt x="95250" y="0"/>
                      </a:cubicBezTo>
                      <a:cubicBezTo>
                        <a:pt x="42645" y="0"/>
                        <a:pt x="0" y="42645"/>
                        <a:pt x="0" y="95250"/>
                      </a:cubicBezTo>
                    </a:path>
                  </a:pathLst>
                </a:custGeom>
                <a:noFill/>
                <a:ln w="31750">
                  <a:solidFill>
                    <a:srgbClr val="E74C3C"/>
                  </a:solidFill>
                </a:ln>
              </p:spPr>
            </p:sp>
            <p:sp>
              <p:nvSpPr>
                <p:cNvPr id="102" name="Freeform 102"/>
                <p:cNvSpPr/>
                <p:nvPr/>
              </p:nvSpPr>
              <p:spPr>
                <a:xfrm>
                  <a:off x="9324975" y="4591050"/>
                  <a:ext cx="136462" cy="141129"/>
                </a:xfrm>
                <a:custGeom>
                  <a:avLst/>
                  <a:gdLst/>
                  <a:ahLst/>
                  <a:cxnLst/>
                  <a:rect l="l" t="t" r="r" b="b"/>
                  <a:pathLst>
                    <a:path w="136462" h="141129">
                      <a:moveTo>
                        <a:pt x="0" y="47625"/>
                      </a:moveTo>
                      <a:lnTo>
                        <a:pt x="53975" y="141129"/>
                      </a:lnTo>
                      <a:lnTo>
                        <a:pt x="79343" y="89805"/>
                      </a:lnTo>
                      <a:lnTo>
                        <a:pt x="136462" y="93488"/>
                      </a:lnTo>
                      <a:lnTo>
                        <a:pt x="82487" y="0"/>
                      </a:lnTo>
                    </a:path>
                  </a:pathLst>
                </a:custGeom>
                <a:noFill/>
                <a:ln w="31750">
                  <a:solidFill>
                    <a:srgbClr val="E74C3C"/>
                  </a:solidFill>
                </a:ln>
              </p:spPr>
            </p:sp>
            <p:sp>
              <p:nvSpPr>
                <p:cNvPr id="103" name="Freeform 103"/>
                <p:cNvSpPr/>
                <p:nvPr/>
              </p:nvSpPr>
              <p:spPr>
                <a:xfrm>
                  <a:off x="9188482" y="4591050"/>
                  <a:ext cx="136462" cy="141113"/>
                </a:xfrm>
                <a:custGeom>
                  <a:avLst/>
                  <a:gdLst/>
                  <a:ahLst/>
                  <a:cxnLst/>
                  <a:rect l="l" t="t" r="r" b="b"/>
                  <a:pathLst>
                    <a:path w="136462" h="141113">
                      <a:moveTo>
                        <a:pt x="53975" y="0"/>
                      </a:moveTo>
                      <a:lnTo>
                        <a:pt x="0" y="93504"/>
                      </a:lnTo>
                      <a:lnTo>
                        <a:pt x="57118" y="89805"/>
                      </a:lnTo>
                      <a:lnTo>
                        <a:pt x="82487" y="141113"/>
                      </a:lnTo>
                      <a:lnTo>
                        <a:pt x="136462" y="47625"/>
                      </a:lnTo>
                    </a:path>
                  </a:pathLst>
                </a:custGeom>
                <a:noFill/>
                <a:ln w="31750">
                  <a:solidFill>
                    <a:srgbClr val="E74C3C"/>
                  </a:solidFill>
                </a:ln>
              </p:spPr>
            </p:sp>
          </p:grpSp>
          <p:sp>
            <p:nvSpPr>
              <p:cNvPr id="105" name="TextBox 105"/>
              <p:cNvSpPr txBox="1"/>
              <p:nvPr/>
            </p:nvSpPr>
            <p:spPr>
              <a:xfrm>
                <a:off x="9639681" y="4457700"/>
                <a:ext cx="82547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Выводы</a:t>
                </a:r>
              </a:p>
            </p:txBody>
          </p:sp>
        </p:grpSp>
      </p:grpSp>
      <p:sp>
        <p:nvSpPr>
          <p:cNvPr id="108" name="credit"/>
          <p:cNvSpPr txBox="1"/>
          <p:nvPr/>
        </p:nvSpPr>
        <p:spPr>
          <a:xfrm>
            <a:off x="755904" y="6629400"/>
            <a:ext cx="2863363"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Shixart1985 / Wikimedia / CC BY 2.0</a:t>
            </a:r>
          </a:p>
        </p:txBody>
      </p:sp>
      <p:pic>
        <p:nvPicPr>
          <p:cNvPr id="109" name="PPT Master narration: narration3.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1508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107"/>
                                        </p:tgtEl>
                                        <p:attrNameLst>
                                          <p:attrName>style.visibility</p:attrName>
                                        </p:attrNameLst>
                                      </p:cBhvr>
                                      <p:to>
                                        <p:strVal val="visible"/>
                                      </p:to>
                                    </p:set>
                                    <p:animEffect transition="in" filter="fade">
                                      <p:cBhvr>
                                        <p:cTn id="11"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300"/>
                  </p:stCondLst>
                </p:cTn>
                <p:tgtEl>
                  <p:spTgt spid="109"/>
                </p:tgtEl>
              </p:cMediaNode>
            </p:audio>
          </p:childTnLst>
        </p:cTn>
      </p:par>
    </p:tnLst>
  </p:timing>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4"/>
          <p:cNvPicPr>
            <a:picLocks noChangeAspect="1"/>
          </p:cNvPicPr>
          <p:nvPr/>
        </p:nvPicPr>
        <p:blipFill>
          <a:blip r:embed="rId2"/>
          <a:srcRect l="0" t="14932" r="0" b="14931"/>
          <a:stretch>
            <a:fillRect/>
          </a:stretch>
        </p:blipFill>
        <p:spPr>
          <a:xfrm>
            <a:off x="0" y="0"/>
            <a:ext cx="12192000" cy="6858000"/>
          </a:xfrm>
          <a:prstGeom prst="rect">
            <a:avLst/>
          </a:prstGeom>
        </p:spPr>
      </p:pic>
      <p:sp>
        <p:nvSpPr>
          <p:cNvPr id="3" name="p04-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4-accent"/>
          <p:cNvSpPr/>
          <p:nvPr/>
        </p:nvSpPr>
        <p:spPr>
          <a:xfrm>
            <a:off x="0" y="0"/>
            <a:ext cx="12192000" cy="57150"/>
          </a:xfrm>
          <a:prstGeom prst="rect">
            <a:avLst/>
          </a:prstGeom>
          <a:solidFill>
            <a:srgbClr val="E74C3C"/>
          </a:solidFill>
          <a:ln>
            <a:noFill/>
          </a:ln>
        </p:spPr>
      </p:sp>
      <p:sp>
        <p:nvSpPr>
          <p:cNvPr id="5" name="p04-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04-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04</a:t>
            </a:r>
          </a:p>
        </p:txBody>
      </p:sp>
      <p:grpSp>
        <p:nvGrpSpPr>
          <p:cNvPr id="9" name="p04-title"/>
          <p:cNvGrpSpPr/>
          <p:nvPr/>
        </p:nvGrpSpPr>
        <p:grpSpPr>
          <a:xfrm>
            <a:off x="743712" y="527050"/>
            <a:ext cx="8074764" cy="967994"/>
            <a:chOff x="743712" y="527050"/>
            <a:chExt cx="8074764" cy="967994"/>
          </a:xfrm>
        </p:grpSpPr>
        <p:sp>
          <p:nvSpPr>
            <p:cNvPr id="7" name="TextBox 7"/>
            <p:cNvSpPr txBox="1"/>
            <p:nvPr/>
          </p:nvSpPr>
          <p:spPr>
            <a:xfrm>
              <a:off x="743712" y="527050"/>
              <a:ext cx="8074764"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Депрессия растёт — счастье нет</a:t>
              </a:r>
            </a:p>
          </p:txBody>
        </p:sp>
        <p:sp>
          <p:nvSpPr>
            <p:cNvPr id="8" name="TextBox 8"/>
            <p:cNvSpPr txBox="1"/>
            <p:nvPr/>
          </p:nvSpPr>
          <p:spPr>
            <a:xfrm>
              <a:off x="752856" y="1143000"/>
              <a:ext cx="6948470"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Литературы о счастье всё больше. Счастливых людей — нет.</a:t>
              </a:r>
            </a:p>
          </p:txBody>
        </p:sp>
      </p:grpSp>
      <p:grpSp>
        <p:nvGrpSpPr>
          <p:cNvPr id="21" name="p04-depression"/>
          <p:cNvGrpSpPr/>
          <p:nvPr/>
        </p:nvGrpSpPr>
        <p:grpSpPr>
          <a:xfrm>
            <a:off x="762000" y="1762125"/>
            <a:ext cx="5143500" cy="3810000"/>
            <a:chOff x="762000" y="1762125"/>
            <a:chExt cx="5143500" cy="3810000"/>
          </a:xfrm>
        </p:grpSpPr>
        <p:sp>
          <p:nvSpPr>
            <p:cNvPr id="10" name="Rectangle 10"/>
            <p:cNvSpPr/>
            <p:nvPr/>
          </p:nvSpPr>
          <p:spPr>
            <a:xfrm>
              <a:off x="762000" y="1762125"/>
              <a:ext cx="5143500" cy="3810000"/>
            </a:xfrm>
            <a:prstGeom prst="roundRect">
              <a:avLst>
                <a:gd name="adj" fmla="val 4000"/>
              </a:avLst>
            </a:prstGeom>
            <a:solidFill>
              <a:srgbClr val="FFFFFF">
                <a:alpha val="85000"/>
              </a:srgbClr>
            </a:solidFill>
            <a:ln>
              <a:noFill/>
            </a:ln>
          </p:spPr>
        </p:sp>
        <p:sp>
          <p:nvSpPr>
            <p:cNvPr id="11" name="TextBox 11"/>
            <p:cNvSpPr txBox="1"/>
            <p:nvPr/>
          </p:nvSpPr>
          <p:spPr>
            <a:xfrm>
              <a:off x="1038606" y="1962150"/>
              <a:ext cx="3664083" cy="352044"/>
            </a:xfrm>
            <a:prstGeom prst="rect">
              <a:avLst/>
            </a:prstGeom>
            <a:noFill/>
            <a:ln>
              <a:noFill/>
            </a:ln>
          </p:spPr>
          <p:txBody>
            <a:bodyPr wrap="none" lIns="0" tIns="0" rIns="0" bIns="0" anchor="t" anchorCtr="0">
              <a:spAutoFit/>
            </a:bodyPr>
            <a:lstStyle/>
            <a:p>
              <a:pPr algn="l"/>
              <a:r>
                <a:rPr lang="ru" sz="1800" b="1" dirty="0">
                  <a:solidFill>
                    <a:srgbClr val="E74C3C"/>
                  </a:solidFill>
                  <a:latin typeface="+mn-lt"/>
                  <a:ea typeface="+mn-ea"/>
                  <a:cs typeface="+mn-cs"/>
                </a:rPr>
                <a:t>Депрессия, США: 8,2% → 13,1%</a:t>
              </a:r>
            </a:p>
          </p:txBody>
        </p:sp>
        <p:sp>
          <p:nvSpPr>
            <p:cNvPr id="12" name="Line 12"/>
            <p:cNvSpPr/>
            <p:nvPr/>
          </p:nvSpPr>
          <p:spPr>
            <a:xfrm>
              <a:off x="1333500" y="2552700"/>
              <a:ext cx="9525" cy="2286000"/>
            </a:xfrm>
            <a:custGeom>
              <a:avLst/>
              <a:gdLst/>
              <a:ahLst/>
              <a:cxnLst/>
              <a:rect l="l" t="t" r="r" b="b"/>
              <a:pathLst>
                <a:path w="9525" h="2286000">
                  <a:moveTo>
                    <a:pt x="0" y="0"/>
                  </a:moveTo>
                  <a:lnTo>
                    <a:pt x="0" y="2286000"/>
                  </a:lnTo>
                </a:path>
              </a:pathLst>
            </a:custGeom>
            <a:noFill/>
            <a:ln w="19050">
              <a:solidFill>
                <a:srgbClr val="95A5A6"/>
              </a:solidFill>
            </a:ln>
          </p:spPr>
        </p:sp>
        <p:sp>
          <p:nvSpPr>
            <p:cNvPr id="13" name="Line 13"/>
            <p:cNvSpPr/>
            <p:nvPr/>
          </p:nvSpPr>
          <p:spPr>
            <a:xfrm>
              <a:off x="1333500" y="4838700"/>
              <a:ext cx="4286250" cy="9525"/>
            </a:xfrm>
            <a:custGeom>
              <a:avLst/>
              <a:gdLst/>
              <a:ahLst/>
              <a:cxnLst/>
              <a:rect l="l" t="t" r="r" b="b"/>
              <a:pathLst>
                <a:path w="4286250" h="9525">
                  <a:moveTo>
                    <a:pt x="0" y="0"/>
                  </a:moveTo>
                  <a:lnTo>
                    <a:pt x="4286250" y="0"/>
                  </a:lnTo>
                </a:path>
              </a:pathLst>
            </a:custGeom>
            <a:noFill/>
            <a:ln w="19050">
              <a:solidFill>
                <a:srgbClr val="95A5A6"/>
              </a:solidFill>
            </a:ln>
          </p:spPr>
        </p:sp>
        <p:sp>
          <p:nvSpPr>
            <p:cNvPr id="14" name="Polyline 14"/>
            <p:cNvSpPr/>
            <p:nvPr/>
          </p:nvSpPr>
          <p:spPr>
            <a:xfrm>
              <a:off x="1333500" y="2705100"/>
              <a:ext cx="4191000" cy="1924050"/>
            </a:xfrm>
            <a:custGeom>
              <a:avLst/>
              <a:gdLst/>
              <a:ahLst/>
              <a:cxnLst/>
              <a:rect l="l" t="t" r="r" b="b"/>
              <a:pathLst>
                <a:path w="4191000" h="1924050">
                  <a:moveTo>
                    <a:pt x="0" y="1924050"/>
                  </a:moveTo>
                  <a:lnTo>
                    <a:pt x="857250" y="1657350"/>
                  </a:lnTo>
                  <a:lnTo>
                    <a:pt x="1714500" y="1276350"/>
                  </a:lnTo>
                  <a:lnTo>
                    <a:pt x="2571750" y="838200"/>
                  </a:lnTo>
                  <a:lnTo>
                    <a:pt x="3429000" y="323850"/>
                  </a:lnTo>
                  <a:lnTo>
                    <a:pt x="4191000" y="0"/>
                  </a:lnTo>
                </a:path>
              </a:pathLst>
            </a:custGeom>
            <a:noFill/>
            <a:ln w="57150">
              <a:solidFill>
                <a:srgbClr val="E74C3C"/>
              </a:solidFill>
            </a:ln>
          </p:spPr>
        </p:sp>
        <p:sp>
          <p:nvSpPr>
            <p:cNvPr id="15" name="Ellipse 15"/>
            <p:cNvSpPr/>
            <p:nvPr/>
          </p:nvSpPr>
          <p:spPr>
            <a:xfrm>
              <a:off x="5438775" y="2619375"/>
              <a:ext cx="171450" cy="171450"/>
            </a:xfrm>
            <a:prstGeom prst="ellipse">
              <a:avLst/>
            </a:prstGeom>
            <a:solidFill>
              <a:srgbClr val="E74C3C"/>
            </a:solidFill>
            <a:ln>
              <a:noFill/>
            </a:ln>
          </p:spPr>
        </p:sp>
        <p:sp>
          <p:nvSpPr>
            <p:cNvPr id="16" name="TextBox 16"/>
            <p:cNvSpPr txBox="1"/>
            <p:nvPr/>
          </p:nvSpPr>
          <p:spPr>
            <a:xfrm>
              <a:off x="1210056" y="2514600"/>
              <a:ext cx="503308"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15%</a:t>
              </a:r>
            </a:p>
          </p:txBody>
        </p:sp>
        <p:sp>
          <p:nvSpPr>
            <p:cNvPr id="17" name="TextBox 17"/>
            <p:cNvSpPr txBox="1"/>
            <p:nvPr/>
          </p:nvSpPr>
          <p:spPr>
            <a:xfrm>
              <a:off x="1210056" y="4610100"/>
              <a:ext cx="368532"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0%</a:t>
              </a:r>
            </a:p>
          </p:txBody>
        </p:sp>
        <p:sp>
          <p:nvSpPr>
            <p:cNvPr id="18" name="TextBox 18"/>
            <p:cNvSpPr txBox="1"/>
            <p:nvPr/>
          </p:nvSpPr>
          <p:spPr>
            <a:xfrm>
              <a:off x="1419606" y="4876800"/>
              <a:ext cx="557393"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2013</a:t>
              </a:r>
            </a:p>
          </p:txBody>
        </p:sp>
        <p:sp>
          <p:nvSpPr>
            <p:cNvPr id="19" name="TextBox 19"/>
            <p:cNvSpPr txBox="1"/>
            <p:nvPr/>
          </p:nvSpPr>
          <p:spPr>
            <a:xfrm>
              <a:off x="5134356" y="4876800"/>
              <a:ext cx="557393"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2023</a:t>
              </a:r>
            </a:p>
          </p:txBody>
        </p:sp>
        <p:sp>
          <p:nvSpPr>
            <p:cNvPr id="20" name="TextBox 20"/>
            <p:cNvSpPr txBox="1"/>
            <p:nvPr/>
          </p:nvSpPr>
          <p:spPr>
            <a:xfrm>
              <a:off x="1038606" y="5200650"/>
              <a:ext cx="2951054"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Ось Y: доля населения, %</a:t>
              </a:r>
            </a:p>
          </p:txBody>
        </p:sp>
      </p:grpSp>
      <p:grpSp>
        <p:nvGrpSpPr>
          <p:cNvPr id="33" name="p04-happiness"/>
          <p:cNvGrpSpPr/>
          <p:nvPr/>
        </p:nvGrpSpPr>
        <p:grpSpPr>
          <a:xfrm>
            <a:off x="6286500" y="1762125"/>
            <a:ext cx="5143500" cy="3810000"/>
            <a:chOff x="6286500" y="1762125"/>
            <a:chExt cx="5143500" cy="3810000"/>
          </a:xfrm>
        </p:grpSpPr>
        <p:sp>
          <p:nvSpPr>
            <p:cNvPr id="22" name="Rectangle 22"/>
            <p:cNvSpPr/>
            <p:nvPr/>
          </p:nvSpPr>
          <p:spPr>
            <a:xfrm>
              <a:off x="6286500" y="1762125"/>
              <a:ext cx="5143500" cy="3810000"/>
            </a:xfrm>
            <a:prstGeom prst="roundRect">
              <a:avLst>
                <a:gd name="adj" fmla="val 4000"/>
              </a:avLst>
            </a:prstGeom>
            <a:solidFill>
              <a:srgbClr val="FFFFFF">
                <a:alpha val="85000"/>
              </a:srgbClr>
            </a:solidFill>
            <a:ln>
              <a:noFill/>
            </a:ln>
          </p:spPr>
        </p:sp>
        <p:sp>
          <p:nvSpPr>
            <p:cNvPr id="23" name="TextBox 23"/>
            <p:cNvSpPr txBox="1"/>
            <p:nvPr/>
          </p:nvSpPr>
          <p:spPr>
            <a:xfrm>
              <a:off x="6563106" y="1962150"/>
              <a:ext cx="2990743"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Индекс счастья — плато</a:t>
              </a:r>
            </a:p>
          </p:txBody>
        </p:sp>
        <p:sp>
          <p:nvSpPr>
            <p:cNvPr id="24" name="Line 24"/>
            <p:cNvSpPr/>
            <p:nvPr/>
          </p:nvSpPr>
          <p:spPr>
            <a:xfrm>
              <a:off x="6858000" y="2552700"/>
              <a:ext cx="9525" cy="2286000"/>
            </a:xfrm>
            <a:custGeom>
              <a:avLst/>
              <a:gdLst/>
              <a:ahLst/>
              <a:cxnLst/>
              <a:rect l="l" t="t" r="r" b="b"/>
              <a:pathLst>
                <a:path w="9525" h="2286000">
                  <a:moveTo>
                    <a:pt x="0" y="0"/>
                  </a:moveTo>
                  <a:lnTo>
                    <a:pt x="0" y="2286000"/>
                  </a:lnTo>
                </a:path>
              </a:pathLst>
            </a:custGeom>
            <a:noFill/>
            <a:ln w="19050">
              <a:solidFill>
                <a:srgbClr val="95A5A6"/>
              </a:solidFill>
            </a:ln>
          </p:spPr>
        </p:sp>
        <p:sp>
          <p:nvSpPr>
            <p:cNvPr id="25" name="Line 25"/>
            <p:cNvSpPr/>
            <p:nvPr/>
          </p:nvSpPr>
          <p:spPr>
            <a:xfrm>
              <a:off x="6858000" y="4838700"/>
              <a:ext cx="4286250" cy="9525"/>
            </a:xfrm>
            <a:custGeom>
              <a:avLst/>
              <a:gdLst/>
              <a:ahLst/>
              <a:cxnLst/>
              <a:rect l="l" t="t" r="r" b="b"/>
              <a:pathLst>
                <a:path w="4286250" h="9525">
                  <a:moveTo>
                    <a:pt x="0" y="0"/>
                  </a:moveTo>
                  <a:lnTo>
                    <a:pt x="4286250" y="0"/>
                  </a:lnTo>
                </a:path>
              </a:pathLst>
            </a:custGeom>
            <a:noFill/>
            <a:ln w="19050">
              <a:solidFill>
                <a:srgbClr val="95A5A6"/>
              </a:solidFill>
            </a:ln>
          </p:spPr>
        </p:sp>
        <p:sp>
          <p:nvSpPr>
            <p:cNvPr id="26" name="Polyline 26"/>
            <p:cNvSpPr/>
            <p:nvPr/>
          </p:nvSpPr>
          <p:spPr>
            <a:xfrm>
              <a:off x="6858000" y="3524250"/>
              <a:ext cx="4191000" cy="95250"/>
            </a:xfrm>
            <a:custGeom>
              <a:avLst/>
              <a:gdLst/>
              <a:ahLst/>
              <a:cxnLst/>
              <a:rect l="l" t="t" r="r" b="b"/>
              <a:pathLst>
                <a:path w="4191000" h="95250">
                  <a:moveTo>
                    <a:pt x="0" y="76200"/>
                  </a:moveTo>
                  <a:lnTo>
                    <a:pt x="857250" y="0"/>
                  </a:lnTo>
                  <a:lnTo>
                    <a:pt x="1714500" y="95250"/>
                  </a:lnTo>
                  <a:lnTo>
                    <a:pt x="2571750" y="19050"/>
                  </a:lnTo>
                  <a:lnTo>
                    <a:pt x="3429000" y="76200"/>
                  </a:lnTo>
                  <a:lnTo>
                    <a:pt x="4191000" y="38100"/>
                  </a:lnTo>
                </a:path>
              </a:pathLst>
            </a:custGeom>
            <a:noFill/>
            <a:ln w="57150">
              <a:solidFill>
                <a:schemeClr val="accent1"/>
              </a:solidFill>
            </a:ln>
          </p:spPr>
        </p:sp>
        <p:sp>
          <p:nvSpPr>
            <p:cNvPr id="27" name="Ellipse 27"/>
            <p:cNvSpPr/>
            <p:nvPr/>
          </p:nvSpPr>
          <p:spPr>
            <a:xfrm>
              <a:off x="10963275" y="3476625"/>
              <a:ext cx="171450" cy="171450"/>
            </a:xfrm>
            <a:prstGeom prst="ellipse">
              <a:avLst/>
            </a:prstGeom>
            <a:solidFill>
              <a:schemeClr val="accent1"/>
            </a:solidFill>
            <a:ln>
              <a:noFill/>
            </a:ln>
          </p:spPr>
        </p:sp>
        <p:sp>
          <p:nvSpPr>
            <p:cNvPr id="28" name="TextBox 28"/>
            <p:cNvSpPr txBox="1"/>
            <p:nvPr/>
          </p:nvSpPr>
          <p:spPr>
            <a:xfrm>
              <a:off x="6734556" y="2514600"/>
              <a:ext cx="153064"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8</a:t>
              </a:r>
            </a:p>
          </p:txBody>
        </p:sp>
        <p:sp>
          <p:nvSpPr>
            <p:cNvPr id="29" name="TextBox 29"/>
            <p:cNvSpPr txBox="1"/>
            <p:nvPr/>
          </p:nvSpPr>
          <p:spPr>
            <a:xfrm>
              <a:off x="6734556" y="4610100"/>
              <a:ext cx="153064"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0</a:t>
              </a:r>
            </a:p>
          </p:txBody>
        </p:sp>
        <p:sp>
          <p:nvSpPr>
            <p:cNvPr id="30" name="TextBox 30"/>
            <p:cNvSpPr txBox="1"/>
            <p:nvPr/>
          </p:nvSpPr>
          <p:spPr>
            <a:xfrm>
              <a:off x="6944106" y="4876800"/>
              <a:ext cx="557393"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2005</a:t>
              </a:r>
            </a:p>
          </p:txBody>
        </p:sp>
        <p:sp>
          <p:nvSpPr>
            <p:cNvPr id="31" name="TextBox 31"/>
            <p:cNvSpPr txBox="1"/>
            <p:nvPr/>
          </p:nvSpPr>
          <p:spPr>
            <a:xfrm>
              <a:off x="10468356" y="4876800"/>
              <a:ext cx="557393"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2025</a:t>
              </a:r>
            </a:p>
          </p:txBody>
        </p:sp>
        <p:sp>
          <p:nvSpPr>
            <p:cNvPr id="32" name="TextBox 32"/>
            <p:cNvSpPr txBox="1"/>
            <p:nvPr/>
          </p:nvSpPr>
          <p:spPr>
            <a:xfrm>
              <a:off x="6563106" y="5200650"/>
              <a:ext cx="3143977"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Ось Y: баллы индекса, 0–10</a:t>
              </a:r>
            </a:p>
          </p:txBody>
        </p:sp>
      </p:grpSp>
      <p:grpSp>
        <p:nvGrpSpPr>
          <p:cNvPr id="38" name="p04-quote"/>
          <p:cNvGrpSpPr/>
          <p:nvPr/>
        </p:nvGrpSpPr>
        <p:grpSpPr>
          <a:xfrm>
            <a:off x="993775" y="5905500"/>
            <a:ext cx="7654547" cy="352044"/>
            <a:chOff x="993775" y="5905500"/>
            <a:chExt cx="7654547" cy="352044"/>
          </a:xfrm>
        </p:grpSpPr>
        <p:grpSp>
          <p:nvGrpSpPr>
            <p:cNvPr id="36" name="Group 36"/>
            <p:cNvGrpSpPr/>
            <p:nvPr/>
          </p:nvGrpSpPr>
          <p:grpSpPr>
            <a:xfrm>
              <a:off x="993775" y="5924550"/>
              <a:ext cx="222250" cy="190500"/>
              <a:chOff x="993775" y="5924550"/>
              <a:chExt cx="222250" cy="190500"/>
            </a:xfrm>
          </p:grpSpPr>
          <p:sp>
            <p:nvSpPr>
              <p:cNvPr id="34" name="Freeform 34"/>
              <p:cNvSpPr/>
              <p:nvPr/>
            </p:nvSpPr>
            <p:spPr>
              <a:xfrm>
                <a:off x="993775" y="5924550"/>
                <a:ext cx="79375" cy="190500"/>
              </a:xfrm>
              <a:custGeom>
                <a:avLst/>
                <a:gdLst/>
                <a:ahLst/>
                <a:cxnLst/>
                <a:rect l="l" t="t" r="r" b="b"/>
                <a:pathLst>
                  <a:path w="79375" h="190500">
                    <a:moveTo>
                      <a:pt x="79375" y="79375"/>
                    </a:moveTo>
                    <a:lnTo>
                      <a:pt x="15875" y="79375"/>
                    </a:lnTo>
                    <a:cubicBezTo>
                      <a:pt x="7107" y="79375"/>
                      <a:pt x="0" y="72268"/>
                      <a:pt x="0" y="63500"/>
                    </a:cubicBezTo>
                    <a:lnTo>
                      <a:pt x="0" y="15875"/>
                    </a:lnTo>
                    <a:cubicBezTo>
                      <a:pt x="0" y="7107"/>
                      <a:pt x="7107" y="0"/>
                      <a:pt x="15875" y="0"/>
                    </a:cubicBezTo>
                    <a:lnTo>
                      <a:pt x="63500" y="0"/>
                    </a:lnTo>
                    <a:cubicBezTo>
                      <a:pt x="72268" y="0"/>
                      <a:pt x="79375" y="7107"/>
                      <a:pt x="79375" y="15875"/>
                    </a:cubicBezTo>
                    <a:lnTo>
                      <a:pt x="79375" y="111125"/>
                    </a:lnTo>
                    <a:cubicBezTo>
                      <a:pt x="79375" y="153464"/>
                      <a:pt x="58214" y="179912"/>
                      <a:pt x="15875" y="190500"/>
                    </a:cubicBezTo>
                  </a:path>
                </a:pathLst>
              </a:custGeom>
              <a:noFill/>
              <a:ln w="31750">
                <a:solidFill>
                  <a:srgbClr val="E67E22"/>
                </a:solidFill>
              </a:ln>
            </p:spPr>
          </p:sp>
          <p:sp>
            <p:nvSpPr>
              <p:cNvPr id="35" name="Freeform 35"/>
              <p:cNvSpPr/>
              <p:nvPr/>
            </p:nvSpPr>
            <p:spPr>
              <a:xfrm>
                <a:off x="1136650" y="5924550"/>
                <a:ext cx="79375" cy="190500"/>
              </a:xfrm>
              <a:custGeom>
                <a:avLst/>
                <a:gdLst/>
                <a:ahLst/>
                <a:cxnLst/>
                <a:rect l="l" t="t" r="r" b="b"/>
                <a:pathLst>
                  <a:path w="79375" h="190500">
                    <a:moveTo>
                      <a:pt x="79375" y="79375"/>
                    </a:moveTo>
                    <a:lnTo>
                      <a:pt x="15875" y="79375"/>
                    </a:lnTo>
                    <a:cubicBezTo>
                      <a:pt x="7107" y="79375"/>
                      <a:pt x="0" y="72268"/>
                      <a:pt x="0" y="63500"/>
                    </a:cubicBezTo>
                    <a:lnTo>
                      <a:pt x="0" y="15875"/>
                    </a:lnTo>
                    <a:cubicBezTo>
                      <a:pt x="0" y="7107"/>
                      <a:pt x="7107" y="0"/>
                      <a:pt x="15875" y="0"/>
                    </a:cubicBezTo>
                    <a:lnTo>
                      <a:pt x="63500" y="0"/>
                    </a:lnTo>
                    <a:cubicBezTo>
                      <a:pt x="72268" y="0"/>
                      <a:pt x="79375" y="7107"/>
                      <a:pt x="79375" y="15875"/>
                    </a:cubicBezTo>
                    <a:lnTo>
                      <a:pt x="79375" y="111125"/>
                    </a:lnTo>
                    <a:cubicBezTo>
                      <a:pt x="79375" y="153464"/>
                      <a:pt x="58214" y="179912"/>
                      <a:pt x="15875" y="190500"/>
                    </a:cubicBezTo>
                  </a:path>
                </a:pathLst>
              </a:custGeom>
              <a:noFill/>
              <a:ln w="31750">
                <a:solidFill>
                  <a:srgbClr val="E67E22"/>
                </a:solidFill>
              </a:ln>
            </p:spPr>
          </p:sp>
        </p:grpSp>
        <p:sp>
          <p:nvSpPr>
            <p:cNvPr id="37" name="TextBox 37"/>
            <p:cNvSpPr txBox="1"/>
            <p:nvPr/>
          </p:nvSpPr>
          <p:spPr>
            <a:xfrm>
              <a:off x="1438656" y="5905500"/>
              <a:ext cx="7209666" cy="352044"/>
            </a:xfrm>
            <a:prstGeom prst="rect">
              <a:avLst/>
            </a:prstGeom>
            <a:noFill/>
            <a:ln>
              <a:noFill/>
            </a:ln>
          </p:spPr>
          <p:txBody>
            <a:bodyPr wrap="none" lIns="0" tIns="0" rIns="0" bIns="0" anchor="t" anchorCtr="0">
              <a:spAutoFit/>
            </a:bodyPr>
            <a:lstStyle/>
            <a:p>
              <a:pPr algn="l"/>
              <a:r>
                <a:rPr lang="ru" sz="1800" i="1" dirty="0">
                  <a:solidFill>
                    <a:schemeClr val="dk1"/>
                  </a:solidFill>
                  <a:latin typeface="+mn-lt"/>
                  <a:ea typeface="+mn-ea"/>
                  <a:cs typeface="+mn-cs"/>
                </a:rPr>
                <a:t>Аристотель: счастье — «хороший удел», а не случайная удача</a:t>
              </a:r>
            </a:p>
          </p:txBody>
        </p:sp>
      </p:grpSp>
      <p:pic>
        <p:nvPicPr>
          <p:cNvPr id="39" name="PPT Master narration: narration4.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39895">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39"/>
                </p:tgtEl>
              </p:cMediaNode>
            </p:audio>
          </p:childTnLst>
        </p:cTn>
      </p:par>
    </p:tnLst>
  </p:timing>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5"/>
          <p:cNvPicPr>
            <a:picLocks noChangeAspect="1"/>
          </p:cNvPicPr>
          <p:nvPr/>
        </p:nvPicPr>
        <p:blipFill>
          <a:blip r:embed="rId2"/>
          <a:srcRect l="0" t="17056" r="0" b="17057"/>
          <a:stretch>
            <a:fillRect/>
          </a:stretch>
        </p:blipFill>
        <p:spPr>
          <a:xfrm>
            <a:off x="0" y="0"/>
            <a:ext cx="12192000" cy="6858000"/>
          </a:xfrm>
          <a:prstGeom prst="rect">
            <a:avLst/>
          </a:prstGeom>
        </p:spPr>
      </p:pic>
      <p:sp>
        <p:nvSpPr>
          <p:cNvPr id="3" name="p05-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5-accent"/>
          <p:cNvSpPr/>
          <p:nvPr/>
        </p:nvSpPr>
        <p:spPr>
          <a:xfrm>
            <a:off x="0" y="0"/>
            <a:ext cx="12192000" cy="57150"/>
          </a:xfrm>
          <a:prstGeom prst="rect">
            <a:avLst/>
          </a:prstGeom>
          <a:solidFill>
            <a:srgbClr val="27AE60"/>
          </a:solidFill>
          <a:ln>
            <a:noFill/>
          </a:ln>
        </p:spPr>
      </p:sp>
      <p:sp>
        <p:nvSpPr>
          <p:cNvPr id="5" name="p05-foot"/>
          <p:cNvSpPr txBox="1"/>
          <p:nvPr/>
        </p:nvSpPr>
        <p:spPr>
          <a:xfrm>
            <a:off x="755904" y="6629400"/>
            <a:ext cx="2052466" cy="234696"/>
          </a:xfrm>
          <a:prstGeom prst="rect">
            <a:avLst/>
          </a:prstGeom>
          <a:noFill/>
          <a:ln>
            <a:noFill/>
          </a:ln>
        </p:spPr>
        <p:txBody>
          <a:bodyPr wrap="none" lIns="0" tIns="0" rIns="0" bIns="0" anchor="t" anchorCtr="0">
            <a:spAutoFit/>
          </a:bodyPr>
          <a:lstStyle/>
          <a:p>
            <a:pPr algn="l"/>
            <a:r>
              <a:rPr lang="ru" sz="1200" dirty="0">
                <a:solidFill>
                  <a:srgbClr val="5D6D7E"/>
                </a:solidFill>
                <a:latin typeface="+mn-lt"/>
                <a:ea typeface="+mn-ea"/>
                <a:cs typeface="+mn-cs"/>
              </a:rPr>
              <a:t>Концепция счастья · ИС-24</a:t>
            </a:r>
          </a:p>
        </p:txBody>
      </p:sp>
      <p:sp>
        <p:nvSpPr>
          <p:cNvPr id="6" name="p05-num"/>
          <p:cNvSpPr txBox="1"/>
          <p:nvPr/>
        </p:nvSpPr>
        <p:spPr>
          <a:xfrm>
            <a:off x="11244202" y="6629400"/>
            <a:ext cx="191894" cy="234696"/>
          </a:xfrm>
          <a:prstGeom prst="rect">
            <a:avLst/>
          </a:prstGeom>
          <a:noFill/>
          <a:ln>
            <a:noFill/>
          </a:ln>
        </p:spPr>
        <p:txBody>
          <a:bodyPr wrap="none" lIns="0" tIns="0" rIns="0" bIns="0" anchor="t" anchorCtr="0">
            <a:spAutoFit/>
          </a:bodyPr>
          <a:lstStyle/>
          <a:p>
            <a:pPr algn="r"/>
            <a:r>
              <a:rPr lang="ru" sz="1200" dirty="0">
                <a:solidFill>
                  <a:srgbClr val="5D6D7E"/>
                </a:solidFill>
                <a:latin typeface="+mn-lt"/>
                <a:ea typeface="+mn-ea"/>
                <a:cs typeface="+mn-cs"/>
              </a:rPr>
              <a:t>05</a:t>
            </a:r>
          </a:p>
        </p:txBody>
      </p:sp>
      <p:grpSp>
        <p:nvGrpSpPr>
          <p:cNvPr id="8" name="p05-title"/>
          <p:cNvGrpSpPr/>
          <p:nvPr/>
        </p:nvGrpSpPr>
        <p:grpSpPr>
          <a:xfrm>
            <a:off x="743712" y="565150"/>
            <a:ext cx="8011544" cy="704088"/>
            <a:chOff x="743712" y="565150"/>
            <a:chExt cx="8011544" cy="704088"/>
          </a:xfrm>
        </p:grpSpPr>
        <p:sp>
          <p:nvSpPr>
            <p:cNvPr id="7" name="TextBox 7"/>
            <p:cNvSpPr txBox="1"/>
            <p:nvPr/>
          </p:nvSpPr>
          <p:spPr>
            <a:xfrm>
              <a:off x="743712" y="565150"/>
              <a:ext cx="8011544"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Счастье = оценка жизни + эмоции</a:t>
              </a:r>
            </a:p>
          </p:txBody>
        </p:sp>
      </p:grpSp>
      <p:grpSp>
        <p:nvGrpSpPr>
          <p:cNvPr id="25" name="p05-venn"/>
          <p:cNvGrpSpPr/>
          <p:nvPr/>
        </p:nvGrpSpPr>
        <p:grpSpPr>
          <a:xfrm>
            <a:off x="3095625" y="1952625"/>
            <a:ext cx="6676465" cy="2762250"/>
            <a:chOff x="3095625" y="1952625"/>
            <a:chExt cx="6676465" cy="2762250"/>
          </a:xfrm>
        </p:grpSpPr>
        <p:sp>
          <p:nvSpPr>
            <p:cNvPr id="9" name="Ellipse 9"/>
            <p:cNvSpPr/>
            <p:nvPr/>
          </p:nvSpPr>
          <p:spPr>
            <a:xfrm>
              <a:off x="3095625" y="1952625"/>
              <a:ext cx="2762250" cy="2762250"/>
            </a:xfrm>
            <a:prstGeom prst="ellipse">
              <a:avLst/>
            </a:prstGeom>
            <a:solidFill>
              <a:schemeClr val="accent1">
                <a:alpha val="16000"/>
              </a:schemeClr>
            </a:solidFill>
            <a:ln w="28575">
              <a:solidFill>
                <a:schemeClr val="accent1"/>
              </a:solidFill>
            </a:ln>
          </p:spPr>
        </p:sp>
        <p:sp>
          <p:nvSpPr>
            <p:cNvPr id="10" name="Ellipse 10"/>
            <p:cNvSpPr/>
            <p:nvPr/>
          </p:nvSpPr>
          <p:spPr>
            <a:xfrm>
              <a:off x="6334125" y="1952625"/>
              <a:ext cx="2762250" cy="2762250"/>
            </a:xfrm>
            <a:prstGeom prst="ellipse">
              <a:avLst/>
            </a:prstGeom>
            <a:solidFill>
              <a:srgbClr val="E67E22">
                <a:alpha val="16000"/>
              </a:srgbClr>
            </a:solidFill>
            <a:ln w="28575">
              <a:solidFill>
                <a:srgbClr val="E67E22"/>
              </a:solidFill>
            </a:ln>
          </p:spPr>
        </p:sp>
        <p:grpSp>
          <p:nvGrpSpPr>
            <p:cNvPr id="16" name="Group 16"/>
            <p:cNvGrpSpPr/>
            <p:nvPr/>
          </p:nvGrpSpPr>
          <p:grpSpPr>
            <a:xfrm>
              <a:off x="3195637" y="2319337"/>
              <a:ext cx="314325" cy="306387"/>
              <a:chOff x="3195637" y="2319337"/>
              <a:chExt cx="314325" cy="306387"/>
            </a:xfrm>
          </p:grpSpPr>
          <p:sp>
            <p:nvSpPr>
              <p:cNvPr id="11" name="Freeform 11"/>
              <p:cNvSpPr/>
              <p:nvPr/>
            </p:nvSpPr>
            <p:spPr>
              <a:xfrm>
                <a:off x="3265487" y="2616199"/>
                <a:ext cx="174625" cy="9525"/>
              </a:xfrm>
              <a:custGeom>
                <a:avLst/>
                <a:gdLst/>
                <a:ahLst/>
                <a:cxnLst/>
                <a:rect l="l" t="t" r="r" b="b"/>
                <a:pathLst>
                  <a:path w="174625" h="9525">
                    <a:moveTo>
                      <a:pt x="0" y="0"/>
                    </a:moveTo>
                    <a:lnTo>
                      <a:pt x="174625" y="0"/>
                    </a:lnTo>
                  </a:path>
                </a:pathLst>
              </a:custGeom>
              <a:noFill/>
              <a:ln w="34925">
                <a:solidFill>
                  <a:schemeClr val="accent1"/>
                </a:solidFill>
              </a:ln>
            </p:spPr>
          </p:sp>
          <p:sp>
            <p:nvSpPr>
              <p:cNvPr id="12" name="Freeform 12"/>
              <p:cNvSpPr/>
              <p:nvPr/>
            </p:nvSpPr>
            <p:spPr>
              <a:xfrm>
                <a:off x="3248025" y="2354262"/>
                <a:ext cx="209550" cy="17462"/>
              </a:xfrm>
              <a:custGeom>
                <a:avLst/>
                <a:gdLst/>
                <a:ahLst/>
                <a:cxnLst/>
                <a:rect l="l" t="t" r="r" b="b"/>
                <a:pathLst>
                  <a:path w="209550" h="17462">
                    <a:moveTo>
                      <a:pt x="0" y="17462"/>
                    </a:moveTo>
                    <a:lnTo>
                      <a:pt x="104775" y="0"/>
                    </a:lnTo>
                    <a:lnTo>
                      <a:pt x="209550" y="17462"/>
                    </a:lnTo>
                  </a:path>
                </a:pathLst>
              </a:custGeom>
              <a:noFill/>
              <a:ln w="34925">
                <a:solidFill>
                  <a:schemeClr val="accent1"/>
                </a:solidFill>
              </a:ln>
            </p:spPr>
          </p:sp>
          <p:sp>
            <p:nvSpPr>
              <p:cNvPr id="13" name="Freeform 13"/>
              <p:cNvSpPr/>
              <p:nvPr/>
            </p:nvSpPr>
            <p:spPr>
              <a:xfrm>
                <a:off x="3352800" y="2319337"/>
                <a:ext cx="9525" cy="296862"/>
              </a:xfrm>
              <a:custGeom>
                <a:avLst/>
                <a:gdLst/>
                <a:ahLst/>
                <a:cxnLst/>
                <a:rect l="l" t="t" r="r" b="b"/>
                <a:pathLst>
                  <a:path w="9525" h="296862">
                    <a:moveTo>
                      <a:pt x="0" y="0"/>
                    </a:moveTo>
                    <a:lnTo>
                      <a:pt x="0" y="296862"/>
                    </a:lnTo>
                  </a:path>
                </a:pathLst>
              </a:custGeom>
              <a:noFill/>
              <a:ln w="34925">
                <a:solidFill>
                  <a:schemeClr val="accent1"/>
                </a:solidFill>
              </a:ln>
            </p:spPr>
          </p:sp>
          <p:sp>
            <p:nvSpPr>
              <p:cNvPr id="14" name="Freeform 14"/>
              <p:cNvSpPr/>
              <p:nvPr/>
            </p:nvSpPr>
            <p:spPr>
              <a:xfrm>
                <a:off x="3195637" y="2371725"/>
                <a:ext cx="104775" cy="157162"/>
              </a:xfrm>
              <a:custGeom>
                <a:avLst/>
                <a:gdLst/>
                <a:ahLst/>
                <a:cxnLst/>
                <a:rect l="l" t="t" r="r" b="b"/>
                <a:pathLst>
                  <a:path w="104775" h="157162">
                    <a:moveTo>
                      <a:pt x="104775" y="104775"/>
                    </a:moveTo>
                    <a:lnTo>
                      <a:pt x="52387" y="0"/>
                    </a:lnTo>
                    <a:lnTo>
                      <a:pt x="0" y="104775"/>
                    </a:lnTo>
                    <a:cubicBezTo>
                      <a:pt x="0" y="133708"/>
                      <a:pt x="23455" y="157162"/>
                      <a:pt x="52387" y="157162"/>
                    </a:cubicBezTo>
                    <a:cubicBezTo>
                      <a:pt x="81320" y="157162"/>
                      <a:pt x="104775" y="133708"/>
                      <a:pt x="104775" y="104775"/>
                    </a:cubicBezTo>
                  </a:path>
                </a:pathLst>
              </a:custGeom>
              <a:noFill/>
              <a:ln w="34925">
                <a:solidFill>
                  <a:schemeClr val="accent1"/>
                </a:solidFill>
              </a:ln>
            </p:spPr>
          </p:sp>
          <p:sp>
            <p:nvSpPr>
              <p:cNvPr id="15" name="Freeform 15"/>
              <p:cNvSpPr/>
              <p:nvPr/>
            </p:nvSpPr>
            <p:spPr>
              <a:xfrm>
                <a:off x="3405187" y="2371725"/>
                <a:ext cx="104775" cy="157162"/>
              </a:xfrm>
              <a:custGeom>
                <a:avLst/>
                <a:gdLst/>
                <a:ahLst/>
                <a:cxnLst/>
                <a:rect l="l" t="t" r="r" b="b"/>
                <a:pathLst>
                  <a:path w="104775" h="157162">
                    <a:moveTo>
                      <a:pt x="104775" y="104775"/>
                    </a:moveTo>
                    <a:lnTo>
                      <a:pt x="52387" y="0"/>
                    </a:lnTo>
                    <a:lnTo>
                      <a:pt x="0" y="104775"/>
                    </a:lnTo>
                    <a:cubicBezTo>
                      <a:pt x="0" y="133708"/>
                      <a:pt x="23455" y="157162"/>
                      <a:pt x="52387" y="157162"/>
                    </a:cubicBezTo>
                    <a:cubicBezTo>
                      <a:pt x="81320" y="157162"/>
                      <a:pt x="104775" y="133708"/>
                      <a:pt x="104775" y="104775"/>
                    </a:cubicBezTo>
                  </a:path>
                </a:pathLst>
              </a:custGeom>
              <a:noFill/>
              <a:ln w="34925">
                <a:solidFill>
                  <a:schemeClr val="accent1"/>
                </a:solidFill>
              </a:ln>
            </p:spPr>
          </p:sp>
        </p:grpSp>
        <p:sp>
          <p:nvSpPr>
            <p:cNvPr id="17" name="TextBox 17"/>
            <p:cNvSpPr txBox="1"/>
            <p:nvPr/>
          </p:nvSpPr>
          <p:spPr>
            <a:xfrm>
              <a:off x="3667506" y="2343150"/>
              <a:ext cx="156552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Когнитивный</a:t>
              </a:r>
            </a:p>
          </p:txBody>
        </p:sp>
        <p:sp>
          <p:nvSpPr>
            <p:cNvPr id="18" name="TextBox 18"/>
            <p:cNvSpPr txBox="1"/>
            <p:nvPr/>
          </p:nvSpPr>
          <p:spPr>
            <a:xfrm>
              <a:off x="3229356" y="2705100"/>
              <a:ext cx="155161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оценка жизни</a:t>
              </a:r>
            </a:p>
          </p:txBody>
        </p:sp>
        <p:sp>
          <p:nvSpPr>
            <p:cNvPr id="19" name="Freeform 19"/>
            <p:cNvSpPr/>
            <p:nvPr/>
          </p:nvSpPr>
          <p:spPr>
            <a:xfrm>
              <a:off x="8428341" y="2332320"/>
              <a:ext cx="326102" cy="283879"/>
            </a:xfrm>
            <a:custGeom>
              <a:avLst/>
              <a:gdLst/>
              <a:ahLst/>
              <a:cxnLst/>
              <a:rect l="l" t="t" r="r" b="b"/>
              <a:pathLst>
                <a:path w="326102" h="283879">
                  <a:moveTo>
                    <a:pt x="294177" y="154168"/>
                  </a:moveTo>
                  <a:lnTo>
                    <a:pt x="163209" y="283879"/>
                  </a:lnTo>
                  <a:lnTo>
                    <a:pt x="32240" y="154168"/>
                  </a:lnTo>
                  <a:cubicBezTo>
                    <a:pt x="8689" y="131250"/>
                    <a:pt x="0" y="97049"/>
                    <a:pt x="9757" y="65669"/>
                  </a:cubicBezTo>
                  <a:cubicBezTo>
                    <a:pt x="19514" y="34289"/>
                    <a:pt x="46065" y="11045"/>
                    <a:pt x="78459" y="5522"/>
                  </a:cubicBezTo>
                  <a:cubicBezTo>
                    <a:pt x="110854" y="0"/>
                    <a:pt x="143606" y="13135"/>
                    <a:pt x="163209" y="39510"/>
                  </a:cubicBezTo>
                  <a:cubicBezTo>
                    <a:pt x="182894" y="13330"/>
                    <a:pt x="215576" y="369"/>
                    <a:pt x="247853" y="5944"/>
                  </a:cubicBezTo>
                  <a:cubicBezTo>
                    <a:pt x="280130" y="11518"/>
                    <a:pt x="306573" y="34688"/>
                    <a:pt x="316337" y="65954"/>
                  </a:cubicBezTo>
                  <a:cubicBezTo>
                    <a:pt x="326102" y="97220"/>
                    <a:pt x="317546" y="131320"/>
                    <a:pt x="294177" y="154273"/>
                  </a:cubicBezTo>
                </a:path>
              </a:pathLst>
            </a:custGeom>
            <a:noFill/>
            <a:ln w="34925">
              <a:solidFill>
                <a:srgbClr val="E67E22"/>
              </a:solidFill>
            </a:ln>
          </p:spPr>
        </p:sp>
        <p:sp>
          <p:nvSpPr>
            <p:cNvPr id="20" name="TextBox 20"/>
            <p:cNvSpPr txBox="1"/>
            <p:nvPr/>
          </p:nvSpPr>
          <p:spPr>
            <a:xfrm>
              <a:off x="8906256" y="2343150"/>
              <a:ext cx="865834" cy="352044"/>
            </a:xfrm>
            <a:prstGeom prst="rect">
              <a:avLst/>
            </a:prstGeom>
            <a:noFill/>
            <a:ln>
              <a:noFill/>
            </a:ln>
          </p:spPr>
          <p:txBody>
            <a:bodyPr wrap="none" lIns="0" tIns="0" rIns="0" bIns="0" anchor="t" anchorCtr="0">
              <a:spAutoFit/>
            </a:bodyPr>
            <a:lstStyle/>
            <a:p>
              <a:pPr algn="l"/>
              <a:r>
                <a:rPr lang="ru" sz="1800" b="1" dirty="0">
                  <a:solidFill>
                    <a:srgbClr val="B9631B"/>
                  </a:solidFill>
                  <a:latin typeface="+mn-lt"/>
                  <a:ea typeface="+mn-ea"/>
                  <a:cs typeface="+mn-cs"/>
                </a:rPr>
                <a:t>Эмоции</a:t>
              </a:r>
            </a:p>
          </p:txBody>
        </p:sp>
        <p:sp>
          <p:nvSpPr>
            <p:cNvPr id="21" name="TextBox 21"/>
            <p:cNvSpPr txBox="1"/>
            <p:nvPr/>
          </p:nvSpPr>
          <p:spPr>
            <a:xfrm>
              <a:off x="8087106" y="2705100"/>
              <a:ext cx="148430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переживания</a:t>
              </a:r>
            </a:p>
          </p:txBody>
        </p:sp>
        <p:sp>
          <p:nvSpPr>
            <p:cNvPr id="22" name="TextBox 22"/>
            <p:cNvSpPr txBox="1"/>
            <p:nvPr/>
          </p:nvSpPr>
          <p:spPr>
            <a:xfrm>
              <a:off x="5788195" y="3124200"/>
              <a:ext cx="61561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SWB</a:t>
              </a:r>
            </a:p>
          </p:txBody>
        </p:sp>
        <p:sp>
          <p:nvSpPr>
            <p:cNvPr id="23" name="TextBox 23"/>
            <p:cNvSpPr txBox="1"/>
            <p:nvPr/>
          </p:nvSpPr>
          <p:spPr>
            <a:xfrm>
              <a:off x="5287213" y="3429000"/>
              <a:ext cx="1617574" cy="352044"/>
            </a:xfrm>
            <a:prstGeom prst="rect">
              <a:avLst/>
            </a:prstGeom>
            <a:noFill/>
            <a:ln>
              <a:noFill/>
            </a:ln>
          </p:spPr>
          <p:txBody>
            <a:bodyPr wrap="none" lIns="0" tIns="0" rIns="0" bIns="0" anchor="t" anchorCtr="0">
              <a:spAutoFit/>
            </a:bodyPr>
            <a:lstStyle/>
            <a:p>
              <a:pPr algn="ctr"/>
              <a:r>
                <a:rPr lang="ru" sz="1800" dirty="0">
                  <a:solidFill>
                    <a:schemeClr val="dk1"/>
                  </a:solidFill>
                  <a:latin typeface="+mn-lt"/>
                  <a:ea typeface="+mn-ea"/>
                  <a:cs typeface="+mn-cs"/>
                </a:rPr>
                <a:t>субъективное</a:t>
              </a:r>
            </a:p>
          </p:txBody>
        </p:sp>
        <p:sp>
          <p:nvSpPr>
            <p:cNvPr id="24" name="TextBox 24"/>
            <p:cNvSpPr txBox="1"/>
            <p:nvPr/>
          </p:nvSpPr>
          <p:spPr>
            <a:xfrm>
              <a:off x="5287213" y="3714750"/>
              <a:ext cx="1617574" cy="352044"/>
            </a:xfrm>
            <a:prstGeom prst="rect">
              <a:avLst/>
            </a:prstGeom>
            <a:noFill/>
            <a:ln>
              <a:noFill/>
            </a:ln>
          </p:spPr>
          <p:txBody>
            <a:bodyPr wrap="none" lIns="0" tIns="0" rIns="0" bIns="0" anchor="t" anchorCtr="0">
              <a:spAutoFit/>
            </a:bodyPr>
            <a:lstStyle/>
            <a:p>
              <a:pPr algn="ctr"/>
              <a:r>
                <a:rPr lang="ru" sz="1800" dirty="0">
                  <a:solidFill>
                    <a:schemeClr val="dk1"/>
                  </a:solidFill>
                  <a:latin typeface="+mn-lt"/>
                  <a:ea typeface="+mn-ea"/>
                  <a:cs typeface="+mn-cs"/>
                </a:rPr>
                <a:t>благополучие</a:t>
              </a:r>
            </a:p>
          </p:txBody>
        </p:sp>
      </p:grpSp>
      <p:grpSp>
        <p:nvGrpSpPr>
          <p:cNvPr id="55" name="p05-approaches"/>
          <p:cNvGrpSpPr/>
          <p:nvPr/>
        </p:nvGrpSpPr>
        <p:grpSpPr>
          <a:xfrm>
            <a:off x="1143000" y="5286375"/>
            <a:ext cx="9906000" cy="952500"/>
            <a:chOff x="1143000" y="5286375"/>
            <a:chExt cx="9906000" cy="952500"/>
          </a:xfrm>
        </p:grpSpPr>
        <p:sp>
          <p:nvSpPr>
            <p:cNvPr id="26" name="Rectangle 26"/>
            <p:cNvSpPr/>
            <p:nvPr/>
          </p:nvSpPr>
          <p:spPr>
            <a:xfrm>
              <a:off x="1143000" y="5286375"/>
              <a:ext cx="2286000" cy="952500"/>
            </a:xfrm>
            <a:prstGeom prst="roundRect">
              <a:avLst>
                <a:gd name="adj" fmla="val 14000"/>
              </a:avLst>
            </a:prstGeom>
            <a:solidFill>
              <a:srgbClr val="FFFFFF">
                <a:alpha val="85000"/>
              </a:srgbClr>
            </a:solidFill>
            <a:ln>
              <a:noFill/>
            </a:ln>
          </p:spPr>
        </p:sp>
        <p:grpSp>
          <p:nvGrpSpPr>
            <p:cNvPr id="31" name="Group 31"/>
            <p:cNvGrpSpPr/>
            <p:nvPr/>
          </p:nvGrpSpPr>
          <p:grpSpPr>
            <a:xfrm>
              <a:off x="1376362" y="5548312"/>
              <a:ext cx="257175" cy="257176"/>
              <a:chOff x="1376362" y="5548312"/>
              <a:chExt cx="257175" cy="257176"/>
            </a:xfrm>
          </p:grpSpPr>
          <p:sp>
            <p:nvSpPr>
              <p:cNvPr id="27" name="Freeform 27"/>
              <p:cNvSpPr/>
              <p:nvPr/>
            </p:nvSpPr>
            <p:spPr>
              <a:xfrm>
                <a:off x="1404938" y="55483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28575">
                <a:solidFill>
                  <a:schemeClr val="accent1"/>
                </a:solidFill>
              </a:ln>
            </p:spPr>
          </p:sp>
          <p:sp>
            <p:nvSpPr>
              <p:cNvPr id="28" name="Freeform 28"/>
              <p:cNvSpPr/>
              <p:nvPr/>
            </p:nvSpPr>
            <p:spPr>
              <a:xfrm>
                <a:off x="1376362" y="57197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28575">
                <a:solidFill>
                  <a:schemeClr val="accent1"/>
                </a:solidFill>
              </a:ln>
            </p:spPr>
          </p:sp>
          <p:sp>
            <p:nvSpPr>
              <p:cNvPr id="29" name="Freeform 29"/>
              <p:cNvSpPr/>
              <p:nvPr/>
            </p:nvSpPr>
            <p:spPr>
              <a:xfrm>
                <a:off x="1562100" y="55501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28575">
                <a:solidFill>
                  <a:schemeClr val="accent1"/>
                </a:solidFill>
              </a:ln>
            </p:spPr>
          </p:sp>
          <p:sp>
            <p:nvSpPr>
              <p:cNvPr id="30" name="Freeform 30"/>
              <p:cNvSpPr/>
              <p:nvPr/>
            </p:nvSpPr>
            <p:spPr>
              <a:xfrm>
                <a:off x="1590675" y="57219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28575">
                <a:solidFill>
                  <a:schemeClr val="accent1"/>
                </a:solidFill>
              </a:ln>
            </p:spPr>
          </p:sp>
        </p:grpSp>
        <p:sp>
          <p:nvSpPr>
            <p:cNvPr id="32" name="TextBox 32"/>
            <p:cNvSpPr txBox="1"/>
            <p:nvPr/>
          </p:nvSpPr>
          <p:spPr>
            <a:xfrm>
              <a:off x="1762506" y="5534025"/>
              <a:ext cx="425653"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Юнг</a:t>
              </a:r>
            </a:p>
          </p:txBody>
        </p:sp>
        <p:sp>
          <p:nvSpPr>
            <p:cNvPr id="33" name="TextBox 33"/>
            <p:cNvSpPr txBox="1"/>
            <p:nvPr/>
          </p:nvSpPr>
          <p:spPr>
            <a:xfrm>
              <a:off x="1324356" y="5848350"/>
              <a:ext cx="1484300"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психоанализ</a:t>
              </a:r>
            </a:p>
          </p:txBody>
        </p:sp>
        <p:sp>
          <p:nvSpPr>
            <p:cNvPr id="34" name="Rectangle 34"/>
            <p:cNvSpPr/>
            <p:nvPr/>
          </p:nvSpPr>
          <p:spPr>
            <a:xfrm>
              <a:off x="3619500" y="5286375"/>
              <a:ext cx="2286000" cy="952500"/>
            </a:xfrm>
            <a:prstGeom prst="roundRect">
              <a:avLst>
                <a:gd name="adj" fmla="val 14000"/>
              </a:avLst>
            </a:prstGeom>
            <a:solidFill>
              <a:srgbClr val="FFFFFF">
                <a:alpha val="85000"/>
              </a:srgbClr>
            </a:solidFill>
            <a:ln>
              <a:noFill/>
            </a:ln>
          </p:spPr>
        </p:sp>
        <p:grpSp>
          <p:nvGrpSpPr>
            <p:cNvPr id="41" name="Group 41"/>
            <p:cNvGrpSpPr/>
            <p:nvPr/>
          </p:nvGrpSpPr>
          <p:grpSpPr>
            <a:xfrm>
              <a:off x="3852862" y="5548312"/>
              <a:ext cx="257176" cy="257176"/>
              <a:chOff x="3852862" y="5548312"/>
              <a:chExt cx="257176" cy="257176"/>
            </a:xfrm>
          </p:grpSpPr>
          <p:sp>
            <p:nvSpPr>
              <p:cNvPr id="35" name="Freeform 35"/>
              <p:cNvSpPr/>
              <p:nvPr/>
            </p:nvSpPr>
            <p:spPr>
              <a:xfrm>
                <a:off x="3981450" y="5691188"/>
                <a:ext cx="100012" cy="114300"/>
              </a:xfrm>
              <a:custGeom>
                <a:avLst/>
                <a:gdLst/>
                <a:ahLst/>
                <a:cxnLst/>
                <a:rect l="l" t="t" r="r" b="b"/>
                <a:pathLst>
                  <a:path w="100012" h="114300">
                    <a:moveTo>
                      <a:pt x="50006" y="0"/>
                    </a:moveTo>
                    <a:cubicBezTo>
                      <a:pt x="22389" y="0"/>
                      <a:pt x="0" y="22389"/>
                      <a:pt x="0" y="50006"/>
                    </a:cubicBezTo>
                    <a:lnTo>
                      <a:pt x="0" y="64294"/>
                    </a:lnTo>
                    <a:cubicBezTo>
                      <a:pt x="0" y="91911"/>
                      <a:pt x="22389" y="114300"/>
                      <a:pt x="50006" y="114300"/>
                    </a:cubicBezTo>
                    <a:cubicBezTo>
                      <a:pt x="77624" y="114300"/>
                      <a:pt x="100012" y="91911"/>
                      <a:pt x="100012" y="64294"/>
                    </a:cubicBezTo>
                    <a:lnTo>
                      <a:pt x="100012" y="38576"/>
                    </a:lnTo>
                  </a:path>
                </a:pathLst>
              </a:custGeom>
              <a:noFill/>
              <a:ln w="28575">
                <a:solidFill>
                  <a:schemeClr val="accent1"/>
                </a:solidFill>
              </a:ln>
            </p:spPr>
          </p:sp>
          <p:sp>
            <p:nvSpPr>
              <p:cNvPr id="36" name="Freeform 36"/>
              <p:cNvSpPr/>
              <p:nvPr/>
            </p:nvSpPr>
            <p:spPr>
              <a:xfrm>
                <a:off x="3881438" y="5691188"/>
                <a:ext cx="100012" cy="114300"/>
              </a:xfrm>
              <a:custGeom>
                <a:avLst/>
                <a:gdLst/>
                <a:ahLst/>
                <a:cxnLst/>
                <a:rect l="l" t="t" r="r" b="b"/>
                <a:pathLst>
                  <a:path w="100012" h="114300">
                    <a:moveTo>
                      <a:pt x="50006" y="0"/>
                    </a:moveTo>
                    <a:cubicBezTo>
                      <a:pt x="77624" y="0"/>
                      <a:pt x="100012" y="22389"/>
                      <a:pt x="100012" y="50006"/>
                    </a:cubicBezTo>
                    <a:lnTo>
                      <a:pt x="100012" y="64294"/>
                    </a:lnTo>
                    <a:cubicBezTo>
                      <a:pt x="100012" y="91911"/>
                      <a:pt x="77624" y="114300"/>
                      <a:pt x="50006" y="114300"/>
                    </a:cubicBezTo>
                    <a:cubicBezTo>
                      <a:pt x="22389" y="114300"/>
                      <a:pt x="0" y="91911"/>
                      <a:pt x="0" y="64294"/>
                    </a:cubicBezTo>
                    <a:lnTo>
                      <a:pt x="0" y="38576"/>
                    </a:lnTo>
                  </a:path>
                </a:pathLst>
              </a:custGeom>
              <a:noFill/>
              <a:ln w="28575">
                <a:solidFill>
                  <a:schemeClr val="accent1"/>
                </a:solidFill>
              </a:ln>
            </p:spPr>
          </p:sp>
          <p:sp>
            <p:nvSpPr>
              <p:cNvPr id="37" name="Freeform 37"/>
              <p:cNvSpPr/>
              <p:nvPr/>
            </p:nvSpPr>
            <p:spPr>
              <a:xfrm>
                <a:off x="4052888" y="5634038"/>
                <a:ext cx="57150" cy="100012"/>
              </a:xfrm>
              <a:custGeom>
                <a:avLst/>
                <a:gdLst/>
                <a:ahLst/>
                <a:cxnLst/>
                <a:rect l="l" t="t" r="r" b="b"/>
                <a:pathLst>
                  <a:path w="57150" h="100012">
                    <a:moveTo>
                      <a:pt x="7144" y="100012"/>
                    </a:moveTo>
                    <a:cubicBezTo>
                      <a:pt x="34761" y="100012"/>
                      <a:pt x="57150" y="77624"/>
                      <a:pt x="57150" y="50006"/>
                    </a:cubicBezTo>
                    <a:cubicBezTo>
                      <a:pt x="57150" y="22389"/>
                      <a:pt x="34761" y="0"/>
                      <a:pt x="7144" y="0"/>
                    </a:cubicBezTo>
                    <a:lnTo>
                      <a:pt x="0" y="0"/>
                    </a:lnTo>
                  </a:path>
                </a:pathLst>
              </a:custGeom>
              <a:noFill/>
              <a:ln w="28575">
                <a:solidFill>
                  <a:schemeClr val="accent1"/>
                </a:solidFill>
              </a:ln>
            </p:spPr>
          </p:sp>
          <p:sp>
            <p:nvSpPr>
              <p:cNvPr id="38" name="Freeform 38"/>
              <p:cNvSpPr/>
              <p:nvPr/>
            </p:nvSpPr>
            <p:spPr>
              <a:xfrm>
                <a:off x="3981450" y="5548312"/>
                <a:ext cx="100012" cy="90011"/>
              </a:xfrm>
              <a:custGeom>
                <a:avLst/>
                <a:gdLst/>
                <a:ahLst/>
                <a:cxnLst/>
                <a:rect l="l" t="t" r="r" b="b"/>
                <a:pathLst>
                  <a:path w="100012" h="90011">
                    <a:moveTo>
                      <a:pt x="100012" y="90011"/>
                    </a:moveTo>
                    <a:lnTo>
                      <a:pt x="100012" y="50006"/>
                    </a:lnTo>
                    <a:cubicBezTo>
                      <a:pt x="100012" y="22389"/>
                      <a:pt x="77624" y="0"/>
                      <a:pt x="50006" y="0"/>
                    </a:cubicBezTo>
                    <a:cubicBezTo>
                      <a:pt x="22389" y="0"/>
                      <a:pt x="0" y="22389"/>
                      <a:pt x="0" y="50006"/>
                    </a:cubicBezTo>
                  </a:path>
                </a:pathLst>
              </a:custGeom>
              <a:noFill/>
              <a:ln w="28575">
                <a:solidFill>
                  <a:schemeClr val="accent1"/>
                </a:solidFill>
              </a:ln>
            </p:spPr>
          </p:sp>
          <p:sp>
            <p:nvSpPr>
              <p:cNvPr id="39" name="Freeform 39"/>
              <p:cNvSpPr/>
              <p:nvPr/>
            </p:nvSpPr>
            <p:spPr>
              <a:xfrm>
                <a:off x="3852862" y="5634038"/>
                <a:ext cx="57150" cy="100012"/>
              </a:xfrm>
              <a:custGeom>
                <a:avLst/>
                <a:gdLst/>
                <a:ahLst/>
                <a:cxnLst/>
                <a:rect l="l" t="t" r="r" b="b"/>
                <a:pathLst>
                  <a:path w="57150" h="100012">
                    <a:moveTo>
                      <a:pt x="50006" y="100012"/>
                    </a:moveTo>
                    <a:cubicBezTo>
                      <a:pt x="22389" y="100012"/>
                      <a:pt x="0" y="77624"/>
                      <a:pt x="0" y="50006"/>
                    </a:cubicBezTo>
                    <a:cubicBezTo>
                      <a:pt x="0" y="22389"/>
                      <a:pt x="22389" y="0"/>
                      <a:pt x="50006" y="0"/>
                    </a:cubicBezTo>
                    <a:lnTo>
                      <a:pt x="57150" y="0"/>
                    </a:lnTo>
                  </a:path>
                </a:pathLst>
              </a:custGeom>
              <a:noFill/>
              <a:ln w="28575">
                <a:solidFill>
                  <a:schemeClr val="accent1"/>
                </a:solidFill>
              </a:ln>
            </p:spPr>
          </p:sp>
          <p:sp>
            <p:nvSpPr>
              <p:cNvPr id="40" name="Freeform 40"/>
              <p:cNvSpPr/>
              <p:nvPr/>
            </p:nvSpPr>
            <p:spPr>
              <a:xfrm>
                <a:off x="3881438" y="5548312"/>
                <a:ext cx="100012" cy="192881"/>
              </a:xfrm>
              <a:custGeom>
                <a:avLst/>
                <a:gdLst/>
                <a:ahLst/>
                <a:cxnLst/>
                <a:rect l="l" t="t" r="r" b="b"/>
                <a:pathLst>
                  <a:path w="100012" h="192881">
                    <a:moveTo>
                      <a:pt x="0" y="90011"/>
                    </a:moveTo>
                    <a:lnTo>
                      <a:pt x="0" y="50006"/>
                    </a:lnTo>
                    <a:cubicBezTo>
                      <a:pt x="0" y="22389"/>
                      <a:pt x="22389" y="0"/>
                      <a:pt x="50006" y="0"/>
                    </a:cubicBezTo>
                    <a:cubicBezTo>
                      <a:pt x="77624" y="0"/>
                      <a:pt x="100012" y="22389"/>
                      <a:pt x="100012" y="50006"/>
                    </a:cubicBezTo>
                    <a:lnTo>
                      <a:pt x="100012" y="192881"/>
                    </a:lnTo>
                  </a:path>
                </a:pathLst>
              </a:custGeom>
              <a:noFill/>
              <a:ln w="28575">
                <a:solidFill>
                  <a:schemeClr val="accent1"/>
                </a:solidFill>
              </a:ln>
            </p:spPr>
          </p:sp>
        </p:grpSp>
        <p:sp>
          <p:nvSpPr>
            <p:cNvPr id="42" name="TextBox 42"/>
            <p:cNvSpPr txBox="1"/>
            <p:nvPr/>
          </p:nvSpPr>
          <p:spPr>
            <a:xfrm>
              <a:off x="4239006" y="5534025"/>
              <a:ext cx="1491844"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Когнитивный</a:t>
              </a:r>
            </a:p>
          </p:txBody>
        </p:sp>
        <p:sp>
          <p:nvSpPr>
            <p:cNvPr id="43" name="Rectangle 43"/>
            <p:cNvSpPr/>
            <p:nvPr/>
          </p:nvSpPr>
          <p:spPr>
            <a:xfrm>
              <a:off x="6096000" y="5286375"/>
              <a:ext cx="2286000" cy="952500"/>
            </a:xfrm>
            <a:prstGeom prst="roundRect">
              <a:avLst>
                <a:gd name="adj" fmla="val 14000"/>
              </a:avLst>
            </a:prstGeom>
            <a:solidFill>
              <a:srgbClr val="FFFFFF">
                <a:alpha val="85000"/>
              </a:srgbClr>
            </a:solidFill>
            <a:ln>
              <a:noFill/>
            </a:ln>
          </p:spPr>
        </p:sp>
        <p:grpSp>
          <p:nvGrpSpPr>
            <p:cNvPr id="46" name="Group 46"/>
            <p:cNvGrpSpPr/>
            <p:nvPr/>
          </p:nvGrpSpPr>
          <p:grpSpPr>
            <a:xfrm>
              <a:off x="6329362" y="5548312"/>
              <a:ext cx="257175" cy="257175"/>
              <a:chOff x="6329362" y="5548312"/>
              <a:chExt cx="257175" cy="257175"/>
            </a:xfrm>
          </p:grpSpPr>
          <p:sp>
            <p:nvSpPr>
              <p:cNvPr id="44" name="Freeform 44"/>
              <p:cNvSpPr/>
              <p:nvPr/>
            </p:nvSpPr>
            <p:spPr>
              <a:xfrm>
                <a:off x="6400800" y="5619750"/>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28575">
                <a:solidFill>
                  <a:schemeClr val="accent1"/>
                </a:solidFill>
              </a:ln>
            </p:spPr>
          </p:sp>
          <p:sp>
            <p:nvSpPr>
              <p:cNvPr id="45" name="Freeform 45"/>
              <p:cNvSpPr/>
              <p:nvPr/>
            </p:nvSpPr>
            <p:spPr>
              <a:xfrm>
                <a:off x="6329362" y="5548312"/>
                <a:ext cx="257175" cy="257175"/>
              </a:xfrm>
              <a:custGeom>
                <a:avLst/>
                <a:gdLst/>
                <a:ahLst/>
                <a:cxnLst/>
                <a:rect l="l" t="t" r="r" b="b"/>
                <a:pathLst>
                  <a:path w="257175" h="257175">
                    <a:moveTo>
                      <a:pt x="0" y="128588"/>
                    </a:moveTo>
                    <a:lnTo>
                      <a:pt x="14288" y="128588"/>
                    </a:lnTo>
                    <a:moveTo>
                      <a:pt x="128588" y="0"/>
                    </a:moveTo>
                    <a:lnTo>
                      <a:pt x="128588" y="14288"/>
                    </a:lnTo>
                    <a:moveTo>
                      <a:pt x="242888" y="128588"/>
                    </a:moveTo>
                    <a:lnTo>
                      <a:pt x="257175" y="128588"/>
                    </a:lnTo>
                    <a:moveTo>
                      <a:pt x="128588" y="242888"/>
                    </a:moveTo>
                    <a:lnTo>
                      <a:pt x="128588" y="257175"/>
                    </a:lnTo>
                    <a:moveTo>
                      <a:pt x="37147" y="37147"/>
                    </a:moveTo>
                    <a:lnTo>
                      <a:pt x="47149" y="47149"/>
                    </a:lnTo>
                    <a:moveTo>
                      <a:pt x="220028" y="37147"/>
                    </a:moveTo>
                    <a:lnTo>
                      <a:pt x="210026" y="47149"/>
                    </a:lnTo>
                    <a:moveTo>
                      <a:pt x="210026" y="210026"/>
                    </a:moveTo>
                    <a:lnTo>
                      <a:pt x="220028" y="220028"/>
                    </a:lnTo>
                    <a:moveTo>
                      <a:pt x="47149" y="210026"/>
                    </a:moveTo>
                    <a:lnTo>
                      <a:pt x="37147" y="220028"/>
                    </a:lnTo>
                  </a:path>
                </a:pathLst>
              </a:custGeom>
              <a:noFill/>
              <a:ln w="28575">
                <a:solidFill>
                  <a:schemeClr val="accent1"/>
                </a:solidFill>
              </a:ln>
            </p:spPr>
          </p:sp>
        </p:grpSp>
        <p:sp>
          <p:nvSpPr>
            <p:cNvPr id="47" name="TextBox 47"/>
            <p:cNvSpPr txBox="1"/>
            <p:nvPr/>
          </p:nvSpPr>
          <p:spPr>
            <a:xfrm>
              <a:off x="6715506" y="5534025"/>
              <a:ext cx="135857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Позитивный</a:t>
              </a:r>
            </a:p>
          </p:txBody>
        </p:sp>
        <p:sp>
          <p:nvSpPr>
            <p:cNvPr id="48" name="Rectangle 48"/>
            <p:cNvSpPr/>
            <p:nvPr/>
          </p:nvSpPr>
          <p:spPr>
            <a:xfrm>
              <a:off x="8572500" y="5286375"/>
              <a:ext cx="2476500" cy="952500"/>
            </a:xfrm>
            <a:prstGeom prst="roundRect">
              <a:avLst>
                <a:gd name="adj" fmla="val 14000"/>
              </a:avLst>
            </a:prstGeom>
            <a:solidFill>
              <a:srgbClr val="FFFFFF">
                <a:alpha val="85000"/>
              </a:srgbClr>
            </a:solidFill>
            <a:ln>
              <a:noFill/>
            </a:ln>
          </p:spPr>
        </p:sp>
        <p:grpSp>
          <p:nvGrpSpPr>
            <p:cNvPr id="52" name="Group 52"/>
            <p:cNvGrpSpPr/>
            <p:nvPr/>
          </p:nvGrpSpPr>
          <p:grpSpPr>
            <a:xfrm>
              <a:off x="8813221" y="5555671"/>
              <a:ext cx="242458" cy="242458"/>
              <a:chOff x="8813221" y="5555671"/>
              <a:chExt cx="242458" cy="242458"/>
            </a:xfrm>
          </p:grpSpPr>
          <p:sp>
            <p:nvSpPr>
              <p:cNvPr id="49" name="Freeform 49"/>
              <p:cNvSpPr/>
              <p:nvPr/>
            </p:nvSpPr>
            <p:spPr>
              <a:xfrm>
                <a:off x="8872387" y="5615680"/>
                <a:ext cx="123283" cy="123283"/>
              </a:xfrm>
              <a:custGeom>
                <a:avLst/>
                <a:gdLst/>
                <a:ahLst/>
                <a:cxnLst/>
                <a:rect l="l" t="t" r="r" b="b"/>
                <a:pathLst>
                  <a:path w="123283" h="123283">
                    <a:moveTo>
                      <a:pt x="102468" y="101625"/>
                    </a:moveTo>
                    <a:cubicBezTo>
                      <a:pt x="117325" y="87276"/>
                      <a:pt x="123283" y="66027"/>
                      <a:pt x="118053" y="46046"/>
                    </a:cubicBezTo>
                    <a:cubicBezTo>
                      <a:pt x="112823" y="26065"/>
                      <a:pt x="97218" y="10460"/>
                      <a:pt x="77237" y="5230"/>
                    </a:cubicBezTo>
                    <a:cubicBezTo>
                      <a:pt x="57256" y="0"/>
                      <a:pt x="36007" y="5958"/>
                      <a:pt x="21658" y="20815"/>
                    </a:cubicBezTo>
                    <a:cubicBezTo>
                      <a:pt x="0" y="43239"/>
                      <a:pt x="310" y="78884"/>
                      <a:pt x="22354" y="100929"/>
                    </a:cubicBezTo>
                    <a:cubicBezTo>
                      <a:pt x="44399" y="122973"/>
                      <a:pt x="80044" y="123283"/>
                      <a:pt x="102468" y="101625"/>
                    </a:cubicBezTo>
                  </a:path>
                </a:pathLst>
              </a:custGeom>
              <a:noFill/>
              <a:ln w="28575">
                <a:solidFill>
                  <a:schemeClr val="accent1"/>
                </a:solidFill>
              </a:ln>
            </p:spPr>
          </p:sp>
          <p:sp>
            <p:nvSpPr>
              <p:cNvPr id="50" name="Freeform 50"/>
              <p:cNvSpPr/>
              <p:nvPr/>
            </p:nvSpPr>
            <p:spPr>
              <a:xfrm>
                <a:off x="8813221" y="5694986"/>
                <a:ext cx="103143" cy="103143"/>
              </a:xfrm>
              <a:custGeom>
                <a:avLst/>
                <a:gdLst/>
                <a:ahLst/>
                <a:cxnLst/>
                <a:rect l="l" t="t" r="r" b="b"/>
                <a:pathLst>
                  <a:path w="103143" h="103143">
                    <a:moveTo>
                      <a:pt x="80824" y="103143"/>
                    </a:moveTo>
                    <a:cubicBezTo>
                      <a:pt x="103143" y="80824"/>
                      <a:pt x="103143" y="44638"/>
                      <a:pt x="80824" y="22319"/>
                    </a:cubicBezTo>
                    <a:cubicBezTo>
                      <a:pt x="58505" y="0"/>
                      <a:pt x="22319" y="0"/>
                      <a:pt x="0" y="22319"/>
                    </a:cubicBezTo>
                  </a:path>
                </a:pathLst>
              </a:custGeom>
              <a:noFill/>
              <a:ln w="28575">
                <a:solidFill>
                  <a:schemeClr val="accent1"/>
                </a:solidFill>
              </a:ln>
            </p:spPr>
          </p:sp>
          <p:sp>
            <p:nvSpPr>
              <p:cNvPr id="51" name="Freeform 51"/>
              <p:cNvSpPr/>
              <p:nvPr/>
            </p:nvSpPr>
            <p:spPr>
              <a:xfrm>
                <a:off x="8952536" y="5555671"/>
                <a:ext cx="103143" cy="103143"/>
              </a:xfrm>
              <a:custGeom>
                <a:avLst/>
                <a:gdLst/>
                <a:ahLst/>
                <a:cxnLst/>
                <a:rect l="l" t="t" r="r" b="b"/>
                <a:pathLst>
                  <a:path w="103143" h="103143">
                    <a:moveTo>
                      <a:pt x="22319" y="0"/>
                    </a:moveTo>
                    <a:cubicBezTo>
                      <a:pt x="0" y="22319"/>
                      <a:pt x="0" y="58505"/>
                      <a:pt x="22319" y="80824"/>
                    </a:cubicBezTo>
                    <a:cubicBezTo>
                      <a:pt x="44638" y="103143"/>
                      <a:pt x="80824" y="103143"/>
                      <a:pt x="103143" y="80824"/>
                    </a:cubicBezTo>
                  </a:path>
                </a:pathLst>
              </a:custGeom>
              <a:noFill/>
              <a:ln w="28575">
                <a:solidFill>
                  <a:schemeClr val="accent1"/>
                </a:solidFill>
              </a:ln>
            </p:spPr>
          </p:sp>
        </p:grpSp>
        <p:sp>
          <p:nvSpPr>
            <p:cNvPr id="53" name="TextBox 53"/>
            <p:cNvSpPr txBox="1"/>
            <p:nvPr/>
          </p:nvSpPr>
          <p:spPr>
            <a:xfrm>
              <a:off x="9192006" y="5534025"/>
              <a:ext cx="125454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Био-психо-</a:t>
              </a:r>
            </a:p>
          </p:txBody>
        </p:sp>
        <p:sp>
          <p:nvSpPr>
            <p:cNvPr id="54" name="TextBox 54"/>
            <p:cNvSpPr txBox="1"/>
            <p:nvPr/>
          </p:nvSpPr>
          <p:spPr>
            <a:xfrm>
              <a:off x="8753856" y="5848350"/>
              <a:ext cx="1351026"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социальный</a:t>
              </a:r>
            </a:p>
          </p:txBody>
        </p:sp>
      </p:grpSp>
      <p:sp>
        <p:nvSpPr>
          <p:cNvPr id="56" name="p05-note"/>
          <p:cNvSpPr txBox="1"/>
          <p:nvPr/>
        </p:nvSpPr>
        <p:spPr>
          <a:xfrm>
            <a:off x="1135380" y="6210300"/>
            <a:ext cx="6226037" cy="293370"/>
          </a:xfrm>
          <a:prstGeom prst="rect">
            <a:avLst/>
          </a:prstGeom>
          <a:noFill/>
          <a:ln>
            <a:noFill/>
          </a:ln>
        </p:spPr>
        <p:txBody>
          <a:bodyPr wrap="none" lIns="0" tIns="0" rIns="0" bIns="0" anchor="t" anchorCtr="0">
            <a:spAutoFit/>
          </a:bodyPr>
          <a:lstStyle/>
          <a:p>
            <a:pPr algn="l"/>
            <a:r>
              <a:rPr lang="ru" sz="1500" dirty="0">
                <a:solidFill>
                  <a:srgbClr val="5D6D7E"/>
                </a:solidFill>
                <a:latin typeface="+mn-lt"/>
                <a:ea typeface="+mn-ea"/>
                <a:cs typeface="+mn-cs"/>
              </a:rPr>
              <a:t>Фредриксон: на одно негативное переживание — три позитивных</a:t>
            </a:r>
          </a:p>
        </p:txBody>
      </p:sp>
      <p:sp>
        <p:nvSpPr>
          <p:cNvPr id="57" name="credit"/>
          <p:cNvSpPr txBox="1"/>
          <p:nvPr/>
        </p:nvSpPr>
        <p:spPr>
          <a:xfrm>
            <a:off x="755904" y="6438900"/>
            <a:ext cx="3813486"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YVC Biology Department / Wikimedia / CC BY 2.0</a:t>
            </a:r>
          </a:p>
        </p:txBody>
      </p:sp>
      <p:pic>
        <p:nvPicPr>
          <p:cNvPr id="58" name="PPT Master narration: narration5.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57559">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58"/>
                </p:tgtEl>
              </p:cMediaNode>
            </p:audio>
          </p:childTnLst>
        </p:cTn>
      </p:par>
    </p:tnLst>
  </p:timing>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6"/>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06-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6-accent"/>
          <p:cNvSpPr/>
          <p:nvPr/>
        </p:nvSpPr>
        <p:spPr>
          <a:xfrm>
            <a:off x="0" y="0"/>
            <a:ext cx="12192000" cy="57150"/>
          </a:xfrm>
          <a:prstGeom prst="rect">
            <a:avLst/>
          </a:prstGeom>
          <a:solidFill>
            <a:srgbClr val="27AE60"/>
          </a:solidFill>
          <a:ln>
            <a:noFill/>
          </a:ln>
        </p:spPr>
      </p:sp>
      <p:grpSp>
        <p:nvGrpSpPr>
          <p:cNvPr id="6" name="p06-title"/>
          <p:cNvGrpSpPr/>
          <p:nvPr/>
        </p:nvGrpSpPr>
        <p:grpSpPr>
          <a:xfrm>
            <a:off x="743712" y="527050"/>
            <a:ext cx="5919941" cy="704088"/>
            <a:chOff x="743712" y="527050"/>
            <a:chExt cx="5919941" cy="704088"/>
          </a:xfrm>
        </p:grpSpPr>
        <p:sp>
          <p:nvSpPr>
            <p:cNvPr id="5" name="TextBox 5"/>
            <p:cNvSpPr txBox="1"/>
            <p:nvPr/>
          </p:nvSpPr>
          <p:spPr>
            <a:xfrm>
              <a:off x="743712" y="527050"/>
              <a:ext cx="5919941"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Четыре гормона счастья</a:t>
              </a:r>
            </a:p>
          </p:txBody>
        </p:sp>
      </p:grpSp>
      <p:grpSp>
        <p:nvGrpSpPr>
          <p:cNvPr id="11" name="p06-dopamine"/>
          <p:cNvGrpSpPr/>
          <p:nvPr/>
        </p:nvGrpSpPr>
        <p:grpSpPr>
          <a:xfrm>
            <a:off x="762000" y="1666875"/>
            <a:ext cx="3429000" cy="1143000"/>
            <a:chOff x="762000" y="1666875"/>
            <a:chExt cx="3429000" cy="1143000"/>
          </a:xfrm>
        </p:grpSpPr>
        <p:sp>
          <p:nvSpPr>
            <p:cNvPr id="7" name="Rectangle 7"/>
            <p:cNvSpPr/>
            <p:nvPr/>
          </p:nvSpPr>
          <p:spPr>
            <a:xfrm>
              <a:off x="762000" y="1666875"/>
              <a:ext cx="3429000" cy="1143000"/>
            </a:xfrm>
            <a:prstGeom prst="roundRect">
              <a:avLst>
                <a:gd name="adj" fmla="val 11667"/>
              </a:avLst>
            </a:prstGeom>
            <a:solidFill>
              <a:srgbClr val="FFFFFF">
                <a:alpha val="85000"/>
              </a:srgbClr>
            </a:solidFill>
            <a:ln>
              <a:noFill/>
            </a:ln>
          </p:spPr>
        </p:sp>
        <p:sp>
          <p:nvSpPr>
            <p:cNvPr id="8" name="Freeform 8"/>
            <p:cNvSpPr/>
            <p:nvPr/>
          </p:nvSpPr>
          <p:spPr>
            <a:xfrm>
              <a:off x="1052513" y="2054225"/>
              <a:ext cx="350838" cy="330201"/>
            </a:xfrm>
            <a:custGeom>
              <a:avLst/>
              <a:gdLst/>
              <a:ahLst/>
              <a:cxnLst/>
              <a:rect l="l" t="t" r="r" b="b"/>
              <a:pathLst>
                <a:path w="350838" h="330201">
                  <a:moveTo>
                    <a:pt x="268288" y="288925"/>
                  </a:moveTo>
                  <a:cubicBezTo>
                    <a:pt x="291084" y="288925"/>
                    <a:pt x="309563" y="307405"/>
                    <a:pt x="309563" y="330201"/>
                  </a:cubicBezTo>
                  <a:cubicBezTo>
                    <a:pt x="309563" y="307405"/>
                    <a:pt x="328042" y="288925"/>
                    <a:pt x="350838" y="288925"/>
                  </a:cubicBezTo>
                  <a:cubicBezTo>
                    <a:pt x="328042" y="288925"/>
                    <a:pt x="309563" y="270446"/>
                    <a:pt x="309563" y="247650"/>
                  </a:cubicBezTo>
                  <a:cubicBezTo>
                    <a:pt x="309563" y="270446"/>
                    <a:pt x="291084" y="288925"/>
                    <a:pt x="268288" y="288925"/>
                  </a:cubicBezTo>
                  <a:moveTo>
                    <a:pt x="268288" y="41275"/>
                  </a:moveTo>
                  <a:cubicBezTo>
                    <a:pt x="291084" y="41275"/>
                    <a:pt x="309563" y="59755"/>
                    <a:pt x="309563" y="82550"/>
                  </a:cubicBezTo>
                  <a:cubicBezTo>
                    <a:pt x="309563" y="59755"/>
                    <a:pt x="328042" y="41275"/>
                    <a:pt x="350838" y="41275"/>
                  </a:cubicBezTo>
                  <a:cubicBezTo>
                    <a:pt x="328042" y="41275"/>
                    <a:pt x="309563" y="22796"/>
                    <a:pt x="309563" y="0"/>
                  </a:cubicBezTo>
                  <a:cubicBezTo>
                    <a:pt x="309563" y="22796"/>
                    <a:pt x="291084" y="41275"/>
                    <a:pt x="268288" y="41275"/>
                  </a:cubicBezTo>
                  <a:moveTo>
                    <a:pt x="123825" y="288925"/>
                  </a:moveTo>
                  <a:cubicBezTo>
                    <a:pt x="123825" y="220539"/>
                    <a:pt x="179264" y="165100"/>
                    <a:pt x="247650" y="165100"/>
                  </a:cubicBezTo>
                  <a:cubicBezTo>
                    <a:pt x="179264" y="165100"/>
                    <a:pt x="123825" y="109662"/>
                    <a:pt x="123825" y="41275"/>
                  </a:cubicBezTo>
                  <a:cubicBezTo>
                    <a:pt x="123825" y="109662"/>
                    <a:pt x="68387" y="165100"/>
                    <a:pt x="0" y="165100"/>
                  </a:cubicBezTo>
                  <a:cubicBezTo>
                    <a:pt x="68387" y="165100"/>
                    <a:pt x="123825" y="220539"/>
                    <a:pt x="123825" y="288925"/>
                  </a:cubicBezTo>
                </a:path>
              </a:pathLst>
            </a:custGeom>
            <a:noFill/>
            <a:ln w="41275">
              <a:solidFill>
                <a:schemeClr val="accent1"/>
              </a:solidFill>
            </a:ln>
          </p:spPr>
        </p:sp>
        <p:sp>
          <p:nvSpPr>
            <p:cNvPr id="9" name="TextBox 9"/>
            <p:cNvSpPr txBox="1"/>
            <p:nvPr/>
          </p:nvSpPr>
          <p:spPr>
            <a:xfrm>
              <a:off x="1667256" y="1914525"/>
              <a:ext cx="100577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Дофамин</a:t>
              </a:r>
            </a:p>
          </p:txBody>
        </p:sp>
        <p:sp>
          <p:nvSpPr>
            <p:cNvPr id="10" name="TextBox 10"/>
            <p:cNvSpPr txBox="1"/>
            <p:nvPr/>
          </p:nvSpPr>
          <p:spPr>
            <a:xfrm>
              <a:off x="1667256" y="2276475"/>
              <a:ext cx="2418573"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мотивация и награда</a:t>
              </a:r>
            </a:p>
          </p:txBody>
        </p:sp>
      </p:grpSp>
      <p:grpSp>
        <p:nvGrpSpPr>
          <p:cNvPr id="18" name="p06-serotonin"/>
          <p:cNvGrpSpPr/>
          <p:nvPr/>
        </p:nvGrpSpPr>
        <p:grpSpPr>
          <a:xfrm>
            <a:off x="8001000" y="1666875"/>
            <a:ext cx="3429000" cy="1143000"/>
            <a:chOff x="8001000" y="1666875"/>
            <a:chExt cx="3429000" cy="1143000"/>
          </a:xfrm>
        </p:grpSpPr>
        <p:sp>
          <p:nvSpPr>
            <p:cNvPr id="12" name="Rectangle 12"/>
            <p:cNvSpPr/>
            <p:nvPr/>
          </p:nvSpPr>
          <p:spPr>
            <a:xfrm>
              <a:off x="8001000" y="1666875"/>
              <a:ext cx="3429000" cy="1143000"/>
            </a:xfrm>
            <a:prstGeom prst="roundRect">
              <a:avLst>
                <a:gd name="adj" fmla="val 11667"/>
              </a:avLst>
            </a:prstGeom>
            <a:solidFill>
              <a:srgbClr val="FFFFFF">
                <a:alpha val="85000"/>
              </a:srgbClr>
            </a:solidFill>
            <a:ln>
              <a:noFill/>
            </a:ln>
          </p:spPr>
        </p:sp>
        <p:grpSp>
          <p:nvGrpSpPr>
            <p:cNvPr id="15" name="Group 15"/>
            <p:cNvGrpSpPr/>
            <p:nvPr/>
          </p:nvGrpSpPr>
          <p:grpSpPr>
            <a:xfrm>
              <a:off x="8291513" y="2033588"/>
              <a:ext cx="371476" cy="371476"/>
              <a:chOff x="8291513" y="2033588"/>
              <a:chExt cx="371476" cy="371476"/>
            </a:xfrm>
          </p:grpSpPr>
          <p:sp>
            <p:nvSpPr>
              <p:cNvPr id="13" name="Freeform 13"/>
              <p:cNvSpPr/>
              <p:nvPr/>
            </p:nvSpPr>
            <p:spPr>
              <a:xfrm>
                <a:off x="8394700" y="2136775"/>
                <a:ext cx="165100" cy="165100"/>
              </a:xfrm>
              <a:custGeom>
                <a:avLst/>
                <a:gdLst/>
                <a:ahLst/>
                <a:cxnLst/>
                <a:rect l="l" t="t" r="r" b="b"/>
                <a:pathLst>
                  <a:path w="165100" h="165100">
                    <a:moveTo>
                      <a:pt x="0" y="82550"/>
                    </a:moveTo>
                    <a:cubicBezTo>
                      <a:pt x="0" y="128141"/>
                      <a:pt x="36959" y="165100"/>
                      <a:pt x="82550" y="165100"/>
                    </a:cubicBezTo>
                    <a:cubicBezTo>
                      <a:pt x="128141" y="165100"/>
                      <a:pt x="165100" y="128141"/>
                      <a:pt x="165100" y="82550"/>
                    </a:cubicBezTo>
                    <a:cubicBezTo>
                      <a:pt x="165100" y="36959"/>
                      <a:pt x="128141" y="0"/>
                      <a:pt x="82550" y="0"/>
                    </a:cubicBezTo>
                    <a:cubicBezTo>
                      <a:pt x="36959" y="0"/>
                      <a:pt x="0" y="36959"/>
                      <a:pt x="0" y="82550"/>
                    </a:cubicBezTo>
                  </a:path>
                </a:pathLst>
              </a:custGeom>
              <a:noFill/>
              <a:ln w="41275">
                <a:solidFill>
                  <a:srgbClr val="27AE60"/>
                </a:solidFill>
              </a:ln>
            </p:spPr>
          </p:sp>
          <p:sp>
            <p:nvSpPr>
              <p:cNvPr id="14" name="Freeform 14"/>
              <p:cNvSpPr/>
              <p:nvPr/>
            </p:nvSpPr>
            <p:spPr>
              <a:xfrm>
                <a:off x="8291513" y="2033588"/>
                <a:ext cx="371476" cy="371476"/>
              </a:xfrm>
              <a:custGeom>
                <a:avLst/>
                <a:gdLst/>
                <a:ahLst/>
                <a:cxnLst/>
                <a:rect l="l" t="t" r="r" b="b"/>
                <a:pathLst>
                  <a:path w="371476" h="371476">
                    <a:moveTo>
                      <a:pt x="0" y="185738"/>
                    </a:moveTo>
                    <a:lnTo>
                      <a:pt x="20638" y="185738"/>
                    </a:lnTo>
                    <a:moveTo>
                      <a:pt x="185738" y="0"/>
                    </a:moveTo>
                    <a:lnTo>
                      <a:pt x="185738" y="20638"/>
                    </a:lnTo>
                    <a:moveTo>
                      <a:pt x="350838" y="185738"/>
                    </a:moveTo>
                    <a:lnTo>
                      <a:pt x="371476" y="185738"/>
                    </a:lnTo>
                    <a:moveTo>
                      <a:pt x="185738" y="350838"/>
                    </a:moveTo>
                    <a:lnTo>
                      <a:pt x="185738" y="371476"/>
                    </a:lnTo>
                    <a:moveTo>
                      <a:pt x="53658" y="53658"/>
                    </a:moveTo>
                    <a:lnTo>
                      <a:pt x="68104" y="68104"/>
                    </a:lnTo>
                    <a:moveTo>
                      <a:pt x="317818" y="53658"/>
                    </a:moveTo>
                    <a:lnTo>
                      <a:pt x="303372" y="68104"/>
                    </a:lnTo>
                    <a:moveTo>
                      <a:pt x="303372" y="303372"/>
                    </a:moveTo>
                    <a:lnTo>
                      <a:pt x="317818" y="317818"/>
                    </a:lnTo>
                    <a:moveTo>
                      <a:pt x="68104" y="303372"/>
                    </a:moveTo>
                    <a:lnTo>
                      <a:pt x="53658" y="317818"/>
                    </a:lnTo>
                  </a:path>
                </a:pathLst>
              </a:custGeom>
              <a:noFill/>
              <a:ln w="41275">
                <a:solidFill>
                  <a:srgbClr val="27AE60"/>
                </a:solidFill>
              </a:ln>
            </p:spPr>
          </p:sp>
        </p:grpSp>
        <p:sp>
          <p:nvSpPr>
            <p:cNvPr id="16" name="TextBox 16"/>
            <p:cNvSpPr txBox="1"/>
            <p:nvPr/>
          </p:nvSpPr>
          <p:spPr>
            <a:xfrm>
              <a:off x="8906256" y="1914525"/>
              <a:ext cx="1285646" cy="352044"/>
            </a:xfrm>
            <a:prstGeom prst="rect">
              <a:avLst/>
            </a:prstGeom>
            <a:noFill/>
            <a:ln>
              <a:noFill/>
            </a:ln>
          </p:spPr>
          <p:txBody>
            <a:bodyPr wrap="none" lIns="0" tIns="0" rIns="0" bIns="0" anchor="t" anchorCtr="0">
              <a:spAutoFit/>
            </a:bodyPr>
            <a:lstStyle/>
            <a:p>
              <a:pPr algn="l"/>
              <a:r>
                <a:rPr lang="ru" sz="1800" b="1" dirty="0">
                  <a:solidFill>
                    <a:srgbClr val="1E8449"/>
                  </a:solidFill>
                  <a:latin typeface="+mn-lt"/>
                  <a:ea typeface="+mn-ea"/>
                  <a:cs typeface="+mn-cs"/>
                </a:rPr>
                <a:t>Серотонин</a:t>
              </a:r>
            </a:p>
          </p:txBody>
        </p:sp>
        <p:sp>
          <p:nvSpPr>
            <p:cNvPr id="17" name="TextBox 17"/>
            <p:cNvSpPr txBox="1"/>
            <p:nvPr/>
          </p:nvSpPr>
          <p:spPr>
            <a:xfrm>
              <a:off x="8906256" y="2276475"/>
              <a:ext cx="201875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настроение и сон</a:t>
              </a:r>
            </a:p>
          </p:txBody>
        </p:sp>
      </p:grpSp>
      <p:grpSp>
        <p:nvGrpSpPr>
          <p:cNvPr id="27" name="p06-endorphins"/>
          <p:cNvGrpSpPr/>
          <p:nvPr/>
        </p:nvGrpSpPr>
        <p:grpSpPr>
          <a:xfrm>
            <a:off x="762000" y="3095625"/>
            <a:ext cx="3429000" cy="1143000"/>
            <a:chOff x="762000" y="3095625"/>
            <a:chExt cx="3429000" cy="1143000"/>
          </a:xfrm>
        </p:grpSpPr>
        <p:sp>
          <p:nvSpPr>
            <p:cNvPr id="19" name="Rectangle 19"/>
            <p:cNvSpPr/>
            <p:nvPr/>
          </p:nvSpPr>
          <p:spPr>
            <a:xfrm>
              <a:off x="762000" y="3095625"/>
              <a:ext cx="3429000" cy="1143000"/>
            </a:xfrm>
            <a:prstGeom prst="roundRect">
              <a:avLst>
                <a:gd name="adj" fmla="val 11667"/>
              </a:avLst>
            </a:prstGeom>
            <a:solidFill>
              <a:srgbClr val="FFFFFF">
                <a:alpha val="85000"/>
              </a:srgbClr>
            </a:solidFill>
            <a:ln>
              <a:noFill/>
            </a:ln>
          </p:spPr>
        </p:sp>
        <p:grpSp>
          <p:nvGrpSpPr>
            <p:cNvPr id="24" name="Group 24"/>
            <p:cNvGrpSpPr/>
            <p:nvPr/>
          </p:nvGrpSpPr>
          <p:grpSpPr>
            <a:xfrm>
              <a:off x="1073150" y="3462338"/>
              <a:ext cx="288926" cy="371475"/>
              <a:chOff x="1073150" y="3462338"/>
              <a:chExt cx="288926" cy="371475"/>
            </a:xfrm>
          </p:grpSpPr>
          <p:sp>
            <p:nvSpPr>
              <p:cNvPr id="20" name="Freeform 20"/>
              <p:cNvSpPr/>
              <p:nvPr/>
            </p:nvSpPr>
            <p:spPr>
              <a:xfrm>
                <a:off x="1217757" y="3462338"/>
                <a:ext cx="82550" cy="82550"/>
              </a:xfrm>
              <a:custGeom>
                <a:avLst/>
                <a:gdLst/>
                <a:ahLst/>
                <a:cxnLst/>
                <a:rect l="l" t="t" r="r" b="b"/>
                <a:pathLst>
                  <a:path w="82550" h="82550">
                    <a:moveTo>
                      <a:pt x="0" y="41275"/>
                    </a:moveTo>
                    <a:cubicBezTo>
                      <a:pt x="0" y="64071"/>
                      <a:pt x="18479" y="82550"/>
                      <a:pt x="41275" y="82550"/>
                    </a:cubicBezTo>
                    <a:cubicBezTo>
                      <a:pt x="64071" y="82550"/>
                      <a:pt x="82550" y="64071"/>
                      <a:pt x="82550" y="41275"/>
                    </a:cubicBezTo>
                    <a:cubicBezTo>
                      <a:pt x="82550" y="18479"/>
                      <a:pt x="64071" y="0"/>
                      <a:pt x="41275" y="0"/>
                    </a:cubicBezTo>
                    <a:cubicBezTo>
                      <a:pt x="18479" y="0"/>
                      <a:pt x="0" y="18479"/>
                      <a:pt x="0" y="41275"/>
                    </a:cubicBezTo>
                  </a:path>
                </a:pathLst>
              </a:custGeom>
              <a:noFill/>
              <a:ln w="41275">
                <a:solidFill>
                  <a:srgbClr val="E67E22"/>
                </a:solidFill>
              </a:ln>
            </p:spPr>
          </p:sp>
          <p:sp>
            <p:nvSpPr>
              <p:cNvPr id="21" name="Freeform 21"/>
              <p:cNvSpPr/>
              <p:nvPr/>
            </p:nvSpPr>
            <p:spPr>
              <a:xfrm>
                <a:off x="1073150" y="3740944"/>
                <a:ext cx="118666" cy="30956"/>
              </a:xfrm>
              <a:custGeom>
                <a:avLst/>
                <a:gdLst/>
                <a:ahLst/>
                <a:cxnLst/>
                <a:rect l="l" t="t" r="r" b="b"/>
                <a:pathLst>
                  <a:path w="118666" h="30956">
                    <a:moveTo>
                      <a:pt x="0" y="10319"/>
                    </a:moveTo>
                    <a:lnTo>
                      <a:pt x="103188" y="30956"/>
                    </a:lnTo>
                    <a:lnTo>
                      <a:pt x="118666" y="0"/>
                    </a:lnTo>
                  </a:path>
                </a:pathLst>
              </a:custGeom>
              <a:noFill/>
              <a:ln w="41275">
                <a:solidFill>
                  <a:srgbClr val="E67E22"/>
                </a:solidFill>
              </a:ln>
            </p:spPr>
          </p:sp>
          <p:sp>
            <p:nvSpPr>
              <p:cNvPr id="22" name="Freeform 22"/>
              <p:cNvSpPr/>
              <p:nvPr/>
            </p:nvSpPr>
            <p:spPr>
              <a:xfrm>
                <a:off x="1217613" y="3565525"/>
                <a:ext cx="82550" cy="268288"/>
              </a:xfrm>
              <a:custGeom>
                <a:avLst/>
                <a:gdLst/>
                <a:ahLst/>
                <a:cxnLst/>
                <a:rect l="l" t="t" r="r" b="b"/>
                <a:pathLst>
                  <a:path w="82550" h="268288">
                    <a:moveTo>
                      <a:pt x="82550" y="268288"/>
                    </a:moveTo>
                    <a:lnTo>
                      <a:pt x="82550" y="185738"/>
                    </a:lnTo>
                    <a:lnTo>
                      <a:pt x="0" y="123825"/>
                    </a:lnTo>
                    <a:lnTo>
                      <a:pt x="20638" y="0"/>
                    </a:lnTo>
                  </a:path>
                </a:pathLst>
              </a:custGeom>
              <a:noFill/>
              <a:ln w="41275">
                <a:solidFill>
                  <a:srgbClr val="E67E22"/>
                </a:solidFill>
              </a:ln>
            </p:spPr>
          </p:sp>
          <p:sp>
            <p:nvSpPr>
              <p:cNvPr id="23" name="Freeform 23"/>
              <p:cNvSpPr/>
              <p:nvPr/>
            </p:nvSpPr>
            <p:spPr>
              <a:xfrm>
                <a:off x="1135063" y="3565525"/>
                <a:ext cx="227013" cy="82550"/>
              </a:xfrm>
              <a:custGeom>
                <a:avLst/>
                <a:gdLst/>
                <a:ahLst/>
                <a:cxnLst/>
                <a:rect l="l" t="t" r="r" b="b"/>
                <a:pathLst>
                  <a:path w="227013" h="82550">
                    <a:moveTo>
                      <a:pt x="0" y="82550"/>
                    </a:moveTo>
                    <a:lnTo>
                      <a:pt x="0" y="20638"/>
                    </a:lnTo>
                    <a:lnTo>
                      <a:pt x="103188" y="0"/>
                    </a:lnTo>
                    <a:lnTo>
                      <a:pt x="165100" y="61913"/>
                    </a:lnTo>
                    <a:lnTo>
                      <a:pt x="227013" y="82550"/>
                    </a:lnTo>
                  </a:path>
                </a:pathLst>
              </a:custGeom>
              <a:noFill/>
              <a:ln w="41275">
                <a:solidFill>
                  <a:srgbClr val="E67E22"/>
                </a:solidFill>
              </a:ln>
            </p:spPr>
          </p:sp>
        </p:grpSp>
        <p:sp>
          <p:nvSpPr>
            <p:cNvPr id="25" name="TextBox 25"/>
            <p:cNvSpPr txBox="1"/>
            <p:nvPr/>
          </p:nvSpPr>
          <p:spPr>
            <a:xfrm>
              <a:off x="1667256" y="3343275"/>
              <a:ext cx="1285646" cy="352044"/>
            </a:xfrm>
            <a:prstGeom prst="rect">
              <a:avLst/>
            </a:prstGeom>
            <a:noFill/>
            <a:ln>
              <a:noFill/>
            </a:ln>
          </p:spPr>
          <p:txBody>
            <a:bodyPr wrap="none" lIns="0" tIns="0" rIns="0" bIns="0" anchor="t" anchorCtr="0">
              <a:spAutoFit/>
            </a:bodyPr>
            <a:lstStyle/>
            <a:p>
              <a:pPr algn="l"/>
              <a:r>
                <a:rPr lang="ru" sz="1800" b="1" dirty="0">
                  <a:solidFill>
                    <a:srgbClr val="B9631B"/>
                  </a:solidFill>
                  <a:latin typeface="+mn-lt"/>
                  <a:ea typeface="+mn-ea"/>
                  <a:cs typeface="+mn-cs"/>
                </a:rPr>
                <a:t>Эндорфины</a:t>
              </a:r>
            </a:p>
          </p:txBody>
        </p:sp>
        <p:sp>
          <p:nvSpPr>
            <p:cNvPr id="26" name="TextBox 26"/>
            <p:cNvSpPr txBox="1"/>
            <p:nvPr/>
          </p:nvSpPr>
          <p:spPr>
            <a:xfrm>
              <a:off x="1667256" y="3705225"/>
              <a:ext cx="228530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эйфория и лёгкость</a:t>
              </a:r>
            </a:p>
          </p:txBody>
        </p:sp>
      </p:grpSp>
      <p:grpSp>
        <p:nvGrpSpPr>
          <p:cNvPr id="32" name="p06-oxytocin"/>
          <p:cNvGrpSpPr/>
          <p:nvPr/>
        </p:nvGrpSpPr>
        <p:grpSpPr>
          <a:xfrm>
            <a:off x="8001000" y="3095625"/>
            <a:ext cx="3429000" cy="1143000"/>
            <a:chOff x="8001000" y="3095625"/>
            <a:chExt cx="3429000" cy="1143000"/>
          </a:xfrm>
        </p:grpSpPr>
        <p:sp>
          <p:nvSpPr>
            <p:cNvPr id="28" name="Rectangle 28"/>
            <p:cNvSpPr/>
            <p:nvPr/>
          </p:nvSpPr>
          <p:spPr>
            <a:xfrm>
              <a:off x="8001000" y="3095625"/>
              <a:ext cx="3429000" cy="1143000"/>
            </a:xfrm>
            <a:prstGeom prst="roundRect">
              <a:avLst>
                <a:gd name="adj" fmla="val 11667"/>
              </a:avLst>
            </a:prstGeom>
            <a:solidFill>
              <a:srgbClr val="FFFFFF">
                <a:alpha val="85000"/>
              </a:srgbClr>
            </a:solidFill>
            <a:ln>
              <a:noFill/>
            </a:ln>
          </p:spPr>
        </p:sp>
        <p:sp>
          <p:nvSpPr>
            <p:cNvPr id="29" name="Freeform 29"/>
            <p:cNvSpPr/>
            <p:nvPr/>
          </p:nvSpPr>
          <p:spPr>
            <a:xfrm>
              <a:off x="8284366" y="3477681"/>
              <a:ext cx="385394" cy="335495"/>
            </a:xfrm>
            <a:custGeom>
              <a:avLst/>
              <a:gdLst/>
              <a:ahLst/>
              <a:cxnLst/>
              <a:rect l="l" t="t" r="r" b="b"/>
              <a:pathLst>
                <a:path w="385394" h="335495">
                  <a:moveTo>
                    <a:pt x="347665" y="182199"/>
                  </a:moveTo>
                  <a:lnTo>
                    <a:pt x="192884" y="335495"/>
                  </a:lnTo>
                  <a:lnTo>
                    <a:pt x="38102" y="182199"/>
                  </a:lnTo>
                  <a:cubicBezTo>
                    <a:pt x="10269" y="155114"/>
                    <a:pt x="0" y="114695"/>
                    <a:pt x="11531" y="77609"/>
                  </a:cubicBezTo>
                  <a:cubicBezTo>
                    <a:pt x="23062" y="40523"/>
                    <a:pt x="54440" y="13053"/>
                    <a:pt x="92725" y="6527"/>
                  </a:cubicBezTo>
                  <a:cubicBezTo>
                    <a:pt x="131010" y="0"/>
                    <a:pt x="169717" y="15523"/>
                    <a:pt x="192884" y="46693"/>
                  </a:cubicBezTo>
                  <a:cubicBezTo>
                    <a:pt x="216148" y="15753"/>
                    <a:pt x="254772" y="437"/>
                    <a:pt x="292918" y="7024"/>
                  </a:cubicBezTo>
                  <a:cubicBezTo>
                    <a:pt x="331064" y="13612"/>
                    <a:pt x="362314" y="40995"/>
                    <a:pt x="373854" y="77946"/>
                  </a:cubicBezTo>
                  <a:cubicBezTo>
                    <a:pt x="385394" y="114896"/>
                    <a:pt x="375282" y="155197"/>
                    <a:pt x="347665" y="182323"/>
                  </a:cubicBezTo>
                </a:path>
              </a:pathLst>
            </a:custGeom>
            <a:noFill/>
            <a:ln w="41275">
              <a:solidFill>
                <a:srgbClr val="E74C3C"/>
              </a:solidFill>
            </a:ln>
          </p:spPr>
        </p:sp>
        <p:sp>
          <p:nvSpPr>
            <p:cNvPr id="30" name="TextBox 30"/>
            <p:cNvSpPr txBox="1"/>
            <p:nvPr/>
          </p:nvSpPr>
          <p:spPr>
            <a:xfrm>
              <a:off x="8906256" y="3343275"/>
              <a:ext cx="1285646" cy="352044"/>
            </a:xfrm>
            <a:prstGeom prst="rect">
              <a:avLst/>
            </a:prstGeom>
            <a:noFill/>
            <a:ln>
              <a:noFill/>
            </a:ln>
          </p:spPr>
          <p:txBody>
            <a:bodyPr wrap="none" lIns="0" tIns="0" rIns="0" bIns="0" anchor="t" anchorCtr="0">
              <a:spAutoFit/>
            </a:bodyPr>
            <a:lstStyle/>
            <a:p>
              <a:pPr algn="l"/>
              <a:r>
                <a:rPr lang="ru" sz="1800" b="1" dirty="0">
                  <a:solidFill>
                    <a:srgbClr val="C0392B"/>
                  </a:solidFill>
                  <a:latin typeface="+mn-lt"/>
                  <a:ea typeface="+mn-ea"/>
                  <a:cs typeface="+mn-cs"/>
                </a:rPr>
                <a:t>Окситоцин</a:t>
              </a:r>
            </a:p>
          </p:txBody>
        </p:sp>
        <p:sp>
          <p:nvSpPr>
            <p:cNvPr id="31" name="TextBox 31"/>
            <p:cNvSpPr txBox="1"/>
            <p:nvPr/>
          </p:nvSpPr>
          <p:spPr>
            <a:xfrm>
              <a:off x="8906256" y="3705225"/>
              <a:ext cx="228530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доверие и близость</a:t>
              </a:r>
            </a:p>
          </p:txBody>
        </p:sp>
      </p:grpSp>
      <p:grpSp>
        <p:nvGrpSpPr>
          <p:cNvPr id="37" name="p06-video"/>
          <p:cNvGrpSpPr/>
          <p:nvPr/>
        </p:nvGrpSpPr>
        <p:grpSpPr>
          <a:xfrm>
            <a:off x="4333875" y="1619250"/>
            <a:ext cx="3524250" cy="2019300"/>
            <a:chOff x="4333875" y="1619250"/>
            <a:chExt cx="3524250" cy="2019300"/>
          </a:xfrm>
        </p:grpSpPr>
        <p:sp>
          <p:nvSpPr>
            <p:cNvPr id="33" name="Rectangle 33"/>
            <p:cNvSpPr/>
            <p:nvPr/>
          </p:nvSpPr>
          <p:spPr>
            <a:xfrm>
              <a:off x="4333875" y="1619250"/>
              <a:ext cx="3524250" cy="2019300"/>
            </a:xfrm>
            <a:prstGeom prst="roundRect">
              <a:avLst>
                <a:gd name="adj" fmla="val 6604"/>
              </a:avLst>
            </a:prstGeom>
            <a:solidFill>
              <a:srgbClr val="FFFFFF">
                <a:alpha val="90000"/>
              </a:srgbClr>
            </a:solidFill>
            <a:ln w="19050">
              <a:solidFill>
                <a:schemeClr val="accent1"/>
              </a:solidFill>
            </a:ln>
          </p:spPr>
        </p:sp>
        <p:pic>
          <p:nvPicPr>
            <p:cNvPr id="34" name="Image 34"/>
            <p:cNvPicPr>
              <a:picLocks noChangeAspect="1"/>
            </p:cNvPicPr>
            <p:nvPr/>
          </p:nvPicPr>
          <p:blipFill>
            <a:blip r:embed="rId3"/>
            <a:srcRect l="0" t="93" r="0" b="93"/>
            <a:stretch>
              <a:fillRect/>
            </a:stretch>
          </p:blipFill>
          <p:spPr>
            <a:xfrm>
              <a:off x="4391025" y="1676400"/>
              <a:ext cx="3409950" cy="1914525"/>
            </a:xfrm>
            <a:prstGeom prst="rect">
              <a:avLst/>
            </a:prstGeom>
          </p:spPr>
        </p:pic>
        <p:sp>
          <p:nvSpPr>
            <p:cNvPr id="35" name="Ellipse 35"/>
            <p:cNvSpPr/>
            <p:nvPr/>
          </p:nvSpPr>
          <p:spPr>
            <a:xfrm>
              <a:off x="5772150" y="2305050"/>
              <a:ext cx="647700" cy="647700"/>
            </a:xfrm>
            <a:prstGeom prst="ellipse">
              <a:avLst/>
            </a:prstGeom>
            <a:solidFill>
              <a:srgbClr val="FFFFFF">
                <a:alpha val="85000"/>
              </a:srgbClr>
            </a:solidFill>
            <a:ln>
              <a:noFill/>
            </a:ln>
          </p:spPr>
        </p:sp>
        <p:sp>
          <p:nvSpPr>
            <p:cNvPr id="36" name="Freeform 36"/>
            <p:cNvSpPr/>
            <p:nvPr/>
          </p:nvSpPr>
          <p:spPr>
            <a:xfrm>
              <a:off x="6000750" y="2476500"/>
              <a:ext cx="266700" cy="304800"/>
            </a:xfrm>
            <a:custGeom>
              <a:avLst/>
              <a:gdLst/>
              <a:ahLst/>
              <a:cxnLst/>
              <a:rect l="l" t="t" r="r" b="b"/>
              <a:pathLst>
                <a:path w="266700" h="304800">
                  <a:moveTo>
                    <a:pt x="0" y="0"/>
                  </a:moveTo>
                  <a:lnTo>
                    <a:pt x="266700" y="152400"/>
                  </a:lnTo>
                  <a:lnTo>
                    <a:pt x="0" y="304800"/>
                  </a:lnTo>
                  <a:close/>
                </a:path>
              </a:pathLst>
            </a:custGeom>
            <a:solidFill>
              <a:schemeClr val="accent1"/>
            </a:solidFill>
            <a:ln>
              <a:noFill/>
            </a:ln>
          </p:spPr>
        </p:sp>
      </p:grpSp>
      <p:grpSp>
        <p:nvGrpSpPr>
          <p:cNvPr id="43" name="p06-video-note"/>
          <p:cNvGrpSpPr/>
          <p:nvPr/>
        </p:nvGrpSpPr>
        <p:grpSpPr>
          <a:xfrm>
            <a:off x="4514850" y="3886200"/>
            <a:ext cx="3272841" cy="675894"/>
            <a:chOff x="4514850" y="3886200"/>
            <a:chExt cx="3272841" cy="675894"/>
          </a:xfrm>
        </p:grpSpPr>
        <p:grpSp>
          <p:nvGrpSpPr>
            <p:cNvPr id="40" name="Group 40"/>
            <p:cNvGrpSpPr/>
            <p:nvPr/>
          </p:nvGrpSpPr>
          <p:grpSpPr>
            <a:xfrm>
              <a:off x="4514850" y="4019550"/>
              <a:ext cx="228600" cy="152400"/>
              <a:chOff x="4514850" y="4019550"/>
              <a:chExt cx="228600" cy="152400"/>
            </a:xfrm>
          </p:grpSpPr>
          <p:sp>
            <p:nvSpPr>
              <p:cNvPr id="38" name="Freeform 38"/>
              <p:cNvSpPr/>
              <p:nvPr/>
            </p:nvSpPr>
            <p:spPr>
              <a:xfrm>
                <a:off x="4667250" y="4039478"/>
                <a:ext cx="76200" cy="112544"/>
              </a:xfrm>
              <a:custGeom>
                <a:avLst/>
                <a:gdLst/>
                <a:ahLst/>
                <a:cxnLst/>
                <a:rect l="l" t="t" r="r" b="b"/>
                <a:pathLst>
                  <a:path w="76200" h="112544">
                    <a:moveTo>
                      <a:pt x="0" y="30872"/>
                    </a:moveTo>
                    <a:lnTo>
                      <a:pt x="57823" y="1967"/>
                    </a:lnTo>
                    <a:cubicBezTo>
                      <a:pt x="61759" y="0"/>
                      <a:pt x="66432" y="210"/>
                      <a:pt x="70175" y="2523"/>
                    </a:cubicBezTo>
                    <a:cubicBezTo>
                      <a:pt x="73918" y="4836"/>
                      <a:pt x="76197" y="8921"/>
                      <a:pt x="76200" y="13320"/>
                    </a:cubicBezTo>
                    <a:lnTo>
                      <a:pt x="76200" y="99223"/>
                    </a:lnTo>
                    <a:cubicBezTo>
                      <a:pt x="76197" y="103623"/>
                      <a:pt x="73918" y="107708"/>
                      <a:pt x="70175" y="110021"/>
                    </a:cubicBezTo>
                    <a:cubicBezTo>
                      <a:pt x="66432" y="112333"/>
                      <a:pt x="61759" y="112544"/>
                      <a:pt x="57823" y="110577"/>
                    </a:cubicBezTo>
                    <a:lnTo>
                      <a:pt x="0" y="81672"/>
                    </a:lnTo>
                    <a:lnTo>
                      <a:pt x="0" y="30872"/>
                    </a:lnTo>
                  </a:path>
                </a:pathLst>
              </a:custGeom>
              <a:noFill/>
              <a:ln w="25400">
                <a:solidFill>
                  <a:schemeClr val="accent1"/>
                </a:solidFill>
              </a:ln>
            </p:spPr>
          </p:sp>
          <p:sp>
            <p:nvSpPr>
              <p:cNvPr id="39" name="Freeform 39"/>
              <p:cNvSpPr/>
              <p:nvPr/>
            </p:nvSpPr>
            <p:spPr>
              <a:xfrm>
                <a:off x="4514850" y="4019550"/>
                <a:ext cx="152400" cy="152400"/>
              </a:xfrm>
              <a:custGeom>
                <a:avLst/>
                <a:gdLst/>
                <a:ahLst/>
                <a:cxnLst/>
                <a:rect l="l" t="t" r="r" b="b"/>
                <a:pathLst>
                  <a:path w="152400" h="152400">
                    <a:moveTo>
                      <a:pt x="0" y="25400"/>
                    </a:moveTo>
                    <a:cubicBezTo>
                      <a:pt x="0" y="11372"/>
                      <a:pt x="11372" y="0"/>
                      <a:pt x="25400" y="0"/>
                    </a:cubicBezTo>
                    <a:lnTo>
                      <a:pt x="127000" y="0"/>
                    </a:lnTo>
                    <a:cubicBezTo>
                      <a:pt x="141028" y="0"/>
                      <a:pt x="152400" y="11372"/>
                      <a:pt x="152400" y="25400"/>
                    </a:cubicBezTo>
                    <a:lnTo>
                      <a:pt x="152400" y="127000"/>
                    </a:lnTo>
                    <a:cubicBezTo>
                      <a:pt x="152400" y="141028"/>
                      <a:pt x="141028" y="152400"/>
                      <a:pt x="127000" y="152400"/>
                    </a:cubicBezTo>
                    <a:lnTo>
                      <a:pt x="25400" y="152400"/>
                    </a:lnTo>
                    <a:cubicBezTo>
                      <a:pt x="11372" y="152400"/>
                      <a:pt x="0" y="141028"/>
                      <a:pt x="0" y="127000"/>
                    </a:cubicBezTo>
                    <a:lnTo>
                      <a:pt x="0" y="25400"/>
                    </a:lnTo>
                  </a:path>
                </a:pathLst>
              </a:custGeom>
              <a:noFill/>
              <a:ln w="25400">
                <a:solidFill>
                  <a:schemeClr val="accent1"/>
                </a:solidFill>
              </a:ln>
            </p:spPr>
          </p:sp>
        </p:grpSp>
        <p:sp>
          <p:nvSpPr>
            <p:cNvPr id="41" name="TextBox 41"/>
            <p:cNvSpPr txBox="1"/>
            <p:nvPr/>
          </p:nvSpPr>
          <p:spPr>
            <a:xfrm>
              <a:off x="4886706" y="3886200"/>
              <a:ext cx="2900985"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Видео: нейросети мозга</a:t>
              </a:r>
            </a:p>
          </p:txBody>
        </p:sp>
        <p:sp>
          <p:nvSpPr>
            <p:cNvPr id="42" name="TextBox 42"/>
            <p:cNvSpPr txBox="1"/>
            <p:nvPr/>
          </p:nvSpPr>
          <p:spPr>
            <a:xfrm>
              <a:off x="4886706" y="4210050"/>
              <a:ext cx="11547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12 секунд</a:t>
              </a:r>
            </a:p>
          </p:txBody>
        </p:sp>
      </p:grpSp>
      <p:grpSp>
        <p:nvGrpSpPr>
          <p:cNvPr id="65" name="p06-summary"/>
          <p:cNvGrpSpPr/>
          <p:nvPr/>
        </p:nvGrpSpPr>
        <p:grpSpPr>
          <a:xfrm>
            <a:off x="762000" y="4667250"/>
            <a:ext cx="10668000" cy="1333500"/>
            <a:chOff x="762000" y="4667250"/>
            <a:chExt cx="10668000" cy="1333500"/>
          </a:xfrm>
        </p:grpSpPr>
        <p:sp>
          <p:nvSpPr>
            <p:cNvPr id="44" name="Rectangle 44"/>
            <p:cNvSpPr/>
            <p:nvPr/>
          </p:nvSpPr>
          <p:spPr>
            <a:xfrm>
              <a:off x="762000" y="4667250"/>
              <a:ext cx="10668000" cy="1333500"/>
            </a:xfrm>
            <a:prstGeom prst="roundRect">
              <a:avLst>
                <a:gd name="adj" fmla="val 11429"/>
              </a:avLst>
            </a:prstGeom>
            <a:solidFill>
              <a:schemeClr val="accent1">
                <a:alpha val="10000"/>
              </a:schemeClr>
            </a:solidFill>
            <a:ln>
              <a:noFill/>
            </a:ln>
          </p:spPr>
        </p:sp>
        <p:sp>
          <p:nvSpPr>
            <p:cNvPr id="45" name="TextBox 45"/>
            <p:cNvSpPr txBox="1"/>
            <p:nvPr/>
          </p:nvSpPr>
          <p:spPr>
            <a:xfrm>
              <a:off x="1057656" y="4838700"/>
              <a:ext cx="3880374"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Баланс гормонов поддерживают:</a:t>
              </a:r>
            </a:p>
          </p:txBody>
        </p:sp>
        <p:grpSp>
          <p:nvGrpSpPr>
            <p:cNvPr id="50" name="Group 50"/>
            <p:cNvGrpSpPr/>
            <p:nvPr/>
          </p:nvGrpSpPr>
          <p:grpSpPr>
            <a:xfrm>
              <a:off x="1114425" y="5331619"/>
              <a:ext cx="166688" cy="214312"/>
              <a:chOff x="1114425" y="5331619"/>
              <a:chExt cx="166688" cy="214312"/>
            </a:xfrm>
          </p:grpSpPr>
          <p:sp>
            <p:nvSpPr>
              <p:cNvPr id="46" name="Freeform 46"/>
              <p:cNvSpPr/>
              <p:nvPr/>
            </p:nvSpPr>
            <p:spPr>
              <a:xfrm>
                <a:off x="1197852" y="5331619"/>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27AE60"/>
                </a:solidFill>
              </a:ln>
            </p:spPr>
          </p:sp>
          <p:sp>
            <p:nvSpPr>
              <p:cNvPr id="47" name="Freeform 47"/>
              <p:cNvSpPr/>
              <p:nvPr/>
            </p:nvSpPr>
            <p:spPr>
              <a:xfrm>
                <a:off x="1114425" y="5492353"/>
                <a:ext cx="68461" cy="17859"/>
              </a:xfrm>
              <a:custGeom>
                <a:avLst/>
                <a:gdLst/>
                <a:ahLst/>
                <a:cxnLst/>
                <a:rect l="l" t="t" r="r" b="b"/>
                <a:pathLst>
                  <a:path w="68461" h="17859">
                    <a:moveTo>
                      <a:pt x="0" y="5953"/>
                    </a:moveTo>
                    <a:lnTo>
                      <a:pt x="59531" y="17859"/>
                    </a:lnTo>
                    <a:lnTo>
                      <a:pt x="68461" y="0"/>
                    </a:lnTo>
                  </a:path>
                </a:pathLst>
              </a:custGeom>
              <a:noFill/>
              <a:ln w="23812">
                <a:solidFill>
                  <a:srgbClr val="27AE60"/>
                </a:solidFill>
              </a:ln>
            </p:spPr>
          </p:sp>
          <p:sp>
            <p:nvSpPr>
              <p:cNvPr id="48" name="Freeform 48"/>
              <p:cNvSpPr/>
              <p:nvPr/>
            </p:nvSpPr>
            <p:spPr>
              <a:xfrm>
                <a:off x="1197769" y="5391150"/>
                <a:ext cx="47625" cy="154781"/>
              </a:xfrm>
              <a:custGeom>
                <a:avLst/>
                <a:gdLst/>
                <a:ahLst/>
                <a:cxnLst/>
                <a:rect l="l" t="t" r="r" b="b"/>
                <a:pathLst>
                  <a:path w="47625" h="154781">
                    <a:moveTo>
                      <a:pt x="47625" y="154781"/>
                    </a:moveTo>
                    <a:lnTo>
                      <a:pt x="47625" y="107156"/>
                    </a:lnTo>
                    <a:lnTo>
                      <a:pt x="0" y="71438"/>
                    </a:lnTo>
                    <a:lnTo>
                      <a:pt x="11906" y="0"/>
                    </a:lnTo>
                  </a:path>
                </a:pathLst>
              </a:custGeom>
              <a:noFill/>
              <a:ln w="23812">
                <a:solidFill>
                  <a:srgbClr val="27AE60"/>
                </a:solidFill>
              </a:ln>
            </p:spPr>
          </p:sp>
          <p:sp>
            <p:nvSpPr>
              <p:cNvPr id="49" name="Freeform 49"/>
              <p:cNvSpPr/>
              <p:nvPr/>
            </p:nvSpPr>
            <p:spPr>
              <a:xfrm>
                <a:off x="1150144" y="5391150"/>
                <a:ext cx="130969" cy="47625"/>
              </a:xfrm>
              <a:custGeom>
                <a:avLst/>
                <a:gdLst/>
                <a:ahLst/>
                <a:cxnLst/>
                <a:rect l="l" t="t" r="r" b="b"/>
                <a:pathLst>
                  <a:path w="130969" h="47625">
                    <a:moveTo>
                      <a:pt x="0" y="47625"/>
                    </a:moveTo>
                    <a:lnTo>
                      <a:pt x="0" y="11906"/>
                    </a:lnTo>
                    <a:lnTo>
                      <a:pt x="59531" y="0"/>
                    </a:lnTo>
                    <a:lnTo>
                      <a:pt x="95250" y="35719"/>
                    </a:lnTo>
                    <a:lnTo>
                      <a:pt x="130969" y="47625"/>
                    </a:lnTo>
                  </a:path>
                </a:pathLst>
              </a:custGeom>
              <a:noFill/>
              <a:ln w="23812">
                <a:solidFill>
                  <a:srgbClr val="27AE60"/>
                </a:solidFill>
              </a:ln>
            </p:spPr>
          </p:sp>
        </p:grpSp>
        <p:sp>
          <p:nvSpPr>
            <p:cNvPr id="51" name="TextBox 51"/>
            <p:cNvSpPr txBox="1"/>
            <p:nvPr/>
          </p:nvSpPr>
          <p:spPr>
            <a:xfrm>
              <a:off x="1457706" y="5295900"/>
              <a:ext cx="68465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спорт</a:t>
              </a:r>
            </a:p>
          </p:txBody>
        </p:sp>
        <p:sp>
          <p:nvSpPr>
            <p:cNvPr id="52" name="Freeform 52"/>
            <p:cNvSpPr/>
            <p:nvPr/>
          </p:nvSpPr>
          <p:spPr>
            <a:xfrm>
              <a:off x="3172886" y="5331524"/>
              <a:ext cx="212216" cy="224591"/>
            </a:xfrm>
            <a:custGeom>
              <a:avLst/>
              <a:gdLst/>
              <a:ahLst/>
              <a:cxnLst/>
              <a:rect l="l" t="t" r="r" b="b"/>
              <a:pathLst>
                <a:path w="212216" h="224591">
                  <a:moveTo>
                    <a:pt x="113239" y="95"/>
                  </a:moveTo>
                  <a:cubicBezTo>
                    <a:pt x="114811" y="95"/>
                    <a:pt x="116371" y="95"/>
                    <a:pt x="117918" y="95"/>
                  </a:cubicBezTo>
                  <a:cubicBezTo>
                    <a:pt x="86357" y="29422"/>
                    <a:pt x="80236" y="77103"/>
                    <a:pt x="103366" y="113451"/>
                  </a:cubicBezTo>
                  <a:cubicBezTo>
                    <a:pt x="126496" y="149800"/>
                    <a:pt x="172281" y="164450"/>
                    <a:pt x="212216" y="148280"/>
                  </a:cubicBezTo>
                  <a:cubicBezTo>
                    <a:pt x="191586" y="197919"/>
                    <a:pt x="137371" y="224591"/>
                    <a:pt x="85458" y="210642"/>
                  </a:cubicBezTo>
                  <a:cubicBezTo>
                    <a:pt x="33544" y="196692"/>
                    <a:pt x="0" y="146438"/>
                    <a:pt x="7029" y="93145"/>
                  </a:cubicBezTo>
                  <a:cubicBezTo>
                    <a:pt x="14058" y="39851"/>
                    <a:pt x="59484" y="13"/>
                    <a:pt x="113239" y="0"/>
                  </a:cubicBezTo>
                  <a:lnTo>
                    <a:pt x="113239" y="95"/>
                  </a:lnTo>
                </a:path>
              </a:pathLst>
            </a:custGeom>
            <a:noFill/>
            <a:ln w="23812">
              <a:solidFill>
                <a:srgbClr val="27AE60"/>
              </a:solidFill>
            </a:ln>
          </p:spPr>
        </p:sp>
        <p:sp>
          <p:nvSpPr>
            <p:cNvPr id="53" name="TextBox 53"/>
            <p:cNvSpPr txBox="1"/>
            <p:nvPr/>
          </p:nvSpPr>
          <p:spPr>
            <a:xfrm>
              <a:off x="3534156" y="5295900"/>
              <a:ext cx="41810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сон</a:t>
              </a:r>
            </a:p>
          </p:txBody>
        </p:sp>
        <p:grpSp>
          <p:nvGrpSpPr>
            <p:cNvPr id="58" name="Group 58"/>
            <p:cNvGrpSpPr/>
            <p:nvPr/>
          </p:nvGrpSpPr>
          <p:grpSpPr>
            <a:xfrm>
              <a:off x="5095875" y="5331619"/>
              <a:ext cx="202406" cy="226219"/>
              <a:chOff x="5095875" y="5331619"/>
              <a:chExt cx="202406" cy="226219"/>
            </a:xfrm>
          </p:grpSpPr>
          <p:sp>
            <p:nvSpPr>
              <p:cNvPr id="54" name="Freeform 54"/>
              <p:cNvSpPr/>
              <p:nvPr/>
            </p:nvSpPr>
            <p:spPr>
              <a:xfrm>
                <a:off x="5107781" y="5331619"/>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27AE60"/>
                </a:solidFill>
              </a:ln>
            </p:spPr>
          </p:sp>
          <p:sp>
            <p:nvSpPr>
              <p:cNvPr id="55" name="Freeform 55"/>
              <p:cNvSpPr/>
              <p:nvPr/>
            </p:nvSpPr>
            <p:spPr>
              <a:xfrm>
                <a:off x="5095875" y="5426869"/>
                <a:ext cx="71438" cy="130969"/>
              </a:xfrm>
              <a:custGeom>
                <a:avLst/>
                <a:gdLst/>
                <a:ahLst/>
                <a:cxnLst/>
                <a:rect l="l" t="t" r="r" b="b"/>
                <a:pathLst>
                  <a:path w="71438" h="130969">
                    <a:moveTo>
                      <a:pt x="11906" y="130969"/>
                    </a:moveTo>
                    <a:lnTo>
                      <a:pt x="11906" y="71438"/>
                    </a:lnTo>
                    <a:lnTo>
                      <a:pt x="0" y="59531"/>
                    </a:lnTo>
                    <a:lnTo>
                      <a:pt x="0" y="11906"/>
                    </a:lnTo>
                    <a:cubicBezTo>
                      <a:pt x="0" y="5331"/>
                      <a:pt x="5331" y="0"/>
                      <a:pt x="11906" y="0"/>
                    </a:cubicBezTo>
                    <a:lnTo>
                      <a:pt x="59531" y="0"/>
                    </a:lnTo>
                    <a:cubicBezTo>
                      <a:pt x="66107" y="0"/>
                      <a:pt x="71438" y="5331"/>
                      <a:pt x="71438" y="11906"/>
                    </a:cubicBezTo>
                    <a:lnTo>
                      <a:pt x="71438" y="59531"/>
                    </a:lnTo>
                    <a:lnTo>
                      <a:pt x="59531" y="71438"/>
                    </a:lnTo>
                    <a:lnTo>
                      <a:pt x="59531" y="130969"/>
                    </a:lnTo>
                  </a:path>
                </a:pathLst>
              </a:custGeom>
              <a:noFill/>
              <a:ln w="23812">
                <a:solidFill>
                  <a:srgbClr val="27AE60"/>
                </a:solidFill>
              </a:ln>
            </p:spPr>
          </p:sp>
          <p:sp>
            <p:nvSpPr>
              <p:cNvPr id="56" name="Freeform 56"/>
              <p:cNvSpPr/>
              <p:nvPr/>
            </p:nvSpPr>
            <p:spPr>
              <a:xfrm>
                <a:off x="5226844" y="5331619"/>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27AE60"/>
                </a:solidFill>
              </a:ln>
            </p:spPr>
          </p:sp>
          <p:sp>
            <p:nvSpPr>
              <p:cNvPr id="57" name="Freeform 57"/>
              <p:cNvSpPr/>
              <p:nvPr/>
            </p:nvSpPr>
            <p:spPr>
              <a:xfrm>
                <a:off x="5203031" y="5426869"/>
                <a:ext cx="95250" cy="130969"/>
              </a:xfrm>
              <a:custGeom>
                <a:avLst/>
                <a:gdLst/>
                <a:ahLst/>
                <a:cxnLst/>
                <a:rect l="l" t="t" r="r" b="b"/>
                <a:pathLst>
                  <a:path w="95250" h="130969">
                    <a:moveTo>
                      <a:pt x="23812" y="130969"/>
                    </a:moveTo>
                    <a:lnTo>
                      <a:pt x="23812" y="83344"/>
                    </a:lnTo>
                    <a:lnTo>
                      <a:pt x="0" y="83344"/>
                    </a:lnTo>
                    <a:lnTo>
                      <a:pt x="23812" y="11906"/>
                    </a:lnTo>
                    <a:cubicBezTo>
                      <a:pt x="23812" y="5331"/>
                      <a:pt x="29143" y="0"/>
                      <a:pt x="35719" y="0"/>
                    </a:cubicBezTo>
                    <a:lnTo>
                      <a:pt x="59531" y="0"/>
                    </a:lnTo>
                    <a:cubicBezTo>
                      <a:pt x="66107" y="0"/>
                      <a:pt x="71438" y="5331"/>
                      <a:pt x="71438" y="11906"/>
                    </a:cubicBezTo>
                    <a:lnTo>
                      <a:pt x="95250" y="83344"/>
                    </a:lnTo>
                    <a:lnTo>
                      <a:pt x="71438" y="83344"/>
                    </a:lnTo>
                    <a:lnTo>
                      <a:pt x="71438" y="130969"/>
                    </a:lnTo>
                  </a:path>
                </a:pathLst>
              </a:custGeom>
              <a:noFill/>
              <a:ln w="23812">
                <a:solidFill>
                  <a:srgbClr val="27AE60"/>
                </a:solidFill>
              </a:ln>
            </p:spPr>
          </p:sp>
        </p:grpSp>
        <p:sp>
          <p:nvSpPr>
            <p:cNvPr id="59" name="TextBox 59"/>
            <p:cNvSpPr txBox="1"/>
            <p:nvPr/>
          </p:nvSpPr>
          <p:spPr>
            <a:xfrm>
              <a:off x="5439156" y="5295900"/>
              <a:ext cx="95120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общение</a:t>
              </a:r>
            </a:p>
          </p:txBody>
        </p:sp>
        <p:grpSp>
          <p:nvGrpSpPr>
            <p:cNvPr id="63" name="Group 63"/>
            <p:cNvGrpSpPr/>
            <p:nvPr/>
          </p:nvGrpSpPr>
          <p:grpSpPr>
            <a:xfrm>
              <a:off x="7489031" y="5343525"/>
              <a:ext cx="166688" cy="214312"/>
              <a:chOff x="7489031" y="5343525"/>
              <a:chExt cx="166688" cy="214312"/>
            </a:xfrm>
          </p:grpSpPr>
          <p:sp>
            <p:nvSpPr>
              <p:cNvPr id="60" name="Freeform 60"/>
              <p:cNvSpPr/>
              <p:nvPr/>
            </p:nvSpPr>
            <p:spPr>
              <a:xfrm>
                <a:off x="7489031" y="5343525"/>
                <a:ext cx="166688" cy="214312"/>
              </a:xfrm>
              <a:custGeom>
                <a:avLst/>
                <a:gdLst/>
                <a:ahLst/>
                <a:cxnLst/>
                <a:rect l="l" t="t" r="r" b="b"/>
                <a:pathLst>
                  <a:path w="166688" h="214312">
                    <a:moveTo>
                      <a:pt x="11906" y="0"/>
                    </a:moveTo>
                    <a:lnTo>
                      <a:pt x="142875" y="0"/>
                    </a:lnTo>
                    <a:cubicBezTo>
                      <a:pt x="156026" y="0"/>
                      <a:pt x="166688" y="10661"/>
                      <a:pt x="166688" y="23812"/>
                    </a:cubicBezTo>
                    <a:lnTo>
                      <a:pt x="166688" y="166688"/>
                    </a:lnTo>
                    <a:cubicBezTo>
                      <a:pt x="166688" y="179839"/>
                      <a:pt x="156026" y="190500"/>
                      <a:pt x="142875" y="190500"/>
                    </a:cubicBezTo>
                    <a:lnTo>
                      <a:pt x="11906" y="190500"/>
                    </a:lnTo>
                    <a:cubicBezTo>
                      <a:pt x="5331" y="190500"/>
                      <a:pt x="0" y="185169"/>
                      <a:pt x="0" y="178594"/>
                    </a:cubicBezTo>
                    <a:lnTo>
                      <a:pt x="0" y="11906"/>
                    </a:lnTo>
                    <a:cubicBezTo>
                      <a:pt x="0" y="5331"/>
                      <a:pt x="5331" y="0"/>
                      <a:pt x="11906" y="0"/>
                    </a:cubicBezTo>
                    <a:moveTo>
                      <a:pt x="47625" y="0"/>
                    </a:moveTo>
                    <a:lnTo>
                      <a:pt x="47625" y="214312"/>
                    </a:lnTo>
                  </a:path>
                </a:pathLst>
              </a:custGeom>
              <a:noFill/>
              <a:ln w="23812">
                <a:solidFill>
                  <a:srgbClr val="27AE60"/>
                </a:solidFill>
              </a:ln>
            </p:spPr>
          </p:sp>
          <p:sp>
            <p:nvSpPr>
              <p:cNvPr id="61" name="Freeform 61"/>
              <p:cNvSpPr/>
              <p:nvPr/>
            </p:nvSpPr>
            <p:spPr>
              <a:xfrm>
                <a:off x="7584281" y="5391150"/>
                <a:ext cx="23812" cy="9525"/>
              </a:xfrm>
              <a:custGeom>
                <a:avLst/>
                <a:gdLst/>
                <a:ahLst/>
                <a:cxnLst/>
                <a:rect l="l" t="t" r="r" b="b"/>
                <a:pathLst>
                  <a:path w="23812" h="9525">
                    <a:moveTo>
                      <a:pt x="0" y="0"/>
                    </a:moveTo>
                    <a:lnTo>
                      <a:pt x="23812" y="0"/>
                    </a:lnTo>
                  </a:path>
                </a:pathLst>
              </a:custGeom>
              <a:noFill/>
              <a:ln w="23812">
                <a:solidFill>
                  <a:srgbClr val="27AE60"/>
                </a:solidFill>
              </a:ln>
            </p:spPr>
          </p:sp>
          <p:sp>
            <p:nvSpPr>
              <p:cNvPr id="62" name="Freeform 62"/>
              <p:cNvSpPr/>
              <p:nvPr/>
            </p:nvSpPr>
            <p:spPr>
              <a:xfrm>
                <a:off x="7584281" y="5438775"/>
                <a:ext cx="23812" cy="9525"/>
              </a:xfrm>
              <a:custGeom>
                <a:avLst/>
                <a:gdLst/>
                <a:ahLst/>
                <a:cxnLst/>
                <a:rect l="l" t="t" r="r" b="b"/>
                <a:pathLst>
                  <a:path w="23812" h="9525">
                    <a:moveTo>
                      <a:pt x="0" y="0"/>
                    </a:moveTo>
                    <a:lnTo>
                      <a:pt x="23812" y="0"/>
                    </a:lnTo>
                  </a:path>
                </a:pathLst>
              </a:custGeom>
              <a:noFill/>
              <a:ln w="23812">
                <a:solidFill>
                  <a:srgbClr val="27AE60"/>
                </a:solidFill>
              </a:ln>
            </p:spPr>
          </p:sp>
        </p:grpSp>
        <p:sp>
          <p:nvSpPr>
            <p:cNvPr id="64" name="TextBox 64"/>
            <p:cNvSpPr txBox="1"/>
            <p:nvPr/>
          </p:nvSpPr>
          <p:spPr>
            <a:xfrm>
              <a:off x="7820406" y="5295900"/>
              <a:ext cx="255184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здоровый образ жизни</a:t>
              </a:r>
            </a:p>
          </p:txBody>
        </p:sp>
      </p:grpSp>
      <p:grpSp>
        <p:nvGrpSpPr>
          <p:cNvPr id="68" name="p06-credits"/>
          <p:cNvGrpSpPr/>
          <p:nvPr/>
        </p:nvGrpSpPr>
        <p:grpSpPr>
          <a:xfrm>
            <a:off x="755904" y="6248400"/>
            <a:ext cx="8018181" cy="463296"/>
            <a:chOff x="755904" y="6248400"/>
            <a:chExt cx="8018181" cy="463296"/>
          </a:xfrm>
        </p:grpSpPr>
        <p:sp>
          <p:nvSpPr>
            <p:cNvPr id="66" name="TextBox 66"/>
            <p:cNvSpPr txBox="1"/>
            <p:nvPr/>
          </p:nvSpPr>
          <p:spPr>
            <a:xfrm>
              <a:off x="755904" y="6248400"/>
              <a:ext cx="8018181" cy="234696"/>
            </a:xfrm>
            <a:prstGeom prst="rect">
              <a:avLst/>
            </a:prstGeom>
            <a:noFill/>
            <a:ln>
              <a:noFill/>
            </a:ln>
          </p:spPr>
          <p:txBody>
            <a:bodyPr wrap="none" lIns="0" tIns="0" rIns="0" bIns="0" anchor="t" anchorCtr="0">
              <a:spAutoFit/>
            </a:bodyPr>
            <a:lstStyle/>
            <a:p>
              <a:pPr algn="l"/>
              <a:r>
                <a:rPr lang="ru" sz="1200" dirty="0">
                  <a:solidFill>
                    <a:srgbClr val="7F8C8D"/>
                  </a:solidFill>
                  <a:latin typeface="+mn-lt"/>
                  <a:ea typeface="+mn-ea"/>
                  <a:cs typeface="+mn-cs"/>
                </a:rPr>
                <a:t>© Katherine Stember / Wikimedia / CC BY 4.0; видео — © JOGOS Public Assets / Wikimedia / CC BY-SA 4.0</a:t>
              </a:r>
            </a:p>
          </p:txBody>
        </p:sp>
        <p:sp>
          <p:nvSpPr>
            <p:cNvPr id="67" name="TextBox 67"/>
            <p:cNvSpPr txBox="1"/>
            <p:nvPr/>
          </p:nvSpPr>
          <p:spPr>
            <a:xfrm>
              <a:off x="755904" y="6477000"/>
              <a:ext cx="2052466" cy="234696"/>
            </a:xfrm>
            <a:prstGeom prst="rect">
              <a:avLst/>
            </a:prstGeom>
            <a:noFill/>
            <a:ln>
              <a:noFill/>
            </a:ln>
          </p:spPr>
          <p:txBody>
            <a:bodyPr wrap="none" lIns="0" tIns="0" rIns="0" bIns="0" anchor="t" anchorCtr="0">
              <a:spAutoFit/>
            </a:bodyPr>
            <a:lstStyle/>
            <a:p>
              <a:pPr algn="l"/>
              <a:r>
                <a:rPr lang="ru" sz="1200" dirty="0">
                  <a:solidFill>
                    <a:srgbClr val="5D6D7E"/>
                  </a:solidFill>
                  <a:latin typeface="+mn-lt"/>
                  <a:ea typeface="+mn-ea"/>
                  <a:cs typeface="+mn-cs"/>
                </a:rPr>
                <a:t>Концепция счастья · ИС-24</a:t>
              </a:r>
            </a:p>
          </p:txBody>
        </p:sp>
      </p:grpSp>
      <p:sp>
        <p:nvSpPr>
          <p:cNvPr id="69" name="p06-num"/>
          <p:cNvSpPr txBox="1"/>
          <p:nvPr/>
        </p:nvSpPr>
        <p:spPr>
          <a:xfrm>
            <a:off x="11244202" y="6477000"/>
            <a:ext cx="191894" cy="234696"/>
          </a:xfrm>
          <a:prstGeom prst="rect">
            <a:avLst/>
          </a:prstGeom>
          <a:noFill/>
          <a:ln>
            <a:noFill/>
          </a:ln>
        </p:spPr>
        <p:txBody>
          <a:bodyPr wrap="none" lIns="0" tIns="0" rIns="0" bIns="0" anchor="t" anchorCtr="0">
            <a:spAutoFit/>
          </a:bodyPr>
          <a:lstStyle/>
          <a:p>
            <a:pPr algn="r"/>
            <a:r>
              <a:rPr lang="ru" sz="1200" dirty="0">
                <a:solidFill>
                  <a:srgbClr val="5D6D7E"/>
                </a:solidFill>
                <a:latin typeface="+mn-lt"/>
                <a:ea typeface="+mn-ea"/>
                <a:cs typeface="+mn-cs"/>
              </a:rPr>
              <a:t>06</a:t>
            </a:r>
          </a:p>
        </p:txBody>
      </p:sp>
      <p:pic>
        <p:nvPicPr>
          <p:cNvPr id="70" name="PPT Master narration: narration6.mp3">
            <a:hlinkClick r:id="" action="ppaction://media"/>
          </p:cNvPr>
          <p:cNvPicPr>
            <a:picLocks noChangeAspect="1"/>
          </p:cNvPicPr>
          <p:nvPr>
            <a:audioFile r:link="rId6"/>
            <p:extLst>
              <p:ext uri="{DAA4B4D4-6D71-4841-9C94-3DE7FCFB9230}">
                <p14:media r:embed="rId5"/>
              </p:ext>
            </p:extLst>
          </p:nvPr>
        </p:nvPicPr>
        <p:blipFill>
          <a:blip r:embed="rId7"/>
          <a:stretch>
            <a:fillRect/>
          </a:stretch>
        </p:blipFill>
        <p:spPr>
          <a:xfrm>
            <a:off x="-457200" y="-457200"/>
            <a:ext cx="457200" cy="457200"/>
          </a:xfrm>
          <a:prstGeom prst="rect">
            <a:avLst/>
          </a:prstGeom>
        </p:spPr>
      </p:pic>
      <p:pic>
        <p:nvPicPr>
          <p:cNvPr id="71" name="p06-video-movie">
            <a:hlinkClick r:id="" action="ppaction://media"/>
          </p:cNvPr>
          <p:cNvPicPr>
            <a:picLocks noChangeAspect="1"/>
          </p:cNvPicPr>
          <p:nvPr>
            <a:videoFile r:link="rId9"/>
            <p:extLst>
              <p:ext uri="{DAA4B4D4-6D71-4841-9C94-3DE7FCFB9230}">
                <p14:media r:embed="rId8"/>
              </p:ext>
            </p:extLst>
          </p:nvPr>
        </p:nvPicPr>
        <p:blipFill>
          <a:blip r:embed="rId10"/>
          <a:stretch>
            <a:fillRect/>
          </a:stretch>
        </p:blipFill>
        <p:spPr>
          <a:xfrm>
            <a:off x="4333875" y="1619250"/>
            <a:ext cx="3524250" cy="2019300"/>
          </a:xfrm>
          <a:prstGeom prst="rect">
            <a:avLst/>
          </a:prstGeom>
        </p:spPr>
      </p:pic>
    </p:spTree>
  </p:cSld>
  <p:clrMapOvr>
    <a:masterClrMapping/>
  </p:clrMapOvr>
  <p:transition p14:dur="500" advClick="0" advTm="35215">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500"/>
                                        <p:tgtEl>
                                          <p:spTgt spid="65"/>
                                        </p:tgtEl>
                                      </p:cBhvr>
                                    </p:animEffect>
                                  </p:childTnLst>
                                </p:cTn>
                              </p:par>
                            </p:childTnLst>
                          </p:cTn>
                        </p:par>
                      </p:childTnLst>
                    </p:cTn>
                  </p:par>
                  <p:par>
                    <p:cTn id="19" fill="hold">
                      <p:stCondLst>
                        <p:cond delay="1500"/>
                      </p:stCondLst>
                      <p:childTnLst>
                        <p:par>
                          <p:cTn id="20" fill="hold">
                            <p:stCondLst>
                              <p:cond delay="0"/>
                            </p:stCondLst>
                            <p:childTnLst>
                              <p:par>
                                <p:cTn id="21" fill="hold">
                                  <p:stCondLst>
                                    <p:cond delay="0"/>
                                  </p:stCondLst>
                                  <p:childTnLst>
                                    <p:cmd type="call" cmd="playFrom(0.0)">
                                      <p:cBhvr>
                                        <p:cTn id="22" dur="12000" fill="hold"/>
                                        <p:tgtEl>
                                          <p:spTgt spid="7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70"/>
                </p:tgtEl>
              </p:cMediaNode>
            </p:audio>
            <p:video>
              <p:cMediaNode vol="80000">
                <p:cTn id="17" fill="hold" display="0">
                  <p:stCondLst>
                    <p:cond delay="indefinite"/>
                  </p:stCondLst>
                </p:cTn>
                <p:tgtEl>
                  <p:spTgt spid="71"/>
                </p:tgtEl>
              </p:cMediaNode>
            </p:video>
          </p:childTnLst>
        </p:cTn>
      </p:par>
    </p:tnLst>
  </p:timing>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7-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07-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7-accent"/>
          <p:cNvSpPr/>
          <p:nvPr/>
        </p:nvSpPr>
        <p:spPr>
          <a:xfrm>
            <a:off x="0" y="0"/>
            <a:ext cx="12192000" cy="57150"/>
          </a:xfrm>
          <a:prstGeom prst="rect">
            <a:avLst/>
          </a:prstGeom>
          <a:solidFill>
            <a:srgbClr val="E67E22"/>
          </a:solidFill>
          <a:ln>
            <a:noFill/>
          </a:ln>
        </p:spPr>
      </p:sp>
      <p:sp>
        <p:nvSpPr>
          <p:cNvPr id="5" name="p07-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07</a:t>
            </a:r>
          </a:p>
        </p:txBody>
      </p:sp>
      <p:grpSp>
        <p:nvGrpSpPr>
          <p:cNvPr id="7" name="p07-title"/>
          <p:cNvGrpSpPr/>
          <p:nvPr/>
        </p:nvGrpSpPr>
        <p:grpSpPr>
          <a:xfrm>
            <a:off x="743712" y="565150"/>
            <a:ext cx="7309211" cy="704088"/>
            <a:chOff x="743712" y="565150"/>
            <a:chExt cx="7309211" cy="704088"/>
          </a:xfrm>
        </p:grpSpPr>
        <p:sp>
          <p:nvSpPr>
            <p:cNvPr id="6" name="TextBox 6"/>
            <p:cNvSpPr txBox="1"/>
            <p:nvPr/>
          </p:nvSpPr>
          <p:spPr>
            <a:xfrm>
              <a:off x="743712" y="565150"/>
              <a:ext cx="7309211"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Семь вех в понимании счастья</a:t>
              </a:r>
            </a:p>
          </p:txBody>
        </p:sp>
      </p:grpSp>
      <p:grpSp>
        <p:nvGrpSpPr>
          <p:cNvPr id="37" name="p07-timeline"/>
          <p:cNvGrpSpPr/>
          <p:nvPr/>
        </p:nvGrpSpPr>
        <p:grpSpPr>
          <a:xfrm>
            <a:off x="798906" y="2019300"/>
            <a:ext cx="10335162" cy="1527683"/>
            <a:chOff x="798906" y="2019300"/>
            <a:chExt cx="10335162" cy="1527683"/>
          </a:xfrm>
        </p:grpSpPr>
        <p:sp>
          <p:nvSpPr>
            <p:cNvPr id="8" name="Line 8"/>
            <p:cNvSpPr/>
            <p:nvPr/>
          </p:nvSpPr>
          <p:spPr>
            <a:xfrm>
              <a:off x="1047750" y="2857500"/>
              <a:ext cx="10001250" cy="9525"/>
            </a:xfrm>
            <a:custGeom>
              <a:avLst/>
              <a:gdLst/>
              <a:ahLst/>
              <a:cxnLst/>
              <a:rect l="l" t="t" r="r" b="b"/>
              <a:pathLst>
                <a:path w="10001250" h="9525">
                  <a:moveTo>
                    <a:pt x="0" y="0"/>
                  </a:moveTo>
                  <a:lnTo>
                    <a:pt x="10001250" y="0"/>
                  </a:lnTo>
                </a:path>
              </a:pathLst>
            </a:custGeom>
            <a:noFill/>
            <a:ln w="38100">
              <a:solidFill>
                <a:schemeClr val="accent1"/>
              </a:solidFill>
            </a:ln>
          </p:spPr>
        </p:sp>
        <p:grpSp>
          <p:nvGrpSpPr>
            <p:cNvPr id="12" name="p07-p140"/>
            <p:cNvGrpSpPr/>
            <p:nvPr/>
          </p:nvGrpSpPr>
          <p:grpSpPr>
            <a:xfrm>
              <a:off x="798906" y="2019300"/>
              <a:ext cx="1069188" cy="1527683"/>
              <a:chOff x="798906" y="2019300"/>
              <a:chExt cx="1069188" cy="1527683"/>
            </a:xfrm>
          </p:grpSpPr>
          <p:pic>
            <p:nvPicPr>
              <p:cNvPr id="9" name="Image 9"/>
              <p:cNvPicPr>
                <a:picLocks noChangeAspect="1"/>
              </p:cNvPicPr>
              <p:nvPr/>
            </p:nvPicPr>
            <p:blipFill>
              <a:blip r:embed="rId3"/>
              <a:srcRect l="0" t="15806" r="0" b="15807"/>
              <a:stretch>
                <a:fillRect/>
              </a:stretch>
            </p:blipFill>
            <p:spPr>
              <a:xfrm>
                <a:off x="971550" y="2019300"/>
                <a:ext cx="723900" cy="723900"/>
              </a:xfrm>
              <a:prstGeom prst="rect">
                <a:avLst/>
              </a:prstGeom>
            </p:spPr>
          </p:pic>
          <p:sp>
            <p:nvSpPr>
              <p:cNvPr id="10" name="TextBox 10"/>
              <p:cNvSpPr txBox="1"/>
              <p:nvPr/>
            </p:nvSpPr>
            <p:spPr>
              <a:xfrm>
                <a:off x="798906" y="2978150"/>
                <a:ext cx="1069188" cy="264033"/>
              </a:xfrm>
              <a:prstGeom prst="rect">
                <a:avLst/>
              </a:prstGeom>
              <a:noFill/>
              <a:ln>
                <a:noFill/>
              </a:ln>
            </p:spPr>
            <p:txBody>
              <a:bodyPr wrap="none" lIns="0" tIns="0" rIns="0" bIns="0" anchor="t" anchorCtr="0">
                <a:spAutoFit/>
              </a:bodyPr>
              <a:lstStyle/>
              <a:p>
                <a:pPr algn="ctr"/>
                <a:r>
                  <a:rPr lang="ru" sz="1350" b="1" dirty="0">
                    <a:solidFill>
                      <a:schemeClr val="accent1"/>
                    </a:solidFill>
                    <a:latin typeface="+mn-lt"/>
                    <a:ea typeface="+mn-ea"/>
                    <a:cs typeface="+mn-cs"/>
                  </a:rPr>
                  <a:t>Аристотель</a:t>
                </a:r>
              </a:p>
            </p:txBody>
          </p:sp>
          <p:sp>
            <p:nvSpPr>
              <p:cNvPr id="11" name="TextBox 11"/>
              <p:cNvSpPr txBox="1"/>
              <p:nvPr/>
            </p:nvSpPr>
            <p:spPr>
              <a:xfrm>
                <a:off x="876843" y="3282950"/>
                <a:ext cx="913314" cy="264033"/>
              </a:xfrm>
              <a:prstGeom prst="rect">
                <a:avLst/>
              </a:prstGeom>
              <a:noFill/>
              <a:ln>
                <a:noFill/>
              </a:ln>
            </p:spPr>
            <p:txBody>
              <a:bodyPr wrap="none" lIns="0" tIns="0" rIns="0" bIns="0" anchor="t" anchorCtr="0">
                <a:spAutoFit/>
              </a:bodyPr>
              <a:lstStyle/>
              <a:p>
                <a:pPr algn="ctr"/>
                <a:r>
                  <a:rPr lang="ru" sz="1350" dirty="0">
                    <a:solidFill>
                      <a:schemeClr val="dk1"/>
                    </a:solidFill>
                    <a:latin typeface="+mn-lt"/>
                    <a:ea typeface="+mn-ea"/>
                    <a:cs typeface="+mn-cs"/>
                  </a:rPr>
                  <a:t>эвдемония</a:t>
                </a:r>
              </a:p>
            </p:txBody>
          </p:sp>
        </p:grpSp>
        <p:grpSp>
          <p:nvGrpSpPr>
            <p:cNvPr id="16" name="p07-p300"/>
            <p:cNvGrpSpPr/>
            <p:nvPr/>
          </p:nvGrpSpPr>
          <p:grpSpPr>
            <a:xfrm>
              <a:off x="2300888" y="2019300"/>
              <a:ext cx="1113225" cy="1527683"/>
              <a:chOff x="2300888" y="2019300"/>
              <a:chExt cx="1113225" cy="1527683"/>
            </a:xfrm>
          </p:grpSpPr>
          <p:pic>
            <p:nvPicPr>
              <p:cNvPr id="13" name="Image 13"/>
              <p:cNvPicPr>
                <a:picLocks noChangeAspect="1"/>
              </p:cNvPicPr>
              <p:nvPr/>
            </p:nvPicPr>
            <p:blipFill>
              <a:blip r:embed="rId4"/>
              <a:srcRect l="20099" t="0" r="20099" b="0"/>
              <a:stretch>
                <a:fillRect/>
              </a:stretch>
            </p:blipFill>
            <p:spPr>
              <a:xfrm>
                <a:off x="2495550" y="2019300"/>
                <a:ext cx="723900" cy="723900"/>
              </a:xfrm>
              <a:prstGeom prst="rect">
                <a:avLst/>
              </a:prstGeom>
            </p:spPr>
          </p:pic>
          <p:sp>
            <p:nvSpPr>
              <p:cNvPr id="14" name="TextBox 14"/>
              <p:cNvSpPr txBox="1"/>
              <p:nvPr/>
            </p:nvSpPr>
            <p:spPr>
              <a:xfrm>
                <a:off x="2532812" y="2978150"/>
                <a:ext cx="649375" cy="264033"/>
              </a:xfrm>
              <a:prstGeom prst="rect">
                <a:avLst/>
              </a:prstGeom>
              <a:noFill/>
              <a:ln>
                <a:noFill/>
              </a:ln>
            </p:spPr>
            <p:txBody>
              <a:bodyPr wrap="none" lIns="0" tIns="0" rIns="0" bIns="0" anchor="t" anchorCtr="0">
                <a:spAutoFit/>
              </a:bodyPr>
              <a:lstStyle/>
              <a:p>
                <a:pPr algn="ctr"/>
                <a:r>
                  <a:rPr lang="ru" sz="1350" b="1" dirty="0">
                    <a:solidFill>
                      <a:schemeClr val="accent1"/>
                    </a:solidFill>
                    <a:latin typeface="+mn-lt"/>
                    <a:ea typeface="+mn-ea"/>
                    <a:cs typeface="+mn-cs"/>
                  </a:rPr>
                  <a:t>Стоики</a:t>
                </a:r>
              </a:p>
            </p:txBody>
          </p:sp>
          <p:sp>
            <p:nvSpPr>
              <p:cNvPr id="15" name="TextBox 15"/>
              <p:cNvSpPr txBox="1"/>
              <p:nvPr/>
            </p:nvSpPr>
            <p:spPr>
              <a:xfrm>
                <a:off x="2300888" y="3282950"/>
                <a:ext cx="1113225" cy="264033"/>
              </a:xfrm>
              <a:prstGeom prst="rect">
                <a:avLst/>
              </a:prstGeom>
              <a:noFill/>
              <a:ln>
                <a:noFill/>
              </a:ln>
            </p:spPr>
            <p:txBody>
              <a:bodyPr wrap="none" lIns="0" tIns="0" rIns="0" bIns="0" anchor="t" anchorCtr="0">
                <a:spAutoFit/>
              </a:bodyPr>
              <a:lstStyle/>
              <a:p>
                <a:pPr algn="ctr"/>
                <a:r>
                  <a:rPr lang="ru" sz="1350" dirty="0">
                    <a:solidFill>
                      <a:schemeClr val="dk1"/>
                    </a:solidFill>
                    <a:latin typeface="+mn-lt"/>
                    <a:ea typeface="+mn-ea"/>
                    <a:cs typeface="+mn-cs"/>
                  </a:rPr>
                  <a:t>спокойствие</a:t>
                </a:r>
              </a:p>
            </p:txBody>
          </p:sp>
        </p:grpSp>
        <p:grpSp>
          <p:nvGrpSpPr>
            <p:cNvPr id="20" name="p07-p460"/>
            <p:cNvGrpSpPr/>
            <p:nvPr/>
          </p:nvGrpSpPr>
          <p:grpSpPr>
            <a:xfrm>
              <a:off x="3774910" y="2019300"/>
              <a:ext cx="1213180" cy="1527683"/>
              <a:chOff x="3774910" y="2019300"/>
              <a:chExt cx="1213180" cy="1527683"/>
            </a:xfrm>
          </p:grpSpPr>
          <p:sp>
            <p:nvSpPr>
              <p:cNvPr id="17" name="Ellipse 17"/>
              <p:cNvSpPr/>
              <p:nvPr/>
            </p:nvSpPr>
            <p:spPr>
              <a:xfrm>
                <a:off x="4019550" y="2019300"/>
                <a:ext cx="723900" cy="723900"/>
              </a:xfrm>
              <a:prstGeom prst="ellipse">
                <a:avLst/>
              </a:prstGeom>
              <a:solidFill>
                <a:schemeClr val="accent1">
                  <a:alpha val="12000"/>
                </a:schemeClr>
              </a:solidFill>
              <a:ln w="28575">
                <a:solidFill>
                  <a:schemeClr val="accent1"/>
                </a:solidFill>
              </a:ln>
            </p:spPr>
          </p:sp>
          <p:sp>
            <p:nvSpPr>
              <p:cNvPr id="18" name="TextBox 18"/>
              <p:cNvSpPr txBox="1"/>
              <p:nvPr/>
            </p:nvSpPr>
            <p:spPr>
              <a:xfrm>
                <a:off x="4109289" y="2978150"/>
                <a:ext cx="544422" cy="264033"/>
              </a:xfrm>
              <a:prstGeom prst="rect">
                <a:avLst/>
              </a:prstGeom>
              <a:noFill/>
              <a:ln>
                <a:noFill/>
              </a:ln>
            </p:spPr>
            <p:txBody>
              <a:bodyPr wrap="none" lIns="0" tIns="0" rIns="0" bIns="0" anchor="t" anchorCtr="0">
                <a:spAutoFit/>
              </a:bodyPr>
              <a:lstStyle/>
              <a:p>
                <a:pPr algn="ctr"/>
                <a:r>
                  <a:rPr lang="ru" sz="1350" b="1" dirty="0">
                    <a:solidFill>
                      <a:schemeClr val="accent1"/>
                    </a:solidFill>
                    <a:latin typeface="+mn-lt"/>
                    <a:ea typeface="+mn-ea"/>
                    <a:cs typeface="+mn-cs"/>
                  </a:rPr>
                  <a:t>Индия</a:t>
                </a:r>
              </a:p>
            </p:txBody>
          </p:sp>
          <p:sp>
            <p:nvSpPr>
              <p:cNvPr id="19" name="TextBox 19"/>
              <p:cNvSpPr txBox="1"/>
              <p:nvPr/>
            </p:nvSpPr>
            <p:spPr>
              <a:xfrm>
                <a:off x="3774910" y="3282950"/>
                <a:ext cx="1213180" cy="264033"/>
              </a:xfrm>
              <a:prstGeom prst="rect">
                <a:avLst/>
              </a:prstGeom>
              <a:noFill/>
              <a:ln>
                <a:noFill/>
              </a:ln>
            </p:spPr>
            <p:txBody>
              <a:bodyPr wrap="none" lIns="0" tIns="0" rIns="0" bIns="0" anchor="t" anchorCtr="0">
                <a:spAutoFit/>
              </a:bodyPr>
              <a:lstStyle/>
              <a:p>
                <a:pPr algn="ctr"/>
                <a:r>
                  <a:rPr lang="ru" sz="1350" dirty="0">
                    <a:solidFill>
                      <a:schemeClr val="dk1"/>
                    </a:solidFill>
                    <a:latin typeface="+mn-lt"/>
                    <a:ea typeface="+mn-ea"/>
                    <a:cs typeface="+mn-cs"/>
                  </a:rPr>
                  <a:t>освобождение</a:t>
                </a:r>
              </a:p>
            </p:txBody>
          </p:sp>
        </p:grpSp>
        <p:grpSp>
          <p:nvGrpSpPr>
            <p:cNvPr id="24" name="p07-p620"/>
            <p:cNvGrpSpPr/>
            <p:nvPr/>
          </p:nvGrpSpPr>
          <p:grpSpPr>
            <a:xfrm>
              <a:off x="5185043" y="2019300"/>
              <a:ext cx="1440914" cy="1527683"/>
              <a:chOff x="5185043" y="2019300"/>
              <a:chExt cx="1440914" cy="1527683"/>
            </a:xfrm>
          </p:grpSpPr>
          <p:pic>
            <p:nvPicPr>
              <p:cNvPr id="21" name="Image 21"/>
              <p:cNvPicPr>
                <a:picLocks noChangeAspect="1"/>
              </p:cNvPicPr>
              <p:nvPr/>
            </p:nvPicPr>
            <p:blipFill>
              <a:blip r:embed="rId5"/>
              <a:srcRect l="12500" t="0" r="12500" b="0"/>
              <a:stretch>
                <a:fillRect/>
              </a:stretch>
            </p:blipFill>
            <p:spPr>
              <a:xfrm>
                <a:off x="5543550" y="2019300"/>
                <a:ext cx="723900" cy="723900"/>
              </a:xfrm>
              <a:prstGeom prst="rect">
                <a:avLst/>
              </a:prstGeom>
            </p:spPr>
          </p:pic>
          <p:sp>
            <p:nvSpPr>
              <p:cNvPr id="22" name="TextBox 22"/>
              <p:cNvSpPr txBox="1"/>
              <p:nvPr/>
            </p:nvSpPr>
            <p:spPr>
              <a:xfrm>
                <a:off x="5185043" y="2978150"/>
                <a:ext cx="1440914" cy="264033"/>
              </a:xfrm>
              <a:prstGeom prst="rect">
                <a:avLst/>
              </a:prstGeom>
              <a:noFill/>
              <a:ln>
                <a:noFill/>
              </a:ln>
            </p:spPr>
            <p:txBody>
              <a:bodyPr wrap="none" lIns="0" tIns="0" rIns="0" bIns="0" anchor="t" anchorCtr="0">
                <a:spAutoFit/>
              </a:bodyPr>
              <a:lstStyle/>
              <a:p>
                <a:pPr algn="ctr"/>
                <a:r>
                  <a:rPr lang="ru" sz="1350" b="1" dirty="0">
                    <a:solidFill>
                      <a:schemeClr val="accent1"/>
                    </a:solidFill>
                    <a:latin typeface="+mn-lt"/>
                    <a:ea typeface="+mn-ea"/>
                    <a:cs typeface="+mn-cs"/>
                  </a:rPr>
                  <a:t>Фома Аквинский</a:t>
                </a:r>
              </a:p>
            </p:txBody>
          </p:sp>
          <p:sp>
            <p:nvSpPr>
              <p:cNvPr id="23" name="TextBox 23"/>
              <p:cNvSpPr txBox="1"/>
              <p:nvPr/>
            </p:nvSpPr>
            <p:spPr>
              <a:xfrm>
                <a:off x="5348888" y="3282950"/>
                <a:ext cx="1113225" cy="264033"/>
              </a:xfrm>
              <a:prstGeom prst="rect">
                <a:avLst/>
              </a:prstGeom>
              <a:noFill/>
              <a:ln>
                <a:noFill/>
              </a:ln>
            </p:spPr>
            <p:txBody>
              <a:bodyPr wrap="none" lIns="0" tIns="0" rIns="0" bIns="0" anchor="t" anchorCtr="0">
                <a:spAutoFit/>
              </a:bodyPr>
              <a:lstStyle/>
              <a:p>
                <a:pPr algn="ctr"/>
                <a:r>
                  <a:rPr lang="ru" sz="1350" dirty="0">
                    <a:solidFill>
                      <a:schemeClr val="dk1"/>
                    </a:solidFill>
                    <a:latin typeface="+mn-lt"/>
                    <a:ea typeface="+mn-ea"/>
                    <a:cs typeface="+mn-cs"/>
                  </a:rPr>
                  <a:t>недостижимо</a:t>
                </a:r>
              </a:p>
            </p:txBody>
          </p:sp>
        </p:grpSp>
        <p:grpSp>
          <p:nvGrpSpPr>
            <p:cNvPr id="28" name="p07-p780"/>
            <p:cNvGrpSpPr/>
            <p:nvPr/>
          </p:nvGrpSpPr>
          <p:grpSpPr>
            <a:xfrm>
              <a:off x="6672468" y="2019300"/>
              <a:ext cx="1514064" cy="1527683"/>
              <a:chOff x="6672468" y="2019300"/>
              <a:chExt cx="1514064" cy="1527683"/>
            </a:xfrm>
          </p:grpSpPr>
          <p:pic>
            <p:nvPicPr>
              <p:cNvPr id="25" name="Image 25"/>
              <p:cNvPicPr>
                <a:picLocks noChangeAspect="1"/>
              </p:cNvPicPr>
              <p:nvPr/>
            </p:nvPicPr>
            <p:blipFill>
              <a:blip r:embed="rId6"/>
              <a:srcRect l="271" t="0" r="271" b="0"/>
              <a:stretch>
                <a:fillRect/>
              </a:stretch>
            </p:blipFill>
            <p:spPr>
              <a:xfrm>
                <a:off x="7067550" y="2019300"/>
                <a:ext cx="723900" cy="723900"/>
              </a:xfrm>
              <a:prstGeom prst="rect">
                <a:avLst/>
              </a:prstGeom>
            </p:spPr>
          </p:pic>
          <p:sp>
            <p:nvSpPr>
              <p:cNvPr id="26" name="TextBox 26"/>
              <p:cNvSpPr txBox="1"/>
              <p:nvPr/>
            </p:nvSpPr>
            <p:spPr>
              <a:xfrm>
                <a:off x="6894906" y="2978150"/>
                <a:ext cx="1069188" cy="264033"/>
              </a:xfrm>
              <a:prstGeom prst="rect">
                <a:avLst/>
              </a:prstGeom>
              <a:noFill/>
              <a:ln>
                <a:noFill/>
              </a:ln>
            </p:spPr>
            <p:txBody>
              <a:bodyPr wrap="none" lIns="0" tIns="0" rIns="0" bIns="0" anchor="t" anchorCtr="0">
                <a:spAutoFit/>
              </a:bodyPr>
              <a:lstStyle/>
              <a:p>
                <a:pPr algn="ctr"/>
                <a:r>
                  <a:rPr lang="ru" sz="1350" b="1" dirty="0">
                    <a:solidFill>
                      <a:schemeClr val="accent1"/>
                    </a:solidFill>
                    <a:latin typeface="+mn-lt"/>
                    <a:ea typeface="+mn-ea"/>
                    <a:cs typeface="+mn-cs"/>
                  </a:rPr>
                  <a:t>Джефферсон</a:t>
                </a:r>
              </a:p>
            </p:txBody>
          </p:sp>
          <p:sp>
            <p:nvSpPr>
              <p:cNvPr id="27" name="TextBox 27"/>
              <p:cNvSpPr txBox="1"/>
              <p:nvPr/>
            </p:nvSpPr>
            <p:spPr>
              <a:xfrm>
                <a:off x="6672468" y="3282950"/>
                <a:ext cx="1514064" cy="264033"/>
              </a:xfrm>
              <a:prstGeom prst="rect">
                <a:avLst/>
              </a:prstGeom>
              <a:noFill/>
              <a:ln>
                <a:noFill/>
              </a:ln>
            </p:spPr>
            <p:txBody>
              <a:bodyPr wrap="none" lIns="0" tIns="0" rIns="0" bIns="0" anchor="t" anchorCtr="0">
                <a:spAutoFit/>
              </a:bodyPr>
              <a:lstStyle/>
              <a:p>
                <a:pPr algn="ctr"/>
                <a:r>
                  <a:rPr lang="ru" sz="1350" dirty="0">
                    <a:solidFill>
                      <a:schemeClr val="dk1"/>
                    </a:solidFill>
                    <a:latin typeface="+mn-lt"/>
                    <a:ea typeface="+mn-ea"/>
                    <a:cs typeface="+mn-cs"/>
                  </a:rPr>
                  <a:t>право на счастье</a:t>
                </a:r>
              </a:p>
            </p:txBody>
          </p:sp>
        </p:grpSp>
        <p:grpSp>
          <p:nvGrpSpPr>
            <p:cNvPr id="32" name="p07-p940"/>
            <p:cNvGrpSpPr/>
            <p:nvPr/>
          </p:nvGrpSpPr>
          <p:grpSpPr>
            <a:xfrm>
              <a:off x="8260020" y="2019300"/>
              <a:ext cx="1386961" cy="1527683"/>
              <a:chOff x="8260020" y="2019300"/>
              <a:chExt cx="1386961" cy="1527683"/>
            </a:xfrm>
          </p:grpSpPr>
          <p:pic>
            <p:nvPicPr>
              <p:cNvPr id="29" name="Image 29"/>
              <p:cNvPicPr>
                <a:picLocks noChangeAspect="1"/>
              </p:cNvPicPr>
              <p:nvPr/>
            </p:nvPicPr>
            <p:blipFill>
              <a:blip r:embed="rId7"/>
              <a:srcRect l="1267" t="0" r="1267" b="0"/>
              <a:stretch>
                <a:fillRect/>
              </a:stretch>
            </p:blipFill>
            <p:spPr>
              <a:xfrm>
                <a:off x="8591550" y="2019300"/>
                <a:ext cx="723900" cy="723900"/>
              </a:xfrm>
              <a:prstGeom prst="rect">
                <a:avLst/>
              </a:prstGeom>
            </p:spPr>
          </p:pic>
          <p:sp>
            <p:nvSpPr>
              <p:cNvPr id="30" name="TextBox 30"/>
              <p:cNvSpPr txBox="1"/>
              <p:nvPr/>
            </p:nvSpPr>
            <p:spPr>
              <a:xfrm>
                <a:off x="8260020" y="2978150"/>
                <a:ext cx="1386961" cy="264033"/>
              </a:xfrm>
              <a:prstGeom prst="rect">
                <a:avLst/>
              </a:prstGeom>
              <a:noFill/>
              <a:ln>
                <a:noFill/>
              </a:ln>
            </p:spPr>
            <p:txBody>
              <a:bodyPr wrap="none" lIns="0" tIns="0" rIns="0" bIns="0" anchor="t" anchorCtr="0">
                <a:spAutoFit/>
              </a:bodyPr>
              <a:lstStyle/>
              <a:p>
                <a:pPr algn="ctr"/>
                <a:r>
                  <a:rPr lang="ru" sz="1350" b="1" dirty="0">
                    <a:solidFill>
                      <a:schemeClr val="accent1"/>
                    </a:solidFill>
                    <a:latin typeface="+mn-lt"/>
                    <a:ea typeface="+mn-ea"/>
                    <a:cs typeface="+mn-cs"/>
                  </a:rPr>
                  <a:t>Бентам и Милль</a:t>
                </a:r>
              </a:p>
            </p:txBody>
          </p:sp>
          <p:sp>
            <p:nvSpPr>
              <p:cNvPr id="31" name="TextBox 31"/>
              <p:cNvSpPr txBox="1"/>
              <p:nvPr/>
            </p:nvSpPr>
            <p:spPr>
              <a:xfrm>
                <a:off x="8346910" y="3282950"/>
                <a:ext cx="1213180" cy="264033"/>
              </a:xfrm>
              <a:prstGeom prst="rect">
                <a:avLst/>
              </a:prstGeom>
              <a:noFill/>
              <a:ln>
                <a:noFill/>
              </a:ln>
            </p:spPr>
            <p:txBody>
              <a:bodyPr wrap="none" lIns="0" tIns="0" rIns="0" bIns="0" anchor="t" anchorCtr="0">
                <a:spAutoFit/>
              </a:bodyPr>
              <a:lstStyle/>
              <a:p>
                <a:pPr algn="ctr"/>
                <a:r>
                  <a:rPr lang="ru" sz="1350" dirty="0">
                    <a:solidFill>
                      <a:schemeClr val="dk1"/>
                    </a:solidFill>
                    <a:latin typeface="+mn-lt"/>
                    <a:ea typeface="+mn-ea"/>
                    <a:cs typeface="+mn-cs"/>
                  </a:rPr>
                  <a:t>удовольствие</a:t>
                </a:r>
              </a:p>
            </p:txBody>
          </p:sp>
        </p:grpSp>
        <p:grpSp>
          <p:nvGrpSpPr>
            <p:cNvPr id="36" name="p07-p1100"/>
            <p:cNvGrpSpPr/>
            <p:nvPr/>
          </p:nvGrpSpPr>
          <p:grpSpPr>
            <a:xfrm>
              <a:off x="9820932" y="2019300"/>
              <a:ext cx="1313136" cy="1527683"/>
              <a:chOff x="9820932" y="2019300"/>
              <a:chExt cx="1313136" cy="1527683"/>
            </a:xfrm>
          </p:grpSpPr>
          <p:sp>
            <p:nvSpPr>
              <p:cNvPr id="33" name="Ellipse 33"/>
              <p:cNvSpPr/>
              <p:nvPr/>
            </p:nvSpPr>
            <p:spPr>
              <a:xfrm>
                <a:off x="10115550" y="2019300"/>
                <a:ext cx="723900" cy="723900"/>
              </a:xfrm>
              <a:prstGeom prst="ellipse">
                <a:avLst/>
              </a:prstGeom>
              <a:solidFill>
                <a:srgbClr val="E67E22">
                  <a:alpha val="12000"/>
                </a:srgbClr>
              </a:solidFill>
              <a:ln w="28575">
                <a:solidFill>
                  <a:srgbClr val="E67E22"/>
                </a:solidFill>
              </a:ln>
            </p:spPr>
          </p:sp>
          <p:sp>
            <p:nvSpPr>
              <p:cNvPr id="34" name="TextBox 34"/>
              <p:cNvSpPr txBox="1"/>
              <p:nvPr/>
            </p:nvSpPr>
            <p:spPr>
              <a:xfrm>
                <a:off x="10132192" y="2978150"/>
                <a:ext cx="690616" cy="264033"/>
              </a:xfrm>
              <a:prstGeom prst="rect">
                <a:avLst/>
              </a:prstGeom>
              <a:noFill/>
              <a:ln>
                <a:noFill/>
              </a:ln>
            </p:spPr>
            <p:txBody>
              <a:bodyPr wrap="none" lIns="0" tIns="0" rIns="0" bIns="0" anchor="t" anchorCtr="0">
                <a:spAutoFit/>
              </a:bodyPr>
              <a:lstStyle/>
              <a:p>
                <a:pPr algn="ctr"/>
                <a:r>
                  <a:rPr lang="ru" sz="1350" b="1" dirty="0">
                    <a:solidFill>
                      <a:srgbClr val="E67E22"/>
                    </a:solidFill>
                    <a:latin typeface="+mn-lt"/>
                    <a:ea typeface="+mn-ea"/>
                    <a:cs typeface="+mn-cs"/>
                  </a:rPr>
                  <a:t>XXI век</a:t>
                </a:r>
              </a:p>
            </p:txBody>
          </p:sp>
          <p:sp>
            <p:nvSpPr>
              <p:cNvPr id="35" name="TextBox 35"/>
              <p:cNvSpPr txBox="1"/>
              <p:nvPr/>
            </p:nvSpPr>
            <p:spPr>
              <a:xfrm>
                <a:off x="9820932" y="3282950"/>
                <a:ext cx="1313136" cy="264033"/>
              </a:xfrm>
              <a:prstGeom prst="rect">
                <a:avLst/>
              </a:prstGeom>
              <a:noFill/>
              <a:ln>
                <a:noFill/>
              </a:ln>
            </p:spPr>
            <p:txBody>
              <a:bodyPr wrap="none" lIns="0" tIns="0" rIns="0" bIns="0" anchor="t" anchorCtr="0">
                <a:spAutoFit/>
              </a:bodyPr>
              <a:lstStyle/>
              <a:p>
                <a:pPr algn="ctr"/>
                <a:r>
                  <a:rPr lang="ru" sz="1350" dirty="0">
                    <a:solidFill>
                      <a:schemeClr val="dk1"/>
                    </a:solidFill>
                    <a:latin typeface="+mn-lt"/>
                    <a:ea typeface="+mn-ea"/>
                    <a:cs typeface="+mn-cs"/>
                  </a:rPr>
                  <a:t>многомерность</a:t>
                </a:r>
              </a:p>
            </p:txBody>
          </p:sp>
        </p:grpSp>
      </p:grpSp>
      <p:grpSp>
        <p:nvGrpSpPr>
          <p:cNvPr id="42" name="p07-note"/>
          <p:cNvGrpSpPr/>
          <p:nvPr/>
        </p:nvGrpSpPr>
        <p:grpSpPr>
          <a:xfrm>
            <a:off x="762000" y="4286250"/>
            <a:ext cx="10668000" cy="857250"/>
            <a:chOff x="762000" y="4286250"/>
            <a:chExt cx="10668000" cy="857250"/>
          </a:xfrm>
        </p:grpSpPr>
        <p:sp>
          <p:nvSpPr>
            <p:cNvPr id="38" name="Rectangle 38"/>
            <p:cNvSpPr/>
            <p:nvPr/>
          </p:nvSpPr>
          <p:spPr>
            <a:xfrm>
              <a:off x="762000" y="4286250"/>
              <a:ext cx="10668000" cy="857250"/>
            </a:xfrm>
            <a:prstGeom prst="roundRect">
              <a:avLst>
                <a:gd name="adj" fmla="val 15556"/>
              </a:avLst>
            </a:prstGeom>
            <a:solidFill>
              <a:srgbClr val="FFFFFF">
                <a:alpha val="85000"/>
              </a:srgbClr>
            </a:solidFill>
            <a:ln>
              <a:noFill/>
            </a:ln>
          </p:spPr>
        </p:sp>
        <p:sp>
          <p:nvSpPr>
            <p:cNvPr id="39" name="Freeform 39"/>
            <p:cNvSpPr/>
            <p:nvPr/>
          </p:nvSpPr>
          <p:spPr>
            <a:xfrm>
              <a:off x="1038212" y="4646380"/>
              <a:ext cx="285778" cy="136992"/>
            </a:xfrm>
            <a:custGeom>
              <a:avLst/>
              <a:gdLst/>
              <a:ahLst/>
              <a:cxnLst/>
              <a:rect l="l" t="t" r="r" b="b"/>
              <a:pathLst>
                <a:path w="285778" h="136992">
                  <a:moveTo>
                    <a:pt x="108408" y="23601"/>
                  </a:moveTo>
                  <a:cubicBezTo>
                    <a:pt x="90249" y="5436"/>
                    <a:pt x="62935" y="0"/>
                    <a:pt x="39204" y="9827"/>
                  </a:cubicBezTo>
                  <a:cubicBezTo>
                    <a:pt x="15473" y="19655"/>
                    <a:pt x="0" y="42811"/>
                    <a:pt x="0" y="68496"/>
                  </a:cubicBezTo>
                  <a:cubicBezTo>
                    <a:pt x="0" y="94181"/>
                    <a:pt x="15473" y="117337"/>
                    <a:pt x="39204" y="127164"/>
                  </a:cubicBezTo>
                  <a:cubicBezTo>
                    <a:pt x="62935" y="136992"/>
                    <a:pt x="90249" y="131555"/>
                    <a:pt x="108408" y="113390"/>
                  </a:cubicBezTo>
                  <a:cubicBezTo>
                    <a:pt x="122499" y="100612"/>
                    <a:pt x="134178" y="85406"/>
                    <a:pt x="142889" y="68496"/>
                  </a:cubicBezTo>
                  <a:cubicBezTo>
                    <a:pt x="151600" y="51586"/>
                    <a:pt x="163279" y="36379"/>
                    <a:pt x="177369" y="23601"/>
                  </a:cubicBezTo>
                  <a:cubicBezTo>
                    <a:pt x="195529" y="5436"/>
                    <a:pt x="222843" y="0"/>
                    <a:pt x="246574" y="9827"/>
                  </a:cubicBezTo>
                  <a:cubicBezTo>
                    <a:pt x="270304" y="19655"/>
                    <a:pt x="285778" y="42811"/>
                    <a:pt x="285778" y="68496"/>
                  </a:cubicBezTo>
                  <a:cubicBezTo>
                    <a:pt x="285778" y="94181"/>
                    <a:pt x="270304" y="117337"/>
                    <a:pt x="246574" y="127164"/>
                  </a:cubicBezTo>
                  <a:cubicBezTo>
                    <a:pt x="222843" y="136992"/>
                    <a:pt x="195529" y="131555"/>
                    <a:pt x="177369" y="113390"/>
                  </a:cubicBezTo>
                  <a:cubicBezTo>
                    <a:pt x="163279" y="100612"/>
                    <a:pt x="151600" y="85406"/>
                    <a:pt x="142889" y="68496"/>
                  </a:cubicBezTo>
                  <a:cubicBezTo>
                    <a:pt x="134178" y="51586"/>
                    <a:pt x="122499" y="36379"/>
                    <a:pt x="108408" y="23601"/>
                  </a:cubicBezTo>
                </a:path>
              </a:pathLst>
            </a:custGeom>
            <a:noFill/>
            <a:ln w="31750">
              <a:solidFill>
                <a:srgbClr val="E67E22"/>
              </a:solidFill>
            </a:ln>
          </p:spPr>
        </p:sp>
        <p:sp>
          <p:nvSpPr>
            <p:cNvPr id="40" name="TextBox 40"/>
            <p:cNvSpPr txBox="1"/>
            <p:nvPr/>
          </p:nvSpPr>
          <p:spPr>
            <a:xfrm>
              <a:off x="1514856" y="4419600"/>
              <a:ext cx="840707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Общее: счастье — не удача, а результат усилий и добродетельной жизни</a:t>
              </a:r>
            </a:p>
          </p:txBody>
        </p:sp>
        <p:sp>
          <p:nvSpPr>
            <p:cNvPr id="41" name="TextBox 41"/>
            <p:cNvSpPr txBox="1"/>
            <p:nvPr/>
          </p:nvSpPr>
          <p:spPr>
            <a:xfrm>
              <a:off x="1514856" y="4743450"/>
              <a:ext cx="6960607"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Сегодня наука рассматривает его как многомерный феномен</a:t>
              </a:r>
            </a:p>
          </p:txBody>
        </p:sp>
      </p:grpSp>
      <p:sp>
        <p:nvSpPr>
          <p:cNvPr id="43" name="credit"/>
          <p:cNvSpPr txBox="1"/>
          <p:nvPr/>
        </p:nvSpPr>
        <p:spPr>
          <a:xfrm>
            <a:off x="754380" y="6534150"/>
            <a:ext cx="8461468" cy="293370"/>
          </a:xfrm>
          <a:prstGeom prst="rect">
            <a:avLst/>
          </a:prstGeom>
          <a:noFill/>
          <a:ln>
            <a:noFill/>
          </a:ln>
        </p:spPr>
        <p:txBody>
          <a:bodyPr wrap="none" lIns="0" tIns="0" rIns="0" bIns="0" anchor="t" anchorCtr="0">
            <a:spAutoFit/>
          </a:bodyPr>
          <a:lstStyle/>
          <a:p>
            <a:pPr algn="l"/>
            <a:r>
              <a:rPr lang="ru" sz="1500" dirty="0">
                <a:solidFill>
                  <a:srgbClr val="7F8C8D"/>
                </a:solidFill>
                <a:latin typeface="+mn-lt"/>
                <a:ea typeface="+mn-ea"/>
                <a:cs typeface="+mn-cs"/>
              </a:rPr>
              <a:t>Портреты: Wikimedia Commons — Public Domain / CC0; © Zde / Wikimedia / CC BY-SA 4.0</a:t>
            </a:r>
          </a:p>
        </p:txBody>
      </p:sp>
      <p:pic>
        <p:nvPicPr>
          <p:cNvPr id="44" name="PPT Master narration: narration7.mp3">
            <a:hlinkClick r:id="" action="ppaction://media"/>
          </p:cNvPr>
          <p:cNvPicPr>
            <a:picLocks noChangeAspect="1"/>
          </p:cNvPicPr>
          <p:nvPr>
            <a:audioFile r:link="rId10"/>
            <p:extLst>
              <p:ext uri="{DAA4B4D4-6D71-4841-9C94-3DE7FCFB9230}">
                <p14:media r:embed="rId9"/>
              </p:ext>
            </p:extLst>
          </p:nvPr>
        </p:nvPicPr>
        <p:blipFill>
          <a:blip r:embed="rId11"/>
          <a:stretch>
            <a:fillRect/>
          </a:stretch>
        </p:blipFill>
        <p:spPr>
          <a:xfrm>
            <a:off x="-457200" y="-457200"/>
            <a:ext cx="457200" cy="457200"/>
          </a:xfrm>
          <a:prstGeom prst="rect">
            <a:avLst/>
          </a:prstGeom>
        </p:spPr>
      </p:pic>
    </p:spTree>
  </p:cSld>
  <p:clrMapOvr>
    <a:masterClrMapping/>
  </p:clrMapOvr>
  <p:transition p14:dur="500" advClick="0" advTm="4431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600"/>
                                        <p:tgtEl>
                                          <p:spTgt spid="37"/>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44"/>
                </p:tgtEl>
              </p:cMediaNode>
            </p:audio>
          </p:childTnLst>
        </p:cTn>
      </p:par>
    </p:tnLst>
  </p:timing>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8-photo"/>
          <p:cNvPicPr>
            <a:picLocks noChangeAspect="1"/>
          </p:cNvPicPr>
          <p:nvPr/>
        </p:nvPicPr>
        <p:blipFill>
          <a:blip r:embed="rId2"/>
          <a:srcRect l="0" t="7728" r="0" b="7729"/>
          <a:stretch>
            <a:fillRect/>
          </a:stretch>
        </p:blipFill>
        <p:spPr>
          <a:xfrm>
            <a:off x="0" y="0"/>
            <a:ext cx="12192000" cy="6858000"/>
          </a:xfrm>
          <a:prstGeom prst="rect">
            <a:avLst/>
          </a:prstGeom>
        </p:spPr>
      </p:pic>
      <p:sp>
        <p:nvSpPr>
          <p:cNvPr id="3" name="p08-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8-accent"/>
          <p:cNvSpPr/>
          <p:nvPr/>
        </p:nvSpPr>
        <p:spPr>
          <a:xfrm>
            <a:off x="0" y="0"/>
            <a:ext cx="12192000" cy="57150"/>
          </a:xfrm>
          <a:prstGeom prst="rect">
            <a:avLst/>
          </a:prstGeom>
          <a:solidFill>
            <a:srgbClr val="E67E22"/>
          </a:solidFill>
          <a:ln>
            <a:noFill/>
          </a:ln>
        </p:spPr>
      </p:sp>
      <p:sp>
        <p:nvSpPr>
          <p:cNvPr id="5" name="p08-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08</a:t>
            </a:r>
          </a:p>
        </p:txBody>
      </p:sp>
      <p:grpSp>
        <p:nvGrpSpPr>
          <p:cNvPr id="7" name="p08-title"/>
          <p:cNvGrpSpPr/>
          <p:nvPr/>
        </p:nvGrpSpPr>
        <p:grpSpPr>
          <a:xfrm>
            <a:off x="743712" y="565150"/>
            <a:ext cx="8428529" cy="704088"/>
            <a:chOff x="743712" y="565150"/>
            <a:chExt cx="8428529" cy="704088"/>
          </a:xfrm>
        </p:grpSpPr>
        <p:sp>
          <p:nvSpPr>
            <p:cNvPr id="6" name="TextBox 6"/>
            <p:cNvSpPr txBox="1"/>
            <p:nvPr/>
          </p:nvSpPr>
          <p:spPr>
            <a:xfrm>
              <a:off x="743712" y="565150"/>
              <a:ext cx="8428529"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Удовольствие быстро, смысл долог</a:t>
              </a:r>
            </a:p>
          </p:txBody>
        </p:sp>
      </p:grpSp>
      <p:grpSp>
        <p:nvGrpSpPr>
          <p:cNvPr id="18" name="p08-hedonia"/>
          <p:cNvGrpSpPr/>
          <p:nvPr/>
        </p:nvGrpSpPr>
        <p:grpSpPr>
          <a:xfrm>
            <a:off x="762000" y="1714500"/>
            <a:ext cx="4953000" cy="3619500"/>
            <a:chOff x="762000" y="1714500"/>
            <a:chExt cx="4953000" cy="3619500"/>
          </a:xfrm>
        </p:grpSpPr>
        <p:sp>
          <p:nvSpPr>
            <p:cNvPr id="8" name="Rectangle 8"/>
            <p:cNvSpPr/>
            <p:nvPr/>
          </p:nvSpPr>
          <p:spPr>
            <a:xfrm>
              <a:off x="762000" y="1714500"/>
              <a:ext cx="4953000" cy="3619500"/>
            </a:xfrm>
            <a:prstGeom prst="roundRect">
              <a:avLst>
                <a:gd name="adj" fmla="val 4211"/>
              </a:avLst>
            </a:prstGeom>
            <a:solidFill>
              <a:srgbClr val="E67E22">
                <a:alpha val="14000"/>
              </a:srgbClr>
            </a:solidFill>
            <a:ln>
              <a:noFill/>
            </a:ln>
          </p:spPr>
        </p:sp>
        <p:pic>
          <p:nvPicPr>
            <p:cNvPr id="9" name="Image 9"/>
            <p:cNvPicPr>
              <a:picLocks noChangeAspect="1"/>
            </p:cNvPicPr>
            <p:nvPr/>
          </p:nvPicPr>
          <p:blipFill>
            <a:blip r:embed="rId3"/>
            <a:srcRect l="0" t="21912" r="0" b="21913"/>
            <a:stretch>
              <a:fillRect/>
            </a:stretch>
          </p:blipFill>
          <p:spPr>
            <a:xfrm>
              <a:off x="952500" y="1905000"/>
              <a:ext cx="4572000" cy="1714500"/>
            </a:xfrm>
            <a:prstGeom prst="rect">
              <a:avLst/>
            </a:prstGeom>
          </p:spPr>
        </p:pic>
        <p:grpSp>
          <p:nvGrpSpPr>
            <p:cNvPr id="14" name="Group 14"/>
            <p:cNvGrpSpPr/>
            <p:nvPr/>
          </p:nvGrpSpPr>
          <p:grpSpPr>
            <a:xfrm>
              <a:off x="1038225" y="3857625"/>
              <a:ext cx="285751" cy="285751"/>
              <a:chOff x="1038225" y="3857625"/>
              <a:chExt cx="285751" cy="285751"/>
            </a:xfrm>
          </p:grpSpPr>
          <p:sp>
            <p:nvSpPr>
              <p:cNvPr id="10" name="Freeform 10"/>
              <p:cNvSpPr/>
              <p:nvPr/>
            </p:nvSpPr>
            <p:spPr>
              <a:xfrm>
                <a:off x="1038225" y="38576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rgbClr val="B9631B"/>
                </a:solidFill>
              </a:ln>
            </p:spPr>
          </p:sp>
          <p:sp>
            <p:nvSpPr>
              <p:cNvPr id="11" name="Freeform 11"/>
              <p:cNvSpPr/>
              <p:nvPr/>
            </p:nvSpPr>
            <p:spPr>
              <a:xfrm>
                <a:off x="1133475" y="3968750"/>
                <a:ext cx="9525" cy="9525"/>
              </a:xfrm>
              <a:custGeom>
                <a:avLst/>
                <a:gdLst/>
                <a:ahLst/>
                <a:cxnLst/>
                <a:rect l="l" t="t" r="r" b="b"/>
                <a:pathLst>
                  <a:path w="9525" h="9525">
                    <a:moveTo>
                      <a:pt x="0" y="0"/>
                    </a:moveTo>
                    <a:lnTo>
                      <a:pt x="159" y="0"/>
                    </a:lnTo>
                  </a:path>
                </a:pathLst>
              </a:custGeom>
              <a:noFill/>
              <a:ln w="31750">
                <a:solidFill>
                  <a:srgbClr val="B9631B"/>
                </a:solidFill>
              </a:ln>
            </p:spPr>
          </p:sp>
          <p:sp>
            <p:nvSpPr>
              <p:cNvPr id="12" name="Freeform 12"/>
              <p:cNvSpPr/>
              <p:nvPr/>
            </p:nvSpPr>
            <p:spPr>
              <a:xfrm>
                <a:off x="1228725" y="3968750"/>
                <a:ext cx="9525" cy="9525"/>
              </a:xfrm>
              <a:custGeom>
                <a:avLst/>
                <a:gdLst/>
                <a:ahLst/>
                <a:cxnLst/>
                <a:rect l="l" t="t" r="r" b="b"/>
                <a:pathLst>
                  <a:path w="9525" h="9525">
                    <a:moveTo>
                      <a:pt x="0" y="0"/>
                    </a:moveTo>
                    <a:lnTo>
                      <a:pt x="159" y="0"/>
                    </a:lnTo>
                  </a:path>
                </a:pathLst>
              </a:custGeom>
              <a:noFill/>
              <a:ln w="31750">
                <a:solidFill>
                  <a:srgbClr val="B9631B"/>
                </a:solidFill>
              </a:ln>
            </p:spPr>
          </p:sp>
          <p:sp>
            <p:nvSpPr>
              <p:cNvPr id="13" name="Freeform 13"/>
              <p:cNvSpPr/>
              <p:nvPr/>
            </p:nvSpPr>
            <p:spPr>
              <a:xfrm>
                <a:off x="1141413" y="4048125"/>
                <a:ext cx="79375" cy="16677"/>
              </a:xfrm>
              <a:custGeom>
                <a:avLst/>
                <a:gdLst/>
                <a:ahLst/>
                <a:cxnLst/>
                <a:rect l="l" t="t" r="r" b="b"/>
                <a:pathLst>
                  <a:path w="79375" h="16677">
                    <a:moveTo>
                      <a:pt x="0" y="0"/>
                    </a:moveTo>
                    <a:cubicBezTo>
                      <a:pt x="10451" y="10666"/>
                      <a:pt x="24755" y="16677"/>
                      <a:pt x="39688" y="16677"/>
                    </a:cubicBezTo>
                    <a:cubicBezTo>
                      <a:pt x="54620" y="16677"/>
                      <a:pt x="68924" y="10666"/>
                      <a:pt x="79375" y="0"/>
                    </a:cubicBezTo>
                  </a:path>
                </a:pathLst>
              </a:custGeom>
              <a:noFill/>
              <a:ln w="31750">
                <a:solidFill>
                  <a:srgbClr val="B9631B"/>
                </a:solidFill>
              </a:ln>
            </p:spPr>
          </p:sp>
        </p:grpSp>
        <p:sp>
          <p:nvSpPr>
            <p:cNvPr id="15" name="TextBox 15"/>
            <p:cNvSpPr txBox="1"/>
            <p:nvPr/>
          </p:nvSpPr>
          <p:spPr>
            <a:xfrm>
              <a:off x="1476756" y="3886200"/>
              <a:ext cx="1145709" cy="352044"/>
            </a:xfrm>
            <a:prstGeom prst="rect">
              <a:avLst/>
            </a:prstGeom>
            <a:noFill/>
            <a:ln>
              <a:noFill/>
            </a:ln>
          </p:spPr>
          <p:txBody>
            <a:bodyPr wrap="none" lIns="0" tIns="0" rIns="0" bIns="0" anchor="t" anchorCtr="0">
              <a:spAutoFit/>
            </a:bodyPr>
            <a:lstStyle/>
            <a:p>
              <a:pPr algn="l"/>
              <a:r>
                <a:rPr lang="ru" sz="1800" b="1" dirty="0">
                  <a:solidFill>
                    <a:srgbClr val="B9631B"/>
                  </a:solidFill>
                  <a:latin typeface="+mn-lt"/>
                  <a:ea typeface="+mn-ea"/>
                  <a:cs typeface="+mn-cs"/>
                </a:rPr>
                <a:t>Гедонизм</a:t>
              </a:r>
            </a:p>
          </p:txBody>
        </p:sp>
        <p:sp>
          <p:nvSpPr>
            <p:cNvPr id="16" name="TextBox 16"/>
            <p:cNvSpPr txBox="1"/>
            <p:nvPr/>
          </p:nvSpPr>
          <p:spPr>
            <a:xfrm>
              <a:off x="981456" y="4362450"/>
              <a:ext cx="275107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максимум удовольствия</a:t>
              </a:r>
            </a:p>
          </p:txBody>
        </p:sp>
        <p:sp>
          <p:nvSpPr>
            <p:cNvPr id="17" name="TextBox 17"/>
            <p:cNvSpPr txBox="1"/>
            <p:nvPr/>
          </p:nvSpPr>
          <p:spPr>
            <a:xfrm>
              <a:off x="981456" y="4686300"/>
              <a:ext cx="3018984"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риск: быстрое привыкание</a:t>
              </a:r>
            </a:p>
          </p:txBody>
        </p:sp>
      </p:grpSp>
      <p:grpSp>
        <p:nvGrpSpPr>
          <p:cNvPr id="27" name="p08-eudaimonia"/>
          <p:cNvGrpSpPr/>
          <p:nvPr/>
        </p:nvGrpSpPr>
        <p:grpSpPr>
          <a:xfrm>
            <a:off x="6477000" y="1714500"/>
            <a:ext cx="4953000" cy="3619500"/>
            <a:chOff x="6477000" y="1714500"/>
            <a:chExt cx="4953000" cy="3619500"/>
          </a:xfrm>
        </p:grpSpPr>
        <p:sp>
          <p:nvSpPr>
            <p:cNvPr id="19" name="Rectangle 19"/>
            <p:cNvSpPr/>
            <p:nvPr/>
          </p:nvSpPr>
          <p:spPr>
            <a:xfrm>
              <a:off x="6477000" y="1714500"/>
              <a:ext cx="4953000" cy="3619500"/>
            </a:xfrm>
            <a:prstGeom prst="roundRect">
              <a:avLst>
                <a:gd name="adj" fmla="val 4211"/>
              </a:avLst>
            </a:prstGeom>
            <a:solidFill>
              <a:srgbClr val="27AE60">
                <a:alpha val="14000"/>
              </a:srgbClr>
            </a:solidFill>
            <a:ln>
              <a:noFill/>
            </a:ln>
          </p:spPr>
        </p:sp>
        <p:pic>
          <p:nvPicPr>
            <p:cNvPr id="20" name="Image 20"/>
            <p:cNvPicPr>
              <a:picLocks noChangeAspect="1"/>
            </p:cNvPicPr>
            <p:nvPr/>
          </p:nvPicPr>
          <p:blipFill>
            <a:blip r:embed="rId4"/>
            <a:srcRect l="0" t="25000" r="0" b="25000"/>
            <a:stretch>
              <a:fillRect/>
            </a:stretch>
          </p:blipFill>
          <p:spPr>
            <a:xfrm>
              <a:off x="6667500" y="1905000"/>
              <a:ext cx="4572000" cy="1714500"/>
            </a:xfrm>
            <a:prstGeom prst="rect">
              <a:avLst/>
            </a:prstGeom>
          </p:spPr>
        </p:pic>
        <p:grpSp>
          <p:nvGrpSpPr>
            <p:cNvPr id="23" name="Group 23"/>
            <p:cNvGrpSpPr/>
            <p:nvPr/>
          </p:nvGrpSpPr>
          <p:grpSpPr>
            <a:xfrm>
              <a:off x="6746495" y="3841750"/>
              <a:ext cx="299200" cy="317501"/>
              <a:chOff x="6746495" y="3841750"/>
              <a:chExt cx="299200" cy="317501"/>
            </a:xfrm>
          </p:grpSpPr>
          <p:sp>
            <p:nvSpPr>
              <p:cNvPr id="21" name="Freeform 21"/>
              <p:cNvSpPr/>
              <p:nvPr/>
            </p:nvSpPr>
            <p:spPr>
              <a:xfrm>
                <a:off x="6848475" y="395287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31750">
                <a:solidFill>
                  <a:srgbClr val="1E8449"/>
                </a:solidFill>
              </a:ln>
            </p:spPr>
          </p:sp>
          <p:sp>
            <p:nvSpPr>
              <p:cNvPr id="22" name="Freeform 22"/>
              <p:cNvSpPr/>
              <p:nvPr/>
            </p:nvSpPr>
            <p:spPr>
              <a:xfrm>
                <a:off x="6746495" y="3841750"/>
                <a:ext cx="299200" cy="317501"/>
              </a:xfrm>
              <a:custGeom>
                <a:avLst/>
                <a:gdLst/>
                <a:ahLst/>
                <a:cxnLst/>
                <a:rect l="l" t="t" r="r" b="b"/>
                <a:pathLst>
                  <a:path w="299200" h="317501">
                    <a:moveTo>
                      <a:pt x="149605" y="0"/>
                    </a:moveTo>
                    <a:cubicBezTo>
                      <a:pt x="175908" y="0"/>
                      <a:pt x="197231" y="21322"/>
                      <a:pt x="197231" y="47625"/>
                    </a:cubicBezTo>
                    <a:cubicBezTo>
                      <a:pt x="197231" y="56547"/>
                      <a:pt x="193119" y="70517"/>
                      <a:pt x="184911" y="89535"/>
                    </a:cubicBezTo>
                    <a:lnTo>
                      <a:pt x="173418" y="111125"/>
                    </a:lnTo>
                    <a:lnTo>
                      <a:pt x="201358" y="81074"/>
                    </a:lnTo>
                    <a:cubicBezTo>
                      <a:pt x="209280" y="71549"/>
                      <a:pt x="215995" y="65199"/>
                      <a:pt x="221519" y="61944"/>
                    </a:cubicBezTo>
                    <a:cubicBezTo>
                      <a:pt x="232388" y="55634"/>
                      <a:pt x="245327" y="53927"/>
                      <a:pt x="257461" y="57203"/>
                    </a:cubicBezTo>
                    <a:cubicBezTo>
                      <a:pt x="269594" y="60479"/>
                      <a:pt x="279916" y="68467"/>
                      <a:pt x="286131" y="79391"/>
                    </a:cubicBezTo>
                    <a:cubicBezTo>
                      <a:pt x="299200" y="102150"/>
                      <a:pt x="291476" y="131189"/>
                      <a:pt x="268827" y="144447"/>
                    </a:cubicBezTo>
                    <a:cubicBezTo>
                      <a:pt x="262890" y="147892"/>
                      <a:pt x="253111" y="150733"/>
                      <a:pt x="239522" y="152940"/>
                    </a:cubicBezTo>
                    <a:lnTo>
                      <a:pt x="197231" y="158750"/>
                    </a:lnTo>
                    <a:lnTo>
                      <a:pt x="235331" y="163926"/>
                    </a:lnTo>
                    <a:cubicBezTo>
                      <a:pt x="251206" y="166227"/>
                      <a:pt x="262286" y="169275"/>
                      <a:pt x="268827" y="173070"/>
                    </a:cubicBezTo>
                    <a:cubicBezTo>
                      <a:pt x="291476" y="186328"/>
                      <a:pt x="299200" y="215367"/>
                      <a:pt x="286131" y="238125"/>
                    </a:cubicBezTo>
                    <a:cubicBezTo>
                      <a:pt x="279913" y="249046"/>
                      <a:pt x="269590" y="257031"/>
                      <a:pt x="257457" y="260304"/>
                    </a:cubicBezTo>
                    <a:cubicBezTo>
                      <a:pt x="245324" y="263578"/>
                      <a:pt x="232386" y="261868"/>
                      <a:pt x="221519" y="255556"/>
                    </a:cubicBezTo>
                    <a:cubicBezTo>
                      <a:pt x="215995" y="252350"/>
                      <a:pt x="209280" y="245968"/>
                      <a:pt x="201358" y="236427"/>
                    </a:cubicBezTo>
                    <a:lnTo>
                      <a:pt x="173418" y="206375"/>
                    </a:lnTo>
                    <a:lnTo>
                      <a:pt x="184911" y="227965"/>
                    </a:lnTo>
                    <a:cubicBezTo>
                      <a:pt x="193103" y="247000"/>
                      <a:pt x="197231" y="260970"/>
                      <a:pt x="197231" y="269876"/>
                    </a:cubicBezTo>
                    <a:cubicBezTo>
                      <a:pt x="197231" y="296178"/>
                      <a:pt x="175908" y="317501"/>
                      <a:pt x="149605" y="317501"/>
                    </a:cubicBezTo>
                    <a:cubicBezTo>
                      <a:pt x="123303" y="317501"/>
                      <a:pt x="101980" y="296178"/>
                      <a:pt x="101980" y="269876"/>
                    </a:cubicBezTo>
                    <a:cubicBezTo>
                      <a:pt x="101980" y="260954"/>
                      <a:pt x="106092" y="246984"/>
                      <a:pt x="114299" y="227965"/>
                    </a:cubicBezTo>
                    <a:lnTo>
                      <a:pt x="125793" y="206375"/>
                    </a:lnTo>
                    <a:lnTo>
                      <a:pt x="97853" y="236427"/>
                    </a:lnTo>
                    <a:cubicBezTo>
                      <a:pt x="89931" y="245968"/>
                      <a:pt x="83216" y="252302"/>
                      <a:pt x="77692" y="255556"/>
                    </a:cubicBezTo>
                    <a:cubicBezTo>
                      <a:pt x="66825" y="261868"/>
                      <a:pt x="53887" y="263578"/>
                      <a:pt x="41754" y="260304"/>
                    </a:cubicBezTo>
                    <a:cubicBezTo>
                      <a:pt x="29621" y="257031"/>
                      <a:pt x="19298" y="249046"/>
                      <a:pt x="13080" y="238125"/>
                    </a:cubicBezTo>
                    <a:cubicBezTo>
                      <a:pt x="11" y="215367"/>
                      <a:pt x="7735" y="186328"/>
                      <a:pt x="30384" y="173070"/>
                    </a:cubicBezTo>
                    <a:cubicBezTo>
                      <a:pt x="36321" y="169609"/>
                      <a:pt x="46100" y="166783"/>
                      <a:pt x="59689" y="164561"/>
                    </a:cubicBezTo>
                    <a:lnTo>
                      <a:pt x="101980" y="158750"/>
                    </a:lnTo>
                    <a:lnTo>
                      <a:pt x="63880" y="153591"/>
                    </a:lnTo>
                    <a:cubicBezTo>
                      <a:pt x="48005" y="151289"/>
                      <a:pt x="36924" y="148241"/>
                      <a:pt x="30384" y="144447"/>
                    </a:cubicBezTo>
                    <a:cubicBezTo>
                      <a:pt x="7725" y="131188"/>
                      <a:pt x="0" y="102137"/>
                      <a:pt x="13080" y="79375"/>
                    </a:cubicBezTo>
                    <a:cubicBezTo>
                      <a:pt x="19295" y="68452"/>
                      <a:pt x="29617" y="60464"/>
                      <a:pt x="41750" y="57187"/>
                    </a:cubicBezTo>
                    <a:cubicBezTo>
                      <a:pt x="53883" y="53911"/>
                      <a:pt x="66823" y="55618"/>
                      <a:pt x="77692" y="61928"/>
                    </a:cubicBezTo>
                    <a:cubicBezTo>
                      <a:pt x="83216" y="65151"/>
                      <a:pt x="89931" y="71517"/>
                      <a:pt x="97853" y="81058"/>
                    </a:cubicBezTo>
                    <a:lnTo>
                      <a:pt x="125793" y="111125"/>
                    </a:lnTo>
                    <a:cubicBezTo>
                      <a:pt x="109918" y="74740"/>
                      <a:pt x="101980" y="53578"/>
                      <a:pt x="101980" y="47625"/>
                    </a:cubicBezTo>
                    <a:cubicBezTo>
                      <a:pt x="101980" y="21322"/>
                      <a:pt x="123303" y="0"/>
                      <a:pt x="149605" y="0"/>
                    </a:cubicBezTo>
                  </a:path>
                </a:pathLst>
              </a:custGeom>
              <a:noFill/>
              <a:ln w="31750">
                <a:solidFill>
                  <a:srgbClr val="1E8449"/>
                </a:solidFill>
              </a:ln>
            </p:spPr>
          </p:sp>
        </p:grpSp>
        <p:sp>
          <p:nvSpPr>
            <p:cNvPr id="24" name="TextBox 24"/>
            <p:cNvSpPr txBox="1"/>
            <p:nvPr/>
          </p:nvSpPr>
          <p:spPr>
            <a:xfrm>
              <a:off x="7191756" y="3886200"/>
              <a:ext cx="1285646" cy="352044"/>
            </a:xfrm>
            <a:prstGeom prst="rect">
              <a:avLst/>
            </a:prstGeom>
            <a:noFill/>
            <a:ln>
              <a:noFill/>
            </a:ln>
          </p:spPr>
          <p:txBody>
            <a:bodyPr wrap="none" lIns="0" tIns="0" rIns="0" bIns="0" anchor="t" anchorCtr="0">
              <a:spAutoFit/>
            </a:bodyPr>
            <a:lstStyle/>
            <a:p>
              <a:pPr algn="l"/>
              <a:r>
                <a:rPr lang="ru" sz="1800" b="1" dirty="0">
                  <a:solidFill>
                    <a:srgbClr val="1E8449"/>
                  </a:solidFill>
                  <a:latin typeface="+mn-lt"/>
                  <a:ea typeface="+mn-ea"/>
                  <a:cs typeface="+mn-cs"/>
                </a:rPr>
                <a:t>Эвдемония</a:t>
              </a:r>
            </a:p>
          </p:txBody>
        </p:sp>
        <p:sp>
          <p:nvSpPr>
            <p:cNvPr id="25" name="TextBox 25"/>
            <p:cNvSpPr txBox="1"/>
            <p:nvPr/>
          </p:nvSpPr>
          <p:spPr>
            <a:xfrm>
              <a:off x="6696456" y="4362450"/>
              <a:ext cx="2418573"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смысл и добродетели</a:t>
              </a:r>
            </a:p>
          </p:txBody>
        </p:sp>
        <p:sp>
          <p:nvSpPr>
            <p:cNvPr id="26" name="TextBox 26"/>
            <p:cNvSpPr txBox="1"/>
            <p:nvPr/>
          </p:nvSpPr>
          <p:spPr>
            <a:xfrm>
              <a:off x="6696456" y="4686300"/>
              <a:ext cx="3618038"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даёт глубокое удовлетворение</a:t>
              </a:r>
            </a:p>
          </p:txBody>
        </p:sp>
      </p:grpSp>
      <p:grpSp>
        <p:nvGrpSpPr>
          <p:cNvPr id="36" name="p08-scale"/>
          <p:cNvGrpSpPr/>
          <p:nvPr/>
        </p:nvGrpSpPr>
        <p:grpSpPr>
          <a:xfrm>
            <a:off x="762000" y="5524500"/>
            <a:ext cx="10668000" cy="762000"/>
            <a:chOff x="762000" y="5524500"/>
            <a:chExt cx="10668000" cy="762000"/>
          </a:xfrm>
        </p:grpSpPr>
        <p:sp>
          <p:nvSpPr>
            <p:cNvPr id="28" name="Rectangle 28"/>
            <p:cNvSpPr/>
            <p:nvPr/>
          </p:nvSpPr>
          <p:spPr>
            <a:xfrm>
              <a:off x="762000" y="5524500"/>
              <a:ext cx="10668000" cy="762000"/>
            </a:xfrm>
            <a:prstGeom prst="roundRect">
              <a:avLst>
                <a:gd name="adj" fmla="val 17500"/>
              </a:avLst>
            </a:prstGeom>
            <a:solidFill>
              <a:srgbClr val="FFFFFF">
                <a:alpha val="85000"/>
              </a:srgbClr>
            </a:solidFill>
            <a:ln>
              <a:noFill/>
            </a:ln>
          </p:spPr>
        </p:sp>
        <p:grpSp>
          <p:nvGrpSpPr>
            <p:cNvPr id="34" name="Group 34"/>
            <p:cNvGrpSpPr/>
            <p:nvPr/>
          </p:nvGrpSpPr>
          <p:grpSpPr>
            <a:xfrm>
              <a:off x="1042987" y="5748337"/>
              <a:ext cx="314325" cy="306387"/>
              <a:chOff x="1042987" y="5748337"/>
              <a:chExt cx="314325" cy="306387"/>
            </a:xfrm>
          </p:grpSpPr>
          <p:sp>
            <p:nvSpPr>
              <p:cNvPr id="29" name="Freeform 29"/>
              <p:cNvSpPr/>
              <p:nvPr/>
            </p:nvSpPr>
            <p:spPr>
              <a:xfrm>
                <a:off x="1112837" y="6045199"/>
                <a:ext cx="174625" cy="9525"/>
              </a:xfrm>
              <a:custGeom>
                <a:avLst/>
                <a:gdLst/>
                <a:ahLst/>
                <a:cxnLst/>
                <a:rect l="l" t="t" r="r" b="b"/>
                <a:pathLst>
                  <a:path w="174625" h="9525">
                    <a:moveTo>
                      <a:pt x="0" y="0"/>
                    </a:moveTo>
                    <a:lnTo>
                      <a:pt x="174625" y="0"/>
                    </a:lnTo>
                  </a:path>
                </a:pathLst>
              </a:custGeom>
              <a:noFill/>
              <a:ln w="34925">
                <a:solidFill>
                  <a:schemeClr val="accent1"/>
                </a:solidFill>
              </a:ln>
            </p:spPr>
          </p:sp>
          <p:sp>
            <p:nvSpPr>
              <p:cNvPr id="30" name="Freeform 30"/>
              <p:cNvSpPr/>
              <p:nvPr/>
            </p:nvSpPr>
            <p:spPr>
              <a:xfrm>
                <a:off x="1095375" y="5783262"/>
                <a:ext cx="209550" cy="17462"/>
              </a:xfrm>
              <a:custGeom>
                <a:avLst/>
                <a:gdLst/>
                <a:ahLst/>
                <a:cxnLst/>
                <a:rect l="l" t="t" r="r" b="b"/>
                <a:pathLst>
                  <a:path w="209550" h="17462">
                    <a:moveTo>
                      <a:pt x="0" y="17462"/>
                    </a:moveTo>
                    <a:lnTo>
                      <a:pt x="104775" y="0"/>
                    </a:lnTo>
                    <a:lnTo>
                      <a:pt x="209550" y="17462"/>
                    </a:lnTo>
                  </a:path>
                </a:pathLst>
              </a:custGeom>
              <a:noFill/>
              <a:ln w="34925">
                <a:solidFill>
                  <a:schemeClr val="accent1"/>
                </a:solidFill>
              </a:ln>
            </p:spPr>
          </p:sp>
          <p:sp>
            <p:nvSpPr>
              <p:cNvPr id="31" name="Freeform 31"/>
              <p:cNvSpPr/>
              <p:nvPr/>
            </p:nvSpPr>
            <p:spPr>
              <a:xfrm>
                <a:off x="1200150" y="5748337"/>
                <a:ext cx="9525" cy="296862"/>
              </a:xfrm>
              <a:custGeom>
                <a:avLst/>
                <a:gdLst/>
                <a:ahLst/>
                <a:cxnLst/>
                <a:rect l="l" t="t" r="r" b="b"/>
                <a:pathLst>
                  <a:path w="9525" h="296862">
                    <a:moveTo>
                      <a:pt x="0" y="0"/>
                    </a:moveTo>
                    <a:lnTo>
                      <a:pt x="0" y="296862"/>
                    </a:lnTo>
                  </a:path>
                </a:pathLst>
              </a:custGeom>
              <a:noFill/>
              <a:ln w="34925">
                <a:solidFill>
                  <a:schemeClr val="accent1"/>
                </a:solidFill>
              </a:ln>
            </p:spPr>
          </p:sp>
          <p:sp>
            <p:nvSpPr>
              <p:cNvPr id="32" name="Freeform 32"/>
              <p:cNvSpPr/>
              <p:nvPr/>
            </p:nvSpPr>
            <p:spPr>
              <a:xfrm>
                <a:off x="1042987" y="5800725"/>
                <a:ext cx="104775" cy="157162"/>
              </a:xfrm>
              <a:custGeom>
                <a:avLst/>
                <a:gdLst/>
                <a:ahLst/>
                <a:cxnLst/>
                <a:rect l="l" t="t" r="r" b="b"/>
                <a:pathLst>
                  <a:path w="104775" h="157162">
                    <a:moveTo>
                      <a:pt x="104775" y="104775"/>
                    </a:moveTo>
                    <a:lnTo>
                      <a:pt x="52387" y="0"/>
                    </a:lnTo>
                    <a:lnTo>
                      <a:pt x="0" y="104775"/>
                    </a:lnTo>
                    <a:cubicBezTo>
                      <a:pt x="0" y="133708"/>
                      <a:pt x="23455" y="157162"/>
                      <a:pt x="52387" y="157162"/>
                    </a:cubicBezTo>
                    <a:cubicBezTo>
                      <a:pt x="81320" y="157162"/>
                      <a:pt x="104775" y="133708"/>
                      <a:pt x="104775" y="104775"/>
                    </a:cubicBezTo>
                  </a:path>
                </a:pathLst>
              </a:custGeom>
              <a:noFill/>
              <a:ln w="34925">
                <a:solidFill>
                  <a:schemeClr val="accent1"/>
                </a:solidFill>
              </a:ln>
            </p:spPr>
          </p:sp>
          <p:sp>
            <p:nvSpPr>
              <p:cNvPr id="33" name="Freeform 33"/>
              <p:cNvSpPr/>
              <p:nvPr/>
            </p:nvSpPr>
            <p:spPr>
              <a:xfrm>
                <a:off x="1252537" y="5800725"/>
                <a:ext cx="104775" cy="157162"/>
              </a:xfrm>
              <a:custGeom>
                <a:avLst/>
                <a:gdLst/>
                <a:ahLst/>
                <a:cxnLst/>
                <a:rect l="l" t="t" r="r" b="b"/>
                <a:pathLst>
                  <a:path w="104775" h="157162">
                    <a:moveTo>
                      <a:pt x="104775" y="104775"/>
                    </a:moveTo>
                    <a:lnTo>
                      <a:pt x="52387" y="0"/>
                    </a:lnTo>
                    <a:lnTo>
                      <a:pt x="0" y="104775"/>
                    </a:lnTo>
                    <a:cubicBezTo>
                      <a:pt x="0" y="133708"/>
                      <a:pt x="23455" y="157162"/>
                      <a:pt x="52387" y="157162"/>
                    </a:cubicBezTo>
                    <a:cubicBezTo>
                      <a:pt x="81320" y="157162"/>
                      <a:pt x="104775" y="133708"/>
                      <a:pt x="104775" y="104775"/>
                    </a:cubicBezTo>
                  </a:path>
                </a:pathLst>
              </a:custGeom>
              <a:noFill/>
              <a:ln w="34925">
                <a:solidFill>
                  <a:schemeClr val="accent1"/>
                </a:solidFill>
              </a:ln>
            </p:spPr>
          </p:sp>
        </p:grpSp>
        <p:sp>
          <p:nvSpPr>
            <p:cNvPr id="35" name="TextBox 35"/>
            <p:cNvSpPr txBox="1"/>
            <p:nvPr/>
          </p:nvSpPr>
          <p:spPr>
            <a:xfrm>
              <a:off x="1552956" y="5772150"/>
              <a:ext cx="584074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Ньюфелд: «Счастье находится по ту сторону слёз»</a:t>
              </a:r>
            </a:p>
          </p:txBody>
        </p:sp>
      </p:grpSp>
      <p:sp>
        <p:nvSpPr>
          <p:cNvPr id="37" name="credit"/>
          <p:cNvSpPr txBox="1"/>
          <p:nvPr/>
        </p:nvSpPr>
        <p:spPr>
          <a:xfrm>
            <a:off x="755904" y="6572250"/>
            <a:ext cx="8517344" cy="234696"/>
          </a:xfrm>
          <a:prstGeom prst="rect">
            <a:avLst/>
          </a:prstGeom>
          <a:noFill/>
          <a:ln>
            <a:noFill/>
          </a:ln>
        </p:spPr>
        <p:txBody>
          <a:bodyPr wrap="none" lIns="0" tIns="0" rIns="0" bIns="0" anchor="t" anchorCtr="0">
            <a:spAutoFit/>
          </a:bodyPr>
          <a:lstStyle/>
          <a:p>
            <a:pPr algn="l"/>
            <a:r>
              <a:rPr lang="ru" sz="1200" dirty="0">
                <a:solidFill>
                  <a:srgbClr val="7F8C8D"/>
                </a:solidFill>
                <a:latin typeface="+mn-lt"/>
                <a:ea typeface="+mn-ea"/>
                <a:cs typeface="+mn-cs"/>
              </a:rPr>
              <a:t>© PattayaPatrol / Wikimedia / CC BY-SA 4.0; © Shixart1985 / Wikimedia / CC BY 2.0; фото помощи — Public Domain</a:t>
            </a:r>
          </a:p>
        </p:txBody>
      </p:sp>
      <p:pic>
        <p:nvPicPr>
          <p:cNvPr id="38" name="PPT Master narration: narration8.mp3">
            <a:hlinkClick r:id="" action="ppaction://media"/>
          </p:cNvPr>
          <p:cNvPicPr>
            <a:picLocks noChangeAspect="1"/>
          </p:cNvPicPr>
          <p:nvPr>
            <a:audioFile r:link="rId7"/>
            <p:extLst>
              <p:ext uri="{DAA4B4D4-6D71-4841-9C94-3DE7FCFB9230}">
                <p14:media r:embed="rId6"/>
              </p:ext>
            </p:extLst>
          </p:nvPr>
        </p:nvPicPr>
        <p:blipFill>
          <a:blip r:embed="rId8"/>
          <a:stretch>
            <a:fillRect/>
          </a:stretch>
        </p:blipFill>
        <p:spPr>
          <a:xfrm>
            <a:off x="-457200" y="-457200"/>
            <a:ext cx="457200" cy="457200"/>
          </a:xfrm>
          <a:prstGeom prst="rect">
            <a:avLst/>
          </a:prstGeom>
        </p:spPr>
      </p:pic>
    </p:spTree>
  </p:cSld>
  <p:clrMapOvr>
    <a:masterClrMapping/>
  </p:clrMapOvr>
  <p:transition p14:dur="500" advClick="0" advTm="3416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38"/>
                </p:tgtEl>
              </p:cMediaNode>
            </p:audio>
          </p:childTnLst>
        </p:cTn>
      </p:par>
    </p:tnLst>
  </p:timing>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09-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09-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09-accent"/>
          <p:cNvSpPr/>
          <p:nvPr/>
        </p:nvSpPr>
        <p:spPr>
          <a:xfrm>
            <a:off x="0" y="0"/>
            <a:ext cx="12192000" cy="57150"/>
          </a:xfrm>
          <a:prstGeom prst="rect">
            <a:avLst/>
          </a:prstGeom>
          <a:solidFill>
            <a:srgbClr val="27AE60"/>
          </a:solidFill>
          <a:ln>
            <a:noFill/>
          </a:ln>
        </p:spPr>
      </p:sp>
      <p:sp>
        <p:nvSpPr>
          <p:cNvPr id="5" name="p09-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09-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09</a:t>
            </a:r>
          </a:p>
        </p:txBody>
      </p:sp>
      <p:grpSp>
        <p:nvGrpSpPr>
          <p:cNvPr id="8" name="p09-title"/>
          <p:cNvGrpSpPr/>
          <p:nvPr/>
        </p:nvGrpSpPr>
        <p:grpSpPr>
          <a:xfrm>
            <a:off x="743712" y="565150"/>
            <a:ext cx="6615451" cy="704088"/>
            <a:chOff x="743712" y="565150"/>
            <a:chExt cx="6615451" cy="704088"/>
          </a:xfrm>
        </p:grpSpPr>
        <p:sp>
          <p:nvSpPr>
            <p:cNvPr id="7" name="TextBox 7"/>
            <p:cNvSpPr txBox="1"/>
            <p:nvPr/>
          </p:nvSpPr>
          <p:spPr>
            <a:xfrm>
              <a:off x="743712" y="565150"/>
              <a:ext cx="6615451"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Счастье = 50% + 40% + 10%</a:t>
              </a:r>
            </a:p>
          </p:txBody>
        </p:sp>
      </p:grpSp>
      <p:grpSp>
        <p:nvGrpSpPr>
          <p:cNvPr id="15" name="p09-pie"/>
          <p:cNvGrpSpPr/>
          <p:nvPr/>
        </p:nvGrpSpPr>
        <p:grpSpPr>
          <a:xfrm>
            <a:off x="1592120" y="2285804"/>
            <a:ext cx="2979880" cy="2858099"/>
            <a:chOff x="1592120" y="2285804"/>
            <a:chExt cx="2979880" cy="2858099"/>
          </a:xfrm>
        </p:grpSpPr>
        <p:sp>
          <p:nvSpPr>
            <p:cNvPr id="9" name="Freeform 9"/>
            <p:cNvSpPr/>
            <p:nvPr/>
          </p:nvSpPr>
          <p:spPr>
            <a:xfrm>
              <a:off x="3143250" y="2286000"/>
              <a:ext cx="1428750" cy="2857500"/>
            </a:xfrm>
            <a:custGeom>
              <a:avLst/>
              <a:gdLst/>
              <a:ahLst/>
              <a:cxnLst/>
              <a:rect l="l" t="t" r="r" b="b"/>
              <a:pathLst>
                <a:path w="1428750" h="2857500">
                  <a:moveTo>
                    <a:pt x="0" y="1428750"/>
                  </a:moveTo>
                  <a:lnTo>
                    <a:pt x="0" y="0"/>
                  </a:lnTo>
                  <a:cubicBezTo>
                    <a:pt x="789077" y="0"/>
                    <a:pt x="1428750" y="639673"/>
                    <a:pt x="1428750" y="1428750"/>
                  </a:cubicBezTo>
                  <a:cubicBezTo>
                    <a:pt x="1428750" y="2217827"/>
                    <a:pt x="789077" y="2857500"/>
                    <a:pt x="0" y="2857500"/>
                  </a:cubicBezTo>
                  <a:close/>
                </a:path>
              </a:pathLst>
            </a:custGeom>
            <a:solidFill>
              <a:schemeClr val="accent1"/>
            </a:solidFill>
            <a:ln>
              <a:noFill/>
            </a:ln>
          </p:spPr>
        </p:sp>
        <p:sp>
          <p:nvSpPr>
            <p:cNvPr id="10" name="Freeform 10"/>
            <p:cNvSpPr/>
            <p:nvPr/>
          </p:nvSpPr>
          <p:spPr>
            <a:xfrm>
              <a:off x="1592120" y="2558415"/>
              <a:ext cx="1551130" cy="2585488"/>
            </a:xfrm>
            <a:custGeom>
              <a:avLst/>
              <a:gdLst/>
              <a:ahLst/>
              <a:cxnLst/>
              <a:rect l="l" t="t" r="r" b="b"/>
              <a:pathLst>
                <a:path w="1551130" h="2585488">
                  <a:moveTo>
                    <a:pt x="1551130" y="1156335"/>
                  </a:moveTo>
                  <a:lnTo>
                    <a:pt x="1551130" y="2585085"/>
                  </a:lnTo>
                  <a:cubicBezTo>
                    <a:pt x="931845" y="2585488"/>
                    <a:pt x="382805" y="2186884"/>
                    <a:pt x="191403" y="1597919"/>
                  </a:cubicBezTo>
                  <a:cubicBezTo>
                    <a:pt x="0" y="1008955"/>
                    <a:pt x="209816" y="363737"/>
                    <a:pt x="711025" y="0"/>
                  </a:cubicBezTo>
                  <a:close/>
                </a:path>
              </a:pathLst>
            </a:custGeom>
            <a:solidFill>
              <a:srgbClr val="27AE60"/>
            </a:solidFill>
            <a:ln>
              <a:noFill/>
            </a:ln>
          </p:spPr>
        </p:sp>
        <p:sp>
          <p:nvSpPr>
            <p:cNvPr id="11" name="Freeform 11"/>
            <p:cNvSpPr/>
            <p:nvPr/>
          </p:nvSpPr>
          <p:spPr>
            <a:xfrm>
              <a:off x="2303145" y="2285804"/>
              <a:ext cx="840105" cy="1428946"/>
            </a:xfrm>
            <a:custGeom>
              <a:avLst/>
              <a:gdLst/>
              <a:ahLst/>
              <a:cxnLst/>
              <a:rect l="l" t="t" r="r" b="b"/>
              <a:pathLst>
                <a:path w="840105" h="1428946">
                  <a:moveTo>
                    <a:pt x="840105" y="1428946"/>
                  </a:moveTo>
                  <a:lnTo>
                    <a:pt x="0" y="272611"/>
                  </a:lnTo>
                  <a:cubicBezTo>
                    <a:pt x="244238" y="95362"/>
                    <a:pt x="538328" y="0"/>
                    <a:pt x="840105" y="196"/>
                  </a:cubicBezTo>
                  <a:close/>
                </a:path>
              </a:pathLst>
            </a:custGeom>
            <a:solidFill>
              <a:srgbClr val="95A5A6"/>
            </a:solidFill>
            <a:ln>
              <a:noFill/>
            </a:ln>
          </p:spPr>
        </p:sp>
        <p:sp>
          <p:nvSpPr>
            <p:cNvPr id="12" name="Ellipse 12"/>
            <p:cNvSpPr/>
            <p:nvPr/>
          </p:nvSpPr>
          <p:spPr>
            <a:xfrm>
              <a:off x="2457450" y="3028950"/>
              <a:ext cx="1371600" cy="1371600"/>
            </a:xfrm>
            <a:prstGeom prst="ellipse">
              <a:avLst/>
            </a:prstGeom>
            <a:solidFill>
              <a:srgbClr val="FFFFFF"/>
            </a:solidFill>
            <a:ln>
              <a:noFill/>
            </a:ln>
          </p:spPr>
        </p:sp>
        <p:sp>
          <p:nvSpPr>
            <p:cNvPr id="13" name="TextBox 13"/>
            <p:cNvSpPr txBox="1"/>
            <p:nvPr/>
          </p:nvSpPr>
          <p:spPr>
            <a:xfrm>
              <a:off x="2400728" y="3409950"/>
              <a:ext cx="1485044" cy="352044"/>
            </a:xfrm>
            <a:prstGeom prst="rect">
              <a:avLst/>
            </a:prstGeom>
            <a:noFill/>
            <a:ln>
              <a:noFill/>
            </a:ln>
          </p:spPr>
          <p:txBody>
            <a:bodyPr wrap="none" lIns="0" tIns="0" rIns="0" bIns="0" anchor="t" anchorCtr="0">
              <a:spAutoFit/>
            </a:bodyPr>
            <a:lstStyle/>
            <a:p>
              <a:pPr algn="ctr"/>
              <a:r>
                <a:rPr lang="ru" sz="1800" b="1" dirty="0">
                  <a:solidFill>
                    <a:schemeClr val="accent1"/>
                  </a:solidFill>
                  <a:latin typeface="+mn-lt"/>
                  <a:ea typeface="+mn-ea"/>
                  <a:cs typeface="+mn-cs"/>
                </a:rPr>
                <a:t>С = Н + В + О</a:t>
              </a:r>
            </a:p>
          </p:txBody>
        </p:sp>
        <p:sp>
          <p:nvSpPr>
            <p:cNvPr id="14" name="TextBox 14"/>
            <p:cNvSpPr txBox="1"/>
            <p:nvPr/>
          </p:nvSpPr>
          <p:spPr>
            <a:xfrm>
              <a:off x="2167532" y="3733800"/>
              <a:ext cx="1951437" cy="352044"/>
            </a:xfrm>
            <a:prstGeom prst="rect">
              <a:avLst/>
            </a:prstGeom>
            <a:noFill/>
            <a:ln>
              <a:noFill/>
            </a:ln>
          </p:spPr>
          <p:txBody>
            <a:bodyPr wrap="none" lIns="0" tIns="0" rIns="0" bIns="0" anchor="t" anchorCtr="0">
              <a:spAutoFit/>
            </a:bodyPr>
            <a:lstStyle/>
            <a:p>
              <a:pPr algn="ctr"/>
              <a:r>
                <a:rPr lang="ru" sz="1800" dirty="0">
                  <a:solidFill>
                    <a:srgbClr val="5D6D7E"/>
                  </a:solidFill>
                  <a:latin typeface="+mn-lt"/>
                  <a:ea typeface="+mn-ea"/>
                  <a:cs typeface="+mn-cs"/>
                </a:rPr>
                <a:t>формула счастья</a:t>
              </a:r>
            </a:p>
          </p:txBody>
        </p:sp>
      </p:grpSp>
      <p:grpSp>
        <p:nvGrpSpPr>
          <p:cNvPr id="28" name="p09-legend"/>
          <p:cNvGrpSpPr/>
          <p:nvPr/>
        </p:nvGrpSpPr>
        <p:grpSpPr>
          <a:xfrm>
            <a:off x="5715000" y="1905000"/>
            <a:ext cx="5715000" cy="3524250"/>
            <a:chOff x="5715000" y="1905000"/>
            <a:chExt cx="5715000" cy="3524250"/>
          </a:xfrm>
        </p:grpSpPr>
        <p:sp>
          <p:nvSpPr>
            <p:cNvPr id="16" name="Rectangle 16"/>
            <p:cNvSpPr/>
            <p:nvPr/>
          </p:nvSpPr>
          <p:spPr>
            <a:xfrm>
              <a:off x="5715000" y="1905000"/>
              <a:ext cx="5715000" cy="1047750"/>
            </a:xfrm>
            <a:prstGeom prst="roundRect">
              <a:avLst>
                <a:gd name="adj" fmla="val 12727"/>
              </a:avLst>
            </a:prstGeom>
            <a:solidFill>
              <a:srgbClr val="FFFFFF">
                <a:alpha val="85000"/>
              </a:srgbClr>
            </a:solidFill>
            <a:ln>
              <a:noFill/>
            </a:ln>
          </p:spPr>
        </p:sp>
        <p:sp>
          <p:nvSpPr>
            <p:cNvPr id="17" name="Rectangle 17"/>
            <p:cNvSpPr/>
            <p:nvPr/>
          </p:nvSpPr>
          <p:spPr>
            <a:xfrm>
              <a:off x="5981700" y="2209800"/>
              <a:ext cx="247650" cy="247650"/>
            </a:xfrm>
            <a:prstGeom prst="rect">
              <a:avLst/>
            </a:prstGeom>
            <a:solidFill>
              <a:schemeClr val="accent1"/>
            </a:solidFill>
            <a:ln>
              <a:noFill/>
            </a:ln>
          </p:spPr>
        </p:sp>
        <p:sp>
          <p:nvSpPr>
            <p:cNvPr id="18" name="TextBox 18"/>
            <p:cNvSpPr txBox="1"/>
            <p:nvPr/>
          </p:nvSpPr>
          <p:spPr>
            <a:xfrm>
              <a:off x="6391656" y="2190750"/>
              <a:ext cx="1999754"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50% — генетика</a:t>
              </a:r>
            </a:p>
          </p:txBody>
        </p:sp>
        <p:sp>
          <p:nvSpPr>
            <p:cNvPr id="19" name="TextBox 19"/>
            <p:cNvSpPr txBox="1"/>
            <p:nvPr/>
          </p:nvSpPr>
          <p:spPr>
            <a:xfrm>
              <a:off x="6391656" y="2495550"/>
              <a:ext cx="448363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наследственная предрасположенность</a:t>
              </a:r>
            </a:p>
          </p:txBody>
        </p:sp>
        <p:sp>
          <p:nvSpPr>
            <p:cNvPr id="20" name="Rectangle 20"/>
            <p:cNvSpPr/>
            <p:nvPr/>
          </p:nvSpPr>
          <p:spPr>
            <a:xfrm>
              <a:off x="5715000" y="3143250"/>
              <a:ext cx="5715000" cy="1047750"/>
            </a:xfrm>
            <a:prstGeom prst="roundRect">
              <a:avLst>
                <a:gd name="adj" fmla="val 12727"/>
              </a:avLst>
            </a:prstGeom>
            <a:solidFill>
              <a:srgbClr val="FFFFFF">
                <a:alpha val="85000"/>
              </a:srgbClr>
            </a:solidFill>
            <a:ln>
              <a:noFill/>
            </a:ln>
          </p:spPr>
        </p:sp>
        <p:sp>
          <p:nvSpPr>
            <p:cNvPr id="21" name="Rectangle 21"/>
            <p:cNvSpPr/>
            <p:nvPr/>
          </p:nvSpPr>
          <p:spPr>
            <a:xfrm>
              <a:off x="5981700" y="3448050"/>
              <a:ext cx="247650" cy="247650"/>
            </a:xfrm>
            <a:prstGeom prst="rect">
              <a:avLst/>
            </a:prstGeom>
            <a:solidFill>
              <a:srgbClr val="27AE60"/>
            </a:solidFill>
            <a:ln>
              <a:noFill/>
            </a:ln>
          </p:spPr>
        </p:sp>
        <p:sp>
          <p:nvSpPr>
            <p:cNvPr id="22" name="TextBox 22"/>
            <p:cNvSpPr txBox="1"/>
            <p:nvPr/>
          </p:nvSpPr>
          <p:spPr>
            <a:xfrm>
              <a:off x="6391656" y="3429000"/>
              <a:ext cx="3046632" cy="352044"/>
            </a:xfrm>
            <a:prstGeom prst="rect">
              <a:avLst/>
            </a:prstGeom>
            <a:noFill/>
            <a:ln>
              <a:noFill/>
            </a:ln>
          </p:spPr>
          <p:txBody>
            <a:bodyPr wrap="none" lIns="0" tIns="0" rIns="0" bIns="0" anchor="t" anchorCtr="0">
              <a:spAutoFit/>
            </a:bodyPr>
            <a:lstStyle/>
            <a:p>
              <a:pPr algn="l"/>
              <a:r>
                <a:rPr lang="ru" sz="1800" b="1" dirty="0">
                  <a:solidFill>
                    <a:srgbClr val="1E8449"/>
                  </a:solidFill>
                  <a:latin typeface="+mn-lt"/>
                  <a:ea typeface="+mn-ea"/>
                  <a:cs typeface="+mn-cs"/>
                </a:rPr>
                <a:t>40% — волевой контроль</a:t>
              </a:r>
            </a:p>
          </p:txBody>
        </p:sp>
        <p:sp>
          <p:nvSpPr>
            <p:cNvPr id="23" name="TextBox 23"/>
            <p:cNvSpPr txBox="1"/>
            <p:nvPr/>
          </p:nvSpPr>
          <p:spPr>
            <a:xfrm>
              <a:off x="6391656" y="3733800"/>
              <a:ext cx="248453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намеренные действия</a:t>
              </a:r>
            </a:p>
          </p:txBody>
        </p:sp>
        <p:sp>
          <p:nvSpPr>
            <p:cNvPr id="24" name="Rectangle 24"/>
            <p:cNvSpPr/>
            <p:nvPr/>
          </p:nvSpPr>
          <p:spPr>
            <a:xfrm>
              <a:off x="5715000" y="4381500"/>
              <a:ext cx="5715000" cy="1047750"/>
            </a:xfrm>
            <a:prstGeom prst="roundRect">
              <a:avLst>
                <a:gd name="adj" fmla="val 12727"/>
              </a:avLst>
            </a:prstGeom>
            <a:solidFill>
              <a:srgbClr val="FFFFFF">
                <a:alpha val="85000"/>
              </a:srgbClr>
            </a:solidFill>
            <a:ln>
              <a:noFill/>
            </a:ln>
          </p:spPr>
        </p:sp>
        <p:sp>
          <p:nvSpPr>
            <p:cNvPr id="25" name="Rectangle 25"/>
            <p:cNvSpPr/>
            <p:nvPr/>
          </p:nvSpPr>
          <p:spPr>
            <a:xfrm>
              <a:off x="5981700" y="4686300"/>
              <a:ext cx="247650" cy="247650"/>
            </a:xfrm>
            <a:prstGeom prst="rect">
              <a:avLst/>
            </a:prstGeom>
            <a:solidFill>
              <a:srgbClr val="95A5A6"/>
            </a:solidFill>
            <a:ln>
              <a:noFill/>
            </a:ln>
          </p:spPr>
        </p:sp>
        <p:sp>
          <p:nvSpPr>
            <p:cNvPr id="26" name="TextBox 26"/>
            <p:cNvSpPr txBox="1"/>
            <p:nvPr/>
          </p:nvSpPr>
          <p:spPr>
            <a:xfrm>
              <a:off x="6391656" y="4667250"/>
              <a:ext cx="2839379" cy="352044"/>
            </a:xfrm>
            <a:prstGeom prst="rect">
              <a:avLst/>
            </a:prstGeom>
            <a:noFill/>
            <a:ln>
              <a:noFill/>
            </a:ln>
          </p:spPr>
          <p:txBody>
            <a:bodyPr wrap="none" lIns="0" tIns="0" rIns="0" bIns="0" anchor="t" anchorCtr="0">
              <a:spAutoFit/>
            </a:bodyPr>
            <a:lstStyle/>
            <a:p>
              <a:pPr algn="l"/>
              <a:r>
                <a:rPr lang="ru" sz="1800" b="1" dirty="0">
                  <a:solidFill>
                    <a:srgbClr val="5D6D7E"/>
                  </a:solidFill>
                  <a:latin typeface="+mn-lt"/>
                  <a:ea typeface="+mn-ea"/>
                  <a:cs typeface="+mn-cs"/>
                </a:rPr>
                <a:t>10% — обстоятельства</a:t>
              </a:r>
            </a:p>
          </p:txBody>
        </p:sp>
        <p:sp>
          <p:nvSpPr>
            <p:cNvPr id="27" name="TextBox 27"/>
            <p:cNvSpPr txBox="1"/>
            <p:nvPr/>
          </p:nvSpPr>
          <p:spPr>
            <a:xfrm>
              <a:off x="6391656" y="4972050"/>
              <a:ext cx="268512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внешние условия жизни</a:t>
              </a:r>
            </a:p>
          </p:txBody>
        </p:sp>
      </p:grpSp>
      <p:grpSp>
        <p:nvGrpSpPr>
          <p:cNvPr id="30" name="p09-note"/>
          <p:cNvGrpSpPr/>
          <p:nvPr/>
        </p:nvGrpSpPr>
        <p:grpSpPr>
          <a:xfrm>
            <a:off x="1133856" y="6057900"/>
            <a:ext cx="9655090" cy="352044"/>
            <a:chOff x="1133856" y="6057900"/>
            <a:chExt cx="9655090" cy="352044"/>
          </a:xfrm>
        </p:grpSpPr>
        <p:sp>
          <p:nvSpPr>
            <p:cNvPr id="29" name="TextBox 29"/>
            <p:cNvSpPr txBox="1"/>
            <p:nvPr/>
          </p:nvSpPr>
          <p:spPr>
            <a:xfrm>
              <a:off x="1133856" y="6057900"/>
              <a:ext cx="9655090"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Критика: Эренрейх, Стивенсон и Вольферс напоминают о роли дохода и неравенства</a:t>
              </a:r>
            </a:p>
          </p:txBody>
        </p:sp>
      </p:grpSp>
      <p:pic>
        <p:nvPicPr>
          <p:cNvPr id="31" name="PPT Master narration: narration9.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3922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31"/>
                </p:tgtEl>
              </p:cMediaNode>
            </p:audio>
          </p:childTnLst>
        </p:cTn>
      </p:par>
    </p:tnLst>
  </p:timing>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10-photo"/>
          <p:cNvPicPr>
            <a:picLocks noChangeAspect="1"/>
          </p:cNvPicPr>
          <p:nvPr/>
        </p:nvPicPr>
        <p:blipFill>
          <a:blip r:embed="rId2"/>
          <a:srcRect l="0" t="21398" r="0" b="21398"/>
          <a:stretch>
            <a:fillRect/>
          </a:stretch>
        </p:blipFill>
        <p:spPr>
          <a:xfrm>
            <a:off x="0" y="0"/>
            <a:ext cx="12192000" cy="6858000"/>
          </a:xfrm>
          <a:prstGeom prst="rect">
            <a:avLst/>
          </a:prstGeom>
        </p:spPr>
      </p:pic>
      <p:sp>
        <p:nvSpPr>
          <p:cNvPr id="3" name="p10-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10-accent"/>
          <p:cNvSpPr/>
          <p:nvPr/>
        </p:nvSpPr>
        <p:spPr>
          <a:xfrm>
            <a:off x="0" y="0"/>
            <a:ext cx="12192000" cy="57150"/>
          </a:xfrm>
          <a:prstGeom prst="rect">
            <a:avLst/>
          </a:prstGeom>
          <a:solidFill>
            <a:srgbClr val="27AE60"/>
          </a:solidFill>
          <a:ln>
            <a:noFill/>
          </a:ln>
        </p:spPr>
      </p:sp>
      <p:sp>
        <p:nvSpPr>
          <p:cNvPr id="5" name="p10-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10-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10</a:t>
            </a:r>
          </a:p>
        </p:txBody>
      </p:sp>
      <p:grpSp>
        <p:nvGrpSpPr>
          <p:cNvPr id="8" name="p10-title"/>
          <p:cNvGrpSpPr/>
          <p:nvPr/>
        </p:nvGrpSpPr>
        <p:grpSpPr>
          <a:xfrm>
            <a:off x="743712" y="565150"/>
            <a:ext cx="8293626" cy="704088"/>
            <a:chOff x="743712" y="565150"/>
            <a:chExt cx="8293626" cy="704088"/>
          </a:xfrm>
        </p:grpSpPr>
        <p:sp>
          <p:nvSpPr>
            <p:cNvPr id="7" name="TextBox 7"/>
            <p:cNvSpPr txBox="1"/>
            <p:nvPr/>
          </p:nvSpPr>
          <p:spPr>
            <a:xfrm>
              <a:off x="743712" y="565150"/>
              <a:ext cx="8293626"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Качество отношений важнее денег</a:t>
              </a:r>
            </a:p>
          </p:txBody>
        </p:sp>
      </p:grpSp>
      <p:grpSp>
        <p:nvGrpSpPr>
          <p:cNvPr id="63" name="p10-tree"/>
          <p:cNvGrpSpPr/>
          <p:nvPr/>
        </p:nvGrpSpPr>
        <p:grpSpPr>
          <a:xfrm>
            <a:off x="762000" y="1600200"/>
            <a:ext cx="6667500" cy="4591050"/>
            <a:chOff x="762000" y="1600200"/>
            <a:chExt cx="6667500" cy="4591050"/>
          </a:xfrm>
        </p:grpSpPr>
        <p:sp>
          <p:nvSpPr>
            <p:cNvPr id="9" name="Rectangle 9"/>
            <p:cNvSpPr/>
            <p:nvPr/>
          </p:nvSpPr>
          <p:spPr>
            <a:xfrm>
              <a:off x="762000" y="1714500"/>
              <a:ext cx="6667500" cy="4476750"/>
            </a:xfrm>
            <a:prstGeom prst="roundRect">
              <a:avLst>
                <a:gd name="adj" fmla="val 3404"/>
              </a:avLst>
            </a:prstGeom>
            <a:solidFill>
              <a:srgbClr val="FFFFFF">
                <a:alpha val="85000"/>
              </a:srgbClr>
            </a:solidFill>
            <a:ln>
              <a:noFill/>
            </a:ln>
          </p:spPr>
        </p:sp>
        <p:sp>
          <p:nvSpPr>
            <p:cNvPr id="10" name="Rectangle 10"/>
            <p:cNvSpPr/>
            <p:nvPr/>
          </p:nvSpPr>
          <p:spPr>
            <a:xfrm>
              <a:off x="3981450" y="2571750"/>
              <a:ext cx="228600" cy="2762250"/>
            </a:xfrm>
            <a:prstGeom prst="rect">
              <a:avLst/>
            </a:prstGeom>
            <a:solidFill>
              <a:srgbClr val="8D6E63"/>
            </a:solidFill>
            <a:ln>
              <a:noFill/>
            </a:ln>
          </p:spPr>
        </p:sp>
        <p:sp>
          <p:nvSpPr>
            <p:cNvPr id="11" name="Freeform 11"/>
            <p:cNvSpPr/>
            <p:nvPr/>
          </p:nvSpPr>
          <p:spPr>
            <a:xfrm>
              <a:off x="2762250" y="2286000"/>
              <a:ext cx="2667000" cy="1905000"/>
            </a:xfrm>
            <a:custGeom>
              <a:avLst/>
              <a:gdLst/>
              <a:ahLst/>
              <a:cxnLst/>
              <a:rect l="l" t="t" r="r" b="b"/>
              <a:pathLst>
                <a:path w="2667000" h="1905000">
                  <a:moveTo>
                    <a:pt x="1333500" y="762000"/>
                  </a:moveTo>
                  <a:lnTo>
                    <a:pt x="0" y="0"/>
                  </a:lnTo>
                  <a:moveTo>
                    <a:pt x="1333500" y="1143000"/>
                  </a:moveTo>
                  <a:lnTo>
                    <a:pt x="2667000" y="0"/>
                  </a:lnTo>
                  <a:moveTo>
                    <a:pt x="1333500" y="1524000"/>
                  </a:moveTo>
                  <a:lnTo>
                    <a:pt x="285750" y="857250"/>
                  </a:lnTo>
                  <a:moveTo>
                    <a:pt x="1333500" y="1905000"/>
                  </a:moveTo>
                  <a:lnTo>
                    <a:pt x="2667000" y="952500"/>
                  </a:lnTo>
                </a:path>
              </a:pathLst>
            </a:custGeom>
            <a:solidFill>
              <a:srgbClr val="000000"/>
            </a:solidFill>
            <a:ln w="76200">
              <a:solidFill>
                <a:srgbClr val="8D6E63"/>
              </a:solidFill>
            </a:ln>
          </p:spPr>
        </p:sp>
        <p:sp>
          <p:nvSpPr>
            <p:cNvPr id="12" name="Ellipse 12"/>
            <p:cNvSpPr/>
            <p:nvPr/>
          </p:nvSpPr>
          <p:spPr>
            <a:xfrm>
              <a:off x="2095500" y="1600200"/>
              <a:ext cx="4000500" cy="1181100"/>
            </a:xfrm>
            <a:prstGeom prst="ellipse">
              <a:avLst/>
            </a:prstGeom>
            <a:solidFill>
              <a:srgbClr val="27AE60">
                <a:alpha val="30000"/>
              </a:srgbClr>
            </a:solidFill>
            <a:ln>
              <a:noFill/>
            </a:ln>
          </p:spPr>
        </p:sp>
        <p:sp>
          <p:nvSpPr>
            <p:cNvPr id="13" name="TextBox 13"/>
            <p:cNvSpPr txBox="1"/>
            <p:nvPr/>
          </p:nvSpPr>
          <p:spPr>
            <a:xfrm>
              <a:off x="3069289" y="2057400"/>
              <a:ext cx="2052921" cy="352044"/>
            </a:xfrm>
            <a:prstGeom prst="rect">
              <a:avLst/>
            </a:prstGeom>
            <a:noFill/>
            <a:ln>
              <a:noFill/>
            </a:ln>
          </p:spPr>
          <p:txBody>
            <a:bodyPr wrap="none" lIns="0" tIns="0" rIns="0" bIns="0" anchor="t" anchorCtr="0">
              <a:spAutoFit/>
            </a:bodyPr>
            <a:lstStyle/>
            <a:p>
              <a:pPr algn="ctr"/>
              <a:r>
                <a:rPr lang="ru" sz="1800" b="1" dirty="0">
                  <a:solidFill>
                    <a:srgbClr val="1E8449"/>
                  </a:solidFill>
                  <a:latin typeface="+mn-lt"/>
                  <a:ea typeface="+mn-ea"/>
                  <a:cs typeface="+mn-cs"/>
                </a:rPr>
                <a:t>Внешние факторы</a:t>
              </a:r>
            </a:p>
          </p:txBody>
        </p:sp>
        <p:grpSp>
          <p:nvGrpSpPr>
            <p:cNvPr id="16" name="Group 16"/>
            <p:cNvGrpSpPr/>
            <p:nvPr/>
          </p:nvGrpSpPr>
          <p:grpSpPr>
            <a:xfrm>
              <a:off x="2911475" y="1768475"/>
              <a:ext cx="215901" cy="215901"/>
              <a:chOff x="2911475" y="1768475"/>
              <a:chExt cx="215901" cy="215901"/>
            </a:xfrm>
          </p:grpSpPr>
          <p:sp>
            <p:nvSpPr>
              <p:cNvPr id="14" name="Freeform 14"/>
              <p:cNvSpPr/>
              <p:nvPr/>
            </p:nvSpPr>
            <p:spPr>
              <a:xfrm>
                <a:off x="2911475" y="1768475"/>
                <a:ext cx="202407" cy="215901"/>
              </a:xfrm>
              <a:custGeom>
                <a:avLst/>
                <a:gdLst/>
                <a:ahLst/>
                <a:cxnLst/>
                <a:rect l="l" t="t" r="r" b="b"/>
                <a:pathLst>
                  <a:path w="202407" h="215901">
                    <a:moveTo>
                      <a:pt x="175419" y="53975"/>
                    </a:moveTo>
                    <a:lnTo>
                      <a:pt x="175419" y="13494"/>
                    </a:lnTo>
                    <a:cubicBezTo>
                      <a:pt x="175419" y="6041"/>
                      <a:pt x="169378" y="0"/>
                      <a:pt x="161925" y="0"/>
                    </a:cubicBezTo>
                    <a:lnTo>
                      <a:pt x="26988" y="0"/>
                    </a:lnTo>
                    <a:cubicBezTo>
                      <a:pt x="12083" y="0"/>
                      <a:pt x="0" y="12083"/>
                      <a:pt x="0" y="26988"/>
                    </a:cubicBezTo>
                    <a:cubicBezTo>
                      <a:pt x="0" y="41892"/>
                      <a:pt x="12083" y="53975"/>
                      <a:pt x="26988" y="53975"/>
                    </a:cubicBezTo>
                    <a:lnTo>
                      <a:pt x="188913" y="53975"/>
                    </a:lnTo>
                    <a:cubicBezTo>
                      <a:pt x="196365" y="53975"/>
                      <a:pt x="202407" y="60016"/>
                      <a:pt x="202407" y="67469"/>
                    </a:cubicBezTo>
                    <a:lnTo>
                      <a:pt x="202407" y="107950"/>
                    </a:lnTo>
                    <a:moveTo>
                      <a:pt x="202407" y="161925"/>
                    </a:moveTo>
                    <a:lnTo>
                      <a:pt x="202407" y="202407"/>
                    </a:lnTo>
                    <a:cubicBezTo>
                      <a:pt x="202407" y="209859"/>
                      <a:pt x="196365" y="215901"/>
                      <a:pt x="188913" y="215901"/>
                    </a:cubicBezTo>
                    <a:lnTo>
                      <a:pt x="26988" y="215901"/>
                    </a:lnTo>
                    <a:cubicBezTo>
                      <a:pt x="12083" y="215901"/>
                      <a:pt x="0" y="203818"/>
                      <a:pt x="0" y="188913"/>
                    </a:cubicBezTo>
                    <a:lnTo>
                      <a:pt x="0" y="26988"/>
                    </a:lnTo>
                  </a:path>
                </a:pathLst>
              </a:custGeom>
              <a:noFill/>
              <a:ln w="26988">
                <a:solidFill>
                  <a:srgbClr val="1E8449"/>
                </a:solidFill>
              </a:ln>
            </p:spPr>
          </p:sp>
          <p:sp>
            <p:nvSpPr>
              <p:cNvPr id="15" name="Freeform 15"/>
              <p:cNvSpPr/>
              <p:nvPr/>
            </p:nvSpPr>
            <p:spPr>
              <a:xfrm>
                <a:off x="3046413" y="1876425"/>
                <a:ext cx="80963" cy="53975"/>
              </a:xfrm>
              <a:custGeom>
                <a:avLst/>
                <a:gdLst/>
                <a:ahLst/>
                <a:cxnLst/>
                <a:rect l="l" t="t" r="r" b="b"/>
                <a:pathLst>
                  <a:path w="80963" h="53975">
                    <a:moveTo>
                      <a:pt x="80963" y="0"/>
                    </a:moveTo>
                    <a:lnTo>
                      <a:pt x="80963" y="53975"/>
                    </a:lnTo>
                    <a:lnTo>
                      <a:pt x="26988" y="53975"/>
                    </a:lnTo>
                    <a:cubicBezTo>
                      <a:pt x="12083" y="53975"/>
                      <a:pt x="0" y="41892"/>
                      <a:pt x="0" y="26988"/>
                    </a:cubicBezTo>
                    <a:cubicBezTo>
                      <a:pt x="0" y="12083"/>
                      <a:pt x="12083" y="0"/>
                      <a:pt x="26988" y="0"/>
                    </a:cubicBezTo>
                    <a:lnTo>
                      <a:pt x="80963" y="0"/>
                    </a:lnTo>
                  </a:path>
                </a:pathLst>
              </a:custGeom>
              <a:noFill/>
              <a:ln w="26988">
                <a:solidFill>
                  <a:srgbClr val="1E8449"/>
                </a:solidFill>
              </a:ln>
            </p:spPr>
          </p:sp>
        </p:grpSp>
        <p:grpSp>
          <p:nvGrpSpPr>
            <p:cNvPr id="21" name="Group 21"/>
            <p:cNvGrpSpPr/>
            <p:nvPr/>
          </p:nvGrpSpPr>
          <p:grpSpPr>
            <a:xfrm>
              <a:off x="3469481" y="1754981"/>
              <a:ext cx="242888" cy="229394"/>
              <a:chOff x="3469481" y="1754981"/>
              <a:chExt cx="242888" cy="229394"/>
            </a:xfrm>
          </p:grpSpPr>
          <p:sp>
            <p:nvSpPr>
              <p:cNvPr id="17" name="Freeform 17"/>
              <p:cNvSpPr/>
              <p:nvPr/>
            </p:nvSpPr>
            <p:spPr>
              <a:xfrm>
                <a:off x="3469481" y="1808956"/>
                <a:ext cx="242888" cy="175419"/>
              </a:xfrm>
              <a:custGeom>
                <a:avLst/>
                <a:gdLst/>
                <a:ahLst/>
                <a:cxnLst/>
                <a:rect l="l" t="t" r="r" b="b"/>
                <a:pathLst>
                  <a:path w="242888" h="175419">
                    <a:moveTo>
                      <a:pt x="0" y="26988"/>
                    </a:moveTo>
                    <a:cubicBezTo>
                      <a:pt x="0" y="12083"/>
                      <a:pt x="12083" y="0"/>
                      <a:pt x="26988" y="0"/>
                    </a:cubicBezTo>
                    <a:lnTo>
                      <a:pt x="215901" y="0"/>
                    </a:lnTo>
                    <a:cubicBezTo>
                      <a:pt x="230805" y="0"/>
                      <a:pt x="242888" y="12083"/>
                      <a:pt x="242888" y="26988"/>
                    </a:cubicBezTo>
                    <a:lnTo>
                      <a:pt x="242888" y="148432"/>
                    </a:lnTo>
                    <a:cubicBezTo>
                      <a:pt x="242888" y="163336"/>
                      <a:pt x="230805" y="175419"/>
                      <a:pt x="215901" y="175419"/>
                    </a:cubicBezTo>
                    <a:lnTo>
                      <a:pt x="26988" y="175419"/>
                    </a:lnTo>
                    <a:cubicBezTo>
                      <a:pt x="12083" y="175419"/>
                      <a:pt x="0" y="163336"/>
                      <a:pt x="0" y="148432"/>
                    </a:cubicBezTo>
                    <a:lnTo>
                      <a:pt x="0" y="26988"/>
                    </a:lnTo>
                  </a:path>
                </a:pathLst>
              </a:custGeom>
              <a:noFill/>
              <a:ln w="26988">
                <a:solidFill>
                  <a:srgbClr val="1E8449"/>
                </a:solidFill>
              </a:ln>
            </p:spPr>
          </p:sp>
          <p:sp>
            <p:nvSpPr>
              <p:cNvPr id="18" name="Freeform 18"/>
              <p:cNvSpPr/>
              <p:nvPr/>
            </p:nvSpPr>
            <p:spPr>
              <a:xfrm>
                <a:off x="3536950" y="1754981"/>
                <a:ext cx="107950" cy="53975"/>
              </a:xfrm>
              <a:custGeom>
                <a:avLst/>
                <a:gdLst/>
                <a:ahLst/>
                <a:cxnLst/>
                <a:rect l="l" t="t" r="r" b="b"/>
                <a:pathLst>
                  <a:path w="107950" h="53975">
                    <a:moveTo>
                      <a:pt x="0" y="53975"/>
                    </a:moveTo>
                    <a:lnTo>
                      <a:pt x="0" y="26988"/>
                    </a:lnTo>
                    <a:cubicBezTo>
                      <a:pt x="0" y="12083"/>
                      <a:pt x="12083" y="0"/>
                      <a:pt x="26988" y="0"/>
                    </a:cubicBezTo>
                    <a:lnTo>
                      <a:pt x="80963" y="0"/>
                    </a:lnTo>
                    <a:cubicBezTo>
                      <a:pt x="95868" y="0"/>
                      <a:pt x="107950" y="12083"/>
                      <a:pt x="107950" y="26988"/>
                    </a:cubicBezTo>
                    <a:lnTo>
                      <a:pt x="107950" y="53975"/>
                    </a:lnTo>
                  </a:path>
                </a:pathLst>
              </a:custGeom>
              <a:noFill/>
              <a:ln w="26988">
                <a:solidFill>
                  <a:srgbClr val="1E8449"/>
                </a:solidFill>
              </a:ln>
            </p:spPr>
          </p:sp>
          <p:sp>
            <p:nvSpPr>
              <p:cNvPr id="19" name="Freeform 19"/>
              <p:cNvSpPr/>
              <p:nvPr/>
            </p:nvSpPr>
            <p:spPr>
              <a:xfrm>
                <a:off x="3590925" y="1876425"/>
                <a:ext cx="9525" cy="9525"/>
              </a:xfrm>
              <a:custGeom>
                <a:avLst/>
                <a:gdLst/>
                <a:ahLst/>
                <a:cxnLst/>
                <a:rect l="l" t="t" r="r" b="b"/>
                <a:pathLst>
                  <a:path w="9525" h="9525">
                    <a:moveTo>
                      <a:pt x="0" y="0"/>
                    </a:moveTo>
                    <a:lnTo>
                      <a:pt x="0" y="135"/>
                    </a:lnTo>
                  </a:path>
                </a:pathLst>
              </a:custGeom>
              <a:noFill/>
              <a:ln w="26988">
                <a:solidFill>
                  <a:srgbClr val="1E8449"/>
                </a:solidFill>
              </a:ln>
            </p:spPr>
          </p:sp>
          <p:sp>
            <p:nvSpPr>
              <p:cNvPr id="20" name="Freeform 20"/>
              <p:cNvSpPr/>
              <p:nvPr/>
            </p:nvSpPr>
            <p:spPr>
              <a:xfrm>
                <a:off x="3469481" y="1889919"/>
                <a:ext cx="242888" cy="38492"/>
              </a:xfrm>
              <a:custGeom>
                <a:avLst/>
                <a:gdLst/>
                <a:ahLst/>
                <a:cxnLst/>
                <a:rect l="l" t="t" r="r" b="b"/>
                <a:pathLst>
                  <a:path w="242888" h="38492">
                    <a:moveTo>
                      <a:pt x="0" y="0"/>
                    </a:moveTo>
                    <a:cubicBezTo>
                      <a:pt x="76388" y="38492"/>
                      <a:pt x="166500" y="38492"/>
                      <a:pt x="242888" y="0"/>
                    </a:cubicBezTo>
                  </a:path>
                </a:pathLst>
              </a:custGeom>
              <a:noFill/>
              <a:ln w="26988">
                <a:solidFill>
                  <a:srgbClr val="1E8449"/>
                </a:solidFill>
              </a:ln>
            </p:spPr>
          </p:sp>
        </p:grpSp>
        <p:grpSp>
          <p:nvGrpSpPr>
            <p:cNvPr id="27" name="Group 27"/>
            <p:cNvGrpSpPr/>
            <p:nvPr/>
          </p:nvGrpSpPr>
          <p:grpSpPr>
            <a:xfrm>
              <a:off x="4038507" y="1752507"/>
              <a:ext cx="248142" cy="254887"/>
              <a:chOff x="4038507" y="1752507"/>
              <a:chExt cx="248142" cy="254887"/>
            </a:xfrm>
          </p:grpSpPr>
          <p:sp>
            <p:nvSpPr>
              <p:cNvPr id="22" name="Freeform 22"/>
              <p:cNvSpPr/>
              <p:nvPr/>
            </p:nvSpPr>
            <p:spPr>
              <a:xfrm>
                <a:off x="4135438" y="1849438"/>
                <a:ext cx="151211" cy="151180"/>
              </a:xfrm>
              <a:custGeom>
                <a:avLst/>
                <a:gdLst/>
                <a:ahLst/>
                <a:cxnLst/>
                <a:rect l="l" t="t" r="r" b="b"/>
                <a:pathLst>
                  <a:path w="151211" h="151180">
                    <a:moveTo>
                      <a:pt x="40481" y="0"/>
                    </a:moveTo>
                    <a:lnTo>
                      <a:pt x="140106" y="100097"/>
                    </a:lnTo>
                    <a:cubicBezTo>
                      <a:pt x="151211" y="111162"/>
                      <a:pt x="151211" y="129082"/>
                      <a:pt x="140106" y="140133"/>
                    </a:cubicBezTo>
                    <a:cubicBezTo>
                      <a:pt x="128999" y="151180"/>
                      <a:pt x="111055" y="151180"/>
                      <a:pt x="99948" y="140133"/>
                    </a:cubicBezTo>
                    <a:lnTo>
                      <a:pt x="0" y="40481"/>
                    </a:lnTo>
                  </a:path>
                </a:pathLst>
              </a:custGeom>
              <a:noFill/>
              <a:ln w="26988">
                <a:solidFill>
                  <a:srgbClr val="1E8449"/>
                </a:solidFill>
              </a:ln>
            </p:spPr>
          </p:sp>
          <p:sp>
            <p:nvSpPr>
              <p:cNvPr id="23" name="Freeform 23"/>
              <p:cNvSpPr/>
              <p:nvPr/>
            </p:nvSpPr>
            <p:spPr>
              <a:xfrm>
                <a:off x="4081463" y="1835944"/>
                <a:ext cx="53975" cy="53975"/>
              </a:xfrm>
              <a:custGeom>
                <a:avLst/>
                <a:gdLst/>
                <a:ahLst/>
                <a:cxnLst/>
                <a:rect l="l" t="t" r="r" b="b"/>
                <a:pathLst>
                  <a:path w="53975" h="53975">
                    <a:moveTo>
                      <a:pt x="0" y="0"/>
                    </a:moveTo>
                    <a:lnTo>
                      <a:pt x="53975" y="53975"/>
                    </a:lnTo>
                  </a:path>
                </a:pathLst>
              </a:custGeom>
              <a:noFill/>
              <a:ln w="26988">
                <a:solidFill>
                  <a:srgbClr val="1E8449"/>
                </a:solidFill>
              </a:ln>
            </p:spPr>
          </p:sp>
          <p:sp>
            <p:nvSpPr>
              <p:cNvPr id="24" name="Freeform 24"/>
              <p:cNvSpPr/>
              <p:nvPr/>
            </p:nvSpPr>
            <p:spPr>
              <a:xfrm>
                <a:off x="4121944" y="1795463"/>
                <a:ext cx="53975" cy="53975"/>
              </a:xfrm>
              <a:custGeom>
                <a:avLst/>
                <a:gdLst/>
                <a:ahLst/>
                <a:cxnLst/>
                <a:rect l="l" t="t" r="r" b="b"/>
                <a:pathLst>
                  <a:path w="53975" h="53975">
                    <a:moveTo>
                      <a:pt x="53975" y="53975"/>
                    </a:moveTo>
                    <a:lnTo>
                      <a:pt x="0" y="0"/>
                    </a:lnTo>
                  </a:path>
                </a:pathLst>
              </a:custGeom>
              <a:noFill/>
              <a:ln w="26988">
                <a:solidFill>
                  <a:srgbClr val="1E8449"/>
                </a:solidFill>
              </a:ln>
            </p:spPr>
          </p:sp>
          <p:sp>
            <p:nvSpPr>
              <p:cNvPr id="25" name="Freeform 25"/>
              <p:cNvSpPr/>
              <p:nvPr/>
            </p:nvSpPr>
            <p:spPr>
              <a:xfrm>
                <a:off x="4040981" y="1997869"/>
                <a:ext cx="94456" cy="9525"/>
              </a:xfrm>
              <a:custGeom>
                <a:avLst/>
                <a:gdLst/>
                <a:ahLst/>
                <a:cxnLst/>
                <a:rect l="l" t="t" r="r" b="b"/>
                <a:pathLst>
                  <a:path w="94456" h="9525">
                    <a:moveTo>
                      <a:pt x="0" y="0"/>
                    </a:moveTo>
                    <a:lnTo>
                      <a:pt x="94456" y="0"/>
                    </a:lnTo>
                  </a:path>
                </a:pathLst>
              </a:custGeom>
              <a:noFill/>
              <a:ln w="26988">
                <a:solidFill>
                  <a:srgbClr val="1E8449"/>
                </a:solidFill>
              </a:ln>
            </p:spPr>
          </p:sp>
          <p:sp>
            <p:nvSpPr>
              <p:cNvPr id="26" name="Freeform 26"/>
              <p:cNvSpPr/>
              <p:nvPr/>
            </p:nvSpPr>
            <p:spPr>
              <a:xfrm>
                <a:off x="4038507" y="1752507"/>
                <a:ext cx="180368" cy="180368"/>
              </a:xfrm>
              <a:custGeom>
                <a:avLst/>
                <a:gdLst/>
                <a:ahLst/>
                <a:cxnLst/>
                <a:rect l="l" t="t" r="r" b="b"/>
                <a:pathLst>
                  <a:path w="180368" h="180368">
                    <a:moveTo>
                      <a:pt x="53656" y="175100"/>
                    </a:moveTo>
                    <a:lnTo>
                      <a:pt x="5268" y="126712"/>
                    </a:lnTo>
                    <a:cubicBezTo>
                      <a:pt x="0" y="121442"/>
                      <a:pt x="0" y="112901"/>
                      <a:pt x="5268" y="107632"/>
                    </a:cubicBezTo>
                    <a:lnTo>
                      <a:pt x="36209" y="76690"/>
                    </a:lnTo>
                    <a:lnTo>
                      <a:pt x="42956" y="83437"/>
                    </a:lnTo>
                    <a:lnTo>
                      <a:pt x="83437" y="42956"/>
                    </a:lnTo>
                    <a:lnTo>
                      <a:pt x="76690" y="36209"/>
                    </a:lnTo>
                    <a:lnTo>
                      <a:pt x="107632" y="5268"/>
                    </a:lnTo>
                    <a:cubicBezTo>
                      <a:pt x="112901" y="0"/>
                      <a:pt x="121442" y="0"/>
                      <a:pt x="126712" y="5268"/>
                    </a:cubicBezTo>
                    <a:lnTo>
                      <a:pt x="175100" y="53656"/>
                    </a:lnTo>
                    <a:cubicBezTo>
                      <a:pt x="180368" y="58926"/>
                      <a:pt x="180368" y="67467"/>
                      <a:pt x="175100" y="72737"/>
                    </a:cubicBezTo>
                    <a:lnTo>
                      <a:pt x="144159" y="103678"/>
                    </a:lnTo>
                    <a:lnTo>
                      <a:pt x="137412" y="96931"/>
                    </a:lnTo>
                    <a:lnTo>
                      <a:pt x="96931" y="137412"/>
                    </a:lnTo>
                    <a:lnTo>
                      <a:pt x="103678" y="144159"/>
                    </a:lnTo>
                    <a:lnTo>
                      <a:pt x="72737" y="175100"/>
                    </a:lnTo>
                    <a:cubicBezTo>
                      <a:pt x="67467" y="180368"/>
                      <a:pt x="58926" y="180368"/>
                      <a:pt x="53656" y="175100"/>
                    </a:cubicBezTo>
                  </a:path>
                </a:pathLst>
              </a:custGeom>
              <a:noFill/>
              <a:ln w="26988">
                <a:solidFill>
                  <a:srgbClr val="1E8449"/>
                </a:solidFill>
              </a:ln>
            </p:spPr>
          </p:sp>
        </p:grpSp>
        <p:grpSp>
          <p:nvGrpSpPr>
            <p:cNvPr id="33" name="Group 33"/>
            <p:cNvGrpSpPr/>
            <p:nvPr/>
          </p:nvGrpSpPr>
          <p:grpSpPr>
            <a:xfrm>
              <a:off x="4612481" y="1754981"/>
              <a:ext cx="242888" cy="242888"/>
              <a:chOff x="4612481" y="1754981"/>
              <a:chExt cx="242888" cy="242888"/>
            </a:xfrm>
          </p:grpSpPr>
          <p:sp>
            <p:nvSpPr>
              <p:cNvPr id="28" name="Freeform 28"/>
              <p:cNvSpPr/>
              <p:nvPr/>
            </p:nvSpPr>
            <p:spPr>
              <a:xfrm>
                <a:off x="4612481" y="1754981"/>
                <a:ext cx="242888" cy="242888"/>
              </a:xfrm>
              <a:custGeom>
                <a:avLst/>
                <a:gdLst/>
                <a:ahLst/>
                <a:cxnLst/>
                <a:rect l="l" t="t" r="r" b="b"/>
                <a:pathLst>
                  <a:path w="242888" h="242888">
                    <a:moveTo>
                      <a:pt x="0" y="121444"/>
                    </a:moveTo>
                    <a:cubicBezTo>
                      <a:pt x="0" y="188516"/>
                      <a:pt x="54372" y="242888"/>
                      <a:pt x="121444" y="242888"/>
                    </a:cubicBezTo>
                    <a:cubicBezTo>
                      <a:pt x="188516" y="242888"/>
                      <a:pt x="242888" y="188516"/>
                      <a:pt x="242888" y="121444"/>
                    </a:cubicBezTo>
                    <a:cubicBezTo>
                      <a:pt x="242888" y="54372"/>
                      <a:pt x="188516" y="0"/>
                      <a:pt x="121444" y="0"/>
                    </a:cubicBezTo>
                    <a:cubicBezTo>
                      <a:pt x="54372" y="0"/>
                      <a:pt x="0" y="54372"/>
                      <a:pt x="0" y="121444"/>
                    </a:cubicBezTo>
                  </a:path>
                </a:pathLst>
              </a:custGeom>
              <a:noFill/>
              <a:ln w="26988">
                <a:solidFill>
                  <a:srgbClr val="1E8449"/>
                </a:solidFill>
              </a:ln>
            </p:spPr>
          </p:sp>
          <p:sp>
            <p:nvSpPr>
              <p:cNvPr id="29" name="Freeform 29"/>
              <p:cNvSpPr/>
              <p:nvPr/>
            </p:nvSpPr>
            <p:spPr>
              <a:xfrm>
                <a:off x="4620578" y="1835944"/>
                <a:ext cx="226696" cy="9525"/>
              </a:xfrm>
              <a:custGeom>
                <a:avLst/>
                <a:gdLst/>
                <a:ahLst/>
                <a:cxnLst/>
                <a:rect l="l" t="t" r="r" b="b"/>
                <a:pathLst>
                  <a:path w="226696" h="9525">
                    <a:moveTo>
                      <a:pt x="0" y="0"/>
                    </a:moveTo>
                    <a:lnTo>
                      <a:pt x="226696" y="0"/>
                    </a:lnTo>
                  </a:path>
                </a:pathLst>
              </a:custGeom>
              <a:noFill/>
              <a:ln w="26988">
                <a:solidFill>
                  <a:srgbClr val="1E8449"/>
                </a:solidFill>
              </a:ln>
            </p:spPr>
          </p:sp>
          <p:sp>
            <p:nvSpPr>
              <p:cNvPr id="30" name="Freeform 30"/>
              <p:cNvSpPr/>
              <p:nvPr/>
            </p:nvSpPr>
            <p:spPr>
              <a:xfrm>
                <a:off x="4620578" y="1916907"/>
                <a:ext cx="226696" cy="9525"/>
              </a:xfrm>
              <a:custGeom>
                <a:avLst/>
                <a:gdLst/>
                <a:ahLst/>
                <a:cxnLst/>
                <a:rect l="l" t="t" r="r" b="b"/>
                <a:pathLst>
                  <a:path w="226696" h="9525">
                    <a:moveTo>
                      <a:pt x="0" y="0"/>
                    </a:moveTo>
                    <a:lnTo>
                      <a:pt x="226696" y="0"/>
                    </a:lnTo>
                  </a:path>
                </a:pathLst>
              </a:custGeom>
              <a:noFill/>
              <a:ln w="26988">
                <a:solidFill>
                  <a:srgbClr val="1E8449"/>
                </a:solidFill>
              </a:ln>
            </p:spPr>
          </p:sp>
          <p:sp>
            <p:nvSpPr>
              <p:cNvPr id="31" name="Freeform 31"/>
              <p:cNvSpPr/>
              <p:nvPr/>
            </p:nvSpPr>
            <p:spPr>
              <a:xfrm>
                <a:off x="4680800" y="1754981"/>
                <a:ext cx="46379" cy="242888"/>
              </a:xfrm>
              <a:custGeom>
                <a:avLst/>
                <a:gdLst/>
                <a:ahLst/>
                <a:cxnLst/>
                <a:rect l="l" t="t" r="r" b="b"/>
                <a:pathLst>
                  <a:path w="46379" h="242888">
                    <a:moveTo>
                      <a:pt x="46379" y="0"/>
                    </a:moveTo>
                    <a:cubicBezTo>
                      <a:pt x="0" y="74321"/>
                      <a:pt x="0" y="168567"/>
                      <a:pt x="46379" y="242888"/>
                    </a:cubicBezTo>
                  </a:path>
                </a:pathLst>
              </a:custGeom>
              <a:noFill/>
              <a:ln w="26988">
                <a:solidFill>
                  <a:srgbClr val="1E8449"/>
                </a:solidFill>
              </a:ln>
            </p:spPr>
          </p:sp>
          <p:sp>
            <p:nvSpPr>
              <p:cNvPr id="32" name="Freeform 32"/>
              <p:cNvSpPr/>
              <p:nvPr/>
            </p:nvSpPr>
            <p:spPr>
              <a:xfrm>
                <a:off x="4740672" y="1754981"/>
                <a:ext cx="46379" cy="242888"/>
              </a:xfrm>
              <a:custGeom>
                <a:avLst/>
                <a:gdLst/>
                <a:ahLst/>
                <a:cxnLst/>
                <a:rect l="l" t="t" r="r" b="b"/>
                <a:pathLst>
                  <a:path w="46379" h="242888">
                    <a:moveTo>
                      <a:pt x="0" y="0"/>
                    </a:moveTo>
                    <a:cubicBezTo>
                      <a:pt x="46379" y="74321"/>
                      <a:pt x="46379" y="168567"/>
                      <a:pt x="0" y="242888"/>
                    </a:cubicBezTo>
                  </a:path>
                </a:pathLst>
              </a:custGeom>
              <a:noFill/>
              <a:ln w="26988">
                <a:solidFill>
                  <a:srgbClr val="1E8449"/>
                </a:solidFill>
              </a:ln>
            </p:spPr>
          </p:sp>
        </p:grpSp>
        <p:grpSp>
          <p:nvGrpSpPr>
            <p:cNvPr id="40" name="Group 40"/>
            <p:cNvGrpSpPr/>
            <p:nvPr/>
          </p:nvGrpSpPr>
          <p:grpSpPr>
            <a:xfrm>
              <a:off x="5183981" y="1754981"/>
              <a:ext cx="242888" cy="242888"/>
              <a:chOff x="5183981" y="1754981"/>
              <a:chExt cx="242888" cy="242888"/>
            </a:xfrm>
          </p:grpSpPr>
          <p:sp>
            <p:nvSpPr>
              <p:cNvPr id="34" name="Freeform 34"/>
              <p:cNvSpPr/>
              <p:nvPr/>
            </p:nvSpPr>
            <p:spPr>
              <a:xfrm>
                <a:off x="5278438" y="1862932"/>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26988">
                <a:solidFill>
                  <a:srgbClr val="1E8449"/>
                </a:solidFill>
              </a:ln>
            </p:spPr>
          </p:sp>
          <p:sp>
            <p:nvSpPr>
              <p:cNvPr id="35" name="Freeform 35"/>
              <p:cNvSpPr/>
              <p:nvPr/>
            </p:nvSpPr>
            <p:spPr>
              <a:xfrm>
                <a:off x="5251450" y="1957388"/>
                <a:ext cx="107950" cy="40481"/>
              </a:xfrm>
              <a:custGeom>
                <a:avLst/>
                <a:gdLst/>
                <a:ahLst/>
                <a:cxnLst/>
                <a:rect l="l" t="t" r="r" b="b"/>
                <a:pathLst>
                  <a:path w="107950" h="40481">
                    <a:moveTo>
                      <a:pt x="0" y="40481"/>
                    </a:moveTo>
                    <a:lnTo>
                      <a:pt x="0" y="26988"/>
                    </a:lnTo>
                    <a:cubicBezTo>
                      <a:pt x="0" y="12083"/>
                      <a:pt x="12083" y="0"/>
                      <a:pt x="26988" y="0"/>
                    </a:cubicBezTo>
                    <a:lnTo>
                      <a:pt x="80963" y="0"/>
                    </a:lnTo>
                    <a:cubicBezTo>
                      <a:pt x="95868" y="0"/>
                      <a:pt x="107950" y="12083"/>
                      <a:pt x="107950" y="26988"/>
                    </a:cubicBezTo>
                    <a:lnTo>
                      <a:pt x="107950" y="40481"/>
                    </a:lnTo>
                  </a:path>
                </a:pathLst>
              </a:custGeom>
              <a:noFill/>
              <a:ln w="26988">
                <a:solidFill>
                  <a:srgbClr val="1E8449"/>
                </a:solidFill>
              </a:ln>
            </p:spPr>
          </p:sp>
          <p:sp>
            <p:nvSpPr>
              <p:cNvPr id="36" name="Freeform 36"/>
              <p:cNvSpPr/>
              <p:nvPr/>
            </p:nvSpPr>
            <p:spPr>
              <a:xfrm>
                <a:off x="5345907" y="1754981"/>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26988">
                <a:solidFill>
                  <a:srgbClr val="1E8449"/>
                </a:solidFill>
              </a:ln>
            </p:spPr>
          </p:sp>
          <p:sp>
            <p:nvSpPr>
              <p:cNvPr id="37" name="Freeform 37"/>
              <p:cNvSpPr/>
              <p:nvPr/>
            </p:nvSpPr>
            <p:spPr>
              <a:xfrm>
                <a:off x="5372894" y="1849438"/>
                <a:ext cx="53975" cy="40481"/>
              </a:xfrm>
              <a:custGeom>
                <a:avLst/>
                <a:gdLst/>
                <a:ahLst/>
                <a:cxnLst/>
                <a:rect l="l" t="t" r="r" b="b"/>
                <a:pathLst>
                  <a:path w="53975" h="40481">
                    <a:moveTo>
                      <a:pt x="0" y="0"/>
                    </a:moveTo>
                    <a:lnTo>
                      <a:pt x="26988" y="0"/>
                    </a:lnTo>
                    <a:cubicBezTo>
                      <a:pt x="41892" y="0"/>
                      <a:pt x="53975" y="12083"/>
                      <a:pt x="53975" y="26988"/>
                    </a:cubicBezTo>
                    <a:lnTo>
                      <a:pt x="53975" y="40481"/>
                    </a:lnTo>
                  </a:path>
                </a:pathLst>
              </a:custGeom>
              <a:noFill/>
              <a:ln w="26988">
                <a:solidFill>
                  <a:srgbClr val="1E8449"/>
                </a:solidFill>
              </a:ln>
            </p:spPr>
          </p:sp>
          <p:sp>
            <p:nvSpPr>
              <p:cNvPr id="38" name="Freeform 38"/>
              <p:cNvSpPr/>
              <p:nvPr/>
            </p:nvSpPr>
            <p:spPr>
              <a:xfrm>
                <a:off x="5210969" y="1754981"/>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26988">
                <a:solidFill>
                  <a:srgbClr val="1E8449"/>
                </a:solidFill>
              </a:ln>
            </p:spPr>
          </p:sp>
          <p:sp>
            <p:nvSpPr>
              <p:cNvPr id="39" name="Freeform 39"/>
              <p:cNvSpPr/>
              <p:nvPr/>
            </p:nvSpPr>
            <p:spPr>
              <a:xfrm>
                <a:off x="5183981" y="1849438"/>
                <a:ext cx="53975" cy="40481"/>
              </a:xfrm>
              <a:custGeom>
                <a:avLst/>
                <a:gdLst/>
                <a:ahLst/>
                <a:cxnLst/>
                <a:rect l="l" t="t" r="r" b="b"/>
                <a:pathLst>
                  <a:path w="53975" h="40481">
                    <a:moveTo>
                      <a:pt x="0" y="40481"/>
                    </a:moveTo>
                    <a:lnTo>
                      <a:pt x="0" y="26988"/>
                    </a:lnTo>
                    <a:cubicBezTo>
                      <a:pt x="0" y="12083"/>
                      <a:pt x="12083" y="0"/>
                      <a:pt x="26988" y="0"/>
                    </a:cubicBezTo>
                    <a:lnTo>
                      <a:pt x="53975" y="0"/>
                    </a:lnTo>
                  </a:path>
                </a:pathLst>
              </a:custGeom>
              <a:noFill/>
              <a:ln w="26988">
                <a:solidFill>
                  <a:srgbClr val="1E8449"/>
                </a:solidFill>
              </a:ln>
            </p:spPr>
          </p:sp>
        </p:grpSp>
        <p:sp>
          <p:nvSpPr>
            <p:cNvPr id="41" name="TextBox 41"/>
            <p:cNvSpPr txBox="1"/>
            <p:nvPr/>
          </p:nvSpPr>
          <p:spPr>
            <a:xfrm>
              <a:off x="3452927" y="3390900"/>
              <a:ext cx="1285646" cy="352044"/>
            </a:xfrm>
            <a:prstGeom prst="rect">
              <a:avLst/>
            </a:prstGeom>
            <a:noFill/>
            <a:ln>
              <a:noFill/>
            </a:ln>
          </p:spPr>
          <p:txBody>
            <a:bodyPr wrap="none" lIns="0" tIns="0" rIns="0" bIns="0" anchor="t" anchorCtr="0">
              <a:spAutoFit/>
            </a:bodyPr>
            <a:lstStyle/>
            <a:p>
              <a:pPr algn="ctr"/>
              <a:r>
                <a:rPr lang="ru" sz="1800" b="1" dirty="0">
                  <a:solidFill>
                    <a:srgbClr val="FFFFFF"/>
                  </a:solidFill>
                  <a:latin typeface="+mn-lt"/>
                  <a:ea typeface="+mn-ea"/>
                  <a:cs typeface="+mn-cs"/>
                </a:rPr>
                <a:t>Отношения</a:t>
              </a:r>
            </a:p>
          </p:txBody>
        </p:sp>
        <p:sp>
          <p:nvSpPr>
            <p:cNvPr id="42" name="TextBox 42"/>
            <p:cNvSpPr txBox="1"/>
            <p:nvPr/>
          </p:nvSpPr>
          <p:spPr>
            <a:xfrm>
              <a:off x="2859407" y="4724400"/>
              <a:ext cx="2472686" cy="352044"/>
            </a:xfrm>
            <a:prstGeom prst="rect">
              <a:avLst/>
            </a:prstGeom>
            <a:noFill/>
            <a:ln>
              <a:noFill/>
            </a:ln>
          </p:spPr>
          <p:txBody>
            <a:bodyPr wrap="none" lIns="0" tIns="0" rIns="0" bIns="0" anchor="t" anchorCtr="0">
              <a:spAutoFit/>
            </a:bodyPr>
            <a:lstStyle/>
            <a:p>
              <a:pPr algn="ctr"/>
              <a:r>
                <a:rPr lang="ru" sz="1800" b="1" dirty="0">
                  <a:solidFill>
                    <a:schemeClr val="accent1"/>
                  </a:solidFill>
                  <a:latin typeface="+mn-lt"/>
                  <a:ea typeface="+mn-ea"/>
                  <a:cs typeface="+mn-cs"/>
                </a:rPr>
                <a:t>Внутренние факторы</a:t>
              </a:r>
            </a:p>
          </p:txBody>
        </p:sp>
        <p:grpSp>
          <p:nvGrpSpPr>
            <p:cNvPr id="46" name="Group 46"/>
            <p:cNvGrpSpPr/>
            <p:nvPr/>
          </p:nvGrpSpPr>
          <p:grpSpPr>
            <a:xfrm>
              <a:off x="2231231" y="5183981"/>
              <a:ext cx="242888" cy="242888"/>
              <a:chOff x="2231231" y="5183981"/>
              <a:chExt cx="242888" cy="242888"/>
            </a:xfrm>
          </p:grpSpPr>
          <p:sp>
            <p:nvSpPr>
              <p:cNvPr id="43" name="Freeform 43"/>
              <p:cNvSpPr/>
              <p:nvPr/>
            </p:nvSpPr>
            <p:spPr>
              <a:xfrm>
                <a:off x="2231231" y="5183981"/>
                <a:ext cx="242888" cy="121444"/>
              </a:xfrm>
              <a:custGeom>
                <a:avLst/>
                <a:gdLst/>
                <a:ahLst/>
                <a:cxnLst/>
                <a:rect l="l" t="t" r="r" b="b"/>
                <a:pathLst>
                  <a:path w="242888" h="121444">
                    <a:moveTo>
                      <a:pt x="0" y="121444"/>
                    </a:moveTo>
                    <a:lnTo>
                      <a:pt x="13494" y="121444"/>
                    </a:lnTo>
                    <a:moveTo>
                      <a:pt x="121444" y="0"/>
                    </a:moveTo>
                    <a:lnTo>
                      <a:pt x="121444" y="13494"/>
                    </a:lnTo>
                    <a:moveTo>
                      <a:pt x="229394" y="121444"/>
                    </a:moveTo>
                    <a:lnTo>
                      <a:pt x="242888" y="121444"/>
                    </a:lnTo>
                    <a:moveTo>
                      <a:pt x="35084" y="35084"/>
                    </a:moveTo>
                    <a:lnTo>
                      <a:pt x="44529" y="44529"/>
                    </a:lnTo>
                    <a:moveTo>
                      <a:pt x="207804" y="35084"/>
                    </a:moveTo>
                    <a:lnTo>
                      <a:pt x="198359" y="44529"/>
                    </a:lnTo>
                  </a:path>
                </a:pathLst>
              </a:custGeom>
              <a:noFill/>
              <a:ln w="26988">
                <a:solidFill>
                  <a:schemeClr val="accent1"/>
                </a:solidFill>
              </a:ln>
            </p:spPr>
          </p:sp>
          <p:sp>
            <p:nvSpPr>
              <p:cNvPr id="44" name="Freeform 44"/>
              <p:cNvSpPr/>
              <p:nvPr/>
            </p:nvSpPr>
            <p:spPr>
              <a:xfrm>
                <a:off x="2279485" y="5237956"/>
                <a:ext cx="146380" cy="188913"/>
              </a:xfrm>
              <a:custGeom>
                <a:avLst/>
                <a:gdLst/>
                <a:ahLst/>
                <a:cxnLst/>
                <a:rect l="l" t="t" r="r" b="b"/>
                <a:pathLst>
                  <a:path w="146380" h="188913">
                    <a:moveTo>
                      <a:pt x="32709" y="121444"/>
                    </a:moveTo>
                    <a:cubicBezTo>
                      <a:pt x="9476" y="104020"/>
                      <a:pt x="0" y="73684"/>
                      <a:pt x="9183" y="46133"/>
                    </a:cubicBezTo>
                    <a:cubicBezTo>
                      <a:pt x="18367" y="18583"/>
                      <a:pt x="44149" y="0"/>
                      <a:pt x="73190" y="0"/>
                    </a:cubicBezTo>
                    <a:cubicBezTo>
                      <a:pt x="102231" y="0"/>
                      <a:pt x="128013" y="18583"/>
                      <a:pt x="137197" y="46133"/>
                    </a:cubicBezTo>
                    <a:cubicBezTo>
                      <a:pt x="146380" y="73684"/>
                      <a:pt x="136904" y="104020"/>
                      <a:pt x="113671" y="121444"/>
                    </a:cubicBezTo>
                    <a:cubicBezTo>
                      <a:pt x="102987" y="132021"/>
                      <a:pt x="97976" y="147053"/>
                      <a:pt x="100178" y="161925"/>
                    </a:cubicBezTo>
                    <a:cubicBezTo>
                      <a:pt x="100178" y="176830"/>
                      <a:pt x="88095" y="188913"/>
                      <a:pt x="73190" y="188913"/>
                    </a:cubicBezTo>
                    <a:cubicBezTo>
                      <a:pt x="58285" y="188913"/>
                      <a:pt x="46203" y="176830"/>
                      <a:pt x="46203" y="161925"/>
                    </a:cubicBezTo>
                    <a:cubicBezTo>
                      <a:pt x="48404" y="147053"/>
                      <a:pt x="43394" y="132021"/>
                      <a:pt x="32709" y="121444"/>
                    </a:cubicBezTo>
                  </a:path>
                </a:pathLst>
              </a:custGeom>
              <a:noFill/>
              <a:ln w="26988">
                <a:solidFill>
                  <a:schemeClr val="accent1"/>
                </a:solidFill>
              </a:ln>
            </p:spPr>
          </p:sp>
          <p:sp>
            <p:nvSpPr>
              <p:cNvPr id="45" name="Freeform 45"/>
              <p:cNvSpPr/>
              <p:nvPr/>
            </p:nvSpPr>
            <p:spPr>
              <a:xfrm>
                <a:off x="2321640" y="5372894"/>
                <a:ext cx="62071" cy="9525"/>
              </a:xfrm>
              <a:custGeom>
                <a:avLst/>
                <a:gdLst/>
                <a:ahLst/>
                <a:cxnLst/>
                <a:rect l="l" t="t" r="r" b="b"/>
                <a:pathLst>
                  <a:path w="62071" h="9525">
                    <a:moveTo>
                      <a:pt x="0" y="0"/>
                    </a:moveTo>
                    <a:lnTo>
                      <a:pt x="62071" y="0"/>
                    </a:lnTo>
                  </a:path>
                </a:pathLst>
              </a:custGeom>
              <a:noFill/>
              <a:ln w="26988">
                <a:solidFill>
                  <a:schemeClr val="accent1"/>
                </a:solidFill>
              </a:ln>
            </p:spPr>
          </p:sp>
        </p:grpSp>
        <p:sp>
          <p:nvSpPr>
            <p:cNvPr id="47" name="Freeform 47"/>
            <p:cNvSpPr/>
            <p:nvPr/>
          </p:nvSpPr>
          <p:spPr>
            <a:xfrm>
              <a:off x="2893309" y="5194013"/>
              <a:ext cx="251989" cy="219362"/>
            </a:xfrm>
            <a:custGeom>
              <a:avLst/>
              <a:gdLst/>
              <a:ahLst/>
              <a:cxnLst/>
              <a:rect l="l" t="t" r="r" b="b"/>
              <a:pathLst>
                <a:path w="251989" h="219362">
                  <a:moveTo>
                    <a:pt x="227320" y="119130"/>
                  </a:moveTo>
                  <a:lnTo>
                    <a:pt x="126117" y="219362"/>
                  </a:lnTo>
                  <a:lnTo>
                    <a:pt x="24913" y="119130"/>
                  </a:lnTo>
                  <a:cubicBezTo>
                    <a:pt x="6714" y="101421"/>
                    <a:pt x="0" y="74993"/>
                    <a:pt x="7540" y="50744"/>
                  </a:cubicBezTo>
                  <a:cubicBezTo>
                    <a:pt x="15079" y="26496"/>
                    <a:pt x="35596" y="8535"/>
                    <a:pt x="60628" y="4267"/>
                  </a:cubicBezTo>
                  <a:cubicBezTo>
                    <a:pt x="85660" y="0"/>
                    <a:pt x="110969" y="10149"/>
                    <a:pt x="126117" y="30530"/>
                  </a:cubicBezTo>
                  <a:cubicBezTo>
                    <a:pt x="141328" y="10300"/>
                    <a:pt x="166582" y="286"/>
                    <a:pt x="191524" y="4593"/>
                  </a:cubicBezTo>
                  <a:cubicBezTo>
                    <a:pt x="216465" y="8900"/>
                    <a:pt x="236898" y="26805"/>
                    <a:pt x="244443" y="50965"/>
                  </a:cubicBezTo>
                  <a:cubicBezTo>
                    <a:pt x="251989" y="75125"/>
                    <a:pt x="245377" y="101475"/>
                    <a:pt x="227320" y="119211"/>
                  </a:cubicBezTo>
                </a:path>
              </a:pathLst>
            </a:custGeom>
            <a:noFill/>
            <a:ln w="26988">
              <a:solidFill>
                <a:schemeClr val="accent1"/>
              </a:solidFill>
            </a:ln>
          </p:spPr>
        </p:sp>
        <p:grpSp>
          <p:nvGrpSpPr>
            <p:cNvPr id="53" name="Group 53"/>
            <p:cNvGrpSpPr/>
            <p:nvPr/>
          </p:nvGrpSpPr>
          <p:grpSpPr>
            <a:xfrm>
              <a:off x="3564731" y="5202769"/>
              <a:ext cx="252413" cy="197113"/>
              <a:chOff x="3564731" y="5202769"/>
              <a:chExt cx="252413" cy="197113"/>
            </a:xfrm>
          </p:grpSpPr>
          <p:sp>
            <p:nvSpPr>
              <p:cNvPr id="48" name="Freeform 48"/>
              <p:cNvSpPr/>
              <p:nvPr/>
            </p:nvSpPr>
            <p:spPr>
              <a:xfrm>
                <a:off x="3564731" y="5378188"/>
                <a:ext cx="242888" cy="21694"/>
              </a:xfrm>
              <a:custGeom>
                <a:avLst/>
                <a:gdLst/>
                <a:ahLst/>
                <a:cxnLst/>
                <a:rect l="l" t="t" r="r" b="b"/>
                <a:pathLst>
                  <a:path w="242888" h="21694">
                    <a:moveTo>
                      <a:pt x="0" y="21694"/>
                    </a:moveTo>
                    <a:cubicBezTo>
                      <a:pt x="37575" y="0"/>
                      <a:pt x="83869" y="0"/>
                      <a:pt x="121444" y="21694"/>
                    </a:cubicBezTo>
                    <a:cubicBezTo>
                      <a:pt x="159019" y="0"/>
                      <a:pt x="205313" y="0"/>
                      <a:pt x="242888" y="21694"/>
                    </a:cubicBezTo>
                  </a:path>
                </a:pathLst>
              </a:custGeom>
              <a:noFill/>
              <a:ln w="26988">
                <a:solidFill>
                  <a:schemeClr val="accent1"/>
                </a:solidFill>
              </a:ln>
            </p:spPr>
          </p:sp>
          <p:sp>
            <p:nvSpPr>
              <p:cNvPr id="49" name="Freeform 49"/>
              <p:cNvSpPr/>
              <p:nvPr/>
            </p:nvSpPr>
            <p:spPr>
              <a:xfrm>
                <a:off x="3564731" y="5202769"/>
                <a:ext cx="242888" cy="21694"/>
              </a:xfrm>
              <a:custGeom>
                <a:avLst/>
                <a:gdLst/>
                <a:ahLst/>
                <a:cxnLst/>
                <a:rect l="l" t="t" r="r" b="b"/>
                <a:pathLst>
                  <a:path w="242888" h="21694">
                    <a:moveTo>
                      <a:pt x="0" y="21694"/>
                    </a:moveTo>
                    <a:cubicBezTo>
                      <a:pt x="37575" y="0"/>
                      <a:pt x="83869" y="0"/>
                      <a:pt x="121444" y="21694"/>
                    </a:cubicBezTo>
                    <a:cubicBezTo>
                      <a:pt x="159019" y="0"/>
                      <a:pt x="205313" y="0"/>
                      <a:pt x="242888" y="21694"/>
                    </a:cubicBezTo>
                  </a:path>
                </a:pathLst>
              </a:custGeom>
              <a:noFill/>
              <a:ln w="26988">
                <a:solidFill>
                  <a:schemeClr val="accent1"/>
                </a:solidFill>
              </a:ln>
            </p:spPr>
          </p:sp>
          <p:sp>
            <p:nvSpPr>
              <p:cNvPr id="50" name="Freeform 50"/>
              <p:cNvSpPr/>
              <p:nvPr/>
            </p:nvSpPr>
            <p:spPr>
              <a:xfrm>
                <a:off x="3564731" y="5224463"/>
                <a:ext cx="9525" cy="175419"/>
              </a:xfrm>
              <a:custGeom>
                <a:avLst/>
                <a:gdLst/>
                <a:ahLst/>
                <a:cxnLst/>
                <a:rect l="l" t="t" r="r" b="b"/>
                <a:pathLst>
                  <a:path w="9525" h="175419">
                    <a:moveTo>
                      <a:pt x="0" y="0"/>
                    </a:moveTo>
                    <a:lnTo>
                      <a:pt x="0" y="175419"/>
                    </a:lnTo>
                  </a:path>
                </a:pathLst>
              </a:custGeom>
              <a:noFill/>
              <a:ln w="26988">
                <a:solidFill>
                  <a:schemeClr val="accent1"/>
                </a:solidFill>
              </a:ln>
            </p:spPr>
          </p:sp>
          <p:sp>
            <p:nvSpPr>
              <p:cNvPr id="51" name="Freeform 51"/>
              <p:cNvSpPr/>
              <p:nvPr/>
            </p:nvSpPr>
            <p:spPr>
              <a:xfrm>
                <a:off x="3686175" y="5224463"/>
                <a:ext cx="9525" cy="175419"/>
              </a:xfrm>
              <a:custGeom>
                <a:avLst/>
                <a:gdLst/>
                <a:ahLst/>
                <a:cxnLst/>
                <a:rect l="l" t="t" r="r" b="b"/>
                <a:pathLst>
                  <a:path w="9525" h="175419">
                    <a:moveTo>
                      <a:pt x="0" y="0"/>
                    </a:moveTo>
                    <a:lnTo>
                      <a:pt x="0" y="175419"/>
                    </a:lnTo>
                  </a:path>
                </a:pathLst>
              </a:custGeom>
              <a:noFill/>
              <a:ln w="26988">
                <a:solidFill>
                  <a:schemeClr val="accent1"/>
                </a:solidFill>
              </a:ln>
            </p:spPr>
          </p:sp>
          <p:sp>
            <p:nvSpPr>
              <p:cNvPr id="52" name="Freeform 52"/>
              <p:cNvSpPr/>
              <p:nvPr/>
            </p:nvSpPr>
            <p:spPr>
              <a:xfrm>
                <a:off x="3807619" y="5224463"/>
                <a:ext cx="9525" cy="175419"/>
              </a:xfrm>
              <a:custGeom>
                <a:avLst/>
                <a:gdLst/>
                <a:ahLst/>
                <a:cxnLst/>
                <a:rect l="l" t="t" r="r" b="b"/>
                <a:pathLst>
                  <a:path w="9525" h="175419">
                    <a:moveTo>
                      <a:pt x="0" y="0"/>
                    </a:moveTo>
                    <a:lnTo>
                      <a:pt x="0" y="175419"/>
                    </a:lnTo>
                  </a:path>
                </a:pathLst>
              </a:custGeom>
              <a:noFill/>
              <a:ln w="26988">
                <a:solidFill>
                  <a:schemeClr val="accent1"/>
                </a:solidFill>
              </a:ln>
            </p:spPr>
          </p:sp>
        </p:grpSp>
        <p:grpSp>
          <p:nvGrpSpPr>
            <p:cNvPr id="58" name="Group 58"/>
            <p:cNvGrpSpPr/>
            <p:nvPr/>
          </p:nvGrpSpPr>
          <p:grpSpPr>
            <a:xfrm>
              <a:off x="4244975" y="5183981"/>
              <a:ext cx="188913" cy="242888"/>
              <a:chOff x="4244975" y="5183981"/>
              <a:chExt cx="188913" cy="242888"/>
            </a:xfrm>
          </p:grpSpPr>
          <p:sp>
            <p:nvSpPr>
              <p:cNvPr id="54" name="Freeform 54"/>
              <p:cNvSpPr/>
              <p:nvPr/>
            </p:nvSpPr>
            <p:spPr>
              <a:xfrm>
                <a:off x="4339526" y="5183981"/>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26988">
                <a:solidFill>
                  <a:schemeClr val="accent1"/>
                </a:solidFill>
              </a:ln>
            </p:spPr>
          </p:sp>
          <p:sp>
            <p:nvSpPr>
              <p:cNvPr id="55" name="Freeform 55"/>
              <p:cNvSpPr/>
              <p:nvPr/>
            </p:nvSpPr>
            <p:spPr>
              <a:xfrm>
                <a:off x="4244975" y="5366147"/>
                <a:ext cx="77589" cy="20241"/>
              </a:xfrm>
              <a:custGeom>
                <a:avLst/>
                <a:gdLst/>
                <a:ahLst/>
                <a:cxnLst/>
                <a:rect l="l" t="t" r="r" b="b"/>
                <a:pathLst>
                  <a:path w="77589" h="20241">
                    <a:moveTo>
                      <a:pt x="0" y="6747"/>
                    </a:moveTo>
                    <a:lnTo>
                      <a:pt x="67469" y="20241"/>
                    </a:lnTo>
                    <a:lnTo>
                      <a:pt x="77589" y="0"/>
                    </a:lnTo>
                  </a:path>
                </a:pathLst>
              </a:custGeom>
              <a:noFill/>
              <a:ln w="26988">
                <a:solidFill>
                  <a:schemeClr val="accent1"/>
                </a:solidFill>
              </a:ln>
            </p:spPr>
          </p:sp>
          <p:sp>
            <p:nvSpPr>
              <p:cNvPr id="56" name="Freeform 56"/>
              <p:cNvSpPr/>
              <p:nvPr/>
            </p:nvSpPr>
            <p:spPr>
              <a:xfrm>
                <a:off x="4339432" y="5251450"/>
                <a:ext cx="53975" cy="175419"/>
              </a:xfrm>
              <a:custGeom>
                <a:avLst/>
                <a:gdLst/>
                <a:ahLst/>
                <a:cxnLst/>
                <a:rect l="l" t="t" r="r" b="b"/>
                <a:pathLst>
                  <a:path w="53975" h="175419">
                    <a:moveTo>
                      <a:pt x="53975" y="175419"/>
                    </a:moveTo>
                    <a:lnTo>
                      <a:pt x="53975" y="121444"/>
                    </a:lnTo>
                    <a:lnTo>
                      <a:pt x="0" y="80963"/>
                    </a:lnTo>
                    <a:lnTo>
                      <a:pt x="13494" y="0"/>
                    </a:lnTo>
                  </a:path>
                </a:pathLst>
              </a:custGeom>
              <a:noFill/>
              <a:ln w="26988">
                <a:solidFill>
                  <a:schemeClr val="accent1"/>
                </a:solidFill>
              </a:ln>
            </p:spPr>
          </p:sp>
          <p:sp>
            <p:nvSpPr>
              <p:cNvPr id="57" name="Freeform 57"/>
              <p:cNvSpPr/>
              <p:nvPr/>
            </p:nvSpPr>
            <p:spPr>
              <a:xfrm>
                <a:off x="4285456" y="5251450"/>
                <a:ext cx="148432" cy="53975"/>
              </a:xfrm>
              <a:custGeom>
                <a:avLst/>
                <a:gdLst/>
                <a:ahLst/>
                <a:cxnLst/>
                <a:rect l="l" t="t" r="r" b="b"/>
                <a:pathLst>
                  <a:path w="148432" h="53975">
                    <a:moveTo>
                      <a:pt x="0" y="53975"/>
                    </a:moveTo>
                    <a:lnTo>
                      <a:pt x="0" y="13494"/>
                    </a:lnTo>
                    <a:lnTo>
                      <a:pt x="67469" y="0"/>
                    </a:lnTo>
                    <a:lnTo>
                      <a:pt x="107950" y="40481"/>
                    </a:lnTo>
                    <a:lnTo>
                      <a:pt x="148432" y="53975"/>
                    </a:lnTo>
                  </a:path>
                </a:pathLst>
              </a:custGeom>
              <a:noFill/>
              <a:ln w="26988">
                <a:solidFill>
                  <a:schemeClr val="accent1"/>
                </a:solidFill>
              </a:ln>
            </p:spPr>
          </p:sp>
        </p:grpSp>
        <p:grpSp>
          <p:nvGrpSpPr>
            <p:cNvPr id="61" name="Group 61"/>
            <p:cNvGrpSpPr/>
            <p:nvPr/>
          </p:nvGrpSpPr>
          <p:grpSpPr>
            <a:xfrm>
              <a:off x="4892511" y="5170488"/>
              <a:ext cx="254320" cy="269876"/>
              <a:chOff x="4892511" y="5170488"/>
              <a:chExt cx="254320" cy="269876"/>
            </a:xfrm>
          </p:grpSpPr>
          <p:sp>
            <p:nvSpPr>
              <p:cNvPr id="59" name="Freeform 59"/>
              <p:cNvSpPr/>
              <p:nvPr/>
            </p:nvSpPr>
            <p:spPr>
              <a:xfrm>
                <a:off x="4979194" y="5264944"/>
                <a:ext cx="80963" cy="80963"/>
              </a:xfrm>
              <a:custGeom>
                <a:avLst/>
                <a:gdLst/>
                <a:ahLst/>
                <a:cxnLst/>
                <a:rect l="l" t="t" r="r" b="b"/>
                <a:pathLst>
                  <a:path w="80963" h="80963">
                    <a:moveTo>
                      <a:pt x="0" y="40481"/>
                    </a:moveTo>
                    <a:cubicBezTo>
                      <a:pt x="0" y="62839"/>
                      <a:pt x="18124" y="80963"/>
                      <a:pt x="40481" y="80963"/>
                    </a:cubicBezTo>
                    <a:cubicBezTo>
                      <a:pt x="62839" y="80963"/>
                      <a:pt x="80963" y="62839"/>
                      <a:pt x="80963" y="40481"/>
                    </a:cubicBezTo>
                    <a:cubicBezTo>
                      <a:pt x="80963" y="18124"/>
                      <a:pt x="62839" y="0"/>
                      <a:pt x="40481" y="0"/>
                    </a:cubicBezTo>
                    <a:cubicBezTo>
                      <a:pt x="18124" y="0"/>
                      <a:pt x="0" y="18124"/>
                      <a:pt x="0" y="40481"/>
                    </a:cubicBezTo>
                  </a:path>
                </a:pathLst>
              </a:custGeom>
              <a:noFill/>
              <a:ln w="26988">
                <a:solidFill>
                  <a:schemeClr val="accent1"/>
                </a:solidFill>
              </a:ln>
            </p:spPr>
          </p:sp>
          <p:sp>
            <p:nvSpPr>
              <p:cNvPr id="60" name="Freeform 60"/>
              <p:cNvSpPr/>
              <p:nvPr/>
            </p:nvSpPr>
            <p:spPr>
              <a:xfrm>
                <a:off x="4892511" y="5170488"/>
                <a:ext cx="254320" cy="269876"/>
              </a:xfrm>
              <a:custGeom>
                <a:avLst/>
                <a:gdLst/>
                <a:ahLst/>
                <a:cxnLst/>
                <a:rect l="l" t="t" r="r" b="b"/>
                <a:pathLst>
                  <a:path w="254320" h="269876">
                    <a:moveTo>
                      <a:pt x="127165" y="0"/>
                    </a:moveTo>
                    <a:cubicBezTo>
                      <a:pt x="149522" y="0"/>
                      <a:pt x="167646" y="18124"/>
                      <a:pt x="167646" y="40481"/>
                    </a:cubicBezTo>
                    <a:cubicBezTo>
                      <a:pt x="167646" y="48065"/>
                      <a:pt x="164151" y="59939"/>
                      <a:pt x="157175" y="76105"/>
                    </a:cubicBezTo>
                    <a:lnTo>
                      <a:pt x="147405" y="94456"/>
                    </a:lnTo>
                    <a:lnTo>
                      <a:pt x="171154" y="68913"/>
                    </a:lnTo>
                    <a:cubicBezTo>
                      <a:pt x="177888" y="60816"/>
                      <a:pt x="183596" y="55419"/>
                      <a:pt x="188291" y="52653"/>
                    </a:cubicBezTo>
                    <a:cubicBezTo>
                      <a:pt x="197530" y="47289"/>
                      <a:pt x="208528" y="45838"/>
                      <a:pt x="218842" y="48623"/>
                    </a:cubicBezTo>
                    <a:cubicBezTo>
                      <a:pt x="229155" y="51408"/>
                      <a:pt x="237928" y="58197"/>
                      <a:pt x="243211" y="67482"/>
                    </a:cubicBezTo>
                    <a:cubicBezTo>
                      <a:pt x="254320" y="86827"/>
                      <a:pt x="247755" y="111511"/>
                      <a:pt x="228503" y="122780"/>
                    </a:cubicBezTo>
                    <a:cubicBezTo>
                      <a:pt x="223456" y="125708"/>
                      <a:pt x="215144" y="128123"/>
                      <a:pt x="203593" y="129999"/>
                    </a:cubicBezTo>
                    <a:lnTo>
                      <a:pt x="167646" y="134938"/>
                    </a:lnTo>
                    <a:lnTo>
                      <a:pt x="200031" y="139337"/>
                    </a:lnTo>
                    <a:cubicBezTo>
                      <a:pt x="213525" y="141293"/>
                      <a:pt x="222944" y="143884"/>
                      <a:pt x="228503" y="147109"/>
                    </a:cubicBezTo>
                    <a:cubicBezTo>
                      <a:pt x="247755" y="158378"/>
                      <a:pt x="254320" y="183062"/>
                      <a:pt x="243211" y="202407"/>
                    </a:cubicBezTo>
                    <a:cubicBezTo>
                      <a:pt x="237926" y="211690"/>
                      <a:pt x="229152" y="218476"/>
                      <a:pt x="218839" y="221259"/>
                    </a:cubicBezTo>
                    <a:cubicBezTo>
                      <a:pt x="208526" y="224041"/>
                      <a:pt x="197528" y="222588"/>
                      <a:pt x="188291" y="217223"/>
                    </a:cubicBezTo>
                    <a:cubicBezTo>
                      <a:pt x="183596" y="214497"/>
                      <a:pt x="177888" y="209073"/>
                      <a:pt x="171154" y="200963"/>
                    </a:cubicBezTo>
                    <a:lnTo>
                      <a:pt x="147405" y="175419"/>
                    </a:lnTo>
                    <a:lnTo>
                      <a:pt x="157175" y="193771"/>
                    </a:lnTo>
                    <a:cubicBezTo>
                      <a:pt x="164138" y="209950"/>
                      <a:pt x="167646" y="221824"/>
                      <a:pt x="167646" y="229394"/>
                    </a:cubicBezTo>
                    <a:cubicBezTo>
                      <a:pt x="167646" y="251752"/>
                      <a:pt x="149522" y="269876"/>
                      <a:pt x="127165" y="269876"/>
                    </a:cubicBezTo>
                    <a:cubicBezTo>
                      <a:pt x="104807" y="269876"/>
                      <a:pt x="86683" y="251752"/>
                      <a:pt x="86683" y="229394"/>
                    </a:cubicBezTo>
                    <a:cubicBezTo>
                      <a:pt x="86683" y="221811"/>
                      <a:pt x="90178" y="209936"/>
                      <a:pt x="97154" y="193771"/>
                    </a:cubicBezTo>
                    <a:lnTo>
                      <a:pt x="106924" y="175419"/>
                    </a:lnTo>
                    <a:lnTo>
                      <a:pt x="83175" y="200963"/>
                    </a:lnTo>
                    <a:cubicBezTo>
                      <a:pt x="76442" y="209073"/>
                      <a:pt x="70734" y="214457"/>
                      <a:pt x="66038" y="217223"/>
                    </a:cubicBezTo>
                    <a:cubicBezTo>
                      <a:pt x="56801" y="222588"/>
                      <a:pt x="45804" y="224041"/>
                      <a:pt x="35491" y="221259"/>
                    </a:cubicBezTo>
                    <a:cubicBezTo>
                      <a:pt x="25178" y="218476"/>
                      <a:pt x="16403" y="211690"/>
                      <a:pt x="11118" y="202407"/>
                    </a:cubicBezTo>
                    <a:cubicBezTo>
                      <a:pt x="9" y="183062"/>
                      <a:pt x="6575" y="158378"/>
                      <a:pt x="25826" y="147109"/>
                    </a:cubicBezTo>
                    <a:cubicBezTo>
                      <a:pt x="30873" y="144168"/>
                      <a:pt x="39185" y="141766"/>
                      <a:pt x="50736" y="139877"/>
                    </a:cubicBezTo>
                    <a:lnTo>
                      <a:pt x="86683" y="134938"/>
                    </a:lnTo>
                    <a:lnTo>
                      <a:pt x="54298" y="130552"/>
                    </a:lnTo>
                    <a:cubicBezTo>
                      <a:pt x="40804" y="128596"/>
                      <a:pt x="31386" y="126005"/>
                      <a:pt x="25826" y="122780"/>
                    </a:cubicBezTo>
                    <a:cubicBezTo>
                      <a:pt x="6566" y="111510"/>
                      <a:pt x="0" y="86817"/>
                      <a:pt x="11118" y="67469"/>
                    </a:cubicBezTo>
                    <a:cubicBezTo>
                      <a:pt x="16401" y="58184"/>
                      <a:pt x="25174" y="51394"/>
                      <a:pt x="35488" y="48609"/>
                    </a:cubicBezTo>
                    <a:cubicBezTo>
                      <a:pt x="45801" y="45824"/>
                      <a:pt x="56799" y="47275"/>
                      <a:pt x="66038" y="52639"/>
                    </a:cubicBezTo>
                    <a:cubicBezTo>
                      <a:pt x="70734" y="55378"/>
                      <a:pt x="76442" y="60789"/>
                      <a:pt x="83175" y="68899"/>
                    </a:cubicBezTo>
                    <a:lnTo>
                      <a:pt x="106924" y="94456"/>
                    </a:lnTo>
                    <a:cubicBezTo>
                      <a:pt x="93430" y="63529"/>
                      <a:pt x="86683" y="45542"/>
                      <a:pt x="86683" y="40481"/>
                    </a:cubicBezTo>
                    <a:cubicBezTo>
                      <a:pt x="86683" y="18124"/>
                      <a:pt x="104807" y="0"/>
                      <a:pt x="127165" y="0"/>
                    </a:cubicBezTo>
                  </a:path>
                </a:pathLst>
              </a:custGeom>
              <a:noFill/>
              <a:ln w="26988">
                <a:solidFill>
                  <a:schemeClr val="accent1"/>
                </a:solidFill>
              </a:ln>
            </p:spPr>
          </p:sp>
        </p:grpSp>
        <p:sp>
          <p:nvSpPr>
            <p:cNvPr id="62" name="Freeform 62"/>
            <p:cNvSpPr/>
            <p:nvPr/>
          </p:nvSpPr>
          <p:spPr>
            <a:xfrm>
              <a:off x="5558087" y="5183873"/>
              <a:ext cx="240512" cy="254537"/>
            </a:xfrm>
            <a:custGeom>
              <a:avLst/>
              <a:gdLst/>
              <a:ahLst/>
              <a:cxnLst/>
              <a:rect l="l" t="t" r="r" b="b"/>
              <a:pathLst>
                <a:path w="240512" h="254537">
                  <a:moveTo>
                    <a:pt x="128338" y="108"/>
                  </a:moveTo>
                  <a:cubicBezTo>
                    <a:pt x="130119" y="108"/>
                    <a:pt x="131887" y="108"/>
                    <a:pt x="133641" y="108"/>
                  </a:cubicBezTo>
                  <a:cubicBezTo>
                    <a:pt x="97871" y="33345"/>
                    <a:pt x="90934" y="87384"/>
                    <a:pt x="117148" y="128579"/>
                  </a:cubicBezTo>
                  <a:cubicBezTo>
                    <a:pt x="143363" y="169774"/>
                    <a:pt x="195253" y="186377"/>
                    <a:pt x="240512" y="168052"/>
                  </a:cubicBezTo>
                  <a:cubicBezTo>
                    <a:pt x="217131" y="224309"/>
                    <a:pt x="155688" y="254537"/>
                    <a:pt x="96852" y="238728"/>
                  </a:cubicBezTo>
                  <a:cubicBezTo>
                    <a:pt x="38017" y="222918"/>
                    <a:pt x="0" y="165964"/>
                    <a:pt x="7966" y="105564"/>
                  </a:cubicBezTo>
                  <a:cubicBezTo>
                    <a:pt x="15932" y="45165"/>
                    <a:pt x="67416" y="15"/>
                    <a:pt x="128338" y="0"/>
                  </a:cubicBezTo>
                  <a:lnTo>
                    <a:pt x="128338" y="108"/>
                  </a:lnTo>
                </a:path>
              </a:pathLst>
            </a:custGeom>
            <a:noFill/>
            <a:ln w="26988">
              <a:solidFill>
                <a:schemeClr val="accent1"/>
              </a:solidFill>
            </a:ln>
          </p:spPr>
        </p:sp>
      </p:grpSp>
      <p:grpSp>
        <p:nvGrpSpPr>
          <p:cNvPr id="75" name="p10-list"/>
          <p:cNvGrpSpPr/>
          <p:nvPr/>
        </p:nvGrpSpPr>
        <p:grpSpPr>
          <a:xfrm>
            <a:off x="7810500" y="1714500"/>
            <a:ext cx="3619500" cy="4476750"/>
            <a:chOff x="7810500" y="1714500"/>
            <a:chExt cx="3619500" cy="4476750"/>
          </a:xfrm>
        </p:grpSpPr>
        <p:sp>
          <p:nvSpPr>
            <p:cNvPr id="64" name="Rectangle 64"/>
            <p:cNvSpPr/>
            <p:nvPr/>
          </p:nvSpPr>
          <p:spPr>
            <a:xfrm>
              <a:off x="7810500" y="1714500"/>
              <a:ext cx="3619500" cy="2095500"/>
            </a:xfrm>
            <a:prstGeom prst="roundRect">
              <a:avLst>
                <a:gd name="adj" fmla="val 7273"/>
              </a:avLst>
            </a:prstGeom>
            <a:solidFill>
              <a:srgbClr val="27AE60">
                <a:alpha val="16000"/>
              </a:srgbClr>
            </a:solidFill>
            <a:ln>
              <a:noFill/>
            </a:ln>
          </p:spPr>
        </p:sp>
        <p:sp>
          <p:nvSpPr>
            <p:cNvPr id="65" name="TextBox 65"/>
            <p:cNvSpPr txBox="1"/>
            <p:nvPr/>
          </p:nvSpPr>
          <p:spPr>
            <a:xfrm>
              <a:off x="8068056" y="1924050"/>
              <a:ext cx="1425584" cy="352044"/>
            </a:xfrm>
            <a:prstGeom prst="rect">
              <a:avLst/>
            </a:prstGeom>
            <a:noFill/>
            <a:ln>
              <a:noFill/>
            </a:ln>
          </p:spPr>
          <p:txBody>
            <a:bodyPr wrap="none" lIns="0" tIns="0" rIns="0" bIns="0" anchor="t" anchorCtr="0">
              <a:spAutoFit/>
            </a:bodyPr>
            <a:lstStyle/>
            <a:p>
              <a:pPr algn="l"/>
              <a:r>
                <a:rPr lang="ru" sz="1800" b="1" dirty="0">
                  <a:solidFill>
                    <a:srgbClr val="1E8449"/>
                  </a:solidFill>
                  <a:latin typeface="+mn-lt"/>
                  <a:ea typeface="+mn-ea"/>
                  <a:cs typeface="+mn-cs"/>
                </a:rPr>
                <a:t>Внутренние</a:t>
              </a:r>
            </a:p>
          </p:txBody>
        </p:sp>
        <p:sp>
          <p:nvSpPr>
            <p:cNvPr id="66" name="TextBox 66"/>
            <p:cNvSpPr txBox="1"/>
            <p:nvPr/>
          </p:nvSpPr>
          <p:spPr>
            <a:xfrm>
              <a:off x="8068056" y="2324100"/>
              <a:ext cx="175084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осмысленность</a:t>
              </a:r>
            </a:p>
          </p:txBody>
        </p:sp>
        <p:sp>
          <p:nvSpPr>
            <p:cNvPr id="67" name="TextBox 67"/>
            <p:cNvSpPr txBox="1"/>
            <p:nvPr/>
          </p:nvSpPr>
          <p:spPr>
            <a:xfrm>
              <a:off x="8068056" y="2628900"/>
              <a:ext cx="188412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самореализация</a:t>
              </a:r>
            </a:p>
          </p:txBody>
        </p:sp>
        <p:sp>
          <p:nvSpPr>
            <p:cNvPr id="68" name="TextBox 68"/>
            <p:cNvSpPr txBox="1"/>
            <p:nvPr/>
          </p:nvSpPr>
          <p:spPr>
            <a:xfrm>
              <a:off x="8068056" y="2933700"/>
              <a:ext cx="108447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здоровье</a:t>
              </a:r>
            </a:p>
          </p:txBody>
        </p:sp>
        <p:sp>
          <p:nvSpPr>
            <p:cNvPr id="69" name="TextBox 69"/>
            <p:cNvSpPr txBox="1"/>
            <p:nvPr/>
          </p:nvSpPr>
          <p:spPr>
            <a:xfrm>
              <a:off x="8068056" y="3238500"/>
              <a:ext cx="175084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благодарность</a:t>
              </a:r>
            </a:p>
          </p:txBody>
        </p:sp>
        <p:sp>
          <p:nvSpPr>
            <p:cNvPr id="70" name="Rectangle 70"/>
            <p:cNvSpPr/>
            <p:nvPr/>
          </p:nvSpPr>
          <p:spPr>
            <a:xfrm>
              <a:off x="7810500" y="4095750"/>
              <a:ext cx="3619500" cy="2095500"/>
            </a:xfrm>
            <a:prstGeom prst="roundRect">
              <a:avLst>
                <a:gd name="adj" fmla="val 7273"/>
              </a:avLst>
            </a:prstGeom>
            <a:solidFill>
              <a:schemeClr val="accent1">
                <a:alpha val="12000"/>
              </a:schemeClr>
            </a:solidFill>
            <a:ln>
              <a:noFill/>
            </a:ln>
          </p:spPr>
        </p:sp>
        <p:sp>
          <p:nvSpPr>
            <p:cNvPr id="71" name="TextBox 71"/>
            <p:cNvSpPr txBox="1"/>
            <p:nvPr/>
          </p:nvSpPr>
          <p:spPr>
            <a:xfrm>
              <a:off x="8068056" y="4305300"/>
              <a:ext cx="100577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Внешние</a:t>
              </a:r>
            </a:p>
          </p:txBody>
        </p:sp>
        <p:sp>
          <p:nvSpPr>
            <p:cNvPr id="72" name="TextBox 72"/>
            <p:cNvSpPr txBox="1"/>
            <p:nvPr/>
          </p:nvSpPr>
          <p:spPr>
            <a:xfrm>
              <a:off x="8068056" y="4705350"/>
              <a:ext cx="328417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материальная стабильность</a:t>
              </a:r>
            </a:p>
          </p:txBody>
        </p:sp>
        <p:sp>
          <p:nvSpPr>
            <p:cNvPr id="73" name="TextBox 73"/>
            <p:cNvSpPr txBox="1"/>
            <p:nvPr/>
          </p:nvSpPr>
          <p:spPr>
            <a:xfrm>
              <a:off x="8068056" y="5010150"/>
              <a:ext cx="188412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справедливость</a:t>
              </a:r>
            </a:p>
          </p:txBody>
        </p:sp>
        <p:sp>
          <p:nvSpPr>
            <p:cNvPr id="74" name="TextBox 74"/>
            <p:cNvSpPr txBox="1"/>
            <p:nvPr/>
          </p:nvSpPr>
          <p:spPr>
            <a:xfrm>
              <a:off x="8068056" y="5314950"/>
              <a:ext cx="301762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интересная деятельность</a:t>
              </a:r>
            </a:p>
          </p:txBody>
        </p:sp>
      </p:grpSp>
      <p:pic>
        <p:nvPicPr>
          <p:cNvPr id="76" name="PPT Master narration: narration10.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4467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63"/>
                                        </p:tgtEl>
                                        <p:attrNameLst>
                                          <p:attrName>style.visibility</p:attrName>
                                        </p:attrNameLst>
                                      </p:cBhvr>
                                      <p:to>
                                        <p:strVal val="visible"/>
                                      </p:to>
                                    </p:set>
                                    <p:animEffect transition="in" filter="fade">
                                      <p:cBhvr>
                                        <p:cTn id="11" dur="500"/>
                                        <p:tgtEl>
                                          <p:spTgt spid="63"/>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76"/>
                </p:tgtEl>
              </p:cMediaNode>
            </p:audio>
          </p:childTnLst>
        </p:cTn>
      </p:par>
    </p:tnLst>
  </p:timing>
</p:sld>
</file>

<file path=ppt/slides/slide11.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11-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11-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11-accent"/>
          <p:cNvSpPr/>
          <p:nvPr/>
        </p:nvSpPr>
        <p:spPr>
          <a:xfrm>
            <a:off x="0" y="0"/>
            <a:ext cx="12192000" cy="57150"/>
          </a:xfrm>
          <a:prstGeom prst="rect">
            <a:avLst/>
          </a:prstGeom>
          <a:solidFill>
            <a:srgbClr val="E74C3C"/>
          </a:solidFill>
          <a:ln>
            <a:noFill/>
          </a:ln>
        </p:spPr>
      </p:sp>
      <p:grpSp>
        <p:nvGrpSpPr>
          <p:cNvPr id="7" name="p11-title"/>
          <p:cNvGrpSpPr/>
          <p:nvPr/>
        </p:nvGrpSpPr>
        <p:grpSpPr>
          <a:xfrm>
            <a:off x="743712" y="527050"/>
            <a:ext cx="7780623" cy="967994"/>
            <a:chOff x="743712" y="527050"/>
            <a:chExt cx="7780623" cy="967994"/>
          </a:xfrm>
        </p:grpSpPr>
        <p:sp>
          <p:nvSpPr>
            <p:cNvPr id="5" name="TextBox 5"/>
            <p:cNvSpPr txBox="1"/>
            <p:nvPr/>
          </p:nvSpPr>
          <p:spPr>
            <a:xfrm>
              <a:off x="743712" y="527050"/>
              <a:ext cx="7603594"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После 75 000 долларов — плато</a:t>
              </a:r>
            </a:p>
          </p:txBody>
        </p:sp>
        <p:sp>
          <p:nvSpPr>
            <p:cNvPr id="6" name="TextBox 6"/>
            <p:cNvSpPr txBox="1"/>
            <p:nvPr/>
          </p:nvSpPr>
          <p:spPr>
            <a:xfrm>
              <a:off x="752856" y="1143000"/>
              <a:ext cx="777147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Парадокс Истерлина: рост дохода не всегда ведёт к росту счастья</a:t>
              </a:r>
            </a:p>
          </p:txBody>
        </p:sp>
      </p:grpSp>
      <p:grpSp>
        <p:nvGrpSpPr>
          <p:cNvPr id="19" name="p11-chart"/>
          <p:cNvGrpSpPr/>
          <p:nvPr/>
        </p:nvGrpSpPr>
        <p:grpSpPr>
          <a:xfrm>
            <a:off x="762000" y="1762125"/>
            <a:ext cx="7620000" cy="3905250"/>
            <a:chOff x="762000" y="1762125"/>
            <a:chExt cx="7620000" cy="3905250"/>
          </a:xfrm>
        </p:grpSpPr>
        <p:sp>
          <p:nvSpPr>
            <p:cNvPr id="8" name="Rectangle 8"/>
            <p:cNvSpPr/>
            <p:nvPr/>
          </p:nvSpPr>
          <p:spPr>
            <a:xfrm>
              <a:off x="762000" y="1762125"/>
              <a:ext cx="7620000" cy="3905250"/>
            </a:xfrm>
            <a:prstGeom prst="roundRect">
              <a:avLst>
                <a:gd name="adj" fmla="val 3902"/>
              </a:avLst>
            </a:prstGeom>
            <a:solidFill>
              <a:srgbClr val="FFFFFF">
                <a:alpha val="85000"/>
              </a:srgbClr>
            </a:solidFill>
            <a:ln>
              <a:noFill/>
            </a:ln>
          </p:spPr>
        </p:sp>
        <p:sp>
          <p:nvSpPr>
            <p:cNvPr id="9" name="TextBox 9"/>
            <p:cNvSpPr txBox="1"/>
            <p:nvPr/>
          </p:nvSpPr>
          <p:spPr>
            <a:xfrm>
              <a:off x="1019556" y="1943100"/>
              <a:ext cx="4720288"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Счастье и доход (Канеман–Дитон, 2010)</a:t>
              </a:r>
            </a:p>
          </p:txBody>
        </p:sp>
        <p:sp>
          <p:nvSpPr>
            <p:cNvPr id="10" name="Line 10"/>
            <p:cNvSpPr/>
            <p:nvPr/>
          </p:nvSpPr>
          <p:spPr>
            <a:xfrm>
              <a:off x="1428750" y="2457450"/>
              <a:ext cx="9525" cy="2419350"/>
            </a:xfrm>
            <a:custGeom>
              <a:avLst/>
              <a:gdLst/>
              <a:ahLst/>
              <a:cxnLst/>
              <a:rect l="l" t="t" r="r" b="b"/>
              <a:pathLst>
                <a:path w="9525" h="2419350">
                  <a:moveTo>
                    <a:pt x="0" y="0"/>
                  </a:moveTo>
                  <a:lnTo>
                    <a:pt x="0" y="2419350"/>
                  </a:lnTo>
                </a:path>
              </a:pathLst>
            </a:custGeom>
            <a:noFill/>
            <a:ln w="19050">
              <a:solidFill>
                <a:srgbClr val="95A5A6"/>
              </a:solidFill>
            </a:ln>
          </p:spPr>
        </p:sp>
        <p:sp>
          <p:nvSpPr>
            <p:cNvPr id="11" name="Line 11"/>
            <p:cNvSpPr/>
            <p:nvPr/>
          </p:nvSpPr>
          <p:spPr>
            <a:xfrm>
              <a:off x="1428750" y="4876800"/>
              <a:ext cx="6667500" cy="9525"/>
            </a:xfrm>
            <a:custGeom>
              <a:avLst/>
              <a:gdLst/>
              <a:ahLst/>
              <a:cxnLst/>
              <a:rect l="l" t="t" r="r" b="b"/>
              <a:pathLst>
                <a:path w="6667500" h="9525">
                  <a:moveTo>
                    <a:pt x="0" y="0"/>
                  </a:moveTo>
                  <a:lnTo>
                    <a:pt x="6667500" y="0"/>
                  </a:lnTo>
                </a:path>
              </a:pathLst>
            </a:custGeom>
            <a:noFill/>
            <a:ln w="19050">
              <a:solidFill>
                <a:srgbClr val="95A5A6"/>
              </a:solidFill>
            </a:ln>
          </p:spPr>
        </p:sp>
        <p:sp>
          <p:nvSpPr>
            <p:cNvPr id="12" name="Polyline 12"/>
            <p:cNvSpPr/>
            <p:nvPr/>
          </p:nvSpPr>
          <p:spPr>
            <a:xfrm>
              <a:off x="1428750" y="2638425"/>
              <a:ext cx="6619875" cy="1895475"/>
            </a:xfrm>
            <a:custGeom>
              <a:avLst/>
              <a:gdLst/>
              <a:ahLst/>
              <a:cxnLst/>
              <a:rect l="l" t="t" r="r" b="b"/>
              <a:pathLst>
                <a:path w="6619875" h="1895475">
                  <a:moveTo>
                    <a:pt x="0" y="1895475"/>
                  </a:moveTo>
                  <a:lnTo>
                    <a:pt x="1047750" y="1438275"/>
                  </a:lnTo>
                  <a:lnTo>
                    <a:pt x="2095500" y="904875"/>
                  </a:lnTo>
                  <a:lnTo>
                    <a:pt x="3143250" y="466725"/>
                  </a:lnTo>
                  <a:lnTo>
                    <a:pt x="4191000" y="180975"/>
                  </a:lnTo>
                  <a:lnTo>
                    <a:pt x="5238750" y="47625"/>
                  </a:lnTo>
                  <a:lnTo>
                    <a:pt x="6286500" y="9525"/>
                  </a:lnTo>
                  <a:lnTo>
                    <a:pt x="6619875" y="0"/>
                  </a:lnTo>
                </a:path>
              </a:pathLst>
            </a:custGeom>
            <a:noFill/>
            <a:ln w="57150">
              <a:solidFill>
                <a:schemeClr val="accent1"/>
              </a:solidFill>
            </a:ln>
          </p:spPr>
        </p:sp>
        <p:sp>
          <p:nvSpPr>
            <p:cNvPr id="13" name="Ellipse 13"/>
            <p:cNvSpPr/>
            <p:nvPr/>
          </p:nvSpPr>
          <p:spPr>
            <a:xfrm>
              <a:off x="5448300" y="2647950"/>
              <a:ext cx="342900" cy="342900"/>
            </a:xfrm>
            <a:prstGeom prst="ellipse">
              <a:avLst/>
            </a:prstGeom>
            <a:noFill/>
            <a:ln w="57150">
              <a:solidFill>
                <a:srgbClr val="E74C3C"/>
              </a:solidFill>
            </a:ln>
          </p:spPr>
        </p:sp>
        <p:sp>
          <p:nvSpPr>
            <p:cNvPr id="14" name="Line 14"/>
            <p:cNvSpPr/>
            <p:nvPr/>
          </p:nvSpPr>
          <p:spPr>
            <a:xfrm>
              <a:off x="5619750" y="2819400"/>
              <a:ext cx="9525" cy="2057400"/>
            </a:xfrm>
            <a:custGeom>
              <a:avLst/>
              <a:gdLst/>
              <a:ahLst/>
              <a:cxnLst/>
              <a:rect l="l" t="t" r="r" b="b"/>
              <a:pathLst>
                <a:path w="9525" h="2057400">
                  <a:moveTo>
                    <a:pt x="0" y="0"/>
                  </a:moveTo>
                  <a:lnTo>
                    <a:pt x="0" y="2057400"/>
                  </a:lnTo>
                </a:path>
              </a:pathLst>
            </a:custGeom>
            <a:noFill/>
            <a:ln w="19050">
              <a:solidFill>
                <a:srgbClr val="E74C3C"/>
              </a:solidFill>
              <a:custDash>
                <a:ds d="300000" sp="300000"/>
              </a:custDash>
            </a:ln>
          </p:spPr>
        </p:sp>
        <p:sp>
          <p:nvSpPr>
            <p:cNvPr id="15" name="TextBox 15"/>
            <p:cNvSpPr txBox="1"/>
            <p:nvPr/>
          </p:nvSpPr>
          <p:spPr>
            <a:xfrm>
              <a:off x="5138962" y="4972050"/>
              <a:ext cx="961576" cy="352044"/>
            </a:xfrm>
            <a:prstGeom prst="rect">
              <a:avLst/>
            </a:prstGeom>
            <a:noFill/>
            <a:ln>
              <a:noFill/>
            </a:ln>
          </p:spPr>
          <p:txBody>
            <a:bodyPr wrap="none" lIns="0" tIns="0" rIns="0" bIns="0" anchor="t" anchorCtr="0">
              <a:spAutoFit/>
            </a:bodyPr>
            <a:lstStyle/>
            <a:p>
              <a:pPr algn="ctr"/>
              <a:r>
                <a:rPr lang="ru" sz="1800" b="1" dirty="0">
                  <a:solidFill>
                    <a:srgbClr val="E74C3C"/>
                  </a:solidFill>
                  <a:latin typeface="+mn-lt"/>
                  <a:ea typeface="+mn-ea"/>
                  <a:cs typeface="+mn-cs"/>
                </a:rPr>
                <a:t>75 000 $</a:t>
              </a:r>
            </a:p>
          </p:txBody>
        </p:sp>
        <p:sp>
          <p:nvSpPr>
            <p:cNvPr id="16" name="TextBox 16"/>
            <p:cNvSpPr txBox="1"/>
            <p:nvPr/>
          </p:nvSpPr>
          <p:spPr>
            <a:xfrm>
              <a:off x="1381506" y="2438400"/>
              <a:ext cx="951205"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высокое</a:t>
              </a:r>
            </a:p>
          </p:txBody>
        </p:sp>
        <p:sp>
          <p:nvSpPr>
            <p:cNvPr id="17" name="TextBox 17"/>
            <p:cNvSpPr txBox="1"/>
            <p:nvPr/>
          </p:nvSpPr>
          <p:spPr>
            <a:xfrm>
              <a:off x="1381506" y="4648200"/>
              <a:ext cx="817931"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низкое</a:t>
              </a:r>
            </a:p>
          </p:txBody>
        </p:sp>
        <p:sp>
          <p:nvSpPr>
            <p:cNvPr id="18" name="TextBox 18"/>
            <p:cNvSpPr txBox="1"/>
            <p:nvPr/>
          </p:nvSpPr>
          <p:spPr>
            <a:xfrm>
              <a:off x="3419856" y="5314950"/>
              <a:ext cx="325251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Годовой доход, доллары США</a:t>
              </a:r>
            </a:p>
          </p:txBody>
        </p:sp>
      </p:grpSp>
      <p:grpSp>
        <p:nvGrpSpPr>
          <p:cNvPr id="24" name="p11-photos"/>
          <p:cNvGrpSpPr/>
          <p:nvPr/>
        </p:nvGrpSpPr>
        <p:grpSpPr>
          <a:xfrm>
            <a:off x="8563356" y="1762125"/>
            <a:ext cx="3438144" cy="3885819"/>
            <a:chOff x="8563356" y="1762125"/>
            <a:chExt cx="3438144" cy="3885819"/>
          </a:xfrm>
        </p:grpSpPr>
        <p:pic>
          <p:nvPicPr>
            <p:cNvPr id="20" name="Image 20"/>
            <p:cNvPicPr>
              <a:picLocks noChangeAspect="1"/>
            </p:cNvPicPr>
            <p:nvPr/>
          </p:nvPicPr>
          <p:blipFill>
            <a:blip r:embed="rId3"/>
            <a:srcRect l="0" t="14528" r="0" b="14528"/>
            <a:stretch>
              <a:fillRect/>
            </a:stretch>
          </p:blipFill>
          <p:spPr>
            <a:xfrm>
              <a:off x="8572500" y="1762125"/>
              <a:ext cx="3429000" cy="1619250"/>
            </a:xfrm>
            <a:prstGeom prst="rect">
              <a:avLst/>
            </a:prstGeom>
          </p:spPr>
        </p:pic>
        <p:sp>
          <p:nvSpPr>
            <p:cNvPr id="21" name="TextBox 21"/>
            <p:cNvSpPr txBox="1"/>
            <p:nvPr/>
          </p:nvSpPr>
          <p:spPr>
            <a:xfrm>
              <a:off x="8563356" y="3409950"/>
              <a:ext cx="2352615" cy="352044"/>
            </a:xfrm>
            <a:prstGeom prst="rect">
              <a:avLst/>
            </a:prstGeom>
            <a:noFill/>
            <a:ln>
              <a:noFill/>
            </a:ln>
          </p:spPr>
          <p:txBody>
            <a:bodyPr wrap="none" lIns="0" tIns="0" rIns="0" bIns="0" anchor="t" anchorCtr="0">
              <a:spAutoFit/>
            </a:bodyPr>
            <a:lstStyle/>
            <a:p>
              <a:pPr algn="l"/>
              <a:r>
                <a:rPr lang="ru" sz="1800" dirty="0">
                  <a:solidFill>
                    <a:srgbClr val="1E8449"/>
                  </a:solidFill>
                  <a:latin typeface="+mn-lt"/>
                  <a:ea typeface="+mn-ea"/>
                  <a:cs typeface="+mn-cs"/>
                </a:rPr>
                <a:t>средний доход: рост</a:t>
              </a:r>
            </a:p>
          </p:txBody>
        </p:sp>
        <p:pic>
          <p:nvPicPr>
            <p:cNvPr id="22" name="Image 22"/>
            <p:cNvPicPr>
              <a:picLocks noChangeAspect="1"/>
            </p:cNvPicPr>
            <p:nvPr/>
          </p:nvPicPr>
          <p:blipFill>
            <a:blip r:embed="rId4"/>
            <a:srcRect l="0" t="26113" r="0" b="26113"/>
            <a:stretch>
              <a:fillRect/>
            </a:stretch>
          </p:blipFill>
          <p:spPr>
            <a:xfrm>
              <a:off x="8572500" y="3810000"/>
              <a:ext cx="3429000" cy="1428750"/>
            </a:xfrm>
            <a:prstGeom prst="rect">
              <a:avLst/>
            </a:prstGeom>
          </p:spPr>
        </p:pic>
        <p:sp>
          <p:nvSpPr>
            <p:cNvPr id="23" name="TextBox 23"/>
            <p:cNvSpPr txBox="1"/>
            <p:nvPr/>
          </p:nvSpPr>
          <p:spPr>
            <a:xfrm>
              <a:off x="8563356" y="5295900"/>
              <a:ext cx="2485889" cy="352044"/>
            </a:xfrm>
            <a:prstGeom prst="rect">
              <a:avLst/>
            </a:prstGeom>
            <a:noFill/>
            <a:ln>
              <a:noFill/>
            </a:ln>
          </p:spPr>
          <p:txBody>
            <a:bodyPr wrap="none" lIns="0" tIns="0" rIns="0" bIns="0" anchor="t" anchorCtr="0">
              <a:spAutoFit/>
            </a:bodyPr>
            <a:lstStyle/>
            <a:p>
              <a:pPr algn="l"/>
              <a:r>
                <a:rPr lang="ru" sz="1800" dirty="0">
                  <a:solidFill>
                    <a:srgbClr val="C0392B"/>
                  </a:solidFill>
                  <a:latin typeface="+mn-lt"/>
                  <a:ea typeface="+mn-ea"/>
                  <a:cs typeface="+mn-cs"/>
                </a:rPr>
                <a:t>высокий доход: плато</a:t>
              </a:r>
            </a:p>
          </p:txBody>
        </p:sp>
      </p:grpSp>
      <p:grpSp>
        <p:nvGrpSpPr>
          <p:cNvPr id="26" name="p11-note"/>
          <p:cNvGrpSpPr/>
          <p:nvPr/>
        </p:nvGrpSpPr>
        <p:grpSpPr>
          <a:xfrm>
            <a:off x="752856" y="5924550"/>
            <a:ext cx="7761705" cy="352044"/>
            <a:chOff x="752856" y="5924550"/>
            <a:chExt cx="7761705" cy="352044"/>
          </a:xfrm>
        </p:grpSpPr>
        <p:sp>
          <p:nvSpPr>
            <p:cNvPr id="25" name="TextBox 25"/>
            <p:cNvSpPr txBox="1"/>
            <p:nvPr/>
          </p:nvSpPr>
          <p:spPr>
            <a:xfrm>
              <a:off x="752856" y="5924550"/>
              <a:ext cx="7761705"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Гедонистическая адаптация: мы быстро привыкаем к новому уровню</a:t>
              </a:r>
            </a:p>
          </p:txBody>
        </p:sp>
      </p:grpSp>
      <p:grpSp>
        <p:nvGrpSpPr>
          <p:cNvPr id="29" name="p11-credits"/>
          <p:cNvGrpSpPr/>
          <p:nvPr/>
        </p:nvGrpSpPr>
        <p:grpSpPr>
          <a:xfrm>
            <a:off x="755904" y="6286500"/>
            <a:ext cx="8704974" cy="425196"/>
            <a:chOff x="755904" y="6286500"/>
            <a:chExt cx="8704974" cy="425196"/>
          </a:xfrm>
        </p:grpSpPr>
        <p:sp>
          <p:nvSpPr>
            <p:cNvPr id="27" name="TextBox 27"/>
            <p:cNvSpPr txBox="1"/>
            <p:nvPr/>
          </p:nvSpPr>
          <p:spPr>
            <a:xfrm>
              <a:off x="755904" y="6286500"/>
              <a:ext cx="5382787"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Marek Ślusarczyk ( Tupungato ) Photo portfolio / Wikimedia / CC BY 3.0</a:t>
              </a:r>
            </a:p>
          </p:txBody>
        </p:sp>
        <p:sp>
          <p:nvSpPr>
            <p:cNvPr id="28" name="TextBox 28"/>
            <p:cNvSpPr txBox="1"/>
            <p:nvPr/>
          </p:nvSpPr>
          <p:spPr>
            <a:xfrm>
              <a:off x="755904" y="6477000"/>
              <a:ext cx="8704974"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ProperAndPolite / Wikimedia / CC BY-SA 4.0; © Pedro Ribeiro Simões from Lisboa, Portugal / Wikimedia / CC BY 2.0</a:t>
              </a:r>
            </a:p>
          </p:txBody>
        </p:sp>
      </p:grpSp>
      <p:sp>
        <p:nvSpPr>
          <p:cNvPr id="30" name="p11-foot"/>
          <p:cNvSpPr txBox="1"/>
          <p:nvPr/>
        </p:nvSpPr>
        <p:spPr>
          <a:xfrm>
            <a:off x="6661404" y="6629400"/>
            <a:ext cx="2052466" cy="234696"/>
          </a:xfrm>
          <a:prstGeom prst="rect">
            <a:avLst/>
          </a:prstGeom>
          <a:noFill/>
          <a:ln>
            <a:noFill/>
          </a:ln>
        </p:spPr>
        <p:txBody>
          <a:bodyPr wrap="none" lIns="0" tIns="0" rIns="0" bIns="0" anchor="t" anchorCtr="0">
            <a:spAutoFit/>
          </a:bodyPr>
          <a:lstStyle/>
          <a:p>
            <a:pPr algn="l"/>
            <a:r>
              <a:rPr lang="ru" sz="1200" dirty="0">
                <a:solidFill>
                  <a:srgbClr val="5D6D7E"/>
                </a:solidFill>
                <a:latin typeface="+mn-lt"/>
                <a:ea typeface="+mn-ea"/>
                <a:cs typeface="+mn-cs"/>
              </a:rPr>
              <a:t>Концепция счастья · ИС-24</a:t>
            </a:r>
          </a:p>
        </p:txBody>
      </p:sp>
      <p:sp>
        <p:nvSpPr>
          <p:cNvPr id="31" name="p11-num"/>
          <p:cNvSpPr txBox="1"/>
          <p:nvPr/>
        </p:nvSpPr>
        <p:spPr>
          <a:xfrm>
            <a:off x="11244202" y="6629400"/>
            <a:ext cx="191894" cy="234696"/>
          </a:xfrm>
          <a:prstGeom prst="rect">
            <a:avLst/>
          </a:prstGeom>
          <a:noFill/>
          <a:ln>
            <a:noFill/>
          </a:ln>
        </p:spPr>
        <p:txBody>
          <a:bodyPr wrap="none" lIns="0" tIns="0" rIns="0" bIns="0" anchor="t" anchorCtr="0">
            <a:spAutoFit/>
          </a:bodyPr>
          <a:lstStyle/>
          <a:p>
            <a:pPr algn="r"/>
            <a:r>
              <a:rPr lang="ru" sz="1200" dirty="0">
                <a:solidFill>
                  <a:srgbClr val="5D6D7E"/>
                </a:solidFill>
                <a:latin typeface="+mn-lt"/>
                <a:ea typeface="+mn-ea"/>
                <a:cs typeface="+mn-cs"/>
              </a:rPr>
              <a:t>11</a:t>
            </a:r>
          </a:p>
        </p:txBody>
      </p:sp>
      <p:pic>
        <p:nvPicPr>
          <p:cNvPr id="32" name="PPT Master narration: narration11.mp3">
            <a:hlinkClick r:id="" action="ppaction://media"/>
          </p:cNvPr>
          <p:cNvPicPr>
            <a:picLocks noChangeAspect="1"/>
          </p:cNvPicPr>
          <p:nvPr>
            <a:audioFile r:link="rId7"/>
            <p:extLst>
              <p:ext uri="{DAA4B4D4-6D71-4841-9C94-3DE7FCFB9230}">
                <p14:media r:embed="rId6"/>
              </p:ext>
            </p:extLst>
          </p:nvPr>
        </p:nvPicPr>
        <p:blipFill>
          <a:blip r:embed="rId8"/>
          <a:stretch>
            <a:fillRect/>
          </a:stretch>
        </p:blipFill>
        <p:spPr>
          <a:xfrm>
            <a:off x="-457200" y="-457200"/>
            <a:ext cx="457200" cy="457200"/>
          </a:xfrm>
          <a:prstGeom prst="rect">
            <a:avLst/>
          </a:prstGeom>
        </p:spPr>
      </p:pic>
    </p:spTree>
  </p:cSld>
  <p:clrMapOvr>
    <a:masterClrMapping/>
  </p:clrMapOvr>
  <p:transition p14:dur="500" advClick="0" advTm="2746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600"/>
                                        <p:tgtEl>
                                          <p:spTgt spid="19"/>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32"/>
                </p:tgtEl>
              </p:cMediaNode>
            </p:audio>
          </p:childTnLst>
        </p:cTn>
      </p:par>
    </p:tnLst>
  </p:timing>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12-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12-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12-accent"/>
          <p:cNvSpPr/>
          <p:nvPr/>
        </p:nvSpPr>
        <p:spPr>
          <a:xfrm>
            <a:off x="0" y="0"/>
            <a:ext cx="12192000" cy="57150"/>
          </a:xfrm>
          <a:prstGeom prst="rect">
            <a:avLst/>
          </a:prstGeom>
          <a:solidFill>
            <a:srgbClr val="E67E22"/>
          </a:solidFill>
          <a:ln>
            <a:noFill/>
          </a:ln>
        </p:spPr>
      </p:sp>
      <p:sp>
        <p:nvSpPr>
          <p:cNvPr id="5" name="p12-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12-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12</a:t>
            </a:r>
          </a:p>
        </p:txBody>
      </p:sp>
      <p:grpSp>
        <p:nvGrpSpPr>
          <p:cNvPr id="9" name="p12-title"/>
          <p:cNvGrpSpPr/>
          <p:nvPr/>
        </p:nvGrpSpPr>
        <p:grpSpPr>
          <a:xfrm>
            <a:off x="743712" y="527050"/>
            <a:ext cx="6199780" cy="967994"/>
            <a:chOff x="743712" y="527050"/>
            <a:chExt cx="6199780" cy="967994"/>
          </a:xfrm>
        </p:grpSpPr>
        <p:sp>
          <p:nvSpPr>
            <p:cNvPr id="7" name="TextBox 7"/>
            <p:cNvSpPr txBox="1"/>
            <p:nvPr/>
          </p:nvSpPr>
          <p:spPr>
            <a:xfrm>
              <a:off x="743712" y="527050"/>
              <a:ext cx="6199780"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Парадокс среднего звена</a:t>
              </a:r>
            </a:p>
          </p:txBody>
        </p:sp>
        <p:sp>
          <p:nvSpPr>
            <p:cNvPr id="8" name="TextBox 8"/>
            <p:cNvSpPr txBox="1"/>
            <p:nvPr/>
          </p:nvSpPr>
          <p:spPr>
            <a:xfrm>
              <a:off x="752856" y="1143000"/>
              <a:ext cx="4693591"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Связь счастья и образования нелинейна</a:t>
              </a:r>
            </a:p>
          </p:txBody>
        </p:sp>
      </p:grpSp>
      <p:grpSp>
        <p:nvGrpSpPr>
          <p:cNvPr id="21" name="p12-chart"/>
          <p:cNvGrpSpPr/>
          <p:nvPr/>
        </p:nvGrpSpPr>
        <p:grpSpPr>
          <a:xfrm>
            <a:off x="1143000" y="1905000"/>
            <a:ext cx="6286500" cy="4235196"/>
            <a:chOff x="1143000" y="1905000"/>
            <a:chExt cx="6286500" cy="4235196"/>
          </a:xfrm>
        </p:grpSpPr>
        <p:sp>
          <p:nvSpPr>
            <p:cNvPr id="10" name="Rectangle 10"/>
            <p:cNvSpPr/>
            <p:nvPr/>
          </p:nvSpPr>
          <p:spPr>
            <a:xfrm>
              <a:off x="1143000" y="1905000"/>
              <a:ext cx="6286500" cy="4000500"/>
            </a:xfrm>
            <a:prstGeom prst="roundRect">
              <a:avLst>
                <a:gd name="adj" fmla="val 3810"/>
              </a:avLst>
            </a:prstGeom>
            <a:solidFill>
              <a:srgbClr val="FFFFFF">
                <a:alpha val="85000"/>
              </a:srgbClr>
            </a:solidFill>
            <a:ln>
              <a:noFill/>
            </a:ln>
          </p:spPr>
        </p:sp>
        <p:sp>
          <p:nvSpPr>
            <p:cNvPr id="11" name="Line 11"/>
            <p:cNvSpPr/>
            <p:nvPr/>
          </p:nvSpPr>
          <p:spPr>
            <a:xfrm>
              <a:off x="1714500" y="2286000"/>
              <a:ext cx="9525" cy="3048000"/>
            </a:xfrm>
            <a:custGeom>
              <a:avLst/>
              <a:gdLst/>
              <a:ahLst/>
              <a:cxnLst/>
              <a:rect l="l" t="t" r="r" b="b"/>
              <a:pathLst>
                <a:path w="9525" h="3048000">
                  <a:moveTo>
                    <a:pt x="0" y="0"/>
                  </a:moveTo>
                  <a:lnTo>
                    <a:pt x="0" y="3048000"/>
                  </a:lnTo>
                </a:path>
              </a:pathLst>
            </a:custGeom>
            <a:noFill/>
            <a:ln w="19050">
              <a:solidFill>
                <a:srgbClr val="95A5A6"/>
              </a:solidFill>
            </a:ln>
          </p:spPr>
        </p:sp>
        <p:sp>
          <p:nvSpPr>
            <p:cNvPr id="12" name="Line 12"/>
            <p:cNvSpPr/>
            <p:nvPr/>
          </p:nvSpPr>
          <p:spPr>
            <a:xfrm>
              <a:off x="1714500" y="5334000"/>
              <a:ext cx="5334000" cy="9525"/>
            </a:xfrm>
            <a:custGeom>
              <a:avLst/>
              <a:gdLst/>
              <a:ahLst/>
              <a:cxnLst/>
              <a:rect l="l" t="t" r="r" b="b"/>
              <a:pathLst>
                <a:path w="5334000" h="9525">
                  <a:moveTo>
                    <a:pt x="0" y="0"/>
                  </a:moveTo>
                  <a:lnTo>
                    <a:pt x="5334000" y="0"/>
                  </a:lnTo>
                </a:path>
              </a:pathLst>
            </a:custGeom>
            <a:noFill/>
            <a:ln w="19050">
              <a:solidFill>
                <a:srgbClr val="95A5A6"/>
              </a:solidFill>
            </a:ln>
          </p:spPr>
        </p:sp>
        <p:sp>
          <p:nvSpPr>
            <p:cNvPr id="13" name="Polyline 13"/>
            <p:cNvSpPr/>
            <p:nvPr/>
          </p:nvSpPr>
          <p:spPr>
            <a:xfrm>
              <a:off x="1714500" y="2762250"/>
              <a:ext cx="5143500" cy="2095500"/>
            </a:xfrm>
            <a:custGeom>
              <a:avLst/>
              <a:gdLst/>
              <a:ahLst/>
              <a:cxnLst/>
              <a:rect l="l" t="t" r="r" b="b"/>
              <a:pathLst>
                <a:path w="5143500" h="2095500">
                  <a:moveTo>
                    <a:pt x="0" y="0"/>
                  </a:moveTo>
                  <a:lnTo>
                    <a:pt x="1047750" y="571500"/>
                  </a:lnTo>
                  <a:lnTo>
                    <a:pt x="2095500" y="1619250"/>
                  </a:lnTo>
                  <a:lnTo>
                    <a:pt x="3143250" y="2095500"/>
                  </a:lnTo>
                  <a:lnTo>
                    <a:pt x="4191000" y="1238250"/>
                  </a:lnTo>
                  <a:lnTo>
                    <a:pt x="5143500" y="571500"/>
                  </a:lnTo>
                </a:path>
              </a:pathLst>
            </a:custGeom>
            <a:noFill/>
            <a:ln w="57150">
              <a:solidFill>
                <a:schemeClr val="accent1"/>
              </a:solidFill>
            </a:ln>
          </p:spPr>
        </p:sp>
        <p:sp>
          <p:nvSpPr>
            <p:cNvPr id="14" name="Ellipse 14"/>
            <p:cNvSpPr/>
            <p:nvPr/>
          </p:nvSpPr>
          <p:spPr>
            <a:xfrm>
              <a:off x="4686300" y="4686300"/>
              <a:ext cx="342900" cy="342900"/>
            </a:xfrm>
            <a:prstGeom prst="ellipse">
              <a:avLst/>
            </a:prstGeom>
            <a:noFill/>
            <a:ln w="57150">
              <a:solidFill>
                <a:srgbClr val="E67E22"/>
              </a:solidFill>
            </a:ln>
          </p:spPr>
        </p:sp>
        <p:sp>
          <p:nvSpPr>
            <p:cNvPr id="15" name="TextBox 15"/>
            <p:cNvSpPr txBox="1"/>
            <p:nvPr/>
          </p:nvSpPr>
          <p:spPr>
            <a:xfrm>
              <a:off x="4428794" y="4248150"/>
              <a:ext cx="857913" cy="352044"/>
            </a:xfrm>
            <a:prstGeom prst="rect">
              <a:avLst/>
            </a:prstGeom>
            <a:noFill/>
            <a:ln>
              <a:noFill/>
            </a:ln>
          </p:spPr>
          <p:txBody>
            <a:bodyPr wrap="none" lIns="0" tIns="0" rIns="0" bIns="0" anchor="t" anchorCtr="0">
              <a:spAutoFit/>
            </a:bodyPr>
            <a:lstStyle/>
            <a:p>
              <a:pPr algn="ctr"/>
              <a:r>
                <a:rPr lang="ru" sz="1800" b="1" dirty="0">
                  <a:solidFill>
                    <a:srgbClr val="B9631B"/>
                  </a:solidFill>
                  <a:latin typeface="+mn-lt"/>
                  <a:ea typeface="+mn-ea"/>
                  <a:cs typeface="+mn-cs"/>
                </a:rPr>
                <a:t>провал</a:t>
              </a:r>
            </a:p>
          </p:txBody>
        </p:sp>
        <p:sp>
          <p:nvSpPr>
            <p:cNvPr id="16" name="TextBox 16"/>
            <p:cNvSpPr txBox="1"/>
            <p:nvPr/>
          </p:nvSpPr>
          <p:spPr>
            <a:xfrm>
              <a:off x="1629156" y="2247900"/>
              <a:ext cx="551383"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выше</a:t>
              </a:r>
            </a:p>
          </p:txBody>
        </p:sp>
        <p:sp>
          <p:nvSpPr>
            <p:cNvPr id="17" name="TextBox 17"/>
            <p:cNvSpPr txBox="1"/>
            <p:nvPr/>
          </p:nvSpPr>
          <p:spPr>
            <a:xfrm>
              <a:off x="1629156" y="5105400"/>
              <a:ext cx="551383"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ниже</a:t>
              </a:r>
            </a:p>
          </p:txBody>
        </p:sp>
        <p:sp>
          <p:nvSpPr>
            <p:cNvPr id="18" name="TextBox 18"/>
            <p:cNvSpPr txBox="1"/>
            <p:nvPr/>
          </p:nvSpPr>
          <p:spPr>
            <a:xfrm>
              <a:off x="1800606" y="5448300"/>
              <a:ext cx="951205"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среднее</a:t>
              </a:r>
            </a:p>
          </p:txBody>
        </p:sp>
        <p:sp>
          <p:nvSpPr>
            <p:cNvPr id="19" name="TextBox 19"/>
            <p:cNvSpPr txBox="1"/>
            <p:nvPr/>
          </p:nvSpPr>
          <p:spPr>
            <a:xfrm>
              <a:off x="5705856" y="5448300"/>
              <a:ext cx="817931"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высшее</a:t>
              </a:r>
            </a:p>
          </p:txBody>
        </p:sp>
        <p:sp>
          <p:nvSpPr>
            <p:cNvPr id="20" name="TextBox 20"/>
            <p:cNvSpPr txBox="1"/>
            <p:nvPr/>
          </p:nvSpPr>
          <p:spPr>
            <a:xfrm>
              <a:off x="2565654" y="5905500"/>
              <a:ext cx="3202051" cy="234696"/>
            </a:xfrm>
            <a:prstGeom prst="rect">
              <a:avLst/>
            </a:prstGeom>
            <a:noFill/>
            <a:ln>
              <a:noFill/>
            </a:ln>
          </p:spPr>
          <p:txBody>
            <a:bodyPr wrap="none" lIns="0" tIns="0" rIns="0" bIns="0" anchor="t" anchorCtr="0">
              <a:spAutoFit/>
            </a:bodyPr>
            <a:lstStyle/>
            <a:p>
              <a:pPr algn="l"/>
              <a:r>
                <a:rPr lang="ru" sz="1200" dirty="0">
                  <a:solidFill>
                    <a:srgbClr val="5D6D7E"/>
                  </a:solidFill>
                  <a:latin typeface="+mn-lt"/>
                  <a:ea typeface="+mn-ea"/>
                  <a:cs typeface="+mn-cs"/>
                </a:rPr>
                <a:t>Уровень образования → уровень счастья</a:t>
              </a:r>
            </a:p>
          </p:txBody>
        </p:sp>
      </p:grpSp>
      <p:grpSp>
        <p:nvGrpSpPr>
          <p:cNvPr id="33" name="p12-list"/>
          <p:cNvGrpSpPr/>
          <p:nvPr/>
        </p:nvGrpSpPr>
        <p:grpSpPr>
          <a:xfrm>
            <a:off x="7810500" y="1905000"/>
            <a:ext cx="3619500" cy="4000500"/>
            <a:chOff x="7810500" y="1905000"/>
            <a:chExt cx="3619500" cy="4000500"/>
          </a:xfrm>
        </p:grpSpPr>
        <p:sp>
          <p:nvSpPr>
            <p:cNvPr id="22" name="Rectangle 22"/>
            <p:cNvSpPr/>
            <p:nvPr/>
          </p:nvSpPr>
          <p:spPr>
            <a:xfrm>
              <a:off x="7810500" y="1905000"/>
              <a:ext cx="3619500" cy="4000500"/>
            </a:xfrm>
            <a:prstGeom prst="roundRect">
              <a:avLst>
                <a:gd name="adj" fmla="val 4211"/>
              </a:avLst>
            </a:prstGeom>
            <a:solidFill>
              <a:srgbClr val="FFFFFF">
                <a:alpha val="85000"/>
              </a:srgbClr>
            </a:solidFill>
            <a:ln>
              <a:noFill/>
            </a:ln>
          </p:spPr>
        </p:sp>
        <p:grpSp>
          <p:nvGrpSpPr>
            <p:cNvPr id="25" name="Group 25"/>
            <p:cNvGrpSpPr/>
            <p:nvPr/>
          </p:nvGrpSpPr>
          <p:grpSpPr>
            <a:xfrm>
              <a:off x="8108950" y="2251075"/>
              <a:ext cx="317501" cy="222250"/>
              <a:chOff x="8108950" y="2251075"/>
              <a:chExt cx="317501" cy="222250"/>
            </a:xfrm>
          </p:grpSpPr>
          <p:sp>
            <p:nvSpPr>
              <p:cNvPr id="23" name="Freeform 23"/>
              <p:cNvSpPr/>
              <p:nvPr/>
            </p:nvSpPr>
            <p:spPr>
              <a:xfrm>
                <a:off x="8108950" y="2251075"/>
                <a:ext cx="317501" cy="158750"/>
              </a:xfrm>
              <a:custGeom>
                <a:avLst/>
                <a:gdLst/>
                <a:ahLst/>
                <a:cxnLst/>
                <a:rect l="l" t="t" r="r" b="b"/>
                <a:pathLst>
                  <a:path w="317501" h="158750">
                    <a:moveTo>
                      <a:pt x="317501" y="63500"/>
                    </a:moveTo>
                    <a:lnTo>
                      <a:pt x="158750" y="0"/>
                    </a:lnTo>
                    <a:lnTo>
                      <a:pt x="0" y="63500"/>
                    </a:lnTo>
                    <a:lnTo>
                      <a:pt x="158750" y="127000"/>
                    </a:lnTo>
                    <a:lnTo>
                      <a:pt x="317501" y="63500"/>
                    </a:lnTo>
                    <a:lnTo>
                      <a:pt x="317501" y="158750"/>
                    </a:lnTo>
                  </a:path>
                </a:pathLst>
              </a:custGeom>
              <a:noFill/>
              <a:ln w="31750">
                <a:solidFill>
                  <a:schemeClr val="accent1"/>
                </a:solidFill>
              </a:ln>
            </p:spPr>
          </p:sp>
          <p:sp>
            <p:nvSpPr>
              <p:cNvPr id="24" name="Freeform 24"/>
              <p:cNvSpPr/>
              <p:nvPr/>
            </p:nvSpPr>
            <p:spPr>
              <a:xfrm>
                <a:off x="8172450" y="2339975"/>
                <a:ext cx="190500" cy="133350"/>
              </a:xfrm>
              <a:custGeom>
                <a:avLst/>
                <a:gdLst/>
                <a:ahLst/>
                <a:cxnLst/>
                <a:rect l="l" t="t" r="r" b="b"/>
                <a:pathLst>
                  <a:path w="190500" h="133350">
                    <a:moveTo>
                      <a:pt x="0" y="0"/>
                    </a:moveTo>
                    <a:lnTo>
                      <a:pt x="0" y="85725"/>
                    </a:lnTo>
                    <a:cubicBezTo>
                      <a:pt x="0" y="112028"/>
                      <a:pt x="42645" y="133350"/>
                      <a:pt x="95250" y="133350"/>
                    </a:cubicBezTo>
                    <a:cubicBezTo>
                      <a:pt x="147855" y="133350"/>
                      <a:pt x="190500" y="112028"/>
                      <a:pt x="190500" y="85725"/>
                    </a:cubicBezTo>
                    <a:lnTo>
                      <a:pt x="190500" y="0"/>
                    </a:lnTo>
                  </a:path>
                </a:pathLst>
              </a:custGeom>
              <a:noFill/>
              <a:ln w="31750">
                <a:solidFill>
                  <a:schemeClr val="accent1"/>
                </a:solidFill>
              </a:ln>
            </p:spPr>
          </p:sp>
        </p:grpSp>
        <p:sp>
          <p:nvSpPr>
            <p:cNvPr id="26" name="TextBox 26"/>
            <p:cNvSpPr txBox="1"/>
            <p:nvPr/>
          </p:nvSpPr>
          <p:spPr>
            <a:xfrm>
              <a:off x="8563356" y="2247900"/>
              <a:ext cx="121350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Что важно</a:t>
              </a:r>
            </a:p>
          </p:txBody>
        </p:sp>
        <p:sp>
          <p:nvSpPr>
            <p:cNvPr id="27" name="TextBox 27"/>
            <p:cNvSpPr txBox="1"/>
            <p:nvPr/>
          </p:nvSpPr>
          <p:spPr>
            <a:xfrm>
              <a:off x="8068056" y="2914650"/>
              <a:ext cx="2418573"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слабая прямая связь</a:t>
              </a:r>
            </a:p>
          </p:txBody>
        </p:sp>
        <p:sp>
          <p:nvSpPr>
            <p:cNvPr id="28" name="TextBox 28"/>
            <p:cNvSpPr txBox="1"/>
            <p:nvPr/>
          </p:nvSpPr>
          <p:spPr>
            <a:xfrm>
              <a:off x="8068056" y="3409950"/>
              <a:ext cx="2152026"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провал у среднего</a:t>
              </a:r>
            </a:p>
          </p:txBody>
        </p:sp>
        <p:sp>
          <p:nvSpPr>
            <p:cNvPr id="29" name="TextBox 29"/>
            <p:cNvSpPr txBox="1"/>
            <p:nvPr/>
          </p:nvSpPr>
          <p:spPr>
            <a:xfrm>
              <a:off x="8068056" y="3714750"/>
              <a:ext cx="1617574"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специального</a:t>
              </a:r>
            </a:p>
          </p:txBody>
        </p:sp>
        <p:sp>
          <p:nvSpPr>
            <p:cNvPr id="30" name="TextBox 30"/>
            <p:cNvSpPr txBox="1"/>
            <p:nvPr/>
          </p:nvSpPr>
          <p:spPr>
            <a:xfrm>
              <a:off x="8068056" y="4210050"/>
              <a:ext cx="1952794"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косвенно: доход,</a:t>
              </a:r>
            </a:p>
          </p:txBody>
        </p:sp>
        <p:sp>
          <p:nvSpPr>
            <p:cNvPr id="31" name="TextBox 31"/>
            <p:cNvSpPr txBox="1"/>
            <p:nvPr/>
          </p:nvSpPr>
          <p:spPr>
            <a:xfrm>
              <a:off x="8068056" y="4514850"/>
              <a:ext cx="1752204"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статус, навыки</a:t>
              </a:r>
            </a:p>
          </p:txBody>
        </p:sp>
        <p:sp>
          <p:nvSpPr>
            <p:cNvPr id="32" name="TextBox 32"/>
            <p:cNvSpPr txBox="1"/>
            <p:nvPr/>
          </p:nvSpPr>
          <p:spPr>
            <a:xfrm>
              <a:off x="8068056" y="5010150"/>
              <a:ext cx="248453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завышенные ожидания</a:t>
              </a:r>
            </a:p>
          </p:txBody>
        </p:sp>
      </p:grpSp>
      <p:sp>
        <p:nvSpPr>
          <p:cNvPr id="34" name="credit"/>
          <p:cNvSpPr txBox="1"/>
          <p:nvPr/>
        </p:nvSpPr>
        <p:spPr>
          <a:xfrm>
            <a:off x="755904" y="6629400"/>
            <a:ext cx="3248348"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Kambai Akau / Wikimedia / CC BY-SA 4.0</a:t>
            </a:r>
          </a:p>
        </p:txBody>
      </p:sp>
      <p:pic>
        <p:nvPicPr>
          <p:cNvPr id="35" name="PPT Master narration: narration12.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2866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600"/>
                                        <p:tgtEl>
                                          <p:spTgt spid="21"/>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35"/>
                </p:tgtEl>
              </p:cMediaNode>
            </p:audio>
          </p:childTnLst>
        </p:cTn>
      </p:par>
    </p:tnLst>
  </p:timing>
</p:sld>
</file>

<file path=ppt/slides/slide13.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13-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13-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13-accent"/>
          <p:cNvSpPr/>
          <p:nvPr/>
        </p:nvSpPr>
        <p:spPr>
          <a:xfrm>
            <a:off x="0" y="0"/>
            <a:ext cx="12192000" cy="57150"/>
          </a:xfrm>
          <a:prstGeom prst="rect">
            <a:avLst/>
          </a:prstGeom>
          <a:solidFill>
            <a:schemeClr val="accent1"/>
          </a:solidFill>
          <a:ln>
            <a:noFill/>
          </a:ln>
        </p:spPr>
      </p:sp>
      <p:sp>
        <p:nvSpPr>
          <p:cNvPr id="5" name="p13-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13-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13</a:t>
            </a:r>
          </a:p>
        </p:txBody>
      </p:sp>
      <p:grpSp>
        <p:nvGrpSpPr>
          <p:cNvPr id="8" name="p13-title"/>
          <p:cNvGrpSpPr/>
          <p:nvPr/>
        </p:nvGrpSpPr>
        <p:grpSpPr>
          <a:xfrm>
            <a:off x="743712" y="565150"/>
            <a:ext cx="5775138" cy="704088"/>
            <a:chOff x="743712" y="565150"/>
            <a:chExt cx="5775138" cy="704088"/>
          </a:xfrm>
        </p:grpSpPr>
        <p:sp>
          <p:nvSpPr>
            <p:cNvPr id="7" name="TextBox 7"/>
            <p:cNvSpPr txBox="1"/>
            <p:nvPr/>
          </p:nvSpPr>
          <p:spPr>
            <a:xfrm>
              <a:off x="743712" y="565150"/>
              <a:ext cx="5775138"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Баланс онлайн и офлайн</a:t>
              </a:r>
            </a:p>
          </p:txBody>
        </p:sp>
      </p:grpSp>
      <p:grpSp>
        <p:nvGrpSpPr>
          <p:cNvPr id="32" name="p13-plus"/>
          <p:cNvGrpSpPr/>
          <p:nvPr/>
        </p:nvGrpSpPr>
        <p:grpSpPr>
          <a:xfrm>
            <a:off x="762000" y="1809750"/>
            <a:ext cx="4572000" cy="3810000"/>
            <a:chOff x="762000" y="1809750"/>
            <a:chExt cx="4572000" cy="3810000"/>
          </a:xfrm>
        </p:grpSpPr>
        <p:sp>
          <p:nvSpPr>
            <p:cNvPr id="9" name="Rectangle 9"/>
            <p:cNvSpPr/>
            <p:nvPr/>
          </p:nvSpPr>
          <p:spPr>
            <a:xfrm>
              <a:off x="762000" y="1809750"/>
              <a:ext cx="4572000" cy="3810000"/>
            </a:xfrm>
            <a:prstGeom prst="roundRect">
              <a:avLst>
                <a:gd name="adj" fmla="val 4000"/>
              </a:avLst>
            </a:prstGeom>
            <a:solidFill>
              <a:srgbClr val="27AE60">
                <a:alpha val="16000"/>
              </a:srgbClr>
            </a:solidFill>
            <a:ln>
              <a:noFill/>
            </a:ln>
          </p:spPr>
        </p:sp>
        <p:grpSp>
          <p:nvGrpSpPr>
            <p:cNvPr id="12" name="Group 12"/>
            <p:cNvGrpSpPr/>
            <p:nvPr/>
          </p:nvGrpSpPr>
          <p:grpSpPr>
            <a:xfrm>
              <a:off x="1038225" y="2105025"/>
              <a:ext cx="285751" cy="285751"/>
              <a:chOff x="1038225" y="2105025"/>
              <a:chExt cx="285751" cy="285751"/>
            </a:xfrm>
          </p:grpSpPr>
          <p:sp>
            <p:nvSpPr>
              <p:cNvPr id="10" name="Freeform 10"/>
              <p:cNvSpPr/>
              <p:nvPr/>
            </p:nvSpPr>
            <p:spPr>
              <a:xfrm>
                <a:off x="1038225" y="21050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rgbClr val="1E8449"/>
                </a:solidFill>
              </a:ln>
            </p:spPr>
          </p:sp>
          <p:sp>
            <p:nvSpPr>
              <p:cNvPr id="11" name="Freeform 11"/>
              <p:cNvSpPr/>
              <p:nvPr/>
            </p:nvSpPr>
            <p:spPr>
              <a:xfrm>
                <a:off x="1133475" y="2216150"/>
                <a:ext cx="95250" cy="63500"/>
              </a:xfrm>
              <a:custGeom>
                <a:avLst/>
                <a:gdLst/>
                <a:ahLst/>
                <a:cxnLst/>
                <a:rect l="l" t="t" r="r" b="b"/>
                <a:pathLst>
                  <a:path w="95250" h="63500">
                    <a:moveTo>
                      <a:pt x="0" y="31750"/>
                    </a:moveTo>
                    <a:lnTo>
                      <a:pt x="31750" y="63500"/>
                    </a:lnTo>
                    <a:lnTo>
                      <a:pt x="95250" y="0"/>
                    </a:lnTo>
                  </a:path>
                </a:pathLst>
              </a:custGeom>
              <a:noFill/>
              <a:ln w="31750">
                <a:solidFill>
                  <a:srgbClr val="1E8449"/>
                </a:solidFill>
              </a:ln>
            </p:spPr>
          </p:sp>
        </p:grpSp>
        <p:sp>
          <p:nvSpPr>
            <p:cNvPr id="13" name="TextBox 13"/>
            <p:cNvSpPr txBox="1"/>
            <p:nvPr/>
          </p:nvSpPr>
          <p:spPr>
            <a:xfrm>
              <a:off x="1476756" y="2133600"/>
              <a:ext cx="725896" cy="352044"/>
            </a:xfrm>
            <a:prstGeom prst="rect">
              <a:avLst/>
            </a:prstGeom>
            <a:noFill/>
            <a:ln>
              <a:noFill/>
            </a:ln>
          </p:spPr>
          <p:txBody>
            <a:bodyPr wrap="none" lIns="0" tIns="0" rIns="0" bIns="0" anchor="t" anchorCtr="0">
              <a:spAutoFit/>
            </a:bodyPr>
            <a:lstStyle/>
            <a:p>
              <a:pPr algn="l"/>
              <a:r>
                <a:rPr lang="ru" sz="1800" b="1" dirty="0">
                  <a:solidFill>
                    <a:srgbClr val="1E8449"/>
                  </a:solidFill>
                  <a:latin typeface="+mn-lt"/>
                  <a:ea typeface="+mn-ea"/>
                  <a:cs typeface="+mn-cs"/>
                </a:rPr>
                <a:t>Плюсы</a:t>
              </a:r>
            </a:p>
          </p:txBody>
        </p:sp>
        <p:grpSp>
          <p:nvGrpSpPr>
            <p:cNvPr id="18" name="Group 18"/>
            <p:cNvGrpSpPr/>
            <p:nvPr/>
          </p:nvGrpSpPr>
          <p:grpSpPr>
            <a:xfrm>
              <a:off x="1085850" y="2900362"/>
              <a:ext cx="242888" cy="271462"/>
              <a:chOff x="1085850" y="2900362"/>
              <a:chExt cx="242888" cy="271462"/>
            </a:xfrm>
          </p:grpSpPr>
          <p:sp>
            <p:nvSpPr>
              <p:cNvPr id="14" name="Freeform 14"/>
              <p:cNvSpPr/>
              <p:nvPr/>
            </p:nvSpPr>
            <p:spPr>
              <a:xfrm>
                <a:off x="1100138" y="2900362"/>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rgbClr val="27AE60"/>
                </a:solidFill>
              </a:ln>
            </p:spPr>
          </p:sp>
          <p:sp>
            <p:nvSpPr>
              <p:cNvPr id="15" name="Freeform 15"/>
              <p:cNvSpPr/>
              <p:nvPr/>
            </p:nvSpPr>
            <p:spPr>
              <a:xfrm>
                <a:off x="1085850" y="3014662"/>
                <a:ext cx="85725" cy="157162"/>
              </a:xfrm>
              <a:custGeom>
                <a:avLst/>
                <a:gdLst/>
                <a:ahLst/>
                <a:cxnLst/>
                <a:rect l="l" t="t" r="r" b="b"/>
                <a:pathLst>
                  <a:path w="85725" h="157162">
                    <a:moveTo>
                      <a:pt x="14288" y="157162"/>
                    </a:moveTo>
                    <a:lnTo>
                      <a:pt x="14288" y="85725"/>
                    </a:lnTo>
                    <a:lnTo>
                      <a:pt x="0" y="71438"/>
                    </a:lnTo>
                    <a:lnTo>
                      <a:pt x="0" y="14288"/>
                    </a:lnTo>
                    <a:cubicBezTo>
                      <a:pt x="0" y="6397"/>
                      <a:pt x="6397" y="0"/>
                      <a:pt x="14288" y="0"/>
                    </a:cubicBezTo>
                    <a:lnTo>
                      <a:pt x="71438" y="0"/>
                    </a:lnTo>
                    <a:cubicBezTo>
                      <a:pt x="79328" y="0"/>
                      <a:pt x="85725" y="6397"/>
                      <a:pt x="85725" y="14288"/>
                    </a:cubicBezTo>
                    <a:lnTo>
                      <a:pt x="85725" y="71438"/>
                    </a:lnTo>
                    <a:lnTo>
                      <a:pt x="71438" y="85725"/>
                    </a:lnTo>
                    <a:lnTo>
                      <a:pt x="71438" y="157162"/>
                    </a:lnTo>
                  </a:path>
                </a:pathLst>
              </a:custGeom>
              <a:noFill/>
              <a:ln w="28575">
                <a:solidFill>
                  <a:srgbClr val="27AE60"/>
                </a:solidFill>
              </a:ln>
            </p:spPr>
          </p:sp>
          <p:sp>
            <p:nvSpPr>
              <p:cNvPr id="16" name="Freeform 16"/>
              <p:cNvSpPr/>
              <p:nvPr/>
            </p:nvSpPr>
            <p:spPr>
              <a:xfrm>
                <a:off x="1243012" y="2900362"/>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rgbClr val="27AE60"/>
                </a:solidFill>
              </a:ln>
            </p:spPr>
          </p:sp>
          <p:sp>
            <p:nvSpPr>
              <p:cNvPr id="17" name="Freeform 17"/>
              <p:cNvSpPr/>
              <p:nvPr/>
            </p:nvSpPr>
            <p:spPr>
              <a:xfrm>
                <a:off x="1214438" y="3014662"/>
                <a:ext cx="114300" cy="157162"/>
              </a:xfrm>
              <a:custGeom>
                <a:avLst/>
                <a:gdLst/>
                <a:ahLst/>
                <a:cxnLst/>
                <a:rect l="l" t="t" r="r" b="b"/>
                <a:pathLst>
                  <a:path w="114300" h="157162">
                    <a:moveTo>
                      <a:pt x="28575" y="157162"/>
                    </a:moveTo>
                    <a:lnTo>
                      <a:pt x="28575" y="100012"/>
                    </a:lnTo>
                    <a:lnTo>
                      <a:pt x="0" y="100012"/>
                    </a:lnTo>
                    <a:lnTo>
                      <a:pt x="28575" y="14288"/>
                    </a:lnTo>
                    <a:cubicBezTo>
                      <a:pt x="28575" y="6397"/>
                      <a:pt x="34972" y="0"/>
                      <a:pt x="42862" y="0"/>
                    </a:cubicBezTo>
                    <a:lnTo>
                      <a:pt x="71438" y="0"/>
                    </a:lnTo>
                    <a:cubicBezTo>
                      <a:pt x="79328" y="0"/>
                      <a:pt x="85725" y="6397"/>
                      <a:pt x="85725" y="14288"/>
                    </a:cubicBezTo>
                    <a:lnTo>
                      <a:pt x="114300" y="100012"/>
                    </a:lnTo>
                    <a:lnTo>
                      <a:pt x="85725" y="100012"/>
                    </a:lnTo>
                    <a:lnTo>
                      <a:pt x="85725" y="157162"/>
                    </a:lnTo>
                  </a:path>
                </a:pathLst>
              </a:custGeom>
              <a:noFill/>
              <a:ln w="28575">
                <a:solidFill>
                  <a:srgbClr val="27AE60"/>
                </a:solidFill>
              </a:ln>
            </p:spPr>
          </p:sp>
        </p:grpSp>
        <p:sp>
          <p:nvSpPr>
            <p:cNvPr id="19" name="TextBox 19"/>
            <p:cNvSpPr txBox="1"/>
            <p:nvPr/>
          </p:nvSpPr>
          <p:spPr>
            <a:xfrm>
              <a:off x="1514856" y="2914650"/>
              <a:ext cx="201875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связь с близкими</a:t>
              </a:r>
            </a:p>
          </p:txBody>
        </p:sp>
        <p:sp>
          <p:nvSpPr>
            <p:cNvPr id="20" name="Freeform 20"/>
            <p:cNvSpPr/>
            <p:nvPr/>
          </p:nvSpPr>
          <p:spPr>
            <a:xfrm>
              <a:off x="1066615" y="3539635"/>
              <a:ext cx="266811" cy="232265"/>
            </a:xfrm>
            <a:custGeom>
              <a:avLst/>
              <a:gdLst/>
              <a:ahLst/>
              <a:cxnLst/>
              <a:rect l="l" t="t" r="r" b="b"/>
              <a:pathLst>
                <a:path w="266811" h="232265">
                  <a:moveTo>
                    <a:pt x="240691" y="126138"/>
                  </a:moveTo>
                  <a:lnTo>
                    <a:pt x="133535" y="232265"/>
                  </a:lnTo>
                  <a:lnTo>
                    <a:pt x="26379" y="126138"/>
                  </a:lnTo>
                  <a:cubicBezTo>
                    <a:pt x="7109" y="107387"/>
                    <a:pt x="0" y="79404"/>
                    <a:pt x="7983" y="53729"/>
                  </a:cubicBezTo>
                  <a:cubicBezTo>
                    <a:pt x="15966" y="28055"/>
                    <a:pt x="37689" y="9037"/>
                    <a:pt x="64194" y="4518"/>
                  </a:cubicBezTo>
                  <a:cubicBezTo>
                    <a:pt x="90699" y="0"/>
                    <a:pt x="117496" y="10746"/>
                    <a:pt x="133535" y="32326"/>
                  </a:cubicBezTo>
                  <a:cubicBezTo>
                    <a:pt x="149641" y="10906"/>
                    <a:pt x="176381" y="302"/>
                    <a:pt x="202789" y="4863"/>
                  </a:cubicBezTo>
                  <a:cubicBezTo>
                    <a:pt x="229198" y="9424"/>
                    <a:pt x="250833" y="28381"/>
                    <a:pt x="258822" y="53962"/>
                  </a:cubicBezTo>
                  <a:cubicBezTo>
                    <a:pt x="266811" y="79543"/>
                    <a:pt x="259811" y="107444"/>
                    <a:pt x="240691" y="126224"/>
                  </a:cubicBezTo>
                </a:path>
              </a:pathLst>
            </a:custGeom>
            <a:noFill/>
            <a:ln w="28575">
              <a:solidFill>
                <a:srgbClr val="27AE60"/>
              </a:solidFill>
            </a:ln>
          </p:spPr>
        </p:sp>
        <p:sp>
          <p:nvSpPr>
            <p:cNvPr id="21" name="TextBox 21"/>
            <p:cNvSpPr txBox="1"/>
            <p:nvPr/>
          </p:nvSpPr>
          <p:spPr>
            <a:xfrm>
              <a:off x="1514856" y="3543300"/>
              <a:ext cx="2285300"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поддержка и помощь</a:t>
              </a:r>
            </a:p>
          </p:txBody>
        </p:sp>
        <p:grpSp>
          <p:nvGrpSpPr>
            <p:cNvPr id="25" name="Group 25"/>
            <p:cNvGrpSpPr/>
            <p:nvPr/>
          </p:nvGrpSpPr>
          <p:grpSpPr>
            <a:xfrm>
              <a:off x="1100138" y="4171950"/>
              <a:ext cx="200025" cy="228600"/>
              <a:chOff x="1100138" y="4171950"/>
              <a:chExt cx="200025" cy="228600"/>
            </a:xfrm>
          </p:grpSpPr>
          <p:sp>
            <p:nvSpPr>
              <p:cNvPr id="22" name="Freeform 22"/>
              <p:cNvSpPr/>
              <p:nvPr/>
            </p:nvSpPr>
            <p:spPr>
              <a:xfrm>
                <a:off x="1100138" y="4171950"/>
                <a:ext cx="200025" cy="228600"/>
              </a:xfrm>
              <a:custGeom>
                <a:avLst/>
                <a:gdLst/>
                <a:ahLst/>
                <a:cxnLst/>
                <a:rect l="l" t="t" r="r" b="b"/>
                <a:pathLst>
                  <a:path w="200025" h="228600">
                    <a:moveTo>
                      <a:pt x="200025" y="0"/>
                    </a:moveTo>
                    <a:lnTo>
                      <a:pt x="200025" y="228600"/>
                    </a:lnTo>
                    <a:lnTo>
                      <a:pt x="28575" y="228600"/>
                    </a:lnTo>
                    <a:cubicBezTo>
                      <a:pt x="12793" y="228600"/>
                      <a:pt x="0" y="215807"/>
                      <a:pt x="0" y="200025"/>
                    </a:cubicBezTo>
                    <a:lnTo>
                      <a:pt x="0" y="28575"/>
                    </a:lnTo>
                    <a:cubicBezTo>
                      <a:pt x="0" y="12793"/>
                      <a:pt x="12793" y="0"/>
                      <a:pt x="28575" y="0"/>
                    </a:cubicBezTo>
                    <a:lnTo>
                      <a:pt x="200025" y="0"/>
                    </a:lnTo>
                  </a:path>
                </a:pathLst>
              </a:custGeom>
              <a:noFill/>
              <a:ln w="28575">
                <a:solidFill>
                  <a:srgbClr val="27AE60"/>
                </a:solidFill>
              </a:ln>
            </p:spPr>
          </p:sp>
          <p:sp>
            <p:nvSpPr>
              <p:cNvPr id="23" name="Freeform 23"/>
              <p:cNvSpPr/>
              <p:nvPr/>
            </p:nvSpPr>
            <p:spPr>
              <a:xfrm>
                <a:off x="1100138" y="4343400"/>
                <a:ext cx="200025" cy="28575"/>
              </a:xfrm>
              <a:custGeom>
                <a:avLst/>
                <a:gdLst/>
                <a:ahLst/>
                <a:cxnLst/>
                <a:rect l="l" t="t" r="r" b="b"/>
                <a:pathLst>
                  <a:path w="200025" h="28575">
                    <a:moveTo>
                      <a:pt x="200025" y="0"/>
                    </a:moveTo>
                    <a:lnTo>
                      <a:pt x="28575" y="0"/>
                    </a:lnTo>
                    <a:cubicBezTo>
                      <a:pt x="12793" y="0"/>
                      <a:pt x="0" y="12793"/>
                      <a:pt x="0" y="28575"/>
                    </a:cubicBezTo>
                  </a:path>
                </a:pathLst>
              </a:custGeom>
              <a:noFill/>
              <a:ln w="28575">
                <a:solidFill>
                  <a:srgbClr val="27AE60"/>
                </a:solidFill>
              </a:ln>
            </p:spPr>
          </p:sp>
          <p:sp>
            <p:nvSpPr>
              <p:cNvPr id="24" name="Freeform 24"/>
              <p:cNvSpPr/>
              <p:nvPr/>
            </p:nvSpPr>
            <p:spPr>
              <a:xfrm>
                <a:off x="1157288" y="4229100"/>
                <a:ext cx="85725" cy="9525"/>
              </a:xfrm>
              <a:custGeom>
                <a:avLst/>
                <a:gdLst/>
                <a:ahLst/>
                <a:cxnLst/>
                <a:rect l="l" t="t" r="r" b="b"/>
                <a:pathLst>
                  <a:path w="85725" h="9525">
                    <a:moveTo>
                      <a:pt x="0" y="0"/>
                    </a:moveTo>
                    <a:lnTo>
                      <a:pt x="85725" y="0"/>
                    </a:lnTo>
                  </a:path>
                </a:pathLst>
              </a:custGeom>
              <a:noFill/>
              <a:ln w="28575">
                <a:solidFill>
                  <a:srgbClr val="27AE60"/>
                </a:solidFill>
              </a:ln>
            </p:spPr>
          </p:sp>
        </p:grpSp>
        <p:sp>
          <p:nvSpPr>
            <p:cNvPr id="26" name="TextBox 26"/>
            <p:cNvSpPr txBox="1"/>
            <p:nvPr/>
          </p:nvSpPr>
          <p:spPr>
            <a:xfrm>
              <a:off x="1514856" y="4171950"/>
              <a:ext cx="201875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доступ к знаниям</a:t>
              </a:r>
            </a:p>
          </p:txBody>
        </p:sp>
        <p:grpSp>
          <p:nvGrpSpPr>
            <p:cNvPr id="30" name="Group 30"/>
            <p:cNvGrpSpPr/>
            <p:nvPr/>
          </p:nvGrpSpPr>
          <p:grpSpPr>
            <a:xfrm>
              <a:off x="1071562" y="4786312"/>
              <a:ext cx="257175" cy="257176"/>
              <a:chOff x="1071562" y="4786312"/>
              <a:chExt cx="257175" cy="257176"/>
            </a:xfrm>
          </p:grpSpPr>
          <p:sp>
            <p:nvSpPr>
              <p:cNvPr id="27" name="Freeform 27"/>
              <p:cNvSpPr/>
              <p:nvPr/>
            </p:nvSpPr>
            <p:spPr>
              <a:xfrm>
                <a:off x="1071562" y="4800600"/>
                <a:ext cx="242888" cy="242888"/>
              </a:xfrm>
              <a:custGeom>
                <a:avLst/>
                <a:gdLst/>
                <a:ahLst/>
                <a:cxnLst/>
                <a:rect l="l" t="t" r="r" b="b"/>
                <a:pathLst>
                  <a:path w="242888" h="242888">
                    <a:moveTo>
                      <a:pt x="28575" y="0"/>
                    </a:moveTo>
                    <a:lnTo>
                      <a:pt x="85725" y="0"/>
                    </a:lnTo>
                    <a:lnTo>
                      <a:pt x="114300" y="71438"/>
                    </a:lnTo>
                    <a:lnTo>
                      <a:pt x="78581" y="92869"/>
                    </a:lnTo>
                    <a:cubicBezTo>
                      <a:pt x="93883" y="123894"/>
                      <a:pt x="118993" y="149005"/>
                      <a:pt x="150019" y="164306"/>
                    </a:cubicBezTo>
                    <a:lnTo>
                      <a:pt x="171450" y="128588"/>
                    </a:lnTo>
                    <a:lnTo>
                      <a:pt x="242888" y="157162"/>
                    </a:lnTo>
                    <a:lnTo>
                      <a:pt x="242888" y="214312"/>
                    </a:lnTo>
                    <a:cubicBezTo>
                      <a:pt x="242888" y="230094"/>
                      <a:pt x="230094" y="242888"/>
                      <a:pt x="214312" y="242888"/>
                    </a:cubicBezTo>
                    <a:cubicBezTo>
                      <a:pt x="98979" y="235879"/>
                      <a:pt x="7009" y="143909"/>
                      <a:pt x="0" y="28575"/>
                    </a:cubicBezTo>
                    <a:cubicBezTo>
                      <a:pt x="0" y="12793"/>
                      <a:pt x="12793" y="0"/>
                      <a:pt x="28575" y="0"/>
                    </a:cubicBezTo>
                  </a:path>
                </a:pathLst>
              </a:custGeom>
              <a:noFill/>
              <a:ln w="28575">
                <a:solidFill>
                  <a:srgbClr val="27AE60"/>
                </a:solidFill>
              </a:ln>
            </p:spPr>
          </p:sp>
          <p:sp>
            <p:nvSpPr>
              <p:cNvPr id="28" name="Freeform 28"/>
              <p:cNvSpPr/>
              <p:nvPr/>
            </p:nvSpPr>
            <p:spPr>
              <a:xfrm>
                <a:off x="1243012" y="4843462"/>
                <a:ext cx="28575" cy="28575"/>
              </a:xfrm>
              <a:custGeom>
                <a:avLst/>
                <a:gdLst/>
                <a:ahLst/>
                <a:cxnLst/>
                <a:rect l="l" t="t" r="r" b="b"/>
                <a:pathLst>
                  <a:path w="28575" h="28575">
                    <a:moveTo>
                      <a:pt x="0" y="0"/>
                    </a:moveTo>
                    <a:cubicBezTo>
                      <a:pt x="15782" y="0"/>
                      <a:pt x="28575" y="12793"/>
                      <a:pt x="28575" y="28575"/>
                    </a:cubicBezTo>
                  </a:path>
                </a:pathLst>
              </a:custGeom>
              <a:noFill/>
              <a:ln w="28575">
                <a:solidFill>
                  <a:srgbClr val="27AE60"/>
                </a:solidFill>
              </a:ln>
            </p:spPr>
          </p:sp>
          <p:sp>
            <p:nvSpPr>
              <p:cNvPr id="29" name="Freeform 29"/>
              <p:cNvSpPr/>
              <p:nvPr/>
            </p:nvSpPr>
            <p:spPr>
              <a:xfrm>
                <a:off x="1243012" y="4786312"/>
                <a:ext cx="85725" cy="85725"/>
              </a:xfrm>
              <a:custGeom>
                <a:avLst/>
                <a:gdLst/>
                <a:ahLst/>
                <a:cxnLst/>
                <a:rect l="l" t="t" r="r" b="b"/>
                <a:pathLst>
                  <a:path w="85725" h="85725">
                    <a:moveTo>
                      <a:pt x="0" y="0"/>
                    </a:moveTo>
                    <a:cubicBezTo>
                      <a:pt x="47345" y="0"/>
                      <a:pt x="85725" y="38380"/>
                      <a:pt x="85725" y="85725"/>
                    </a:cubicBezTo>
                  </a:path>
                </a:pathLst>
              </a:custGeom>
              <a:noFill/>
              <a:ln w="28575">
                <a:solidFill>
                  <a:srgbClr val="27AE60"/>
                </a:solidFill>
              </a:ln>
            </p:spPr>
          </p:sp>
        </p:grpSp>
        <p:sp>
          <p:nvSpPr>
            <p:cNvPr id="31" name="TextBox 31"/>
            <p:cNvSpPr txBox="1"/>
            <p:nvPr/>
          </p:nvSpPr>
          <p:spPr>
            <a:xfrm>
              <a:off x="1514856" y="4800600"/>
              <a:ext cx="183153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онлайн-терапия</a:t>
              </a:r>
            </a:p>
          </p:txBody>
        </p:sp>
      </p:grpSp>
      <p:grpSp>
        <p:nvGrpSpPr>
          <p:cNvPr id="46" name="p13-phone"/>
          <p:cNvGrpSpPr/>
          <p:nvPr/>
        </p:nvGrpSpPr>
        <p:grpSpPr>
          <a:xfrm>
            <a:off x="5619750" y="2381250"/>
            <a:ext cx="952500" cy="2857500"/>
            <a:chOff x="5619750" y="2381250"/>
            <a:chExt cx="952500" cy="2857500"/>
          </a:xfrm>
        </p:grpSpPr>
        <p:sp>
          <p:nvSpPr>
            <p:cNvPr id="33" name="Rectangle 33"/>
            <p:cNvSpPr/>
            <p:nvPr/>
          </p:nvSpPr>
          <p:spPr>
            <a:xfrm>
              <a:off x="5619750" y="2381250"/>
              <a:ext cx="952500" cy="2857500"/>
            </a:xfrm>
            <a:prstGeom prst="roundRect">
              <a:avLst>
                <a:gd name="adj" fmla="val 18000"/>
              </a:avLst>
            </a:prstGeom>
            <a:solidFill>
              <a:schemeClr val="accent1"/>
            </a:solidFill>
            <a:ln>
              <a:noFill/>
            </a:ln>
          </p:spPr>
        </p:sp>
        <p:sp>
          <p:nvSpPr>
            <p:cNvPr id="34" name="Rectangle 34"/>
            <p:cNvSpPr/>
            <p:nvPr/>
          </p:nvSpPr>
          <p:spPr>
            <a:xfrm>
              <a:off x="5753100" y="2590800"/>
              <a:ext cx="685800" cy="2438400"/>
            </a:xfrm>
            <a:prstGeom prst="roundRect">
              <a:avLst>
                <a:gd name="adj" fmla="val 11111"/>
              </a:avLst>
            </a:prstGeom>
            <a:solidFill>
              <a:srgbClr val="FFFFFF">
                <a:alpha val="90000"/>
              </a:srgbClr>
            </a:solidFill>
            <a:ln>
              <a:noFill/>
            </a:ln>
          </p:spPr>
        </p:sp>
        <p:grpSp>
          <p:nvGrpSpPr>
            <p:cNvPr id="44" name="Group 44"/>
            <p:cNvGrpSpPr/>
            <p:nvPr/>
          </p:nvGrpSpPr>
          <p:grpSpPr>
            <a:xfrm>
              <a:off x="5943600" y="3409950"/>
              <a:ext cx="304800" cy="304800"/>
              <a:chOff x="5943600" y="3409950"/>
              <a:chExt cx="304800" cy="304800"/>
            </a:xfrm>
          </p:grpSpPr>
          <p:sp>
            <p:nvSpPr>
              <p:cNvPr id="35" name="Freeform 35"/>
              <p:cNvSpPr/>
              <p:nvPr/>
            </p:nvSpPr>
            <p:spPr>
              <a:xfrm>
                <a:off x="5943600" y="34861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38100">
                <a:solidFill>
                  <a:schemeClr val="accent1"/>
                </a:solidFill>
              </a:ln>
            </p:spPr>
          </p:sp>
          <p:sp>
            <p:nvSpPr>
              <p:cNvPr id="36" name="Freeform 36"/>
              <p:cNvSpPr/>
              <p:nvPr/>
            </p:nvSpPr>
            <p:spPr>
              <a:xfrm>
                <a:off x="5981700" y="3409950"/>
                <a:ext cx="9525" cy="76200"/>
              </a:xfrm>
              <a:custGeom>
                <a:avLst/>
                <a:gdLst/>
                <a:ahLst/>
                <a:cxnLst/>
                <a:rect l="l" t="t" r="r" b="b"/>
                <a:pathLst>
                  <a:path w="9525" h="76200">
                    <a:moveTo>
                      <a:pt x="0" y="0"/>
                    </a:moveTo>
                    <a:lnTo>
                      <a:pt x="0" y="76200"/>
                    </a:lnTo>
                  </a:path>
                </a:pathLst>
              </a:custGeom>
              <a:noFill/>
              <a:ln w="38100">
                <a:solidFill>
                  <a:schemeClr val="accent1"/>
                </a:solidFill>
              </a:ln>
            </p:spPr>
          </p:sp>
          <p:sp>
            <p:nvSpPr>
              <p:cNvPr id="37" name="Freeform 37"/>
              <p:cNvSpPr/>
              <p:nvPr/>
            </p:nvSpPr>
            <p:spPr>
              <a:xfrm>
                <a:off x="5981700" y="3562350"/>
                <a:ext cx="9525" cy="152400"/>
              </a:xfrm>
              <a:custGeom>
                <a:avLst/>
                <a:gdLst/>
                <a:ahLst/>
                <a:cxnLst/>
                <a:rect l="l" t="t" r="r" b="b"/>
                <a:pathLst>
                  <a:path w="9525" h="152400">
                    <a:moveTo>
                      <a:pt x="0" y="0"/>
                    </a:moveTo>
                    <a:lnTo>
                      <a:pt x="0" y="152400"/>
                    </a:lnTo>
                  </a:path>
                </a:pathLst>
              </a:custGeom>
              <a:noFill/>
              <a:ln w="38100">
                <a:solidFill>
                  <a:schemeClr val="accent1"/>
                </a:solidFill>
              </a:ln>
            </p:spPr>
          </p:sp>
          <p:sp>
            <p:nvSpPr>
              <p:cNvPr id="38" name="Freeform 38"/>
              <p:cNvSpPr/>
              <p:nvPr/>
            </p:nvSpPr>
            <p:spPr>
              <a:xfrm>
                <a:off x="6057900" y="36004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38100">
                <a:solidFill>
                  <a:schemeClr val="accent1"/>
                </a:solidFill>
              </a:ln>
            </p:spPr>
          </p:sp>
          <p:sp>
            <p:nvSpPr>
              <p:cNvPr id="39" name="Freeform 39"/>
              <p:cNvSpPr/>
              <p:nvPr/>
            </p:nvSpPr>
            <p:spPr>
              <a:xfrm>
                <a:off x="6096000" y="3409950"/>
                <a:ext cx="9525" cy="190500"/>
              </a:xfrm>
              <a:custGeom>
                <a:avLst/>
                <a:gdLst/>
                <a:ahLst/>
                <a:cxnLst/>
                <a:rect l="l" t="t" r="r" b="b"/>
                <a:pathLst>
                  <a:path w="9525" h="190500">
                    <a:moveTo>
                      <a:pt x="0" y="0"/>
                    </a:moveTo>
                    <a:lnTo>
                      <a:pt x="0" y="190500"/>
                    </a:lnTo>
                  </a:path>
                </a:pathLst>
              </a:custGeom>
              <a:noFill/>
              <a:ln w="38100">
                <a:solidFill>
                  <a:schemeClr val="accent1"/>
                </a:solidFill>
              </a:ln>
            </p:spPr>
          </p:sp>
          <p:sp>
            <p:nvSpPr>
              <p:cNvPr id="40" name="Freeform 40"/>
              <p:cNvSpPr/>
              <p:nvPr/>
            </p:nvSpPr>
            <p:spPr>
              <a:xfrm>
                <a:off x="6096000" y="3676650"/>
                <a:ext cx="9525" cy="38100"/>
              </a:xfrm>
              <a:custGeom>
                <a:avLst/>
                <a:gdLst/>
                <a:ahLst/>
                <a:cxnLst/>
                <a:rect l="l" t="t" r="r" b="b"/>
                <a:pathLst>
                  <a:path w="9525" h="38100">
                    <a:moveTo>
                      <a:pt x="0" y="0"/>
                    </a:moveTo>
                    <a:lnTo>
                      <a:pt x="0" y="38100"/>
                    </a:lnTo>
                  </a:path>
                </a:pathLst>
              </a:custGeom>
              <a:noFill/>
              <a:ln w="38100">
                <a:solidFill>
                  <a:schemeClr val="accent1"/>
                </a:solidFill>
              </a:ln>
            </p:spPr>
          </p:sp>
          <p:sp>
            <p:nvSpPr>
              <p:cNvPr id="41" name="Freeform 41"/>
              <p:cNvSpPr/>
              <p:nvPr/>
            </p:nvSpPr>
            <p:spPr>
              <a:xfrm>
                <a:off x="6172200" y="342900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38100">
                <a:solidFill>
                  <a:schemeClr val="accent1"/>
                </a:solidFill>
              </a:ln>
            </p:spPr>
          </p:sp>
          <p:sp>
            <p:nvSpPr>
              <p:cNvPr id="42" name="Freeform 42"/>
              <p:cNvSpPr/>
              <p:nvPr/>
            </p:nvSpPr>
            <p:spPr>
              <a:xfrm>
                <a:off x="6210300" y="3409950"/>
                <a:ext cx="9525" cy="19050"/>
              </a:xfrm>
              <a:custGeom>
                <a:avLst/>
                <a:gdLst/>
                <a:ahLst/>
                <a:cxnLst/>
                <a:rect l="l" t="t" r="r" b="b"/>
                <a:pathLst>
                  <a:path w="9525" h="19050">
                    <a:moveTo>
                      <a:pt x="0" y="0"/>
                    </a:moveTo>
                    <a:lnTo>
                      <a:pt x="0" y="19050"/>
                    </a:lnTo>
                  </a:path>
                </a:pathLst>
              </a:custGeom>
              <a:noFill/>
              <a:ln w="38100">
                <a:solidFill>
                  <a:schemeClr val="accent1"/>
                </a:solidFill>
              </a:ln>
            </p:spPr>
          </p:sp>
          <p:sp>
            <p:nvSpPr>
              <p:cNvPr id="43" name="Freeform 43"/>
              <p:cNvSpPr/>
              <p:nvPr/>
            </p:nvSpPr>
            <p:spPr>
              <a:xfrm>
                <a:off x="6210300" y="3505200"/>
                <a:ext cx="9525" cy="209550"/>
              </a:xfrm>
              <a:custGeom>
                <a:avLst/>
                <a:gdLst/>
                <a:ahLst/>
                <a:cxnLst/>
                <a:rect l="l" t="t" r="r" b="b"/>
                <a:pathLst>
                  <a:path w="9525" h="209550">
                    <a:moveTo>
                      <a:pt x="0" y="0"/>
                    </a:moveTo>
                    <a:lnTo>
                      <a:pt x="0" y="209550"/>
                    </a:lnTo>
                  </a:path>
                </a:pathLst>
              </a:custGeom>
              <a:noFill/>
              <a:ln w="38100">
                <a:solidFill>
                  <a:schemeClr val="accent1"/>
                </a:solidFill>
              </a:ln>
            </p:spPr>
          </p:sp>
        </p:grpSp>
        <p:sp>
          <p:nvSpPr>
            <p:cNvPr id="45" name="Ellipse 45"/>
            <p:cNvSpPr/>
            <p:nvPr/>
          </p:nvSpPr>
          <p:spPr>
            <a:xfrm>
              <a:off x="6029325" y="5038725"/>
              <a:ext cx="133350" cy="133350"/>
            </a:xfrm>
            <a:prstGeom prst="ellipse">
              <a:avLst/>
            </a:prstGeom>
            <a:solidFill>
              <a:srgbClr val="FFFFFF"/>
            </a:solidFill>
            <a:ln>
              <a:noFill/>
            </a:ln>
          </p:spPr>
        </p:sp>
      </p:grpSp>
      <p:grpSp>
        <p:nvGrpSpPr>
          <p:cNvPr id="66" name="p13-minus"/>
          <p:cNvGrpSpPr/>
          <p:nvPr/>
        </p:nvGrpSpPr>
        <p:grpSpPr>
          <a:xfrm>
            <a:off x="6858000" y="1809750"/>
            <a:ext cx="4572000" cy="3810000"/>
            <a:chOff x="6858000" y="1809750"/>
            <a:chExt cx="4572000" cy="3810000"/>
          </a:xfrm>
        </p:grpSpPr>
        <p:sp>
          <p:nvSpPr>
            <p:cNvPr id="47" name="Rectangle 47"/>
            <p:cNvSpPr/>
            <p:nvPr/>
          </p:nvSpPr>
          <p:spPr>
            <a:xfrm>
              <a:off x="6858000" y="1809750"/>
              <a:ext cx="4572000" cy="3810000"/>
            </a:xfrm>
            <a:prstGeom prst="roundRect">
              <a:avLst>
                <a:gd name="adj" fmla="val 4000"/>
              </a:avLst>
            </a:prstGeom>
            <a:solidFill>
              <a:srgbClr val="E74C3C">
                <a:alpha val="16000"/>
              </a:srgbClr>
            </a:solidFill>
            <a:ln>
              <a:noFill/>
            </a:ln>
          </p:spPr>
        </p:sp>
        <p:grpSp>
          <p:nvGrpSpPr>
            <p:cNvPr id="50" name="Group 50"/>
            <p:cNvGrpSpPr/>
            <p:nvPr/>
          </p:nvGrpSpPr>
          <p:grpSpPr>
            <a:xfrm>
              <a:off x="7134225" y="2105025"/>
              <a:ext cx="285751" cy="285751"/>
              <a:chOff x="7134225" y="2105025"/>
              <a:chExt cx="285751" cy="285751"/>
            </a:xfrm>
          </p:grpSpPr>
          <p:sp>
            <p:nvSpPr>
              <p:cNvPr id="48" name="Freeform 48"/>
              <p:cNvSpPr/>
              <p:nvPr/>
            </p:nvSpPr>
            <p:spPr>
              <a:xfrm>
                <a:off x="7134225" y="21050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rgbClr val="C0392B"/>
                </a:solidFill>
              </a:ln>
            </p:spPr>
          </p:sp>
          <p:sp>
            <p:nvSpPr>
              <p:cNvPr id="49" name="Freeform 49"/>
              <p:cNvSpPr/>
              <p:nvPr/>
            </p:nvSpPr>
            <p:spPr>
              <a:xfrm>
                <a:off x="7245350" y="2216150"/>
                <a:ext cx="63500" cy="63500"/>
              </a:xfrm>
              <a:custGeom>
                <a:avLst/>
                <a:gdLst/>
                <a:ahLst/>
                <a:cxnLst/>
                <a:rect l="l" t="t" r="r" b="b"/>
                <a:pathLst>
                  <a:path w="63500" h="63500">
                    <a:moveTo>
                      <a:pt x="0" y="0"/>
                    </a:moveTo>
                    <a:lnTo>
                      <a:pt x="63500" y="63500"/>
                    </a:lnTo>
                    <a:moveTo>
                      <a:pt x="63500" y="0"/>
                    </a:moveTo>
                    <a:lnTo>
                      <a:pt x="0" y="63500"/>
                    </a:lnTo>
                  </a:path>
                </a:pathLst>
              </a:custGeom>
              <a:noFill/>
              <a:ln w="31750">
                <a:solidFill>
                  <a:srgbClr val="C0392B"/>
                </a:solidFill>
              </a:ln>
            </p:spPr>
          </p:sp>
        </p:grpSp>
        <p:sp>
          <p:nvSpPr>
            <p:cNvPr id="51" name="TextBox 51"/>
            <p:cNvSpPr txBox="1"/>
            <p:nvPr/>
          </p:nvSpPr>
          <p:spPr>
            <a:xfrm>
              <a:off x="7572756" y="2133600"/>
              <a:ext cx="865834" cy="352044"/>
            </a:xfrm>
            <a:prstGeom prst="rect">
              <a:avLst/>
            </a:prstGeom>
            <a:noFill/>
            <a:ln>
              <a:noFill/>
            </a:ln>
          </p:spPr>
          <p:txBody>
            <a:bodyPr wrap="none" lIns="0" tIns="0" rIns="0" bIns="0" anchor="t" anchorCtr="0">
              <a:spAutoFit/>
            </a:bodyPr>
            <a:lstStyle/>
            <a:p>
              <a:pPr algn="l"/>
              <a:r>
                <a:rPr lang="ru" sz="1800" b="1" dirty="0">
                  <a:solidFill>
                    <a:srgbClr val="C0392B"/>
                  </a:solidFill>
                  <a:latin typeface="+mn-lt"/>
                  <a:ea typeface="+mn-ea"/>
                  <a:cs typeface="+mn-cs"/>
                </a:rPr>
                <a:t>Минусы</a:t>
              </a:r>
            </a:p>
          </p:txBody>
        </p:sp>
        <p:grpSp>
          <p:nvGrpSpPr>
            <p:cNvPr id="54" name="Group 54"/>
            <p:cNvGrpSpPr/>
            <p:nvPr/>
          </p:nvGrpSpPr>
          <p:grpSpPr>
            <a:xfrm>
              <a:off x="7167562" y="2943225"/>
              <a:ext cx="257175" cy="171450"/>
              <a:chOff x="7167562" y="2943225"/>
              <a:chExt cx="257175" cy="171450"/>
            </a:xfrm>
          </p:grpSpPr>
          <p:sp>
            <p:nvSpPr>
              <p:cNvPr id="52" name="Freeform 52"/>
              <p:cNvSpPr/>
              <p:nvPr/>
            </p:nvSpPr>
            <p:spPr>
              <a:xfrm>
                <a:off x="7267575" y="300037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rgbClr val="E74C3C"/>
                </a:solidFill>
              </a:ln>
            </p:spPr>
          </p:sp>
          <p:sp>
            <p:nvSpPr>
              <p:cNvPr id="53" name="Freeform 53"/>
              <p:cNvSpPr/>
              <p:nvPr/>
            </p:nvSpPr>
            <p:spPr>
              <a:xfrm>
                <a:off x="7167562" y="2943225"/>
                <a:ext cx="257175" cy="171450"/>
              </a:xfrm>
              <a:custGeom>
                <a:avLst/>
                <a:gdLst/>
                <a:ahLst/>
                <a:cxnLst/>
                <a:rect l="l" t="t" r="r" b="b"/>
                <a:pathLst>
                  <a:path w="257175" h="171450">
                    <a:moveTo>
                      <a:pt x="257175" y="85725"/>
                    </a:moveTo>
                    <a:cubicBezTo>
                      <a:pt x="222885" y="142875"/>
                      <a:pt x="180022" y="171450"/>
                      <a:pt x="128588" y="171450"/>
                    </a:cubicBezTo>
                    <a:cubicBezTo>
                      <a:pt x="77153" y="171450"/>
                      <a:pt x="34290" y="142875"/>
                      <a:pt x="0" y="85725"/>
                    </a:cubicBezTo>
                    <a:cubicBezTo>
                      <a:pt x="34290" y="28575"/>
                      <a:pt x="77153" y="0"/>
                      <a:pt x="128588" y="0"/>
                    </a:cubicBezTo>
                    <a:cubicBezTo>
                      <a:pt x="180022" y="0"/>
                      <a:pt x="222885" y="28575"/>
                      <a:pt x="257175" y="85725"/>
                    </a:cubicBezTo>
                  </a:path>
                </a:pathLst>
              </a:custGeom>
              <a:noFill/>
              <a:ln w="28575">
                <a:solidFill>
                  <a:srgbClr val="E74C3C"/>
                </a:solidFill>
              </a:ln>
            </p:spPr>
          </p:sp>
        </p:grpSp>
        <p:sp>
          <p:nvSpPr>
            <p:cNvPr id="55" name="TextBox 55"/>
            <p:cNvSpPr txBox="1"/>
            <p:nvPr/>
          </p:nvSpPr>
          <p:spPr>
            <a:xfrm>
              <a:off x="7610856" y="2914650"/>
              <a:ext cx="2418573"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сравнение с другими</a:t>
              </a:r>
            </a:p>
          </p:txBody>
        </p:sp>
        <p:grpSp>
          <p:nvGrpSpPr>
            <p:cNvPr id="60" name="Group 60"/>
            <p:cNvGrpSpPr/>
            <p:nvPr/>
          </p:nvGrpSpPr>
          <p:grpSpPr>
            <a:xfrm>
              <a:off x="7167562" y="3529012"/>
              <a:ext cx="257175" cy="257175"/>
              <a:chOff x="7167562" y="3529012"/>
              <a:chExt cx="257175" cy="257175"/>
            </a:xfrm>
          </p:grpSpPr>
          <p:sp>
            <p:nvSpPr>
              <p:cNvPr id="56" name="Freeform 56"/>
              <p:cNvSpPr/>
              <p:nvPr/>
            </p:nvSpPr>
            <p:spPr>
              <a:xfrm>
                <a:off x="7167562" y="352901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28575">
                <a:solidFill>
                  <a:srgbClr val="E74C3C"/>
                </a:solidFill>
              </a:ln>
            </p:spPr>
          </p:sp>
          <p:sp>
            <p:nvSpPr>
              <p:cNvPr id="57" name="Freeform 57"/>
              <p:cNvSpPr/>
              <p:nvPr/>
            </p:nvSpPr>
            <p:spPr>
              <a:xfrm>
                <a:off x="7253288" y="3629025"/>
                <a:ext cx="9525" cy="9525"/>
              </a:xfrm>
              <a:custGeom>
                <a:avLst/>
                <a:gdLst/>
                <a:ahLst/>
                <a:cxnLst/>
                <a:rect l="l" t="t" r="r" b="b"/>
                <a:pathLst>
                  <a:path w="9525" h="9525">
                    <a:moveTo>
                      <a:pt x="0" y="0"/>
                    </a:moveTo>
                    <a:lnTo>
                      <a:pt x="143" y="0"/>
                    </a:lnTo>
                  </a:path>
                </a:pathLst>
              </a:custGeom>
              <a:noFill/>
              <a:ln w="28575">
                <a:solidFill>
                  <a:srgbClr val="E74C3C"/>
                </a:solidFill>
              </a:ln>
            </p:spPr>
          </p:sp>
          <p:sp>
            <p:nvSpPr>
              <p:cNvPr id="58" name="Freeform 58"/>
              <p:cNvSpPr/>
              <p:nvPr/>
            </p:nvSpPr>
            <p:spPr>
              <a:xfrm>
                <a:off x="7339012" y="3629025"/>
                <a:ext cx="9525" cy="9525"/>
              </a:xfrm>
              <a:custGeom>
                <a:avLst/>
                <a:gdLst/>
                <a:ahLst/>
                <a:cxnLst/>
                <a:rect l="l" t="t" r="r" b="b"/>
                <a:pathLst>
                  <a:path w="9525" h="9525">
                    <a:moveTo>
                      <a:pt x="0" y="0"/>
                    </a:moveTo>
                    <a:lnTo>
                      <a:pt x="143" y="0"/>
                    </a:lnTo>
                  </a:path>
                </a:pathLst>
              </a:custGeom>
              <a:noFill/>
              <a:ln w="28575">
                <a:solidFill>
                  <a:srgbClr val="E74C3C"/>
                </a:solidFill>
              </a:ln>
            </p:spPr>
          </p:sp>
          <p:sp>
            <p:nvSpPr>
              <p:cNvPr id="59" name="Freeform 59"/>
              <p:cNvSpPr/>
              <p:nvPr/>
            </p:nvSpPr>
            <p:spPr>
              <a:xfrm>
                <a:off x="7260431" y="3689025"/>
                <a:ext cx="71438" cy="15009"/>
              </a:xfrm>
              <a:custGeom>
                <a:avLst/>
                <a:gdLst/>
                <a:ahLst/>
                <a:cxnLst/>
                <a:rect l="l" t="t" r="r" b="b"/>
                <a:pathLst>
                  <a:path w="71438" h="15009">
                    <a:moveTo>
                      <a:pt x="0" y="15009"/>
                    </a:moveTo>
                    <a:cubicBezTo>
                      <a:pt x="9406" y="5410"/>
                      <a:pt x="22279" y="0"/>
                      <a:pt x="35719" y="0"/>
                    </a:cubicBezTo>
                    <a:cubicBezTo>
                      <a:pt x="49158" y="0"/>
                      <a:pt x="62032" y="5410"/>
                      <a:pt x="71438" y="15009"/>
                    </a:cubicBezTo>
                  </a:path>
                </a:pathLst>
              </a:custGeom>
              <a:noFill/>
              <a:ln w="28575">
                <a:solidFill>
                  <a:srgbClr val="E74C3C"/>
                </a:solidFill>
              </a:ln>
            </p:spPr>
          </p:sp>
        </p:grpSp>
        <p:sp>
          <p:nvSpPr>
            <p:cNvPr id="61" name="TextBox 61"/>
            <p:cNvSpPr txBox="1"/>
            <p:nvPr/>
          </p:nvSpPr>
          <p:spPr>
            <a:xfrm>
              <a:off x="7610856" y="3543300"/>
              <a:ext cx="281036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страх упустить (FOMO)</a:t>
              </a:r>
            </a:p>
          </p:txBody>
        </p:sp>
        <p:sp>
          <p:nvSpPr>
            <p:cNvPr id="62" name="Freeform 62"/>
            <p:cNvSpPr/>
            <p:nvPr/>
          </p:nvSpPr>
          <p:spPr>
            <a:xfrm>
              <a:off x="7162615" y="4168285"/>
              <a:ext cx="266811" cy="232265"/>
            </a:xfrm>
            <a:custGeom>
              <a:avLst/>
              <a:gdLst/>
              <a:ahLst/>
              <a:cxnLst/>
              <a:rect l="l" t="t" r="r" b="b"/>
              <a:pathLst>
                <a:path w="266811" h="232265">
                  <a:moveTo>
                    <a:pt x="240691" y="126138"/>
                  </a:moveTo>
                  <a:lnTo>
                    <a:pt x="133535" y="232265"/>
                  </a:lnTo>
                  <a:lnTo>
                    <a:pt x="26379" y="126138"/>
                  </a:lnTo>
                  <a:cubicBezTo>
                    <a:pt x="7109" y="107387"/>
                    <a:pt x="0" y="79404"/>
                    <a:pt x="7983" y="53729"/>
                  </a:cubicBezTo>
                  <a:cubicBezTo>
                    <a:pt x="15966" y="28055"/>
                    <a:pt x="37689" y="9037"/>
                    <a:pt x="64194" y="4518"/>
                  </a:cubicBezTo>
                  <a:cubicBezTo>
                    <a:pt x="90699" y="0"/>
                    <a:pt x="117496" y="10746"/>
                    <a:pt x="133535" y="32326"/>
                  </a:cubicBezTo>
                  <a:cubicBezTo>
                    <a:pt x="149641" y="10906"/>
                    <a:pt x="176381" y="302"/>
                    <a:pt x="202789" y="4863"/>
                  </a:cubicBezTo>
                  <a:cubicBezTo>
                    <a:pt x="229198" y="9424"/>
                    <a:pt x="250833" y="28381"/>
                    <a:pt x="258822" y="53962"/>
                  </a:cubicBezTo>
                  <a:cubicBezTo>
                    <a:pt x="266811" y="79543"/>
                    <a:pt x="259811" y="107444"/>
                    <a:pt x="240691" y="126224"/>
                  </a:cubicBezTo>
                </a:path>
              </a:pathLst>
            </a:custGeom>
            <a:noFill/>
            <a:ln w="28575">
              <a:solidFill>
                <a:srgbClr val="E74C3C"/>
              </a:solidFill>
            </a:ln>
          </p:spPr>
        </p:sp>
        <p:sp>
          <p:nvSpPr>
            <p:cNvPr id="63" name="TextBox 63"/>
            <p:cNvSpPr txBox="1"/>
            <p:nvPr/>
          </p:nvSpPr>
          <p:spPr>
            <a:xfrm>
              <a:off x="7610856" y="4171950"/>
              <a:ext cx="248453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снижение самооценки</a:t>
              </a:r>
            </a:p>
          </p:txBody>
        </p:sp>
        <p:sp>
          <p:nvSpPr>
            <p:cNvPr id="64" name="Freeform 64"/>
            <p:cNvSpPr/>
            <p:nvPr/>
          </p:nvSpPr>
          <p:spPr>
            <a:xfrm>
              <a:off x="7160263" y="4786198"/>
              <a:ext cx="254659" cy="269509"/>
            </a:xfrm>
            <a:custGeom>
              <a:avLst/>
              <a:gdLst/>
              <a:ahLst/>
              <a:cxnLst/>
              <a:rect l="l" t="t" r="r" b="b"/>
              <a:pathLst>
                <a:path w="254659" h="269509">
                  <a:moveTo>
                    <a:pt x="135887" y="114"/>
                  </a:moveTo>
                  <a:cubicBezTo>
                    <a:pt x="137773" y="114"/>
                    <a:pt x="139645" y="114"/>
                    <a:pt x="141502" y="114"/>
                  </a:cubicBezTo>
                  <a:cubicBezTo>
                    <a:pt x="103628" y="35307"/>
                    <a:pt x="96283" y="92524"/>
                    <a:pt x="124039" y="136142"/>
                  </a:cubicBezTo>
                  <a:cubicBezTo>
                    <a:pt x="151795" y="179760"/>
                    <a:pt x="206738" y="197340"/>
                    <a:pt x="254659" y="177937"/>
                  </a:cubicBezTo>
                  <a:cubicBezTo>
                    <a:pt x="229903" y="237503"/>
                    <a:pt x="164845" y="269509"/>
                    <a:pt x="102549" y="252770"/>
                  </a:cubicBezTo>
                  <a:cubicBezTo>
                    <a:pt x="40253" y="236030"/>
                    <a:pt x="0" y="175726"/>
                    <a:pt x="8435" y="111774"/>
                  </a:cubicBezTo>
                  <a:cubicBezTo>
                    <a:pt x="16869" y="47821"/>
                    <a:pt x="71381" y="16"/>
                    <a:pt x="135887" y="0"/>
                  </a:cubicBezTo>
                  <a:lnTo>
                    <a:pt x="135887" y="114"/>
                  </a:lnTo>
                </a:path>
              </a:pathLst>
            </a:custGeom>
            <a:noFill/>
            <a:ln w="28575">
              <a:solidFill>
                <a:srgbClr val="E74C3C"/>
              </a:solidFill>
            </a:ln>
          </p:spPr>
        </p:sp>
        <p:sp>
          <p:nvSpPr>
            <p:cNvPr id="65" name="TextBox 65"/>
            <p:cNvSpPr txBox="1"/>
            <p:nvPr/>
          </p:nvSpPr>
          <p:spPr>
            <a:xfrm>
              <a:off x="7610856" y="4800600"/>
              <a:ext cx="248588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плохой сон и тревога</a:t>
              </a:r>
            </a:p>
          </p:txBody>
        </p:sp>
      </p:grpSp>
      <p:grpSp>
        <p:nvGrpSpPr>
          <p:cNvPr id="70" name="p13-note"/>
          <p:cNvGrpSpPr/>
          <p:nvPr/>
        </p:nvGrpSpPr>
        <p:grpSpPr>
          <a:xfrm>
            <a:off x="762000" y="5810250"/>
            <a:ext cx="10668000" cy="666750"/>
            <a:chOff x="762000" y="5810250"/>
            <a:chExt cx="10668000" cy="666750"/>
          </a:xfrm>
        </p:grpSpPr>
        <p:sp>
          <p:nvSpPr>
            <p:cNvPr id="67" name="Rectangle 67"/>
            <p:cNvSpPr/>
            <p:nvPr/>
          </p:nvSpPr>
          <p:spPr>
            <a:xfrm>
              <a:off x="762000" y="5810250"/>
              <a:ext cx="10668000" cy="666750"/>
            </a:xfrm>
            <a:prstGeom prst="roundRect">
              <a:avLst>
                <a:gd name="adj" fmla="val 20000"/>
              </a:avLst>
            </a:prstGeom>
            <a:solidFill>
              <a:srgbClr val="FFFFFF">
                <a:alpha val="85000"/>
              </a:srgbClr>
            </a:solidFill>
            <a:ln>
              <a:noFill/>
            </a:ln>
          </p:spPr>
        </p:sp>
        <p:sp>
          <p:nvSpPr>
            <p:cNvPr id="68" name="Freeform 68"/>
            <p:cNvSpPr/>
            <p:nvPr/>
          </p:nvSpPr>
          <p:spPr>
            <a:xfrm>
              <a:off x="1038225" y="6016625"/>
              <a:ext cx="269876" cy="254001"/>
            </a:xfrm>
            <a:custGeom>
              <a:avLst/>
              <a:gdLst/>
              <a:ahLst/>
              <a:cxnLst/>
              <a:rect l="l" t="t" r="r" b="b"/>
              <a:pathLst>
                <a:path w="269876" h="254001">
                  <a:moveTo>
                    <a:pt x="206375" y="222250"/>
                  </a:moveTo>
                  <a:cubicBezTo>
                    <a:pt x="223910" y="222250"/>
                    <a:pt x="238125" y="236465"/>
                    <a:pt x="238125" y="254001"/>
                  </a:cubicBezTo>
                  <a:cubicBezTo>
                    <a:pt x="238125" y="236465"/>
                    <a:pt x="252340" y="222250"/>
                    <a:pt x="269876" y="222250"/>
                  </a:cubicBezTo>
                  <a:cubicBezTo>
                    <a:pt x="252340" y="222250"/>
                    <a:pt x="238125" y="208035"/>
                    <a:pt x="238125" y="190500"/>
                  </a:cubicBezTo>
                  <a:cubicBezTo>
                    <a:pt x="238125" y="208035"/>
                    <a:pt x="223910" y="222250"/>
                    <a:pt x="206375" y="222250"/>
                  </a:cubicBezTo>
                  <a:moveTo>
                    <a:pt x="206375" y="31750"/>
                  </a:moveTo>
                  <a:cubicBezTo>
                    <a:pt x="223910" y="31750"/>
                    <a:pt x="238125" y="45965"/>
                    <a:pt x="238125" y="63500"/>
                  </a:cubicBezTo>
                  <a:cubicBezTo>
                    <a:pt x="238125" y="45965"/>
                    <a:pt x="252340" y="31750"/>
                    <a:pt x="269876" y="31750"/>
                  </a:cubicBezTo>
                  <a:cubicBezTo>
                    <a:pt x="252340" y="31750"/>
                    <a:pt x="238125" y="17535"/>
                    <a:pt x="238125" y="0"/>
                  </a:cubicBezTo>
                  <a:cubicBezTo>
                    <a:pt x="238125" y="17535"/>
                    <a:pt x="223910" y="31750"/>
                    <a:pt x="206375" y="31750"/>
                  </a:cubicBezTo>
                  <a:moveTo>
                    <a:pt x="95250" y="222250"/>
                  </a:moveTo>
                  <a:cubicBezTo>
                    <a:pt x="95250" y="169645"/>
                    <a:pt x="137895" y="127000"/>
                    <a:pt x="190500" y="127000"/>
                  </a:cubicBezTo>
                  <a:cubicBezTo>
                    <a:pt x="137895" y="127000"/>
                    <a:pt x="95250" y="84355"/>
                    <a:pt x="95250" y="31750"/>
                  </a:cubicBezTo>
                  <a:cubicBezTo>
                    <a:pt x="95250" y="84355"/>
                    <a:pt x="52605" y="127000"/>
                    <a:pt x="0" y="127000"/>
                  </a:cubicBezTo>
                  <a:cubicBezTo>
                    <a:pt x="52605" y="127000"/>
                    <a:pt x="95250" y="169645"/>
                    <a:pt x="95250" y="222250"/>
                  </a:cubicBezTo>
                </a:path>
              </a:pathLst>
            </a:custGeom>
            <a:noFill/>
            <a:ln w="31750">
              <a:solidFill>
                <a:srgbClr val="27AE60"/>
              </a:solidFill>
            </a:ln>
          </p:spPr>
        </p:sp>
        <p:sp>
          <p:nvSpPr>
            <p:cNvPr id="69" name="TextBox 69"/>
            <p:cNvSpPr txBox="1"/>
            <p:nvPr/>
          </p:nvSpPr>
          <p:spPr>
            <a:xfrm>
              <a:off x="1514856" y="6000750"/>
              <a:ext cx="9026979"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Осознанное потребление контента и цифровой детокс повышают благополучие</a:t>
              </a:r>
            </a:p>
          </p:txBody>
        </p:sp>
      </p:grpSp>
      <p:pic>
        <p:nvPicPr>
          <p:cNvPr id="71" name="PPT Master narration: narration13.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28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childTnLst>
                          </p:cTn>
                        </p:par>
                        <p:par>
                          <p:cTn id="12" fill="hold">
                            <p:stCondLst>
                              <p:cond delay="1400"/>
                            </p:stCondLst>
                            <p:childTnLst>
                              <p:par>
                                <p:cTn id="13" presetID="10" presetClass="entr" presetSubtype="0" fill="hold" grpId="0" nodeType="afterEffect">
                                  <p:stCondLst>
                                    <p:cond delay="50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71"/>
                </p:tgtEl>
              </p:cMediaNode>
            </p:audio>
          </p:childTnLst>
        </p:cTn>
      </p:par>
    </p:tnLst>
  </p:timing>
</p:sld>
</file>

<file path=ppt/slides/slide14.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14-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14-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14-accent"/>
          <p:cNvSpPr/>
          <p:nvPr/>
        </p:nvSpPr>
        <p:spPr>
          <a:xfrm>
            <a:off x="0" y="0"/>
            <a:ext cx="12192000" cy="57150"/>
          </a:xfrm>
          <a:prstGeom prst="rect">
            <a:avLst/>
          </a:prstGeom>
          <a:solidFill>
            <a:srgbClr val="27AE60"/>
          </a:solidFill>
          <a:ln>
            <a:noFill/>
          </a:ln>
        </p:spPr>
      </p:sp>
      <p:sp>
        <p:nvSpPr>
          <p:cNvPr id="5" name="p14-foot"/>
          <p:cNvSpPr txBox="1"/>
          <p:nvPr/>
        </p:nvSpPr>
        <p:spPr>
          <a:xfrm>
            <a:off x="752856" y="6343650"/>
            <a:ext cx="3078699" cy="352044"/>
          </a:xfrm>
          <a:prstGeom prst="rect">
            <a:avLst/>
          </a:prstGeom>
          <a:noFill/>
          <a:ln>
            <a:noFill/>
          </a:ln>
        </p:spPr>
        <p:txBody>
          <a:bodyPr wrap="none" lIns="0" tIns="0" rIns="0" bIns="0" anchor="t" anchorCtr="0">
            <a:spAutoFit/>
          </a:bodyPr>
          <a:lstStyle/>
          <a:p>
            <a:pPr algn="l"/>
            <a:r>
              <a:rPr lang="ru" sz="1800" dirty="0">
                <a:solidFill>
                  <a:srgbClr val="5D6D7E"/>
                </a:solidFill>
                <a:latin typeface="+mn-lt"/>
                <a:ea typeface="+mn-ea"/>
                <a:cs typeface="+mn-cs"/>
              </a:rPr>
              <a:t>Концепция счастья · ИС-24</a:t>
            </a:r>
          </a:p>
        </p:txBody>
      </p:sp>
      <p:sp>
        <p:nvSpPr>
          <p:cNvPr id="6" name="p14-num"/>
          <p:cNvSpPr txBox="1"/>
          <p:nvPr/>
        </p:nvSpPr>
        <p:spPr>
          <a:xfrm>
            <a:off x="11151304" y="6343650"/>
            <a:ext cx="287840" cy="352044"/>
          </a:xfrm>
          <a:prstGeom prst="rect">
            <a:avLst/>
          </a:prstGeom>
          <a:noFill/>
          <a:ln>
            <a:noFill/>
          </a:ln>
        </p:spPr>
        <p:txBody>
          <a:bodyPr wrap="none" lIns="0" tIns="0" rIns="0" bIns="0" anchor="t" anchorCtr="0">
            <a:spAutoFit/>
          </a:bodyPr>
          <a:lstStyle/>
          <a:p>
            <a:pPr algn="r"/>
            <a:r>
              <a:rPr lang="ru" sz="1800" dirty="0">
                <a:solidFill>
                  <a:srgbClr val="5D6D7E"/>
                </a:solidFill>
                <a:latin typeface="+mn-lt"/>
                <a:ea typeface="+mn-ea"/>
                <a:cs typeface="+mn-cs"/>
              </a:rPr>
              <a:t>14</a:t>
            </a:r>
          </a:p>
        </p:txBody>
      </p:sp>
      <p:grpSp>
        <p:nvGrpSpPr>
          <p:cNvPr id="8" name="p14-title"/>
          <p:cNvGrpSpPr/>
          <p:nvPr/>
        </p:nvGrpSpPr>
        <p:grpSpPr>
          <a:xfrm>
            <a:off x="743712" y="565150"/>
            <a:ext cx="5775138" cy="704088"/>
            <a:chOff x="743712" y="565150"/>
            <a:chExt cx="5775138" cy="704088"/>
          </a:xfrm>
        </p:grpSpPr>
        <p:sp>
          <p:nvSpPr>
            <p:cNvPr id="7" name="TextBox 7"/>
            <p:cNvSpPr txBox="1"/>
            <p:nvPr/>
          </p:nvSpPr>
          <p:spPr>
            <a:xfrm>
              <a:off x="743712" y="565150"/>
              <a:ext cx="5775138"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Восемь шагов к счастью</a:t>
              </a:r>
            </a:p>
          </p:txBody>
        </p:sp>
      </p:grpSp>
      <p:grpSp>
        <p:nvGrpSpPr>
          <p:cNvPr id="78" name="p14-checklist"/>
          <p:cNvGrpSpPr/>
          <p:nvPr/>
        </p:nvGrpSpPr>
        <p:grpSpPr>
          <a:xfrm>
            <a:off x="762000" y="1619250"/>
            <a:ext cx="10858500" cy="3238500"/>
            <a:chOff x="762000" y="1619250"/>
            <a:chExt cx="10858500" cy="3238500"/>
          </a:xfrm>
        </p:grpSpPr>
        <p:grpSp>
          <p:nvGrpSpPr>
            <p:cNvPr id="13" name="p14-s80-170"/>
            <p:cNvGrpSpPr/>
            <p:nvPr/>
          </p:nvGrpSpPr>
          <p:grpSpPr>
            <a:xfrm>
              <a:off x="762000" y="1619250"/>
              <a:ext cx="3429000" cy="952500"/>
              <a:chOff x="762000" y="1619250"/>
              <a:chExt cx="3429000" cy="952500"/>
            </a:xfrm>
          </p:grpSpPr>
          <p:sp>
            <p:nvSpPr>
              <p:cNvPr id="9" name="Rectangle 9"/>
              <p:cNvSpPr/>
              <p:nvPr/>
            </p:nvSpPr>
            <p:spPr>
              <a:xfrm>
                <a:off x="762000" y="1619250"/>
                <a:ext cx="3429000" cy="952500"/>
              </a:xfrm>
              <a:prstGeom prst="roundRect">
                <a:avLst>
                  <a:gd name="adj" fmla="val 14000"/>
                </a:avLst>
              </a:prstGeom>
              <a:solidFill>
                <a:srgbClr val="FFFFFF">
                  <a:alpha val="85000"/>
                </a:srgbClr>
              </a:solidFill>
              <a:ln>
                <a:noFill/>
              </a:ln>
            </p:spPr>
          </p:sp>
          <p:sp>
            <p:nvSpPr>
              <p:cNvPr id="10" name="Freeform 10"/>
              <p:cNvSpPr/>
              <p:nvPr/>
            </p:nvSpPr>
            <p:spPr>
              <a:xfrm>
                <a:off x="952315" y="1920385"/>
                <a:ext cx="266811" cy="232265"/>
              </a:xfrm>
              <a:custGeom>
                <a:avLst/>
                <a:gdLst/>
                <a:ahLst/>
                <a:cxnLst/>
                <a:rect l="l" t="t" r="r" b="b"/>
                <a:pathLst>
                  <a:path w="266811" h="232265">
                    <a:moveTo>
                      <a:pt x="240691" y="126138"/>
                    </a:moveTo>
                    <a:lnTo>
                      <a:pt x="133535" y="232265"/>
                    </a:lnTo>
                    <a:lnTo>
                      <a:pt x="26379" y="126138"/>
                    </a:lnTo>
                    <a:cubicBezTo>
                      <a:pt x="7109" y="107387"/>
                      <a:pt x="0" y="79404"/>
                      <a:pt x="7983" y="53729"/>
                    </a:cubicBezTo>
                    <a:cubicBezTo>
                      <a:pt x="15966" y="28055"/>
                      <a:pt x="37689" y="9037"/>
                      <a:pt x="64194" y="4518"/>
                    </a:cubicBezTo>
                    <a:cubicBezTo>
                      <a:pt x="90699" y="0"/>
                      <a:pt x="117496" y="10746"/>
                      <a:pt x="133535" y="32326"/>
                    </a:cubicBezTo>
                    <a:cubicBezTo>
                      <a:pt x="149641" y="10906"/>
                      <a:pt x="176381" y="302"/>
                      <a:pt x="202789" y="4863"/>
                    </a:cubicBezTo>
                    <a:cubicBezTo>
                      <a:pt x="229198" y="9424"/>
                      <a:pt x="250833" y="28381"/>
                      <a:pt x="258822" y="53962"/>
                    </a:cubicBezTo>
                    <a:cubicBezTo>
                      <a:pt x="266811" y="79543"/>
                      <a:pt x="259811" y="107444"/>
                      <a:pt x="240691" y="126224"/>
                    </a:cubicBezTo>
                  </a:path>
                </a:pathLst>
              </a:custGeom>
              <a:noFill/>
              <a:ln w="28575">
                <a:solidFill>
                  <a:srgbClr val="27AE60"/>
                </a:solidFill>
              </a:ln>
            </p:spPr>
          </p:sp>
          <p:sp>
            <p:nvSpPr>
              <p:cNvPr id="11" name="TextBox 11"/>
              <p:cNvSpPr txBox="1"/>
              <p:nvPr/>
            </p:nvSpPr>
            <p:spPr>
              <a:xfrm>
                <a:off x="1324356" y="1943100"/>
                <a:ext cx="1705459"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Инвестируйте</a:t>
                </a:r>
              </a:p>
            </p:txBody>
          </p:sp>
          <p:sp>
            <p:nvSpPr>
              <p:cNvPr id="12" name="TextBox 12"/>
              <p:cNvSpPr txBox="1"/>
              <p:nvPr/>
            </p:nvSpPr>
            <p:spPr>
              <a:xfrm>
                <a:off x="1324356" y="2209800"/>
                <a:ext cx="141834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в отношения</a:t>
                </a:r>
              </a:p>
            </p:txBody>
          </p:sp>
        </p:grpSp>
        <p:grpSp>
          <p:nvGrpSpPr>
            <p:cNvPr id="21" name="p14-s470-170"/>
            <p:cNvGrpSpPr/>
            <p:nvPr/>
          </p:nvGrpSpPr>
          <p:grpSpPr>
            <a:xfrm>
              <a:off x="4476750" y="1619250"/>
              <a:ext cx="3429000" cy="952500"/>
              <a:chOff x="4476750" y="1619250"/>
              <a:chExt cx="3429000" cy="952500"/>
            </a:xfrm>
          </p:grpSpPr>
          <p:sp>
            <p:nvSpPr>
              <p:cNvPr id="14" name="Rectangle 14"/>
              <p:cNvSpPr/>
              <p:nvPr/>
            </p:nvSpPr>
            <p:spPr>
              <a:xfrm>
                <a:off x="4476750" y="1619250"/>
                <a:ext cx="3429000" cy="952500"/>
              </a:xfrm>
              <a:prstGeom prst="roundRect">
                <a:avLst>
                  <a:gd name="adj" fmla="val 14000"/>
                </a:avLst>
              </a:prstGeom>
              <a:solidFill>
                <a:srgbClr val="FFFFFF">
                  <a:alpha val="85000"/>
                </a:srgbClr>
              </a:solidFill>
              <a:ln>
                <a:noFill/>
              </a:ln>
            </p:spPr>
          </p:sp>
          <p:grpSp>
            <p:nvGrpSpPr>
              <p:cNvPr id="18" name="Group 18"/>
              <p:cNvGrpSpPr/>
              <p:nvPr/>
            </p:nvGrpSpPr>
            <p:grpSpPr>
              <a:xfrm>
                <a:off x="4700588" y="1924050"/>
                <a:ext cx="200025" cy="257175"/>
                <a:chOff x="4700588" y="1924050"/>
                <a:chExt cx="200025" cy="257175"/>
              </a:xfrm>
            </p:grpSpPr>
            <p:sp>
              <p:nvSpPr>
                <p:cNvPr id="15" name="Freeform 15"/>
                <p:cNvSpPr/>
                <p:nvPr/>
              </p:nvSpPr>
              <p:spPr>
                <a:xfrm>
                  <a:off x="4700588" y="1924050"/>
                  <a:ext cx="200025" cy="257175"/>
                </a:xfrm>
                <a:custGeom>
                  <a:avLst/>
                  <a:gdLst/>
                  <a:ahLst/>
                  <a:cxnLst/>
                  <a:rect l="l" t="t" r="r" b="b"/>
                  <a:pathLst>
                    <a:path w="200025" h="257175">
                      <a:moveTo>
                        <a:pt x="14288" y="0"/>
                      </a:moveTo>
                      <a:lnTo>
                        <a:pt x="171450" y="0"/>
                      </a:lnTo>
                      <a:cubicBezTo>
                        <a:pt x="187232" y="0"/>
                        <a:pt x="200025" y="12793"/>
                        <a:pt x="200025" y="28575"/>
                      </a:cubicBezTo>
                      <a:lnTo>
                        <a:pt x="200025" y="200025"/>
                      </a:lnTo>
                      <a:cubicBezTo>
                        <a:pt x="200025" y="215807"/>
                        <a:pt x="187232" y="228600"/>
                        <a:pt x="171450" y="228600"/>
                      </a:cubicBezTo>
                      <a:lnTo>
                        <a:pt x="14288" y="228600"/>
                      </a:lnTo>
                      <a:cubicBezTo>
                        <a:pt x="6397" y="228600"/>
                        <a:pt x="0" y="222203"/>
                        <a:pt x="0" y="214312"/>
                      </a:cubicBezTo>
                      <a:lnTo>
                        <a:pt x="0" y="14288"/>
                      </a:lnTo>
                      <a:cubicBezTo>
                        <a:pt x="0" y="6397"/>
                        <a:pt x="6397" y="0"/>
                        <a:pt x="14288" y="0"/>
                      </a:cubicBezTo>
                      <a:moveTo>
                        <a:pt x="57150" y="0"/>
                      </a:moveTo>
                      <a:lnTo>
                        <a:pt x="57150" y="257175"/>
                      </a:lnTo>
                    </a:path>
                  </a:pathLst>
                </a:custGeom>
                <a:noFill/>
                <a:ln w="28575">
                  <a:solidFill>
                    <a:srgbClr val="27AE60"/>
                  </a:solidFill>
                </a:ln>
              </p:spPr>
            </p:sp>
            <p:sp>
              <p:nvSpPr>
                <p:cNvPr id="16" name="Freeform 16"/>
                <p:cNvSpPr/>
                <p:nvPr/>
              </p:nvSpPr>
              <p:spPr>
                <a:xfrm>
                  <a:off x="4814888" y="1981200"/>
                  <a:ext cx="28575" cy="9525"/>
                </a:xfrm>
                <a:custGeom>
                  <a:avLst/>
                  <a:gdLst/>
                  <a:ahLst/>
                  <a:cxnLst/>
                  <a:rect l="l" t="t" r="r" b="b"/>
                  <a:pathLst>
                    <a:path w="28575" h="9525">
                      <a:moveTo>
                        <a:pt x="0" y="0"/>
                      </a:moveTo>
                      <a:lnTo>
                        <a:pt x="28575" y="0"/>
                      </a:lnTo>
                    </a:path>
                  </a:pathLst>
                </a:custGeom>
                <a:noFill/>
                <a:ln w="28575">
                  <a:solidFill>
                    <a:srgbClr val="27AE60"/>
                  </a:solidFill>
                </a:ln>
              </p:spPr>
            </p:sp>
            <p:sp>
              <p:nvSpPr>
                <p:cNvPr id="17" name="Freeform 17"/>
                <p:cNvSpPr/>
                <p:nvPr/>
              </p:nvSpPr>
              <p:spPr>
                <a:xfrm>
                  <a:off x="4814888" y="2038350"/>
                  <a:ext cx="28575" cy="9525"/>
                </a:xfrm>
                <a:custGeom>
                  <a:avLst/>
                  <a:gdLst/>
                  <a:ahLst/>
                  <a:cxnLst/>
                  <a:rect l="l" t="t" r="r" b="b"/>
                  <a:pathLst>
                    <a:path w="28575" h="9525">
                      <a:moveTo>
                        <a:pt x="0" y="0"/>
                      </a:moveTo>
                      <a:lnTo>
                        <a:pt x="28575" y="0"/>
                      </a:lnTo>
                    </a:path>
                  </a:pathLst>
                </a:custGeom>
                <a:noFill/>
                <a:ln w="28575">
                  <a:solidFill>
                    <a:srgbClr val="27AE60"/>
                  </a:solidFill>
                </a:ln>
              </p:spPr>
            </p:sp>
          </p:grpSp>
          <p:sp>
            <p:nvSpPr>
              <p:cNvPr id="19" name="TextBox 19"/>
              <p:cNvSpPr txBox="1"/>
              <p:nvPr/>
            </p:nvSpPr>
            <p:spPr>
              <a:xfrm>
                <a:off x="5039106" y="1943100"/>
                <a:ext cx="156552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Практикуйте</a:t>
                </a:r>
              </a:p>
            </p:txBody>
          </p:sp>
          <p:sp>
            <p:nvSpPr>
              <p:cNvPr id="20" name="TextBox 20"/>
              <p:cNvSpPr txBox="1"/>
              <p:nvPr/>
            </p:nvSpPr>
            <p:spPr>
              <a:xfrm>
                <a:off x="5039106" y="2209800"/>
                <a:ext cx="175084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благодарность</a:t>
                </a:r>
              </a:p>
            </p:txBody>
          </p:sp>
        </p:grpSp>
        <p:grpSp>
          <p:nvGrpSpPr>
            <p:cNvPr id="30" name="p14-s860-170"/>
            <p:cNvGrpSpPr/>
            <p:nvPr/>
          </p:nvGrpSpPr>
          <p:grpSpPr>
            <a:xfrm>
              <a:off x="8191500" y="1619250"/>
              <a:ext cx="3429000" cy="952500"/>
              <a:chOff x="8191500" y="1619250"/>
              <a:chExt cx="3429000" cy="952500"/>
            </a:xfrm>
          </p:grpSpPr>
          <p:sp>
            <p:nvSpPr>
              <p:cNvPr id="22" name="Rectangle 22"/>
              <p:cNvSpPr/>
              <p:nvPr/>
            </p:nvSpPr>
            <p:spPr>
              <a:xfrm>
                <a:off x="8191500" y="1619250"/>
                <a:ext cx="3429000" cy="952500"/>
              </a:xfrm>
              <a:prstGeom prst="roundRect">
                <a:avLst>
                  <a:gd name="adj" fmla="val 14000"/>
                </a:avLst>
              </a:prstGeom>
              <a:solidFill>
                <a:srgbClr val="FFFFFF">
                  <a:alpha val="85000"/>
                </a:srgbClr>
              </a:solidFill>
              <a:ln>
                <a:noFill/>
              </a:ln>
            </p:spPr>
          </p:sp>
          <p:grpSp>
            <p:nvGrpSpPr>
              <p:cNvPr id="27" name="Group 27"/>
              <p:cNvGrpSpPr/>
              <p:nvPr/>
            </p:nvGrpSpPr>
            <p:grpSpPr>
              <a:xfrm>
                <a:off x="8401050" y="1909762"/>
                <a:ext cx="200024" cy="257176"/>
                <a:chOff x="8401050" y="1909762"/>
                <a:chExt cx="200024" cy="257176"/>
              </a:xfrm>
            </p:grpSpPr>
            <p:sp>
              <p:nvSpPr>
                <p:cNvPr id="23" name="Freeform 23"/>
                <p:cNvSpPr/>
                <p:nvPr/>
              </p:nvSpPr>
              <p:spPr>
                <a:xfrm>
                  <a:off x="8501163" y="1909762"/>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rgbClr val="27AE60"/>
                  </a:solidFill>
                </a:ln>
              </p:spPr>
            </p:sp>
            <p:sp>
              <p:nvSpPr>
                <p:cNvPr id="24" name="Freeform 24"/>
                <p:cNvSpPr/>
                <p:nvPr/>
              </p:nvSpPr>
              <p:spPr>
                <a:xfrm>
                  <a:off x="8401050" y="2102644"/>
                  <a:ext cx="82153" cy="21431"/>
                </a:xfrm>
                <a:custGeom>
                  <a:avLst/>
                  <a:gdLst/>
                  <a:ahLst/>
                  <a:cxnLst/>
                  <a:rect l="l" t="t" r="r" b="b"/>
                  <a:pathLst>
                    <a:path w="82153" h="21431">
                      <a:moveTo>
                        <a:pt x="0" y="7144"/>
                      </a:moveTo>
                      <a:lnTo>
                        <a:pt x="71438" y="21431"/>
                      </a:lnTo>
                      <a:lnTo>
                        <a:pt x="82153" y="0"/>
                      </a:lnTo>
                    </a:path>
                  </a:pathLst>
                </a:custGeom>
                <a:noFill/>
                <a:ln w="28575">
                  <a:solidFill>
                    <a:srgbClr val="27AE60"/>
                  </a:solidFill>
                </a:ln>
              </p:spPr>
            </p:sp>
            <p:sp>
              <p:nvSpPr>
                <p:cNvPr id="25" name="Freeform 25"/>
                <p:cNvSpPr/>
                <p:nvPr/>
              </p:nvSpPr>
              <p:spPr>
                <a:xfrm>
                  <a:off x="8501062" y="1981200"/>
                  <a:ext cx="57150" cy="185738"/>
                </a:xfrm>
                <a:custGeom>
                  <a:avLst/>
                  <a:gdLst/>
                  <a:ahLst/>
                  <a:cxnLst/>
                  <a:rect l="l" t="t" r="r" b="b"/>
                  <a:pathLst>
                    <a:path w="57150" h="185738">
                      <a:moveTo>
                        <a:pt x="57150" y="185738"/>
                      </a:moveTo>
                      <a:lnTo>
                        <a:pt x="57150" y="128588"/>
                      </a:lnTo>
                      <a:lnTo>
                        <a:pt x="0" y="85725"/>
                      </a:lnTo>
                      <a:lnTo>
                        <a:pt x="14288" y="0"/>
                      </a:lnTo>
                    </a:path>
                  </a:pathLst>
                </a:custGeom>
                <a:noFill/>
                <a:ln w="28575">
                  <a:solidFill>
                    <a:srgbClr val="27AE60"/>
                  </a:solidFill>
                </a:ln>
              </p:spPr>
            </p:sp>
            <p:sp>
              <p:nvSpPr>
                <p:cNvPr id="26" name="Freeform 26"/>
                <p:cNvSpPr/>
                <p:nvPr/>
              </p:nvSpPr>
              <p:spPr>
                <a:xfrm>
                  <a:off x="8443912" y="1981200"/>
                  <a:ext cx="157162" cy="57150"/>
                </a:xfrm>
                <a:custGeom>
                  <a:avLst/>
                  <a:gdLst/>
                  <a:ahLst/>
                  <a:cxnLst/>
                  <a:rect l="l" t="t" r="r" b="b"/>
                  <a:pathLst>
                    <a:path w="157162" h="57150">
                      <a:moveTo>
                        <a:pt x="0" y="57150"/>
                      </a:moveTo>
                      <a:lnTo>
                        <a:pt x="0" y="14288"/>
                      </a:lnTo>
                      <a:lnTo>
                        <a:pt x="71438" y="0"/>
                      </a:lnTo>
                      <a:lnTo>
                        <a:pt x="114300" y="42862"/>
                      </a:lnTo>
                      <a:lnTo>
                        <a:pt x="157162" y="57150"/>
                      </a:lnTo>
                    </a:path>
                  </a:pathLst>
                </a:custGeom>
                <a:noFill/>
                <a:ln w="28575">
                  <a:solidFill>
                    <a:srgbClr val="27AE60"/>
                  </a:solidFill>
                </a:ln>
              </p:spPr>
            </p:sp>
          </p:grpSp>
          <p:sp>
            <p:nvSpPr>
              <p:cNvPr id="28" name="TextBox 28"/>
              <p:cNvSpPr txBox="1"/>
              <p:nvPr/>
            </p:nvSpPr>
            <p:spPr>
              <a:xfrm>
                <a:off x="8753856" y="1943100"/>
                <a:ext cx="156552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Занимайтесь</a:t>
                </a:r>
              </a:p>
            </p:txBody>
          </p:sp>
          <p:sp>
            <p:nvSpPr>
              <p:cNvPr id="29" name="TextBox 29"/>
              <p:cNvSpPr txBox="1"/>
              <p:nvPr/>
            </p:nvSpPr>
            <p:spPr>
              <a:xfrm>
                <a:off x="8753856" y="2209800"/>
                <a:ext cx="95120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спортом</a:t>
                </a:r>
              </a:p>
            </p:txBody>
          </p:sp>
        </p:grpSp>
        <p:grpSp>
          <p:nvGrpSpPr>
            <p:cNvPr id="36" name="p14-s80-290"/>
            <p:cNvGrpSpPr/>
            <p:nvPr/>
          </p:nvGrpSpPr>
          <p:grpSpPr>
            <a:xfrm>
              <a:off x="762000" y="2762250"/>
              <a:ext cx="3429000" cy="952500"/>
              <a:chOff x="762000" y="2762250"/>
              <a:chExt cx="3429000" cy="952500"/>
            </a:xfrm>
          </p:grpSpPr>
          <p:sp>
            <p:nvSpPr>
              <p:cNvPr id="31" name="Rectangle 31"/>
              <p:cNvSpPr/>
              <p:nvPr/>
            </p:nvSpPr>
            <p:spPr>
              <a:xfrm>
                <a:off x="762000" y="2762250"/>
                <a:ext cx="3429000" cy="952500"/>
              </a:xfrm>
              <a:prstGeom prst="roundRect">
                <a:avLst>
                  <a:gd name="adj" fmla="val 14000"/>
                </a:avLst>
              </a:prstGeom>
              <a:solidFill>
                <a:srgbClr val="FFFFFF">
                  <a:alpha val="85000"/>
                </a:srgbClr>
              </a:solidFill>
              <a:ln>
                <a:noFill/>
              </a:ln>
            </p:spPr>
          </p:sp>
          <p:grpSp>
            <p:nvGrpSpPr>
              <p:cNvPr id="34" name="Group 34"/>
              <p:cNvGrpSpPr/>
              <p:nvPr/>
            </p:nvGrpSpPr>
            <p:grpSpPr>
              <a:xfrm>
                <a:off x="951205" y="3038475"/>
                <a:ext cx="269280" cy="285750"/>
                <a:chOff x="951205" y="3038475"/>
                <a:chExt cx="269280" cy="285750"/>
              </a:xfrm>
            </p:grpSpPr>
            <p:sp>
              <p:nvSpPr>
                <p:cNvPr id="32" name="Freeform 32"/>
                <p:cNvSpPr/>
                <p:nvPr/>
              </p:nvSpPr>
              <p:spPr>
                <a:xfrm>
                  <a:off x="1042988" y="3138488"/>
                  <a:ext cx="85725" cy="85725"/>
                </a:xfrm>
                <a:custGeom>
                  <a:avLst/>
                  <a:gdLst/>
                  <a:ahLst/>
                  <a:cxnLst/>
                  <a:rect l="l" t="t" r="r" b="b"/>
                  <a:pathLst>
                    <a:path w="85725" h="85725">
                      <a:moveTo>
                        <a:pt x="0" y="42862"/>
                      </a:moveTo>
                      <a:cubicBezTo>
                        <a:pt x="0" y="66535"/>
                        <a:pt x="19190" y="85725"/>
                        <a:pt x="42862" y="85725"/>
                      </a:cubicBezTo>
                      <a:cubicBezTo>
                        <a:pt x="66535" y="85725"/>
                        <a:pt x="85725" y="66535"/>
                        <a:pt x="85725" y="42862"/>
                      </a:cubicBezTo>
                      <a:cubicBezTo>
                        <a:pt x="85725" y="19190"/>
                        <a:pt x="66535" y="0"/>
                        <a:pt x="42862" y="0"/>
                      </a:cubicBezTo>
                      <a:cubicBezTo>
                        <a:pt x="19190" y="0"/>
                        <a:pt x="0" y="19190"/>
                        <a:pt x="0" y="42862"/>
                      </a:cubicBezTo>
                    </a:path>
                  </a:pathLst>
                </a:custGeom>
                <a:noFill/>
                <a:ln w="28575">
                  <a:solidFill>
                    <a:srgbClr val="E67E22"/>
                  </a:solidFill>
                </a:ln>
              </p:spPr>
            </p:sp>
            <p:sp>
              <p:nvSpPr>
                <p:cNvPr id="33" name="Freeform 33"/>
                <p:cNvSpPr/>
                <p:nvPr/>
              </p:nvSpPr>
              <p:spPr>
                <a:xfrm>
                  <a:off x="951205" y="3038475"/>
                  <a:ext cx="269280" cy="285750"/>
                </a:xfrm>
                <a:custGeom>
                  <a:avLst/>
                  <a:gdLst/>
                  <a:ahLst/>
                  <a:cxnLst/>
                  <a:rect l="l" t="t" r="r" b="b"/>
                  <a:pathLst>
                    <a:path w="269280" h="285750">
                      <a:moveTo>
                        <a:pt x="134645" y="0"/>
                      </a:moveTo>
                      <a:cubicBezTo>
                        <a:pt x="158317" y="0"/>
                        <a:pt x="177507" y="19190"/>
                        <a:pt x="177507" y="42862"/>
                      </a:cubicBezTo>
                      <a:cubicBezTo>
                        <a:pt x="177507" y="50892"/>
                        <a:pt x="173807" y="63465"/>
                        <a:pt x="166420" y="80581"/>
                      </a:cubicBezTo>
                      <a:lnTo>
                        <a:pt x="156076" y="100012"/>
                      </a:lnTo>
                      <a:lnTo>
                        <a:pt x="181222" y="72966"/>
                      </a:lnTo>
                      <a:cubicBezTo>
                        <a:pt x="188351" y="64394"/>
                        <a:pt x="194395" y="58679"/>
                        <a:pt x="199367" y="55750"/>
                      </a:cubicBezTo>
                      <a:cubicBezTo>
                        <a:pt x="209149" y="50070"/>
                        <a:pt x="220794" y="48534"/>
                        <a:pt x="231714" y="51483"/>
                      </a:cubicBezTo>
                      <a:cubicBezTo>
                        <a:pt x="242634" y="54431"/>
                        <a:pt x="251924" y="61621"/>
                        <a:pt x="257517" y="71452"/>
                      </a:cubicBezTo>
                      <a:cubicBezTo>
                        <a:pt x="269280" y="91934"/>
                        <a:pt x="262328" y="118070"/>
                        <a:pt x="241944" y="130002"/>
                      </a:cubicBezTo>
                      <a:cubicBezTo>
                        <a:pt x="236600" y="133102"/>
                        <a:pt x="227799" y="135660"/>
                        <a:pt x="215569" y="137646"/>
                      </a:cubicBezTo>
                      <a:lnTo>
                        <a:pt x="177507" y="142875"/>
                      </a:lnTo>
                      <a:lnTo>
                        <a:pt x="211797" y="147533"/>
                      </a:lnTo>
                      <a:cubicBezTo>
                        <a:pt x="226085" y="149604"/>
                        <a:pt x="236057" y="152348"/>
                        <a:pt x="241944" y="155762"/>
                      </a:cubicBezTo>
                      <a:cubicBezTo>
                        <a:pt x="262328" y="167694"/>
                        <a:pt x="269280" y="193830"/>
                        <a:pt x="257517" y="214312"/>
                      </a:cubicBezTo>
                      <a:cubicBezTo>
                        <a:pt x="251921" y="224141"/>
                        <a:pt x="242631" y="231327"/>
                        <a:pt x="231711" y="234273"/>
                      </a:cubicBezTo>
                      <a:cubicBezTo>
                        <a:pt x="220791" y="237219"/>
                        <a:pt x="209147" y="235681"/>
                        <a:pt x="199367" y="230000"/>
                      </a:cubicBezTo>
                      <a:cubicBezTo>
                        <a:pt x="194395" y="227114"/>
                        <a:pt x="188351" y="221371"/>
                        <a:pt x="181222" y="212784"/>
                      </a:cubicBezTo>
                      <a:lnTo>
                        <a:pt x="156076" y="185738"/>
                      </a:lnTo>
                      <a:lnTo>
                        <a:pt x="166420" y="205169"/>
                      </a:lnTo>
                      <a:cubicBezTo>
                        <a:pt x="173792" y="222299"/>
                        <a:pt x="177507" y="234872"/>
                        <a:pt x="177507" y="242888"/>
                      </a:cubicBezTo>
                      <a:cubicBezTo>
                        <a:pt x="177507" y="266560"/>
                        <a:pt x="158317" y="285750"/>
                        <a:pt x="134645" y="285750"/>
                      </a:cubicBezTo>
                      <a:cubicBezTo>
                        <a:pt x="110972" y="285750"/>
                        <a:pt x="91782" y="266560"/>
                        <a:pt x="91782" y="242888"/>
                      </a:cubicBezTo>
                      <a:cubicBezTo>
                        <a:pt x="91782" y="234858"/>
                        <a:pt x="95483" y="222285"/>
                        <a:pt x="102869" y="205169"/>
                      </a:cubicBezTo>
                      <a:lnTo>
                        <a:pt x="113213" y="185738"/>
                      </a:lnTo>
                      <a:lnTo>
                        <a:pt x="88067" y="212784"/>
                      </a:lnTo>
                      <a:cubicBezTo>
                        <a:pt x="80938" y="221371"/>
                        <a:pt x="74894" y="227071"/>
                        <a:pt x="69922" y="230000"/>
                      </a:cubicBezTo>
                      <a:cubicBezTo>
                        <a:pt x="60142" y="235681"/>
                        <a:pt x="48498" y="237219"/>
                        <a:pt x="37578" y="234273"/>
                      </a:cubicBezTo>
                      <a:cubicBezTo>
                        <a:pt x="26658" y="231327"/>
                        <a:pt x="17368" y="224141"/>
                        <a:pt x="11772" y="214312"/>
                      </a:cubicBezTo>
                      <a:cubicBezTo>
                        <a:pt x="10" y="193830"/>
                        <a:pt x="6961" y="167694"/>
                        <a:pt x="27345" y="155762"/>
                      </a:cubicBezTo>
                      <a:cubicBezTo>
                        <a:pt x="32689" y="152648"/>
                        <a:pt x="41490" y="150104"/>
                        <a:pt x="53720" y="148104"/>
                      </a:cubicBezTo>
                      <a:lnTo>
                        <a:pt x="91782" y="142875"/>
                      </a:lnTo>
                      <a:lnTo>
                        <a:pt x="57492" y="138232"/>
                      </a:lnTo>
                      <a:cubicBezTo>
                        <a:pt x="43205" y="136160"/>
                        <a:pt x="33232" y="133417"/>
                        <a:pt x="27345" y="130002"/>
                      </a:cubicBezTo>
                      <a:cubicBezTo>
                        <a:pt x="6953" y="118069"/>
                        <a:pt x="0" y="91923"/>
                        <a:pt x="11772" y="71438"/>
                      </a:cubicBezTo>
                      <a:cubicBezTo>
                        <a:pt x="17366" y="61606"/>
                        <a:pt x="26655" y="54417"/>
                        <a:pt x="37575" y="51468"/>
                      </a:cubicBezTo>
                      <a:cubicBezTo>
                        <a:pt x="48495" y="48520"/>
                        <a:pt x="60140" y="50056"/>
                        <a:pt x="69922" y="55736"/>
                      </a:cubicBezTo>
                      <a:cubicBezTo>
                        <a:pt x="74894" y="58636"/>
                        <a:pt x="80938" y="64365"/>
                        <a:pt x="88067" y="72952"/>
                      </a:cubicBezTo>
                      <a:lnTo>
                        <a:pt x="113213" y="100012"/>
                      </a:lnTo>
                      <a:cubicBezTo>
                        <a:pt x="98926" y="67266"/>
                        <a:pt x="91782" y="48220"/>
                        <a:pt x="91782" y="42862"/>
                      </a:cubicBezTo>
                      <a:cubicBezTo>
                        <a:pt x="91782" y="19190"/>
                        <a:pt x="110972" y="0"/>
                        <a:pt x="134645" y="0"/>
                      </a:cubicBezTo>
                    </a:path>
                  </a:pathLst>
                </a:custGeom>
                <a:noFill/>
                <a:ln w="28575">
                  <a:solidFill>
                    <a:srgbClr val="E67E22"/>
                  </a:solidFill>
                </a:ln>
              </p:spPr>
            </p:sp>
          </p:grpSp>
          <p:sp>
            <p:nvSpPr>
              <p:cNvPr id="35" name="TextBox 35"/>
              <p:cNvSpPr txBox="1"/>
              <p:nvPr/>
            </p:nvSpPr>
            <p:spPr>
              <a:xfrm>
                <a:off x="1324356" y="3086100"/>
                <a:ext cx="156552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Медитируйте</a:t>
                </a:r>
              </a:p>
            </p:txBody>
          </p:sp>
        </p:grpSp>
        <p:grpSp>
          <p:nvGrpSpPr>
            <p:cNvPr id="43" name="p14-s470-290"/>
            <p:cNvGrpSpPr/>
            <p:nvPr/>
          </p:nvGrpSpPr>
          <p:grpSpPr>
            <a:xfrm>
              <a:off x="4476750" y="2762250"/>
              <a:ext cx="3429000" cy="952500"/>
              <a:chOff x="4476750" y="2762250"/>
              <a:chExt cx="3429000" cy="952500"/>
            </a:xfrm>
          </p:grpSpPr>
          <p:sp>
            <p:nvSpPr>
              <p:cNvPr id="37" name="Rectangle 37"/>
              <p:cNvSpPr/>
              <p:nvPr/>
            </p:nvSpPr>
            <p:spPr>
              <a:xfrm>
                <a:off x="4476750" y="2762250"/>
                <a:ext cx="3429000" cy="952500"/>
              </a:xfrm>
              <a:prstGeom prst="roundRect">
                <a:avLst>
                  <a:gd name="adj" fmla="val 14000"/>
                </a:avLst>
              </a:prstGeom>
              <a:solidFill>
                <a:srgbClr val="FFFFFF">
                  <a:alpha val="85000"/>
                </a:srgbClr>
              </a:solidFill>
              <a:ln>
                <a:noFill/>
              </a:ln>
            </p:spPr>
          </p:sp>
          <p:grpSp>
            <p:nvGrpSpPr>
              <p:cNvPr id="41" name="Group 41"/>
              <p:cNvGrpSpPr/>
              <p:nvPr/>
            </p:nvGrpSpPr>
            <p:grpSpPr>
              <a:xfrm>
                <a:off x="4672012" y="3052762"/>
                <a:ext cx="257175" cy="257175"/>
                <a:chOff x="4672012" y="3052762"/>
                <a:chExt cx="257175" cy="257175"/>
              </a:xfrm>
            </p:grpSpPr>
            <p:sp>
              <p:nvSpPr>
                <p:cNvPr id="38" name="Freeform 38"/>
                <p:cNvSpPr/>
                <p:nvPr/>
              </p:nvSpPr>
              <p:spPr>
                <a:xfrm>
                  <a:off x="4786312" y="316706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E67E22"/>
                  </a:solidFill>
                </a:ln>
              </p:spPr>
            </p:sp>
            <p:sp>
              <p:nvSpPr>
                <p:cNvPr id="39" name="Freeform 39"/>
                <p:cNvSpPr/>
                <p:nvPr/>
              </p:nvSpPr>
              <p:spPr>
                <a:xfrm>
                  <a:off x="4729162" y="310991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8575">
                  <a:solidFill>
                    <a:srgbClr val="E67E22"/>
                  </a:solidFill>
                </a:ln>
              </p:spPr>
            </p:sp>
            <p:sp>
              <p:nvSpPr>
                <p:cNvPr id="40" name="Freeform 40"/>
                <p:cNvSpPr/>
                <p:nvPr/>
              </p:nvSpPr>
              <p:spPr>
                <a:xfrm>
                  <a:off x="4672012" y="305276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28575">
                  <a:solidFill>
                    <a:srgbClr val="E67E22"/>
                  </a:solidFill>
                </a:ln>
              </p:spPr>
            </p:sp>
          </p:grpSp>
          <p:sp>
            <p:nvSpPr>
              <p:cNvPr id="42" name="TextBox 42"/>
              <p:cNvSpPr txBox="1"/>
              <p:nvPr/>
            </p:nvSpPr>
            <p:spPr>
              <a:xfrm>
                <a:off x="5039106" y="3086100"/>
                <a:ext cx="1633183"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Ставьте цели</a:t>
                </a:r>
              </a:p>
            </p:txBody>
          </p:sp>
        </p:grpSp>
        <p:grpSp>
          <p:nvGrpSpPr>
            <p:cNvPr id="52" name="p14-s860-290"/>
            <p:cNvGrpSpPr/>
            <p:nvPr/>
          </p:nvGrpSpPr>
          <p:grpSpPr>
            <a:xfrm>
              <a:off x="8191500" y="2762250"/>
              <a:ext cx="3429000" cy="952500"/>
              <a:chOff x="8191500" y="2762250"/>
              <a:chExt cx="3429000" cy="952500"/>
            </a:xfrm>
          </p:grpSpPr>
          <p:sp>
            <p:nvSpPr>
              <p:cNvPr id="44" name="Rectangle 44"/>
              <p:cNvSpPr/>
              <p:nvPr/>
            </p:nvSpPr>
            <p:spPr>
              <a:xfrm>
                <a:off x="8191500" y="2762250"/>
                <a:ext cx="3429000" cy="952500"/>
              </a:xfrm>
              <a:prstGeom prst="roundRect">
                <a:avLst>
                  <a:gd name="adj" fmla="val 14000"/>
                </a:avLst>
              </a:prstGeom>
              <a:solidFill>
                <a:srgbClr val="FFFFFF">
                  <a:alpha val="85000"/>
                </a:srgbClr>
              </a:solidFill>
              <a:ln>
                <a:noFill/>
              </a:ln>
            </p:spPr>
          </p:sp>
          <p:grpSp>
            <p:nvGrpSpPr>
              <p:cNvPr id="49" name="Group 49"/>
              <p:cNvGrpSpPr/>
              <p:nvPr/>
            </p:nvGrpSpPr>
            <p:grpSpPr>
              <a:xfrm>
                <a:off x="8386762" y="3052762"/>
                <a:ext cx="257175" cy="257176"/>
                <a:chOff x="8386762" y="3052762"/>
                <a:chExt cx="257175" cy="257176"/>
              </a:xfrm>
            </p:grpSpPr>
            <p:sp>
              <p:nvSpPr>
                <p:cNvPr id="45" name="Freeform 45"/>
                <p:cNvSpPr/>
                <p:nvPr/>
              </p:nvSpPr>
              <p:spPr>
                <a:xfrm>
                  <a:off x="8415338" y="305276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28575">
                  <a:solidFill>
                    <a:srgbClr val="E67E22"/>
                  </a:solidFill>
                </a:ln>
              </p:spPr>
            </p:sp>
            <p:sp>
              <p:nvSpPr>
                <p:cNvPr id="46" name="Freeform 46"/>
                <p:cNvSpPr/>
                <p:nvPr/>
              </p:nvSpPr>
              <p:spPr>
                <a:xfrm>
                  <a:off x="8386762" y="322421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28575">
                  <a:solidFill>
                    <a:srgbClr val="E67E22"/>
                  </a:solidFill>
                </a:ln>
              </p:spPr>
            </p:sp>
            <p:sp>
              <p:nvSpPr>
                <p:cNvPr id="47" name="Freeform 47"/>
                <p:cNvSpPr/>
                <p:nvPr/>
              </p:nvSpPr>
              <p:spPr>
                <a:xfrm>
                  <a:off x="8572500" y="305462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28575">
                  <a:solidFill>
                    <a:srgbClr val="E67E22"/>
                  </a:solidFill>
                </a:ln>
              </p:spPr>
            </p:sp>
            <p:sp>
              <p:nvSpPr>
                <p:cNvPr id="48" name="Freeform 48"/>
                <p:cNvSpPr/>
                <p:nvPr/>
              </p:nvSpPr>
              <p:spPr>
                <a:xfrm>
                  <a:off x="8601075" y="322635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28575">
                  <a:solidFill>
                    <a:srgbClr val="E67E22"/>
                  </a:solidFill>
                </a:ln>
              </p:spPr>
            </p:sp>
          </p:grpSp>
          <p:sp>
            <p:nvSpPr>
              <p:cNvPr id="50" name="TextBox 50"/>
              <p:cNvSpPr txBox="1"/>
              <p:nvPr/>
            </p:nvSpPr>
            <p:spPr>
              <a:xfrm>
                <a:off x="8753856" y="3086100"/>
                <a:ext cx="1285646"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Помогайте</a:t>
                </a:r>
              </a:p>
            </p:txBody>
          </p:sp>
          <p:sp>
            <p:nvSpPr>
              <p:cNvPr id="51" name="TextBox 51"/>
              <p:cNvSpPr txBox="1"/>
              <p:nvPr/>
            </p:nvSpPr>
            <p:spPr>
              <a:xfrm>
                <a:off x="8753856" y="3352800"/>
                <a:ext cx="817931"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другим</a:t>
                </a:r>
              </a:p>
            </p:txBody>
          </p:sp>
        </p:grpSp>
        <p:grpSp>
          <p:nvGrpSpPr>
            <p:cNvPr id="60" name="p14-s80-410"/>
            <p:cNvGrpSpPr/>
            <p:nvPr/>
          </p:nvGrpSpPr>
          <p:grpSpPr>
            <a:xfrm>
              <a:off x="762000" y="3905250"/>
              <a:ext cx="3429000" cy="952500"/>
              <a:chOff x="762000" y="3905250"/>
              <a:chExt cx="3429000" cy="952500"/>
            </a:xfrm>
          </p:grpSpPr>
          <p:sp>
            <p:nvSpPr>
              <p:cNvPr id="53" name="Rectangle 53"/>
              <p:cNvSpPr/>
              <p:nvPr/>
            </p:nvSpPr>
            <p:spPr>
              <a:xfrm>
                <a:off x="762000" y="3905250"/>
                <a:ext cx="3429000" cy="952500"/>
              </a:xfrm>
              <a:prstGeom prst="roundRect">
                <a:avLst>
                  <a:gd name="adj" fmla="val 14000"/>
                </a:avLst>
              </a:prstGeom>
              <a:solidFill>
                <a:srgbClr val="FFFFFF">
                  <a:alpha val="85000"/>
                </a:srgbClr>
              </a:solidFill>
              <a:ln>
                <a:noFill/>
              </a:ln>
            </p:spPr>
          </p:sp>
          <p:grpSp>
            <p:nvGrpSpPr>
              <p:cNvPr id="57" name="Group 57"/>
              <p:cNvGrpSpPr/>
              <p:nvPr/>
            </p:nvGrpSpPr>
            <p:grpSpPr>
              <a:xfrm>
                <a:off x="1000125" y="4195762"/>
                <a:ext cx="171450" cy="257175"/>
                <a:chOff x="1000125" y="4195762"/>
                <a:chExt cx="171450" cy="257175"/>
              </a:xfrm>
            </p:grpSpPr>
            <p:sp>
              <p:nvSpPr>
                <p:cNvPr id="54" name="Freeform 54"/>
                <p:cNvSpPr/>
                <p:nvPr/>
              </p:nvSpPr>
              <p:spPr>
                <a:xfrm>
                  <a:off x="1000125" y="4195762"/>
                  <a:ext cx="171450" cy="257175"/>
                </a:xfrm>
                <a:custGeom>
                  <a:avLst/>
                  <a:gdLst/>
                  <a:ahLst/>
                  <a:cxnLst/>
                  <a:rect l="l" t="t" r="r" b="b"/>
                  <a:pathLst>
                    <a:path w="171450" h="257175">
                      <a:moveTo>
                        <a:pt x="0" y="28575"/>
                      </a:moveTo>
                      <a:cubicBezTo>
                        <a:pt x="0" y="12793"/>
                        <a:pt x="12793" y="0"/>
                        <a:pt x="28575" y="0"/>
                      </a:cubicBezTo>
                      <a:lnTo>
                        <a:pt x="142875" y="0"/>
                      </a:lnTo>
                      <a:cubicBezTo>
                        <a:pt x="158657" y="0"/>
                        <a:pt x="171450" y="12793"/>
                        <a:pt x="171450" y="28575"/>
                      </a:cubicBezTo>
                      <a:lnTo>
                        <a:pt x="171450" y="228600"/>
                      </a:lnTo>
                      <a:cubicBezTo>
                        <a:pt x="171450" y="244382"/>
                        <a:pt x="158657" y="257175"/>
                        <a:pt x="142875" y="257175"/>
                      </a:cubicBezTo>
                      <a:lnTo>
                        <a:pt x="28575" y="257175"/>
                      </a:lnTo>
                      <a:cubicBezTo>
                        <a:pt x="12793" y="257175"/>
                        <a:pt x="0" y="244382"/>
                        <a:pt x="0" y="228600"/>
                      </a:cubicBezTo>
                      <a:lnTo>
                        <a:pt x="0" y="28575"/>
                      </a:lnTo>
                    </a:path>
                  </a:pathLst>
                </a:custGeom>
                <a:noFill/>
                <a:ln w="28575">
                  <a:solidFill>
                    <a:schemeClr val="accent1"/>
                  </a:solidFill>
                </a:ln>
              </p:spPr>
            </p:sp>
            <p:sp>
              <p:nvSpPr>
                <p:cNvPr id="55" name="Freeform 55"/>
                <p:cNvSpPr/>
                <p:nvPr/>
              </p:nvSpPr>
              <p:spPr>
                <a:xfrm>
                  <a:off x="1071562" y="4210050"/>
                  <a:ext cx="28575" cy="9525"/>
                </a:xfrm>
                <a:custGeom>
                  <a:avLst/>
                  <a:gdLst/>
                  <a:ahLst/>
                  <a:cxnLst/>
                  <a:rect l="l" t="t" r="r" b="b"/>
                  <a:pathLst>
                    <a:path w="28575" h="9525">
                      <a:moveTo>
                        <a:pt x="0" y="0"/>
                      </a:moveTo>
                      <a:lnTo>
                        <a:pt x="28575" y="0"/>
                      </a:lnTo>
                    </a:path>
                  </a:pathLst>
                </a:custGeom>
                <a:noFill/>
                <a:ln w="28575">
                  <a:solidFill>
                    <a:schemeClr val="accent1"/>
                  </a:solidFill>
                </a:ln>
              </p:spPr>
            </p:sp>
            <p:sp>
              <p:nvSpPr>
                <p:cNvPr id="56" name="Freeform 56"/>
                <p:cNvSpPr/>
                <p:nvPr/>
              </p:nvSpPr>
              <p:spPr>
                <a:xfrm>
                  <a:off x="1085850" y="4395788"/>
                  <a:ext cx="9525" cy="9525"/>
                </a:xfrm>
                <a:custGeom>
                  <a:avLst/>
                  <a:gdLst/>
                  <a:ahLst/>
                  <a:cxnLst/>
                  <a:rect l="l" t="t" r="r" b="b"/>
                  <a:pathLst>
                    <a:path w="9525" h="9525">
                      <a:moveTo>
                        <a:pt x="0" y="0"/>
                      </a:moveTo>
                      <a:lnTo>
                        <a:pt x="0" y="143"/>
                      </a:lnTo>
                    </a:path>
                  </a:pathLst>
                </a:custGeom>
                <a:noFill/>
                <a:ln w="28575">
                  <a:solidFill>
                    <a:schemeClr val="accent1"/>
                  </a:solidFill>
                </a:ln>
              </p:spPr>
            </p:sp>
          </p:grpSp>
          <p:sp>
            <p:nvSpPr>
              <p:cNvPr id="58" name="TextBox 58"/>
              <p:cNvSpPr txBox="1"/>
              <p:nvPr/>
            </p:nvSpPr>
            <p:spPr>
              <a:xfrm>
                <a:off x="1324356" y="4229100"/>
                <a:ext cx="1425584"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Ограничьте</a:t>
                </a:r>
              </a:p>
            </p:txBody>
          </p:sp>
          <p:sp>
            <p:nvSpPr>
              <p:cNvPr id="59" name="TextBox 59"/>
              <p:cNvSpPr txBox="1"/>
              <p:nvPr/>
            </p:nvSpPr>
            <p:spPr>
              <a:xfrm>
                <a:off x="1324356" y="4495800"/>
                <a:ext cx="951205"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соцсети</a:t>
                </a:r>
              </a:p>
            </p:txBody>
          </p:sp>
        </p:grpSp>
        <p:grpSp>
          <p:nvGrpSpPr>
            <p:cNvPr id="69" name="p14-s470-410"/>
            <p:cNvGrpSpPr/>
            <p:nvPr/>
          </p:nvGrpSpPr>
          <p:grpSpPr>
            <a:xfrm>
              <a:off x="4476750" y="3905250"/>
              <a:ext cx="3429000" cy="952500"/>
              <a:chOff x="4476750" y="3905250"/>
              <a:chExt cx="3429000" cy="952500"/>
            </a:xfrm>
          </p:grpSpPr>
          <p:sp>
            <p:nvSpPr>
              <p:cNvPr id="61" name="Rectangle 61"/>
              <p:cNvSpPr/>
              <p:nvPr/>
            </p:nvSpPr>
            <p:spPr>
              <a:xfrm>
                <a:off x="4476750" y="3905250"/>
                <a:ext cx="3429000" cy="952500"/>
              </a:xfrm>
              <a:prstGeom prst="roundRect">
                <a:avLst>
                  <a:gd name="adj" fmla="val 14000"/>
                </a:avLst>
              </a:prstGeom>
              <a:solidFill>
                <a:srgbClr val="FFFFFF">
                  <a:alpha val="85000"/>
                </a:srgbClr>
              </a:solidFill>
              <a:ln>
                <a:noFill/>
              </a:ln>
            </p:spPr>
          </p:sp>
          <p:grpSp>
            <p:nvGrpSpPr>
              <p:cNvPr id="66" name="Group 66"/>
              <p:cNvGrpSpPr/>
              <p:nvPr/>
            </p:nvGrpSpPr>
            <p:grpSpPr>
              <a:xfrm>
                <a:off x="4657725" y="4252912"/>
                <a:ext cx="285750" cy="142876"/>
                <a:chOff x="4657725" y="4252912"/>
                <a:chExt cx="285750" cy="142876"/>
              </a:xfrm>
            </p:grpSpPr>
            <p:sp>
              <p:nvSpPr>
                <p:cNvPr id="62" name="Freeform 62"/>
                <p:cNvSpPr/>
                <p:nvPr/>
              </p:nvSpPr>
              <p:spPr>
                <a:xfrm>
                  <a:off x="4700588" y="4252912"/>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chemeClr val="accent1"/>
                  </a:solidFill>
                </a:ln>
              </p:spPr>
            </p:sp>
            <p:sp>
              <p:nvSpPr>
                <p:cNvPr id="63" name="Freeform 63"/>
                <p:cNvSpPr/>
                <p:nvPr/>
              </p:nvSpPr>
              <p:spPr>
                <a:xfrm>
                  <a:off x="4657725" y="4352925"/>
                  <a:ext cx="285750" cy="42862"/>
                </a:xfrm>
                <a:custGeom>
                  <a:avLst/>
                  <a:gdLst/>
                  <a:ahLst/>
                  <a:cxnLst/>
                  <a:rect l="l" t="t" r="r" b="b"/>
                  <a:pathLst>
                    <a:path w="285750" h="42862">
                      <a:moveTo>
                        <a:pt x="285750" y="42862"/>
                      </a:moveTo>
                      <a:lnTo>
                        <a:pt x="285750" y="0"/>
                      </a:lnTo>
                      <a:lnTo>
                        <a:pt x="0" y="0"/>
                      </a:lnTo>
                    </a:path>
                  </a:pathLst>
                </a:custGeom>
                <a:noFill/>
                <a:ln w="28575">
                  <a:solidFill>
                    <a:schemeClr val="accent1"/>
                  </a:solidFill>
                </a:ln>
              </p:spPr>
            </p:sp>
            <p:sp>
              <p:nvSpPr>
                <p:cNvPr id="64" name="Freeform 64"/>
                <p:cNvSpPr/>
                <p:nvPr/>
              </p:nvSpPr>
              <p:spPr>
                <a:xfrm>
                  <a:off x="4657725" y="4267200"/>
                  <a:ext cx="9525" cy="128588"/>
                </a:xfrm>
                <a:custGeom>
                  <a:avLst/>
                  <a:gdLst/>
                  <a:ahLst/>
                  <a:cxnLst/>
                  <a:rect l="l" t="t" r="r" b="b"/>
                  <a:pathLst>
                    <a:path w="9525" h="128588">
                      <a:moveTo>
                        <a:pt x="0" y="0"/>
                      </a:moveTo>
                      <a:lnTo>
                        <a:pt x="0" y="128588"/>
                      </a:lnTo>
                    </a:path>
                  </a:pathLst>
                </a:custGeom>
                <a:noFill/>
                <a:ln w="28575">
                  <a:solidFill>
                    <a:schemeClr val="accent1"/>
                  </a:solidFill>
                </a:ln>
              </p:spPr>
            </p:sp>
            <p:sp>
              <p:nvSpPr>
                <p:cNvPr id="65" name="Freeform 65"/>
                <p:cNvSpPr/>
                <p:nvPr/>
              </p:nvSpPr>
              <p:spPr>
                <a:xfrm>
                  <a:off x="4800600" y="4281488"/>
                  <a:ext cx="142875" cy="71438"/>
                </a:xfrm>
                <a:custGeom>
                  <a:avLst/>
                  <a:gdLst/>
                  <a:ahLst/>
                  <a:cxnLst/>
                  <a:rect l="l" t="t" r="r" b="b"/>
                  <a:pathLst>
                    <a:path w="142875" h="71438">
                      <a:moveTo>
                        <a:pt x="0" y="71438"/>
                      </a:moveTo>
                      <a:lnTo>
                        <a:pt x="142875" y="71438"/>
                      </a:lnTo>
                      <a:lnTo>
                        <a:pt x="142875" y="42862"/>
                      </a:lnTo>
                      <a:cubicBezTo>
                        <a:pt x="142875" y="19190"/>
                        <a:pt x="123685" y="0"/>
                        <a:pt x="100012" y="0"/>
                      </a:cubicBezTo>
                      <a:lnTo>
                        <a:pt x="0" y="0"/>
                      </a:lnTo>
                      <a:lnTo>
                        <a:pt x="0" y="71438"/>
                      </a:lnTo>
                    </a:path>
                  </a:pathLst>
                </a:custGeom>
                <a:noFill/>
                <a:ln w="28575">
                  <a:solidFill>
                    <a:schemeClr val="accent1"/>
                  </a:solidFill>
                </a:ln>
              </p:spPr>
            </p:sp>
          </p:grpSp>
          <p:sp>
            <p:nvSpPr>
              <p:cNvPr id="67" name="TextBox 67"/>
              <p:cNvSpPr txBox="1"/>
              <p:nvPr/>
            </p:nvSpPr>
            <p:spPr>
              <a:xfrm>
                <a:off x="5039106" y="4229100"/>
                <a:ext cx="725896"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Спите</a:t>
                </a:r>
              </a:p>
            </p:txBody>
          </p:sp>
          <p:sp>
            <p:nvSpPr>
              <p:cNvPr id="68" name="TextBox 68"/>
              <p:cNvSpPr txBox="1"/>
              <p:nvPr/>
            </p:nvSpPr>
            <p:spPr>
              <a:xfrm>
                <a:off x="5039106" y="4495800"/>
                <a:ext cx="1351026"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достаточно</a:t>
                </a:r>
              </a:p>
            </p:txBody>
          </p:sp>
        </p:grpSp>
        <p:grpSp>
          <p:nvGrpSpPr>
            <p:cNvPr id="77" name="p14-therapy"/>
            <p:cNvGrpSpPr/>
            <p:nvPr/>
          </p:nvGrpSpPr>
          <p:grpSpPr>
            <a:xfrm>
              <a:off x="8191500" y="3905250"/>
              <a:ext cx="3429000" cy="952500"/>
              <a:chOff x="8191500" y="3905250"/>
              <a:chExt cx="3429000" cy="952500"/>
            </a:xfrm>
          </p:grpSpPr>
          <p:sp>
            <p:nvSpPr>
              <p:cNvPr id="70" name="Rectangle 70"/>
              <p:cNvSpPr/>
              <p:nvPr/>
            </p:nvSpPr>
            <p:spPr>
              <a:xfrm>
                <a:off x="8191500" y="3905250"/>
                <a:ext cx="3429000" cy="952500"/>
              </a:xfrm>
              <a:prstGeom prst="roundRect">
                <a:avLst>
                  <a:gd name="adj" fmla="val 14000"/>
                </a:avLst>
              </a:prstGeom>
              <a:solidFill>
                <a:schemeClr val="accent1">
                  <a:alpha val="12000"/>
                </a:schemeClr>
              </a:solidFill>
              <a:ln>
                <a:noFill/>
              </a:ln>
            </p:spPr>
          </p:sp>
          <p:grpSp>
            <p:nvGrpSpPr>
              <p:cNvPr id="74" name="Group 74"/>
              <p:cNvGrpSpPr/>
              <p:nvPr/>
            </p:nvGrpSpPr>
            <p:grpSpPr>
              <a:xfrm>
                <a:off x="8386762" y="4195762"/>
                <a:ext cx="257175" cy="257175"/>
                <a:chOff x="8386762" y="4195762"/>
                <a:chExt cx="257175" cy="257175"/>
              </a:xfrm>
            </p:grpSpPr>
            <p:sp>
              <p:nvSpPr>
                <p:cNvPr id="71" name="Freeform 71"/>
                <p:cNvSpPr/>
                <p:nvPr/>
              </p:nvSpPr>
              <p:spPr>
                <a:xfrm>
                  <a:off x="8386762" y="4195762"/>
                  <a:ext cx="257175" cy="128588"/>
                </a:xfrm>
                <a:custGeom>
                  <a:avLst/>
                  <a:gdLst/>
                  <a:ahLst/>
                  <a:cxnLst/>
                  <a:rect l="l" t="t" r="r" b="b"/>
                  <a:pathLst>
                    <a:path w="257175" h="128588">
                      <a:moveTo>
                        <a:pt x="0" y="128588"/>
                      </a:moveTo>
                      <a:lnTo>
                        <a:pt x="14288" y="128588"/>
                      </a:lnTo>
                      <a:moveTo>
                        <a:pt x="128588" y="0"/>
                      </a:moveTo>
                      <a:lnTo>
                        <a:pt x="128588" y="14288"/>
                      </a:lnTo>
                      <a:moveTo>
                        <a:pt x="242888" y="128588"/>
                      </a:moveTo>
                      <a:lnTo>
                        <a:pt x="257175" y="128588"/>
                      </a:lnTo>
                      <a:moveTo>
                        <a:pt x="37147" y="37147"/>
                      </a:moveTo>
                      <a:lnTo>
                        <a:pt x="47149" y="47149"/>
                      </a:lnTo>
                      <a:moveTo>
                        <a:pt x="220028" y="37147"/>
                      </a:moveTo>
                      <a:lnTo>
                        <a:pt x="210026" y="47149"/>
                      </a:lnTo>
                    </a:path>
                  </a:pathLst>
                </a:custGeom>
                <a:noFill/>
                <a:ln w="28575">
                  <a:solidFill>
                    <a:schemeClr val="accent1"/>
                  </a:solidFill>
                </a:ln>
              </p:spPr>
            </p:sp>
            <p:sp>
              <p:nvSpPr>
                <p:cNvPr id="72" name="Freeform 72"/>
                <p:cNvSpPr/>
                <p:nvPr/>
              </p:nvSpPr>
              <p:spPr>
                <a:xfrm>
                  <a:off x="8437855" y="4252912"/>
                  <a:ext cx="154990" cy="200025"/>
                </a:xfrm>
                <a:custGeom>
                  <a:avLst/>
                  <a:gdLst/>
                  <a:ahLst/>
                  <a:cxnLst/>
                  <a:rect l="l" t="t" r="r" b="b"/>
                  <a:pathLst>
                    <a:path w="154990" h="200025">
                      <a:moveTo>
                        <a:pt x="34633" y="128588"/>
                      </a:moveTo>
                      <a:cubicBezTo>
                        <a:pt x="10034" y="110138"/>
                        <a:pt x="0" y="78018"/>
                        <a:pt x="9724" y="48847"/>
                      </a:cubicBezTo>
                      <a:cubicBezTo>
                        <a:pt x="19447" y="19676"/>
                        <a:pt x="46746" y="0"/>
                        <a:pt x="77495" y="0"/>
                      </a:cubicBezTo>
                      <a:cubicBezTo>
                        <a:pt x="108244" y="0"/>
                        <a:pt x="135543" y="19676"/>
                        <a:pt x="145267" y="48847"/>
                      </a:cubicBezTo>
                      <a:cubicBezTo>
                        <a:pt x="154990" y="78018"/>
                        <a:pt x="144957" y="110138"/>
                        <a:pt x="120358" y="128588"/>
                      </a:cubicBezTo>
                      <a:cubicBezTo>
                        <a:pt x="109044" y="139786"/>
                        <a:pt x="103739" y="155703"/>
                        <a:pt x="106070" y="171450"/>
                      </a:cubicBezTo>
                      <a:cubicBezTo>
                        <a:pt x="106070" y="187232"/>
                        <a:pt x="93277" y="200025"/>
                        <a:pt x="77495" y="200025"/>
                      </a:cubicBezTo>
                      <a:cubicBezTo>
                        <a:pt x="61714" y="200025"/>
                        <a:pt x="48920" y="187232"/>
                        <a:pt x="48920" y="171450"/>
                      </a:cubicBezTo>
                      <a:cubicBezTo>
                        <a:pt x="51252" y="155703"/>
                        <a:pt x="45946" y="139786"/>
                        <a:pt x="34633" y="128588"/>
                      </a:cubicBezTo>
                    </a:path>
                  </a:pathLst>
                </a:custGeom>
                <a:noFill/>
                <a:ln w="28575">
                  <a:solidFill>
                    <a:schemeClr val="accent1"/>
                  </a:solidFill>
                </a:ln>
              </p:spPr>
            </p:sp>
            <p:sp>
              <p:nvSpPr>
                <p:cNvPr id="73" name="Freeform 73"/>
                <p:cNvSpPr/>
                <p:nvPr/>
              </p:nvSpPr>
              <p:spPr>
                <a:xfrm>
                  <a:off x="8482489" y="4395788"/>
                  <a:ext cx="65723" cy="9525"/>
                </a:xfrm>
                <a:custGeom>
                  <a:avLst/>
                  <a:gdLst/>
                  <a:ahLst/>
                  <a:cxnLst/>
                  <a:rect l="l" t="t" r="r" b="b"/>
                  <a:pathLst>
                    <a:path w="65723" h="9525">
                      <a:moveTo>
                        <a:pt x="0" y="0"/>
                      </a:moveTo>
                      <a:lnTo>
                        <a:pt x="65723" y="0"/>
                      </a:lnTo>
                    </a:path>
                  </a:pathLst>
                </a:custGeom>
                <a:noFill/>
                <a:ln w="28575">
                  <a:solidFill>
                    <a:schemeClr val="accent1"/>
                  </a:solidFill>
                </a:ln>
              </p:spPr>
            </p:sp>
          </p:grpSp>
          <p:sp>
            <p:nvSpPr>
              <p:cNvPr id="75" name="TextBox 75"/>
              <p:cNvSpPr txBox="1"/>
              <p:nvPr/>
            </p:nvSpPr>
            <p:spPr>
              <a:xfrm>
                <a:off x="8753856" y="4038600"/>
                <a:ext cx="1005771"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Терапия</a:t>
                </a:r>
              </a:p>
            </p:txBody>
          </p:sp>
          <p:sp>
            <p:nvSpPr>
              <p:cNvPr id="76" name="TextBox 76"/>
              <p:cNvSpPr txBox="1"/>
              <p:nvPr/>
            </p:nvSpPr>
            <p:spPr>
              <a:xfrm>
                <a:off x="8753856" y="4362450"/>
                <a:ext cx="2551847" cy="352044"/>
              </a:xfrm>
              <a:prstGeom prst="rect">
                <a:avLst/>
              </a:prstGeom>
              <a:noFill/>
              <a:ln>
                <a:noFill/>
              </a:ln>
            </p:spPr>
            <p:txBody>
              <a:bodyPr wrap="none" lIns="0" tIns="0" rIns="0" bIns="0" anchor="t" anchorCtr="0">
                <a:spAutoFit/>
              </a:bodyPr>
              <a:lstStyle/>
              <a:p>
                <a:pPr algn="l"/>
                <a:r>
                  <a:rPr lang="ru" sz="1800" dirty="0">
                    <a:solidFill>
                      <a:schemeClr val="accent1"/>
                    </a:solidFill>
                    <a:latin typeface="+mn-lt"/>
                    <a:ea typeface="+mn-ea"/>
                    <a:cs typeface="+mn-cs"/>
                  </a:rPr>
                  <a:t>логотерапия и другие</a:t>
                </a:r>
              </a:p>
            </p:txBody>
          </p:sp>
        </p:grpSp>
      </p:grpSp>
      <p:grpSp>
        <p:nvGrpSpPr>
          <p:cNvPr id="91" name="p14-steps"/>
          <p:cNvGrpSpPr/>
          <p:nvPr/>
        </p:nvGrpSpPr>
        <p:grpSpPr>
          <a:xfrm>
            <a:off x="762000" y="5143500"/>
            <a:ext cx="10858500" cy="1143000"/>
            <a:chOff x="762000" y="5143500"/>
            <a:chExt cx="10858500" cy="1143000"/>
          </a:xfrm>
        </p:grpSpPr>
        <p:sp>
          <p:nvSpPr>
            <p:cNvPr id="79" name="Rectangle 79"/>
            <p:cNvSpPr/>
            <p:nvPr/>
          </p:nvSpPr>
          <p:spPr>
            <a:xfrm>
              <a:off x="762000" y="5143500"/>
              <a:ext cx="10858500" cy="1143000"/>
            </a:xfrm>
            <a:prstGeom prst="roundRect">
              <a:avLst>
                <a:gd name="adj" fmla="val 13333"/>
              </a:avLst>
            </a:prstGeom>
            <a:solidFill>
              <a:srgbClr val="FFFFFF">
                <a:alpha val="85000"/>
              </a:srgbClr>
            </a:solidFill>
            <a:ln>
              <a:noFill/>
            </a:ln>
          </p:spPr>
        </p:sp>
        <p:sp>
          <p:nvSpPr>
            <p:cNvPr id="80" name="TextBox 80"/>
            <p:cNvSpPr txBox="1"/>
            <p:nvPr/>
          </p:nvSpPr>
          <p:spPr>
            <a:xfrm>
              <a:off x="1019556" y="5295900"/>
              <a:ext cx="2461416"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5 шагов из Apteka.ru</a:t>
              </a:r>
            </a:p>
          </p:txBody>
        </p:sp>
        <p:sp>
          <p:nvSpPr>
            <p:cNvPr id="81" name="Freeform 81"/>
            <p:cNvSpPr/>
            <p:nvPr/>
          </p:nvSpPr>
          <p:spPr>
            <a:xfrm>
              <a:off x="1084263" y="5773738"/>
              <a:ext cx="166688" cy="111125"/>
            </a:xfrm>
            <a:custGeom>
              <a:avLst/>
              <a:gdLst/>
              <a:ahLst/>
              <a:cxnLst/>
              <a:rect l="l" t="t" r="r" b="b"/>
              <a:pathLst>
                <a:path w="166688" h="111125">
                  <a:moveTo>
                    <a:pt x="0" y="55563"/>
                  </a:moveTo>
                  <a:lnTo>
                    <a:pt x="55563" y="111125"/>
                  </a:lnTo>
                  <a:lnTo>
                    <a:pt x="166688" y="0"/>
                  </a:lnTo>
                </a:path>
              </a:pathLst>
            </a:custGeom>
            <a:noFill/>
            <a:ln w="22225">
              <a:solidFill>
                <a:srgbClr val="27AE60"/>
              </a:solidFill>
            </a:ln>
          </p:spPr>
        </p:sp>
        <p:sp>
          <p:nvSpPr>
            <p:cNvPr id="82" name="TextBox 82"/>
            <p:cNvSpPr txBox="1"/>
            <p:nvPr/>
          </p:nvSpPr>
          <p:spPr>
            <a:xfrm>
              <a:off x="1381506" y="5676900"/>
              <a:ext cx="121775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призвание</a:t>
              </a:r>
            </a:p>
          </p:txBody>
        </p:sp>
        <p:sp>
          <p:nvSpPr>
            <p:cNvPr id="83" name="Freeform 83"/>
            <p:cNvSpPr/>
            <p:nvPr/>
          </p:nvSpPr>
          <p:spPr>
            <a:xfrm>
              <a:off x="3198813" y="5773738"/>
              <a:ext cx="166688" cy="111125"/>
            </a:xfrm>
            <a:custGeom>
              <a:avLst/>
              <a:gdLst/>
              <a:ahLst/>
              <a:cxnLst/>
              <a:rect l="l" t="t" r="r" b="b"/>
              <a:pathLst>
                <a:path w="166688" h="111125">
                  <a:moveTo>
                    <a:pt x="0" y="55563"/>
                  </a:moveTo>
                  <a:lnTo>
                    <a:pt x="55563" y="111125"/>
                  </a:lnTo>
                  <a:lnTo>
                    <a:pt x="166688" y="0"/>
                  </a:lnTo>
                </a:path>
              </a:pathLst>
            </a:custGeom>
            <a:noFill/>
            <a:ln w="22225">
              <a:solidFill>
                <a:srgbClr val="27AE60"/>
              </a:solidFill>
            </a:ln>
          </p:spPr>
        </p:sp>
        <p:sp>
          <p:nvSpPr>
            <p:cNvPr id="84" name="TextBox 84"/>
            <p:cNvSpPr txBox="1"/>
            <p:nvPr/>
          </p:nvSpPr>
          <p:spPr>
            <a:xfrm>
              <a:off x="3496056" y="5676900"/>
              <a:ext cx="1217752"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отношения</a:t>
              </a:r>
            </a:p>
          </p:txBody>
        </p:sp>
        <p:sp>
          <p:nvSpPr>
            <p:cNvPr id="85" name="Freeform 85"/>
            <p:cNvSpPr/>
            <p:nvPr/>
          </p:nvSpPr>
          <p:spPr>
            <a:xfrm>
              <a:off x="5484813" y="5773738"/>
              <a:ext cx="166688" cy="111125"/>
            </a:xfrm>
            <a:custGeom>
              <a:avLst/>
              <a:gdLst/>
              <a:ahLst/>
              <a:cxnLst/>
              <a:rect l="l" t="t" r="r" b="b"/>
              <a:pathLst>
                <a:path w="166688" h="111125">
                  <a:moveTo>
                    <a:pt x="0" y="55563"/>
                  </a:moveTo>
                  <a:lnTo>
                    <a:pt x="55563" y="111125"/>
                  </a:lnTo>
                  <a:lnTo>
                    <a:pt x="166688" y="0"/>
                  </a:lnTo>
                </a:path>
              </a:pathLst>
            </a:custGeom>
            <a:noFill/>
            <a:ln w="22225">
              <a:solidFill>
                <a:srgbClr val="27AE60"/>
              </a:solidFill>
            </a:ln>
          </p:spPr>
        </p:sp>
        <p:sp>
          <p:nvSpPr>
            <p:cNvPr id="86" name="TextBox 86"/>
            <p:cNvSpPr txBox="1"/>
            <p:nvPr/>
          </p:nvSpPr>
          <p:spPr>
            <a:xfrm>
              <a:off x="5782056" y="5676900"/>
              <a:ext cx="1084478"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здоровье</a:t>
              </a:r>
            </a:p>
          </p:txBody>
        </p:sp>
        <p:sp>
          <p:nvSpPr>
            <p:cNvPr id="87" name="Freeform 87"/>
            <p:cNvSpPr/>
            <p:nvPr/>
          </p:nvSpPr>
          <p:spPr>
            <a:xfrm>
              <a:off x="7675563" y="5773738"/>
              <a:ext cx="166688" cy="111125"/>
            </a:xfrm>
            <a:custGeom>
              <a:avLst/>
              <a:gdLst/>
              <a:ahLst/>
              <a:cxnLst/>
              <a:rect l="l" t="t" r="r" b="b"/>
              <a:pathLst>
                <a:path w="166688" h="111125">
                  <a:moveTo>
                    <a:pt x="0" y="55563"/>
                  </a:moveTo>
                  <a:lnTo>
                    <a:pt x="55563" y="111125"/>
                  </a:lnTo>
                  <a:lnTo>
                    <a:pt x="166688" y="0"/>
                  </a:lnTo>
                </a:path>
              </a:pathLst>
            </a:custGeom>
            <a:noFill/>
            <a:ln w="22225">
              <a:solidFill>
                <a:srgbClr val="27AE60"/>
              </a:solidFill>
            </a:ln>
          </p:spPr>
        </p:sp>
        <p:sp>
          <p:nvSpPr>
            <p:cNvPr id="88" name="TextBox 88"/>
            <p:cNvSpPr txBox="1"/>
            <p:nvPr/>
          </p:nvSpPr>
          <p:spPr>
            <a:xfrm>
              <a:off x="7972806" y="5676900"/>
              <a:ext cx="175084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благодарность</a:t>
              </a:r>
            </a:p>
          </p:txBody>
        </p:sp>
        <p:sp>
          <p:nvSpPr>
            <p:cNvPr id="89" name="Freeform 89"/>
            <p:cNvSpPr/>
            <p:nvPr/>
          </p:nvSpPr>
          <p:spPr>
            <a:xfrm>
              <a:off x="10342563" y="5773738"/>
              <a:ext cx="166688" cy="111125"/>
            </a:xfrm>
            <a:custGeom>
              <a:avLst/>
              <a:gdLst/>
              <a:ahLst/>
              <a:cxnLst/>
              <a:rect l="l" t="t" r="r" b="b"/>
              <a:pathLst>
                <a:path w="166688" h="111125">
                  <a:moveTo>
                    <a:pt x="0" y="55563"/>
                  </a:moveTo>
                  <a:lnTo>
                    <a:pt x="55563" y="111125"/>
                  </a:lnTo>
                  <a:lnTo>
                    <a:pt x="166688" y="0"/>
                  </a:lnTo>
                </a:path>
              </a:pathLst>
            </a:custGeom>
            <a:noFill/>
            <a:ln w="22225">
              <a:solidFill>
                <a:srgbClr val="27AE60"/>
              </a:solidFill>
            </a:ln>
          </p:spPr>
        </p:sp>
        <p:sp>
          <p:nvSpPr>
            <p:cNvPr id="90" name="TextBox 90"/>
            <p:cNvSpPr txBox="1"/>
            <p:nvPr/>
          </p:nvSpPr>
          <p:spPr>
            <a:xfrm>
              <a:off x="10639806" y="5676900"/>
              <a:ext cx="684657" cy="352044"/>
            </a:xfrm>
            <a:prstGeom prst="rect">
              <a:avLst/>
            </a:prstGeom>
            <a:noFill/>
            <a:ln>
              <a:noFill/>
            </a:ln>
          </p:spPr>
          <p:txBody>
            <a:bodyPr wrap="none" lIns="0" tIns="0" rIns="0" bIns="0" anchor="t" anchorCtr="0">
              <a:spAutoFit/>
            </a:bodyPr>
            <a:lstStyle/>
            <a:p>
              <a:pPr algn="l"/>
              <a:r>
                <a:rPr lang="ru" sz="1800" dirty="0">
                  <a:solidFill>
                    <a:schemeClr val="dk1"/>
                  </a:solidFill>
                  <a:latin typeface="+mn-lt"/>
                  <a:ea typeface="+mn-ea"/>
                  <a:cs typeface="+mn-cs"/>
                </a:rPr>
                <a:t>смысл</a:t>
              </a:r>
            </a:p>
          </p:txBody>
        </p:sp>
      </p:grpSp>
      <p:sp>
        <p:nvSpPr>
          <p:cNvPr id="92" name="credit"/>
          <p:cNvSpPr txBox="1"/>
          <p:nvPr/>
        </p:nvSpPr>
        <p:spPr>
          <a:xfrm>
            <a:off x="755904" y="6629400"/>
            <a:ext cx="2703535" cy="234696"/>
          </a:xfrm>
          <a:prstGeom prst="rect">
            <a:avLst/>
          </a:prstGeom>
          <a:noFill/>
          <a:ln>
            <a:noFill/>
          </a:ln>
        </p:spPr>
        <p:txBody>
          <a:bodyPr wrap="none" lIns="0" tIns="0" rIns="0" bIns="0" anchor="t" anchorCtr="0">
            <a:spAutoFit/>
          </a:bodyPr>
          <a:lstStyle/>
          <a:p>
            <a:pPr algn="l"/>
            <a:r>
              <a:rPr lang="en-US" sz="1200" dirty="0">
                <a:solidFill>
                  <a:srgbClr val="7F8C8D"/>
                </a:solidFill>
                <a:latin typeface="+mn-lt"/>
                <a:ea typeface="+mn-ea"/>
                <a:cs typeface="+mn-cs"/>
              </a:rPr>
              <a:t>© Rick Obst / Wikimedia / CC BY 2.0</a:t>
            </a:r>
          </a:p>
        </p:txBody>
      </p:sp>
      <p:pic>
        <p:nvPicPr>
          <p:cNvPr id="93" name="PPT Master narration: narration14.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3644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78"/>
                                        </p:tgtEl>
                                        <p:attrNameLst>
                                          <p:attrName>style.visibility</p:attrName>
                                        </p:attrNameLst>
                                      </p:cBhvr>
                                      <p:to>
                                        <p:strVal val="visible"/>
                                      </p:to>
                                    </p:set>
                                    <p:animEffect transition="in" filter="fade">
                                      <p:cBhvr>
                                        <p:cTn id="11" dur="6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300"/>
                  </p:stCondLst>
                </p:cTn>
                <p:tgtEl>
                  <p:spTgt spid="93"/>
                </p:tgtEl>
              </p:cMediaNode>
            </p:audio>
          </p:childTnLst>
        </p:cTn>
      </p:par>
    </p:tnLst>
  </p:timing>
</p:sld>
</file>

<file path=ppt/slides/slide15.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 name="p15-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p15-bg"/>
          <p:cNvSpPr/>
          <p:nvPr/>
        </p:nvSpPr>
        <p:spPr>
          <a:xfrm>
            <a:off x="0" y="0"/>
            <a:ext cx="12192000" cy="6858000"/>
          </a:xfrm>
          <a:prstGeom prst="rect">
            <a:avLst/>
          </a:prstGeom>
          <a:gradFill>
            <a:gsLst>
              <a:gs pos="0">
                <a:srgbClr val="D6EAF8">
                  <a:alpha val="88000"/>
                </a:srgbClr>
              </a:gs>
              <a:gs pos="100000">
                <a:srgbClr val="F5E6D3">
                  <a:alpha val="88000"/>
                </a:srgbClr>
              </a:gs>
            </a:gsLst>
            <a:lin ang="2700000" scaled="1"/>
          </a:gradFill>
          <a:ln>
            <a:noFill/>
          </a:ln>
        </p:spPr>
      </p:sp>
      <p:sp>
        <p:nvSpPr>
          <p:cNvPr id="4" name="p15-accent"/>
          <p:cNvSpPr/>
          <p:nvPr/>
        </p:nvSpPr>
        <p:spPr>
          <a:xfrm>
            <a:off x="0" y="0"/>
            <a:ext cx="12192000" cy="57150"/>
          </a:xfrm>
          <a:prstGeom prst="rect">
            <a:avLst/>
          </a:prstGeom>
          <a:solidFill>
            <a:schemeClr val="accent1"/>
          </a:solidFill>
          <a:ln>
            <a:noFill/>
          </a:ln>
        </p:spPr>
      </p:sp>
      <p:grpSp>
        <p:nvGrpSpPr>
          <p:cNvPr id="6" name="p15-title"/>
          <p:cNvGrpSpPr/>
          <p:nvPr/>
        </p:nvGrpSpPr>
        <p:grpSpPr>
          <a:xfrm>
            <a:off x="743712" y="508000"/>
            <a:ext cx="7178150" cy="704088"/>
            <a:chOff x="743712" y="508000"/>
            <a:chExt cx="7178150" cy="704088"/>
          </a:xfrm>
        </p:grpSpPr>
        <p:sp>
          <p:nvSpPr>
            <p:cNvPr id="5" name="TextBox 5"/>
            <p:cNvSpPr txBox="1"/>
            <p:nvPr/>
          </p:nvSpPr>
          <p:spPr>
            <a:xfrm>
              <a:off x="743712" y="508000"/>
              <a:ext cx="7178150" cy="704088"/>
            </a:xfrm>
            <a:prstGeom prst="rect">
              <a:avLst/>
            </a:prstGeom>
            <a:noFill/>
            <a:ln>
              <a:noFill/>
            </a:ln>
          </p:spPr>
          <p:txBody>
            <a:bodyPr wrap="none" lIns="0" tIns="0" rIns="0" bIns="0" anchor="t" anchorCtr="0">
              <a:spAutoFit/>
            </a:bodyPr>
            <a:lstStyle/>
            <a:p>
              <a:pPr algn="l"/>
              <a:r>
                <a:rPr lang="ru" sz="3600" b="1" dirty="0">
                  <a:solidFill>
                    <a:schemeClr val="accent1"/>
                  </a:solidFill>
                  <a:latin typeface="+mn-lt"/>
                  <a:ea typeface="+mn-ea"/>
                  <a:cs typeface="+mn-cs"/>
                </a:rPr>
                <a:t>Счастье = осознанные усилия</a:t>
              </a:r>
            </a:p>
          </p:txBody>
        </p:sp>
      </p:grpSp>
      <p:grpSp>
        <p:nvGrpSpPr>
          <p:cNvPr id="74" name="p15-puzzle"/>
          <p:cNvGrpSpPr/>
          <p:nvPr/>
        </p:nvGrpSpPr>
        <p:grpSpPr>
          <a:xfrm>
            <a:off x="762000" y="1238250"/>
            <a:ext cx="6477000" cy="4572000"/>
            <a:chOff x="762000" y="1238250"/>
            <a:chExt cx="6477000" cy="4572000"/>
          </a:xfrm>
        </p:grpSpPr>
        <p:sp>
          <p:nvSpPr>
            <p:cNvPr id="7" name="Rectangle 7"/>
            <p:cNvSpPr/>
            <p:nvPr/>
          </p:nvSpPr>
          <p:spPr>
            <a:xfrm>
              <a:off x="762000" y="1238250"/>
              <a:ext cx="6477000" cy="4572000"/>
            </a:xfrm>
            <a:prstGeom prst="roundRect">
              <a:avLst>
                <a:gd name="adj" fmla="val 3333"/>
              </a:avLst>
            </a:prstGeom>
            <a:solidFill>
              <a:srgbClr val="FFFFFF">
                <a:alpha val="85000"/>
              </a:srgbClr>
            </a:solidFill>
            <a:ln>
              <a:noFill/>
            </a:ln>
          </p:spPr>
        </p:sp>
        <p:sp>
          <p:nvSpPr>
            <p:cNvPr id="8" name="TextBox 8"/>
            <p:cNvSpPr txBox="1"/>
            <p:nvPr/>
          </p:nvSpPr>
          <p:spPr>
            <a:xfrm>
              <a:off x="1019556" y="1428750"/>
              <a:ext cx="1913005"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Десять выводов</a:t>
              </a:r>
            </a:p>
          </p:txBody>
        </p:sp>
        <p:sp>
          <p:nvSpPr>
            <p:cNvPr id="9" name="Rectangle 9"/>
            <p:cNvSpPr/>
            <p:nvPr/>
          </p:nvSpPr>
          <p:spPr>
            <a:xfrm>
              <a:off x="952500" y="1905000"/>
              <a:ext cx="3009900" cy="609600"/>
            </a:xfrm>
            <a:prstGeom prst="roundRect">
              <a:avLst>
                <a:gd name="adj" fmla="val 18750"/>
              </a:avLst>
            </a:prstGeom>
            <a:solidFill>
              <a:srgbClr val="FFFFFF">
                <a:alpha val="92000"/>
              </a:srgbClr>
            </a:solidFill>
            <a:ln w="19050">
              <a:solidFill>
                <a:srgbClr val="27AE60"/>
              </a:solidFill>
            </a:ln>
          </p:spPr>
        </p:sp>
        <p:sp>
          <p:nvSpPr>
            <p:cNvPr id="10" name="Freeform 10"/>
            <p:cNvSpPr/>
            <p:nvPr/>
          </p:nvSpPr>
          <p:spPr>
            <a:xfrm>
              <a:off x="1095375" y="2133600"/>
              <a:ext cx="171450" cy="152400"/>
            </a:xfrm>
            <a:custGeom>
              <a:avLst/>
              <a:gdLst/>
              <a:ahLst/>
              <a:cxnLst/>
              <a:rect l="l" t="t" r="r" b="b"/>
              <a:pathLst>
                <a:path w="171450" h="152400">
                  <a:moveTo>
                    <a:pt x="0" y="76200"/>
                  </a:moveTo>
                  <a:lnTo>
                    <a:pt x="38100" y="76200"/>
                  </a:lnTo>
                  <a:lnTo>
                    <a:pt x="66675" y="152400"/>
                  </a:lnTo>
                  <a:lnTo>
                    <a:pt x="104775" y="0"/>
                  </a:lnTo>
                  <a:lnTo>
                    <a:pt x="133350" y="76200"/>
                  </a:lnTo>
                  <a:lnTo>
                    <a:pt x="171450" y="76200"/>
                  </a:lnTo>
                </a:path>
              </a:pathLst>
            </a:custGeom>
            <a:noFill/>
            <a:ln w="19050">
              <a:solidFill>
                <a:srgbClr val="27AE60"/>
              </a:solidFill>
            </a:ln>
          </p:spPr>
        </p:sp>
        <p:sp>
          <p:nvSpPr>
            <p:cNvPr id="11" name="TextBox 11"/>
            <p:cNvSpPr txBox="1"/>
            <p:nvPr/>
          </p:nvSpPr>
          <p:spPr>
            <a:xfrm>
              <a:off x="1442167" y="20955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1</a:t>
              </a:r>
            </a:p>
          </p:txBody>
        </p:sp>
        <p:sp>
          <p:nvSpPr>
            <p:cNvPr id="12" name="TextBox 12"/>
            <p:cNvSpPr txBox="1"/>
            <p:nvPr/>
          </p:nvSpPr>
          <p:spPr>
            <a:xfrm>
              <a:off x="1668780" y="2095500"/>
              <a:ext cx="1459040"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многомерность</a:t>
              </a:r>
            </a:p>
          </p:txBody>
        </p:sp>
        <p:sp>
          <p:nvSpPr>
            <p:cNvPr id="13" name="Rectangle 13"/>
            <p:cNvSpPr/>
            <p:nvPr/>
          </p:nvSpPr>
          <p:spPr>
            <a:xfrm>
              <a:off x="952500" y="2628900"/>
              <a:ext cx="3009900" cy="609600"/>
            </a:xfrm>
            <a:prstGeom prst="roundRect">
              <a:avLst>
                <a:gd name="adj" fmla="val 18750"/>
              </a:avLst>
            </a:prstGeom>
            <a:solidFill>
              <a:srgbClr val="FFFFFF">
                <a:alpha val="92000"/>
              </a:srgbClr>
            </a:solidFill>
            <a:ln w="19050">
              <a:solidFill>
                <a:srgbClr val="27AE60"/>
              </a:solidFill>
            </a:ln>
          </p:spPr>
        </p:sp>
        <p:grpSp>
          <p:nvGrpSpPr>
            <p:cNvPr id="17" name="Group 17"/>
            <p:cNvGrpSpPr/>
            <p:nvPr/>
          </p:nvGrpSpPr>
          <p:grpSpPr>
            <a:xfrm>
              <a:off x="1100280" y="2852880"/>
              <a:ext cx="161639" cy="161639"/>
              <a:chOff x="1100280" y="2852880"/>
              <a:chExt cx="161639" cy="161639"/>
            </a:xfrm>
          </p:grpSpPr>
          <p:sp>
            <p:nvSpPr>
              <p:cNvPr id="14" name="Freeform 14"/>
              <p:cNvSpPr/>
              <p:nvPr/>
            </p:nvSpPr>
            <p:spPr>
              <a:xfrm>
                <a:off x="1139724" y="2892887"/>
                <a:ext cx="82189" cy="82189"/>
              </a:xfrm>
              <a:custGeom>
                <a:avLst/>
                <a:gdLst/>
                <a:ahLst/>
                <a:cxnLst/>
                <a:rect l="l" t="t" r="r" b="b"/>
                <a:pathLst>
                  <a:path w="82189" h="82189">
                    <a:moveTo>
                      <a:pt x="68312" y="67750"/>
                    </a:moveTo>
                    <a:cubicBezTo>
                      <a:pt x="78217" y="58184"/>
                      <a:pt x="82189" y="44018"/>
                      <a:pt x="78702" y="30697"/>
                    </a:cubicBezTo>
                    <a:cubicBezTo>
                      <a:pt x="75215" y="17376"/>
                      <a:pt x="64812" y="6973"/>
                      <a:pt x="51491" y="3487"/>
                    </a:cubicBezTo>
                    <a:cubicBezTo>
                      <a:pt x="38170" y="0"/>
                      <a:pt x="24005" y="3972"/>
                      <a:pt x="14439" y="13876"/>
                    </a:cubicBezTo>
                    <a:cubicBezTo>
                      <a:pt x="0" y="28826"/>
                      <a:pt x="206" y="52589"/>
                      <a:pt x="14903" y="67286"/>
                    </a:cubicBezTo>
                    <a:cubicBezTo>
                      <a:pt x="29599" y="81982"/>
                      <a:pt x="53363" y="82189"/>
                      <a:pt x="68312" y="67750"/>
                    </a:cubicBezTo>
                  </a:path>
                </a:pathLst>
              </a:custGeom>
              <a:noFill/>
              <a:ln w="19050">
                <a:solidFill>
                  <a:srgbClr val="27AE60"/>
                </a:solidFill>
              </a:ln>
            </p:spPr>
          </p:sp>
          <p:sp>
            <p:nvSpPr>
              <p:cNvPr id="15" name="Freeform 15"/>
              <p:cNvSpPr/>
              <p:nvPr/>
            </p:nvSpPr>
            <p:spPr>
              <a:xfrm>
                <a:off x="1100280" y="2945757"/>
                <a:ext cx="68762" cy="68762"/>
              </a:xfrm>
              <a:custGeom>
                <a:avLst/>
                <a:gdLst/>
                <a:ahLst/>
                <a:cxnLst/>
                <a:rect l="l" t="t" r="r" b="b"/>
                <a:pathLst>
                  <a:path w="68762" h="68762">
                    <a:moveTo>
                      <a:pt x="53883" y="68762"/>
                    </a:moveTo>
                    <a:cubicBezTo>
                      <a:pt x="68762" y="53883"/>
                      <a:pt x="68762" y="29759"/>
                      <a:pt x="53883" y="14879"/>
                    </a:cubicBezTo>
                    <a:cubicBezTo>
                      <a:pt x="39004" y="0"/>
                      <a:pt x="14879" y="0"/>
                      <a:pt x="0" y="14879"/>
                    </a:cubicBezTo>
                  </a:path>
                </a:pathLst>
              </a:custGeom>
              <a:noFill/>
              <a:ln w="19050">
                <a:solidFill>
                  <a:srgbClr val="27AE60"/>
                </a:solidFill>
              </a:ln>
            </p:spPr>
          </p:sp>
          <p:sp>
            <p:nvSpPr>
              <p:cNvPr id="16" name="Freeform 16"/>
              <p:cNvSpPr/>
              <p:nvPr/>
            </p:nvSpPr>
            <p:spPr>
              <a:xfrm>
                <a:off x="1193157" y="2852880"/>
                <a:ext cx="68762" cy="68762"/>
              </a:xfrm>
              <a:custGeom>
                <a:avLst/>
                <a:gdLst/>
                <a:ahLst/>
                <a:cxnLst/>
                <a:rect l="l" t="t" r="r" b="b"/>
                <a:pathLst>
                  <a:path w="68762" h="68762">
                    <a:moveTo>
                      <a:pt x="14879" y="0"/>
                    </a:moveTo>
                    <a:cubicBezTo>
                      <a:pt x="0" y="14879"/>
                      <a:pt x="0" y="39004"/>
                      <a:pt x="14879" y="53883"/>
                    </a:cubicBezTo>
                    <a:cubicBezTo>
                      <a:pt x="29759" y="68762"/>
                      <a:pt x="53883" y="68762"/>
                      <a:pt x="68762" y="53883"/>
                    </a:cubicBezTo>
                  </a:path>
                </a:pathLst>
              </a:custGeom>
              <a:noFill/>
              <a:ln w="19050">
                <a:solidFill>
                  <a:srgbClr val="27AE60"/>
                </a:solidFill>
              </a:ln>
            </p:spPr>
          </p:sp>
        </p:grpSp>
        <p:sp>
          <p:nvSpPr>
            <p:cNvPr id="18" name="TextBox 18"/>
            <p:cNvSpPr txBox="1"/>
            <p:nvPr/>
          </p:nvSpPr>
          <p:spPr>
            <a:xfrm>
              <a:off x="1442167" y="28194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2</a:t>
              </a:r>
            </a:p>
          </p:txBody>
        </p:sp>
        <p:sp>
          <p:nvSpPr>
            <p:cNvPr id="19" name="TextBox 19"/>
            <p:cNvSpPr txBox="1"/>
            <p:nvPr/>
          </p:nvSpPr>
          <p:spPr>
            <a:xfrm>
              <a:off x="1668780" y="2819400"/>
              <a:ext cx="2015478"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генетика и действия</a:t>
              </a:r>
            </a:p>
          </p:txBody>
        </p:sp>
        <p:sp>
          <p:nvSpPr>
            <p:cNvPr id="20" name="Rectangle 20"/>
            <p:cNvSpPr/>
            <p:nvPr/>
          </p:nvSpPr>
          <p:spPr>
            <a:xfrm>
              <a:off x="952500" y="3352800"/>
              <a:ext cx="3009900" cy="609600"/>
            </a:xfrm>
            <a:prstGeom prst="roundRect">
              <a:avLst>
                <a:gd name="adj" fmla="val 18750"/>
              </a:avLst>
            </a:prstGeom>
            <a:solidFill>
              <a:srgbClr val="FFFFFF">
                <a:alpha val="92000"/>
              </a:srgbClr>
            </a:solidFill>
            <a:ln w="19050">
              <a:solidFill>
                <a:srgbClr val="27AE60"/>
              </a:solidFill>
            </a:ln>
          </p:spPr>
        </p:sp>
        <p:grpSp>
          <p:nvGrpSpPr>
            <p:cNvPr id="27" name="Group 27"/>
            <p:cNvGrpSpPr/>
            <p:nvPr/>
          </p:nvGrpSpPr>
          <p:grpSpPr>
            <a:xfrm>
              <a:off x="1095375" y="3571875"/>
              <a:ext cx="171450" cy="171450"/>
              <a:chOff x="1095375" y="3571875"/>
              <a:chExt cx="171450" cy="171450"/>
            </a:xfrm>
          </p:grpSpPr>
          <p:sp>
            <p:nvSpPr>
              <p:cNvPr id="21" name="Freeform 21"/>
              <p:cNvSpPr/>
              <p:nvPr/>
            </p:nvSpPr>
            <p:spPr>
              <a:xfrm>
                <a:off x="1162050" y="364807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27AE60"/>
                </a:solidFill>
              </a:ln>
            </p:spPr>
          </p:sp>
          <p:sp>
            <p:nvSpPr>
              <p:cNvPr id="22" name="Freeform 22"/>
              <p:cNvSpPr/>
              <p:nvPr/>
            </p:nvSpPr>
            <p:spPr>
              <a:xfrm>
                <a:off x="1143000" y="3714750"/>
                <a:ext cx="76200" cy="28575"/>
              </a:xfrm>
              <a:custGeom>
                <a:avLst/>
                <a:gdLst/>
                <a:ahLst/>
                <a:cxnLst/>
                <a:rect l="l" t="t" r="r" b="b"/>
                <a:pathLst>
                  <a:path w="76200" h="28575">
                    <a:moveTo>
                      <a:pt x="0" y="28575"/>
                    </a:moveTo>
                    <a:lnTo>
                      <a:pt x="0" y="19050"/>
                    </a:lnTo>
                    <a:cubicBezTo>
                      <a:pt x="0" y="8529"/>
                      <a:pt x="8529" y="0"/>
                      <a:pt x="19050" y="0"/>
                    </a:cubicBezTo>
                    <a:lnTo>
                      <a:pt x="57150" y="0"/>
                    </a:lnTo>
                    <a:cubicBezTo>
                      <a:pt x="67671" y="0"/>
                      <a:pt x="76200" y="8529"/>
                      <a:pt x="76200" y="19050"/>
                    </a:cubicBezTo>
                    <a:lnTo>
                      <a:pt x="76200" y="28575"/>
                    </a:lnTo>
                  </a:path>
                </a:pathLst>
              </a:custGeom>
              <a:noFill/>
              <a:ln w="19050">
                <a:solidFill>
                  <a:srgbClr val="27AE60"/>
                </a:solidFill>
              </a:ln>
            </p:spPr>
          </p:sp>
          <p:sp>
            <p:nvSpPr>
              <p:cNvPr id="23" name="Freeform 23"/>
              <p:cNvSpPr/>
              <p:nvPr/>
            </p:nvSpPr>
            <p:spPr>
              <a:xfrm>
                <a:off x="1209675" y="357187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27AE60"/>
                </a:solidFill>
              </a:ln>
            </p:spPr>
          </p:sp>
          <p:sp>
            <p:nvSpPr>
              <p:cNvPr id="24" name="Freeform 24"/>
              <p:cNvSpPr/>
              <p:nvPr/>
            </p:nvSpPr>
            <p:spPr>
              <a:xfrm>
                <a:off x="1228725" y="3638550"/>
                <a:ext cx="38100" cy="28575"/>
              </a:xfrm>
              <a:custGeom>
                <a:avLst/>
                <a:gdLst/>
                <a:ahLst/>
                <a:cxnLst/>
                <a:rect l="l" t="t" r="r" b="b"/>
                <a:pathLst>
                  <a:path w="38100" h="28575">
                    <a:moveTo>
                      <a:pt x="0" y="0"/>
                    </a:moveTo>
                    <a:lnTo>
                      <a:pt x="19050" y="0"/>
                    </a:lnTo>
                    <a:cubicBezTo>
                      <a:pt x="29571" y="0"/>
                      <a:pt x="38100" y="8529"/>
                      <a:pt x="38100" y="19050"/>
                    </a:cubicBezTo>
                    <a:lnTo>
                      <a:pt x="38100" y="28575"/>
                    </a:lnTo>
                  </a:path>
                </a:pathLst>
              </a:custGeom>
              <a:noFill/>
              <a:ln w="19050">
                <a:solidFill>
                  <a:srgbClr val="27AE60"/>
                </a:solidFill>
              </a:ln>
            </p:spPr>
          </p:sp>
          <p:sp>
            <p:nvSpPr>
              <p:cNvPr id="25" name="Freeform 25"/>
              <p:cNvSpPr/>
              <p:nvPr/>
            </p:nvSpPr>
            <p:spPr>
              <a:xfrm>
                <a:off x="1114425" y="357187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27AE60"/>
                </a:solidFill>
              </a:ln>
            </p:spPr>
          </p:sp>
          <p:sp>
            <p:nvSpPr>
              <p:cNvPr id="26" name="Freeform 26"/>
              <p:cNvSpPr/>
              <p:nvPr/>
            </p:nvSpPr>
            <p:spPr>
              <a:xfrm>
                <a:off x="1095375" y="3638550"/>
                <a:ext cx="38100" cy="28575"/>
              </a:xfrm>
              <a:custGeom>
                <a:avLst/>
                <a:gdLst/>
                <a:ahLst/>
                <a:cxnLst/>
                <a:rect l="l" t="t" r="r" b="b"/>
                <a:pathLst>
                  <a:path w="38100" h="28575">
                    <a:moveTo>
                      <a:pt x="0" y="28575"/>
                    </a:moveTo>
                    <a:lnTo>
                      <a:pt x="0" y="19050"/>
                    </a:lnTo>
                    <a:cubicBezTo>
                      <a:pt x="0" y="8529"/>
                      <a:pt x="8529" y="0"/>
                      <a:pt x="19050" y="0"/>
                    </a:cubicBezTo>
                    <a:lnTo>
                      <a:pt x="38100" y="0"/>
                    </a:lnTo>
                  </a:path>
                </a:pathLst>
              </a:custGeom>
              <a:noFill/>
              <a:ln w="19050">
                <a:solidFill>
                  <a:srgbClr val="27AE60"/>
                </a:solidFill>
              </a:ln>
            </p:spPr>
          </p:sp>
        </p:grpSp>
        <p:sp>
          <p:nvSpPr>
            <p:cNvPr id="28" name="TextBox 28"/>
            <p:cNvSpPr txBox="1"/>
            <p:nvPr/>
          </p:nvSpPr>
          <p:spPr>
            <a:xfrm>
              <a:off x="1442167" y="35433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3</a:t>
              </a:r>
            </a:p>
          </p:txBody>
        </p:sp>
        <p:sp>
          <p:nvSpPr>
            <p:cNvPr id="29" name="TextBox 29"/>
            <p:cNvSpPr txBox="1"/>
            <p:nvPr/>
          </p:nvSpPr>
          <p:spPr>
            <a:xfrm>
              <a:off x="1668780" y="3543300"/>
              <a:ext cx="1552291"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отношения — №1</a:t>
              </a:r>
            </a:p>
          </p:txBody>
        </p:sp>
        <p:sp>
          <p:nvSpPr>
            <p:cNvPr id="30" name="Rectangle 30"/>
            <p:cNvSpPr/>
            <p:nvPr/>
          </p:nvSpPr>
          <p:spPr>
            <a:xfrm>
              <a:off x="952500" y="4076700"/>
              <a:ext cx="3009900" cy="609600"/>
            </a:xfrm>
            <a:prstGeom prst="roundRect">
              <a:avLst>
                <a:gd name="adj" fmla="val 18750"/>
              </a:avLst>
            </a:prstGeom>
            <a:solidFill>
              <a:srgbClr val="FFFFFF">
                <a:alpha val="92000"/>
              </a:srgbClr>
            </a:solidFill>
            <a:ln w="19050">
              <a:solidFill>
                <a:srgbClr val="27AE60"/>
              </a:solidFill>
            </a:ln>
          </p:spPr>
        </p:sp>
        <p:grpSp>
          <p:nvGrpSpPr>
            <p:cNvPr id="33" name="Group 33"/>
            <p:cNvGrpSpPr/>
            <p:nvPr/>
          </p:nvGrpSpPr>
          <p:grpSpPr>
            <a:xfrm>
              <a:off x="1104900" y="4305300"/>
              <a:ext cx="152400" cy="152400"/>
              <a:chOff x="1104900" y="4305300"/>
              <a:chExt cx="152400" cy="152400"/>
            </a:xfrm>
          </p:grpSpPr>
          <p:sp>
            <p:nvSpPr>
              <p:cNvPr id="31" name="Freeform 31"/>
              <p:cNvSpPr/>
              <p:nvPr/>
            </p:nvSpPr>
            <p:spPr>
              <a:xfrm>
                <a:off x="1104900" y="4305300"/>
                <a:ext cx="142875" cy="152400"/>
              </a:xfrm>
              <a:custGeom>
                <a:avLst/>
                <a:gdLst/>
                <a:ahLst/>
                <a:cxnLst/>
                <a:rect l="l" t="t" r="r" b="b"/>
                <a:pathLst>
                  <a:path w="142875" h="152400">
                    <a:moveTo>
                      <a:pt x="123825" y="38100"/>
                    </a:moveTo>
                    <a:lnTo>
                      <a:pt x="123825" y="9525"/>
                    </a:lnTo>
                    <a:cubicBezTo>
                      <a:pt x="123825" y="4264"/>
                      <a:pt x="119561" y="0"/>
                      <a:pt x="114300" y="0"/>
                    </a:cubicBezTo>
                    <a:lnTo>
                      <a:pt x="19050" y="0"/>
                    </a:lnTo>
                    <a:cubicBezTo>
                      <a:pt x="8529" y="0"/>
                      <a:pt x="0" y="8529"/>
                      <a:pt x="0" y="19050"/>
                    </a:cubicBezTo>
                    <a:cubicBezTo>
                      <a:pt x="0" y="29571"/>
                      <a:pt x="8529" y="38100"/>
                      <a:pt x="19050" y="38100"/>
                    </a:cubicBezTo>
                    <a:lnTo>
                      <a:pt x="133350" y="38100"/>
                    </a:lnTo>
                    <a:cubicBezTo>
                      <a:pt x="138611" y="38100"/>
                      <a:pt x="142875" y="42364"/>
                      <a:pt x="142875" y="47625"/>
                    </a:cubicBezTo>
                    <a:lnTo>
                      <a:pt x="142875" y="76200"/>
                    </a:lnTo>
                    <a:moveTo>
                      <a:pt x="142875" y="114300"/>
                    </a:moveTo>
                    <a:lnTo>
                      <a:pt x="142875" y="142875"/>
                    </a:lnTo>
                    <a:cubicBezTo>
                      <a:pt x="142875" y="148136"/>
                      <a:pt x="138611" y="152400"/>
                      <a:pt x="133350" y="152400"/>
                    </a:cubicBezTo>
                    <a:lnTo>
                      <a:pt x="19050" y="152400"/>
                    </a:lnTo>
                    <a:cubicBezTo>
                      <a:pt x="8529" y="152400"/>
                      <a:pt x="0" y="143871"/>
                      <a:pt x="0" y="133350"/>
                    </a:cubicBezTo>
                    <a:lnTo>
                      <a:pt x="0" y="19050"/>
                    </a:lnTo>
                  </a:path>
                </a:pathLst>
              </a:custGeom>
              <a:noFill/>
              <a:ln w="19050">
                <a:solidFill>
                  <a:srgbClr val="27AE60"/>
                </a:solidFill>
              </a:ln>
            </p:spPr>
          </p:sp>
          <p:sp>
            <p:nvSpPr>
              <p:cNvPr id="32" name="Freeform 32"/>
              <p:cNvSpPr/>
              <p:nvPr/>
            </p:nvSpPr>
            <p:spPr>
              <a:xfrm>
                <a:off x="1200150" y="4381500"/>
                <a:ext cx="57150" cy="38100"/>
              </a:xfrm>
              <a:custGeom>
                <a:avLst/>
                <a:gdLst/>
                <a:ahLst/>
                <a:cxnLst/>
                <a:rect l="l" t="t" r="r" b="b"/>
                <a:pathLst>
                  <a:path w="57150" h="38100">
                    <a:moveTo>
                      <a:pt x="57150" y="0"/>
                    </a:moveTo>
                    <a:lnTo>
                      <a:pt x="57150" y="38100"/>
                    </a:lnTo>
                    <a:lnTo>
                      <a:pt x="19050" y="38100"/>
                    </a:lnTo>
                    <a:cubicBezTo>
                      <a:pt x="8529" y="38100"/>
                      <a:pt x="0" y="29571"/>
                      <a:pt x="0" y="19050"/>
                    </a:cubicBezTo>
                    <a:cubicBezTo>
                      <a:pt x="0" y="8529"/>
                      <a:pt x="8529" y="0"/>
                      <a:pt x="19050" y="0"/>
                    </a:cubicBezTo>
                    <a:lnTo>
                      <a:pt x="57150" y="0"/>
                    </a:lnTo>
                  </a:path>
                </a:pathLst>
              </a:custGeom>
              <a:noFill/>
              <a:ln w="19050">
                <a:solidFill>
                  <a:srgbClr val="27AE60"/>
                </a:solidFill>
              </a:ln>
            </p:spPr>
          </p:sp>
        </p:grpSp>
        <p:sp>
          <p:nvSpPr>
            <p:cNvPr id="34" name="TextBox 34"/>
            <p:cNvSpPr txBox="1"/>
            <p:nvPr/>
          </p:nvSpPr>
          <p:spPr>
            <a:xfrm>
              <a:off x="1442167" y="42672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4</a:t>
              </a:r>
            </a:p>
          </p:txBody>
        </p:sp>
        <p:sp>
          <p:nvSpPr>
            <p:cNvPr id="35" name="TextBox 35"/>
            <p:cNvSpPr txBox="1"/>
            <p:nvPr/>
          </p:nvSpPr>
          <p:spPr>
            <a:xfrm>
              <a:off x="1668780" y="4267200"/>
              <a:ext cx="1571232"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доход до порога</a:t>
              </a:r>
            </a:p>
          </p:txBody>
        </p:sp>
        <p:sp>
          <p:nvSpPr>
            <p:cNvPr id="36" name="Rectangle 36"/>
            <p:cNvSpPr/>
            <p:nvPr/>
          </p:nvSpPr>
          <p:spPr>
            <a:xfrm>
              <a:off x="952500" y="4800600"/>
              <a:ext cx="3009900" cy="609600"/>
            </a:xfrm>
            <a:prstGeom prst="roundRect">
              <a:avLst>
                <a:gd name="adj" fmla="val 18750"/>
              </a:avLst>
            </a:prstGeom>
            <a:solidFill>
              <a:srgbClr val="FFFFFF">
                <a:alpha val="92000"/>
              </a:srgbClr>
            </a:solidFill>
            <a:ln w="19050">
              <a:solidFill>
                <a:srgbClr val="27AE60"/>
              </a:solidFill>
            </a:ln>
          </p:spPr>
        </p:sp>
        <p:grpSp>
          <p:nvGrpSpPr>
            <p:cNvPr id="39" name="Group 39"/>
            <p:cNvGrpSpPr/>
            <p:nvPr/>
          </p:nvGrpSpPr>
          <p:grpSpPr>
            <a:xfrm>
              <a:off x="1085850" y="5038725"/>
              <a:ext cx="190500" cy="133350"/>
              <a:chOff x="1085850" y="5038725"/>
              <a:chExt cx="190500" cy="133350"/>
            </a:xfrm>
          </p:grpSpPr>
          <p:sp>
            <p:nvSpPr>
              <p:cNvPr id="37" name="Freeform 37"/>
              <p:cNvSpPr/>
              <p:nvPr/>
            </p:nvSpPr>
            <p:spPr>
              <a:xfrm>
                <a:off x="1085850" y="5038725"/>
                <a:ext cx="190500" cy="95250"/>
              </a:xfrm>
              <a:custGeom>
                <a:avLst/>
                <a:gdLst/>
                <a:ahLst/>
                <a:cxnLst/>
                <a:rect l="l" t="t" r="r" b="b"/>
                <a:pathLst>
                  <a:path w="190500" h="95250">
                    <a:moveTo>
                      <a:pt x="190500" y="38100"/>
                    </a:moveTo>
                    <a:lnTo>
                      <a:pt x="95250" y="0"/>
                    </a:lnTo>
                    <a:lnTo>
                      <a:pt x="0" y="38100"/>
                    </a:lnTo>
                    <a:lnTo>
                      <a:pt x="95250" y="76200"/>
                    </a:lnTo>
                    <a:lnTo>
                      <a:pt x="190500" y="38100"/>
                    </a:lnTo>
                    <a:lnTo>
                      <a:pt x="190500" y="95250"/>
                    </a:lnTo>
                  </a:path>
                </a:pathLst>
              </a:custGeom>
              <a:noFill/>
              <a:ln w="19050">
                <a:solidFill>
                  <a:srgbClr val="27AE60"/>
                </a:solidFill>
              </a:ln>
            </p:spPr>
          </p:sp>
          <p:sp>
            <p:nvSpPr>
              <p:cNvPr id="38" name="Freeform 38"/>
              <p:cNvSpPr/>
              <p:nvPr/>
            </p:nvSpPr>
            <p:spPr>
              <a:xfrm>
                <a:off x="1123950" y="5092065"/>
                <a:ext cx="114300" cy="80010"/>
              </a:xfrm>
              <a:custGeom>
                <a:avLst/>
                <a:gdLst/>
                <a:ahLst/>
                <a:cxnLst/>
                <a:rect l="l" t="t" r="r" b="b"/>
                <a:pathLst>
                  <a:path w="114300" h="80010">
                    <a:moveTo>
                      <a:pt x="0" y="0"/>
                    </a:moveTo>
                    <a:lnTo>
                      <a:pt x="0" y="51435"/>
                    </a:lnTo>
                    <a:cubicBezTo>
                      <a:pt x="0" y="67217"/>
                      <a:pt x="25587" y="80010"/>
                      <a:pt x="57150" y="80010"/>
                    </a:cubicBezTo>
                    <a:cubicBezTo>
                      <a:pt x="88713" y="80010"/>
                      <a:pt x="114300" y="67217"/>
                      <a:pt x="114300" y="51435"/>
                    </a:cubicBezTo>
                    <a:lnTo>
                      <a:pt x="114300" y="0"/>
                    </a:lnTo>
                  </a:path>
                </a:pathLst>
              </a:custGeom>
              <a:noFill/>
              <a:ln w="19050">
                <a:solidFill>
                  <a:srgbClr val="27AE60"/>
                </a:solidFill>
              </a:ln>
            </p:spPr>
          </p:sp>
        </p:grpSp>
        <p:sp>
          <p:nvSpPr>
            <p:cNvPr id="40" name="TextBox 40"/>
            <p:cNvSpPr txBox="1"/>
            <p:nvPr/>
          </p:nvSpPr>
          <p:spPr>
            <a:xfrm>
              <a:off x="1442167" y="49911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5</a:t>
              </a:r>
            </a:p>
          </p:txBody>
        </p:sp>
        <p:sp>
          <p:nvSpPr>
            <p:cNvPr id="41" name="TextBox 41"/>
            <p:cNvSpPr txBox="1"/>
            <p:nvPr/>
          </p:nvSpPr>
          <p:spPr>
            <a:xfrm>
              <a:off x="1668780" y="4991100"/>
              <a:ext cx="1236917"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образование</a:t>
              </a:r>
            </a:p>
          </p:txBody>
        </p:sp>
        <p:sp>
          <p:nvSpPr>
            <p:cNvPr id="42" name="Rectangle 42"/>
            <p:cNvSpPr/>
            <p:nvPr/>
          </p:nvSpPr>
          <p:spPr>
            <a:xfrm>
              <a:off x="3962400" y="1905000"/>
              <a:ext cx="3009900" cy="609600"/>
            </a:xfrm>
            <a:prstGeom prst="roundRect">
              <a:avLst>
                <a:gd name="adj" fmla="val 18750"/>
              </a:avLst>
            </a:prstGeom>
            <a:solidFill>
              <a:srgbClr val="FFFFFF">
                <a:alpha val="92000"/>
              </a:srgbClr>
            </a:solidFill>
            <a:ln w="19050">
              <a:solidFill>
                <a:srgbClr val="27AE60"/>
              </a:solidFill>
            </a:ln>
          </p:spPr>
        </p:sp>
        <p:grpSp>
          <p:nvGrpSpPr>
            <p:cNvPr id="46" name="Group 46"/>
            <p:cNvGrpSpPr/>
            <p:nvPr/>
          </p:nvGrpSpPr>
          <p:grpSpPr>
            <a:xfrm>
              <a:off x="4133850" y="2124075"/>
              <a:ext cx="114300" cy="171450"/>
              <a:chOff x="4133850" y="2124075"/>
              <a:chExt cx="114300" cy="171450"/>
            </a:xfrm>
          </p:grpSpPr>
          <p:sp>
            <p:nvSpPr>
              <p:cNvPr id="43" name="Freeform 43"/>
              <p:cNvSpPr/>
              <p:nvPr/>
            </p:nvSpPr>
            <p:spPr>
              <a:xfrm>
                <a:off x="4133850" y="2124075"/>
                <a:ext cx="114300" cy="171450"/>
              </a:xfrm>
              <a:custGeom>
                <a:avLst/>
                <a:gdLst/>
                <a:ahLst/>
                <a:cxnLst/>
                <a:rect l="l" t="t" r="r" b="b"/>
                <a:pathLst>
                  <a:path w="114300" h="171450">
                    <a:moveTo>
                      <a:pt x="0" y="19050"/>
                    </a:moveTo>
                    <a:cubicBezTo>
                      <a:pt x="0" y="8529"/>
                      <a:pt x="8529" y="0"/>
                      <a:pt x="19050" y="0"/>
                    </a:cubicBezTo>
                    <a:lnTo>
                      <a:pt x="95250" y="0"/>
                    </a:lnTo>
                    <a:cubicBezTo>
                      <a:pt x="105771" y="0"/>
                      <a:pt x="114300" y="8529"/>
                      <a:pt x="114300" y="19050"/>
                    </a:cubicBezTo>
                    <a:lnTo>
                      <a:pt x="114300" y="152400"/>
                    </a:lnTo>
                    <a:cubicBezTo>
                      <a:pt x="114300" y="162921"/>
                      <a:pt x="105771" y="171450"/>
                      <a:pt x="95250" y="171450"/>
                    </a:cubicBezTo>
                    <a:lnTo>
                      <a:pt x="19050" y="171450"/>
                    </a:lnTo>
                    <a:cubicBezTo>
                      <a:pt x="8529" y="171450"/>
                      <a:pt x="0" y="162921"/>
                      <a:pt x="0" y="152400"/>
                    </a:cubicBezTo>
                    <a:lnTo>
                      <a:pt x="0" y="19050"/>
                    </a:lnTo>
                  </a:path>
                </a:pathLst>
              </a:custGeom>
              <a:noFill/>
              <a:ln w="19050">
                <a:solidFill>
                  <a:srgbClr val="27AE60"/>
                </a:solidFill>
              </a:ln>
            </p:spPr>
          </p:sp>
          <p:sp>
            <p:nvSpPr>
              <p:cNvPr id="44" name="Freeform 44"/>
              <p:cNvSpPr/>
              <p:nvPr/>
            </p:nvSpPr>
            <p:spPr>
              <a:xfrm>
                <a:off x="4181475" y="2133600"/>
                <a:ext cx="19050" cy="9525"/>
              </a:xfrm>
              <a:custGeom>
                <a:avLst/>
                <a:gdLst/>
                <a:ahLst/>
                <a:cxnLst/>
                <a:rect l="l" t="t" r="r" b="b"/>
                <a:pathLst>
                  <a:path w="19050" h="9525">
                    <a:moveTo>
                      <a:pt x="0" y="0"/>
                    </a:moveTo>
                    <a:lnTo>
                      <a:pt x="19050" y="0"/>
                    </a:lnTo>
                  </a:path>
                </a:pathLst>
              </a:custGeom>
              <a:noFill/>
              <a:ln w="19050">
                <a:solidFill>
                  <a:srgbClr val="27AE60"/>
                </a:solidFill>
              </a:ln>
            </p:spPr>
          </p:sp>
          <p:sp>
            <p:nvSpPr>
              <p:cNvPr id="45" name="Freeform 45"/>
              <p:cNvSpPr/>
              <p:nvPr/>
            </p:nvSpPr>
            <p:spPr>
              <a:xfrm>
                <a:off x="4191000" y="2257425"/>
                <a:ext cx="9525" cy="9525"/>
              </a:xfrm>
              <a:custGeom>
                <a:avLst/>
                <a:gdLst/>
                <a:ahLst/>
                <a:cxnLst/>
                <a:rect l="l" t="t" r="r" b="b"/>
                <a:pathLst>
                  <a:path w="9525" h="9525">
                    <a:moveTo>
                      <a:pt x="0" y="0"/>
                    </a:moveTo>
                    <a:lnTo>
                      <a:pt x="0" y="95"/>
                    </a:lnTo>
                  </a:path>
                </a:pathLst>
              </a:custGeom>
              <a:noFill/>
              <a:ln w="19050">
                <a:solidFill>
                  <a:srgbClr val="27AE60"/>
                </a:solidFill>
              </a:ln>
            </p:spPr>
          </p:sp>
        </p:grpSp>
        <p:sp>
          <p:nvSpPr>
            <p:cNvPr id="47" name="TextBox 47"/>
            <p:cNvSpPr txBox="1"/>
            <p:nvPr/>
          </p:nvSpPr>
          <p:spPr>
            <a:xfrm>
              <a:off x="4452067" y="20955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6</a:t>
              </a:r>
            </a:p>
          </p:txBody>
        </p:sp>
        <p:sp>
          <p:nvSpPr>
            <p:cNvPr id="48" name="TextBox 48"/>
            <p:cNvSpPr txBox="1"/>
            <p:nvPr/>
          </p:nvSpPr>
          <p:spPr>
            <a:xfrm>
              <a:off x="4678680" y="2095500"/>
              <a:ext cx="1626197"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цифровой баланс</a:t>
              </a:r>
            </a:p>
          </p:txBody>
        </p:sp>
        <p:sp>
          <p:nvSpPr>
            <p:cNvPr id="49" name="Rectangle 49"/>
            <p:cNvSpPr/>
            <p:nvPr/>
          </p:nvSpPr>
          <p:spPr>
            <a:xfrm>
              <a:off x="3962400" y="2628900"/>
              <a:ext cx="3009900" cy="609600"/>
            </a:xfrm>
            <a:prstGeom prst="roundRect">
              <a:avLst>
                <a:gd name="adj" fmla="val 18750"/>
              </a:avLst>
            </a:prstGeom>
            <a:solidFill>
              <a:srgbClr val="FFFFFF">
                <a:alpha val="92000"/>
              </a:srgbClr>
            </a:solidFill>
            <a:ln w="19050">
              <a:solidFill>
                <a:srgbClr val="27AE60"/>
              </a:solidFill>
            </a:ln>
          </p:spPr>
        </p:sp>
        <p:grpSp>
          <p:nvGrpSpPr>
            <p:cNvPr id="52" name="Group 52"/>
            <p:cNvGrpSpPr/>
            <p:nvPr/>
          </p:nvGrpSpPr>
          <p:grpSpPr>
            <a:xfrm>
              <a:off x="4105275" y="2886075"/>
              <a:ext cx="171450" cy="95250"/>
              <a:chOff x="4105275" y="2886075"/>
              <a:chExt cx="171450" cy="95250"/>
            </a:xfrm>
          </p:grpSpPr>
          <p:sp>
            <p:nvSpPr>
              <p:cNvPr id="50" name="Freeform 50"/>
              <p:cNvSpPr/>
              <p:nvPr/>
            </p:nvSpPr>
            <p:spPr>
              <a:xfrm>
                <a:off x="4105275" y="2886075"/>
                <a:ext cx="171450" cy="95250"/>
              </a:xfrm>
              <a:custGeom>
                <a:avLst/>
                <a:gdLst/>
                <a:ahLst/>
                <a:cxnLst/>
                <a:rect l="l" t="t" r="r" b="b"/>
                <a:pathLst>
                  <a:path w="171450" h="95250">
                    <a:moveTo>
                      <a:pt x="0" y="95250"/>
                    </a:moveTo>
                    <a:lnTo>
                      <a:pt x="57150" y="38100"/>
                    </a:lnTo>
                    <a:lnTo>
                      <a:pt x="95250" y="76200"/>
                    </a:lnTo>
                    <a:lnTo>
                      <a:pt x="171450" y="0"/>
                    </a:lnTo>
                  </a:path>
                </a:pathLst>
              </a:custGeom>
              <a:noFill/>
              <a:ln w="19050">
                <a:solidFill>
                  <a:srgbClr val="27AE60"/>
                </a:solidFill>
              </a:ln>
            </p:spPr>
          </p:sp>
          <p:sp>
            <p:nvSpPr>
              <p:cNvPr id="51" name="Freeform 51"/>
              <p:cNvSpPr/>
              <p:nvPr/>
            </p:nvSpPr>
            <p:spPr>
              <a:xfrm>
                <a:off x="4210050" y="2886075"/>
                <a:ext cx="66675" cy="66675"/>
              </a:xfrm>
              <a:custGeom>
                <a:avLst/>
                <a:gdLst/>
                <a:ahLst/>
                <a:cxnLst/>
                <a:rect l="l" t="t" r="r" b="b"/>
                <a:pathLst>
                  <a:path w="66675" h="66675">
                    <a:moveTo>
                      <a:pt x="0" y="0"/>
                    </a:moveTo>
                    <a:lnTo>
                      <a:pt x="66675" y="0"/>
                    </a:lnTo>
                    <a:lnTo>
                      <a:pt x="66675" y="66675"/>
                    </a:lnTo>
                  </a:path>
                </a:pathLst>
              </a:custGeom>
              <a:noFill/>
              <a:ln w="19050">
                <a:solidFill>
                  <a:srgbClr val="27AE60"/>
                </a:solidFill>
              </a:ln>
            </p:spPr>
          </p:sp>
        </p:grpSp>
        <p:sp>
          <p:nvSpPr>
            <p:cNvPr id="53" name="TextBox 53"/>
            <p:cNvSpPr txBox="1"/>
            <p:nvPr/>
          </p:nvSpPr>
          <p:spPr>
            <a:xfrm>
              <a:off x="4452067" y="28194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7</a:t>
              </a:r>
            </a:p>
          </p:txBody>
        </p:sp>
        <p:sp>
          <p:nvSpPr>
            <p:cNvPr id="54" name="TextBox 54"/>
            <p:cNvSpPr txBox="1"/>
            <p:nvPr/>
          </p:nvSpPr>
          <p:spPr>
            <a:xfrm>
              <a:off x="4678680" y="2819400"/>
              <a:ext cx="2070443"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счастье развивается</a:t>
              </a:r>
            </a:p>
          </p:txBody>
        </p:sp>
        <p:sp>
          <p:nvSpPr>
            <p:cNvPr id="55" name="Rectangle 55"/>
            <p:cNvSpPr/>
            <p:nvPr/>
          </p:nvSpPr>
          <p:spPr>
            <a:xfrm>
              <a:off x="3962400" y="3352800"/>
              <a:ext cx="3009900" cy="609600"/>
            </a:xfrm>
            <a:prstGeom prst="roundRect">
              <a:avLst>
                <a:gd name="adj" fmla="val 18750"/>
              </a:avLst>
            </a:prstGeom>
            <a:solidFill>
              <a:srgbClr val="FFFFFF">
                <a:alpha val="92000"/>
              </a:srgbClr>
            </a:solidFill>
            <a:ln w="19050">
              <a:solidFill>
                <a:srgbClr val="27AE60"/>
              </a:solidFill>
            </a:ln>
          </p:spPr>
        </p:sp>
        <p:grpSp>
          <p:nvGrpSpPr>
            <p:cNvPr id="61" name="Group 61"/>
            <p:cNvGrpSpPr/>
            <p:nvPr/>
          </p:nvGrpSpPr>
          <p:grpSpPr>
            <a:xfrm>
              <a:off x="4105275" y="3571875"/>
              <a:ext cx="171450" cy="171450"/>
              <a:chOff x="4105275" y="3571875"/>
              <a:chExt cx="171450" cy="171450"/>
            </a:xfrm>
          </p:grpSpPr>
          <p:sp>
            <p:nvSpPr>
              <p:cNvPr id="56" name="Freeform 56"/>
              <p:cNvSpPr/>
              <p:nvPr/>
            </p:nvSpPr>
            <p:spPr>
              <a:xfrm>
                <a:off x="4105275" y="357187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27AE60"/>
                </a:solidFill>
              </a:ln>
            </p:spPr>
          </p:sp>
          <p:sp>
            <p:nvSpPr>
              <p:cNvPr id="57" name="Freeform 57"/>
              <p:cNvSpPr/>
              <p:nvPr/>
            </p:nvSpPr>
            <p:spPr>
              <a:xfrm>
                <a:off x="4110990" y="3629025"/>
                <a:ext cx="160020" cy="9525"/>
              </a:xfrm>
              <a:custGeom>
                <a:avLst/>
                <a:gdLst/>
                <a:ahLst/>
                <a:cxnLst/>
                <a:rect l="l" t="t" r="r" b="b"/>
                <a:pathLst>
                  <a:path w="160020" h="9525">
                    <a:moveTo>
                      <a:pt x="0" y="0"/>
                    </a:moveTo>
                    <a:lnTo>
                      <a:pt x="160020" y="0"/>
                    </a:lnTo>
                  </a:path>
                </a:pathLst>
              </a:custGeom>
              <a:noFill/>
              <a:ln w="19050">
                <a:solidFill>
                  <a:srgbClr val="27AE60"/>
                </a:solidFill>
              </a:ln>
            </p:spPr>
          </p:sp>
          <p:sp>
            <p:nvSpPr>
              <p:cNvPr id="58" name="Freeform 58"/>
              <p:cNvSpPr/>
              <p:nvPr/>
            </p:nvSpPr>
            <p:spPr>
              <a:xfrm>
                <a:off x="4110990" y="3686175"/>
                <a:ext cx="160020" cy="9525"/>
              </a:xfrm>
              <a:custGeom>
                <a:avLst/>
                <a:gdLst/>
                <a:ahLst/>
                <a:cxnLst/>
                <a:rect l="l" t="t" r="r" b="b"/>
                <a:pathLst>
                  <a:path w="160020" h="9525">
                    <a:moveTo>
                      <a:pt x="0" y="0"/>
                    </a:moveTo>
                    <a:lnTo>
                      <a:pt x="160020" y="0"/>
                    </a:lnTo>
                  </a:path>
                </a:pathLst>
              </a:custGeom>
              <a:noFill/>
              <a:ln w="19050">
                <a:solidFill>
                  <a:srgbClr val="27AE60"/>
                </a:solidFill>
              </a:ln>
            </p:spPr>
          </p:sp>
          <p:sp>
            <p:nvSpPr>
              <p:cNvPr id="59" name="Freeform 59"/>
              <p:cNvSpPr/>
              <p:nvPr/>
            </p:nvSpPr>
            <p:spPr>
              <a:xfrm>
                <a:off x="4153500" y="3571875"/>
                <a:ext cx="32738" cy="171450"/>
              </a:xfrm>
              <a:custGeom>
                <a:avLst/>
                <a:gdLst/>
                <a:ahLst/>
                <a:cxnLst/>
                <a:rect l="l" t="t" r="r" b="b"/>
                <a:pathLst>
                  <a:path w="32738" h="171450">
                    <a:moveTo>
                      <a:pt x="32738" y="0"/>
                    </a:moveTo>
                    <a:cubicBezTo>
                      <a:pt x="0" y="52462"/>
                      <a:pt x="0" y="118988"/>
                      <a:pt x="32738" y="171450"/>
                    </a:cubicBezTo>
                  </a:path>
                </a:pathLst>
              </a:custGeom>
              <a:noFill/>
              <a:ln w="19050">
                <a:solidFill>
                  <a:srgbClr val="27AE60"/>
                </a:solidFill>
              </a:ln>
            </p:spPr>
          </p:sp>
          <p:sp>
            <p:nvSpPr>
              <p:cNvPr id="60" name="Freeform 60"/>
              <p:cNvSpPr/>
              <p:nvPr/>
            </p:nvSpPr>
            <p:spPr>
              <a:xfrm>
                <a:off x="4195762" y="3571875"/>
                <a:ext cx="32738" cy="171450"/>
              </a:xfrm>
              <a:custGeom>
                <a:avLst/>
                <a:gdLst/>
                <a:ahLst/>
                <a:cxnLst/>
                <a:rect l="l" t="t" r="r" b="b"/>
                <a:pathLst>
                  <a:path w="32738" h="171450">
                    <a:moveTo>
                      <a:pt x="0" y="0"/>
                    </a:moveTo>
                    <a:cubicBezTo>
                      <a:pt x="32738" y="52462"/>
                      <a:pt x="32738" y="118988"/>
                      <a:pt x="0" y="171450"/>
                    </a:cubicBezTo>
                  </a:path>
                </a:pathLst>
              </a:custGeom>
              <a:noFill/>
              <a:ln w="19050">
                <a:solidFill>
                  <a:srgbClr val="27AE60"/>
                </a:solidFill>
              </a:ln>
            </p:spPr>
          </p:sp>
        </p:grpSp>
        <p:sp>
          <p:nvSpPr>
            <p:cNvPr id="62" name="TextBox 62"/>
            <p:cNvSpPr txBox="1"/>
            <p:nvPr/>
          </p:nvSpPr>
          <p:spPr>
            <a:xfrm>
              <a:off x="4452067" y="35433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8</a:t>
              </a:r>
            </a:p>
          </p:txBody>
        </p:sp>
        <p:sp>
          <p:nvSpPr>
            <p:cNvPr id="63" name="TextBox 63"/>
            <p:cNvSpPr txBox="1"/>
            <p:nvPr/>
          </p:nvSpPr>
          <p:spPr>
            <a:xfrm>
              <a:off x="4678680" y="3543300"/>
              <a:ext cx="1682293"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культура и смысл</a:t>
              </a:r>
            </a:p>
          </p:txBody>
        </p:sp>
        <p:sp>
          <p:nvSpPr>
            <p:cNvPr id="64" name="Rectangle 64"/>
            <p:cNvSpPr/>
            <p:nvPr/>
          </p:nvSpPr>
          <p:spPr>
            <a:xfrm>
              <a:off x="3962400" y="4076700"/>
              <a:ext cx="3009900" cy="609600"/>
            </a:xfrm>
            <a:prstGeom prst="roundRect">
              <a:avLst>
                <a:gd name="adj" fmla="val 18750"/>
              </a:avLst>
            </a:prstGeom>
            <a:solidFill>
              <a:srgbClr val="FFFFFF">
                <a:alpha val="92000"/>
              </a:srgbClr>
            </a:solidFill>
            <a:ln w="19050">
              <a:solidFill>
                <a:srgbClr val="27AE60"/>
              </a:solidFill>
            </a:ln>
          </p:spPr>
        </p:sp>
        <p:grpSp>
          <p:nvGrpSpPr>
            <p:cNvPr id="67" name="Group 67"/>
            <p:cNvGrpSpPr/>
            <p:nvPr/>
          </p:nvGrpSpPr>
          <p:grpSpPr>
            <a:xfrm>
              <a:off x="4092421" y="4295775"/>
              <a:ext cx="186006" cy="171450"/>
              <a:chOff x="4092421" y="4295775"/>
              <a:chExt cx="186006" cy="171450"/>
            </a:xfrm>
          </p:grpSpPr>
          <p:sp>
            <p:nvSpPr>
              <p:cNvPr id="65" name="Freeform 65"/>
              <p:cNvSpPr/>
              <p:nvPr/>
            </p:nvSpPr>
            <p:spPr>
              <a:xfrm>
                <a:off x="4092421" y="4295775"/>
                <a:ext cx="186006" cy="169983"/>
              </a:xfrm>
              <a:custGeom>
                <a:avLst/>
                <a:gdLst/>
                <a:ahLst/>
                <a:cxnLst/>
                <a:rect l="l" t="t" r="r" b="b"/>
                <a:pathLst>
                  <a:path w="186006" h="169983">
                    <a:moveTo>
                      <a:pt x="93436" y="169983"/>
                    </a:moveTo>
                    <a:cubicBezTo>
                      <a:pt x="33766" y="151487"/>
                      <a:pt x="0" y="88510"/>
                      <a:pt x="17617" y="28575"/>
                    </a:cubicBezTo>
                    <a:cubicBezTo>
                      <a:pt x="47292" y="29933"/>
                      <a:pt x="76331" y="19684"/>
                      <a:pt x="98579" y="0"/>
                    </a:cubicBezTo>
                    <a:cubicBezTo>
                      <a:pt x="120828" y="19684"/>
                      <a:pt x="149867" y="29933"/>
                      <a:pt x="179542" y="28575"/>
                    </a:cubicBezTo>
                    <a:cubicBezTo>
                      <a:pt x="186006" y="50569"/>
                      <a:pt x="185708" y="73999"/>
                      <a:pt x="178685" y="95822"/>
                    </a:cubicBezTo>
                  </a:path>
                </a:pathLst>
              </a:custGeom>
              <a:noFill/>
              <a:ln w="19050">
                <a:solidFill>
                  <a:srgbClr val="27AE60"/>
                </a:solidFill>
              </a:ln>
            </p:spPr>
          </p:sp>
          <p:sp>
            <p:nvSpPr>
              <p:cNvPr id="66" name="Freeform 66"/>
              <p:cNvSpPr/>
              <p:nvPr/>
            </p:nvSpPr>
            <p:spPr>
              <a:xfrm>
                <a:off x="4219575" y="4429125"/>
                <a:ext cx="57150" cy="38100"/>
              </a:xfrm>
              <a:custGeom>
                <a:avLst/>
                <a:gdLst/>
                <a:ahLst/>
                <a:cxnLst/>
                <a:rect l="l" t="t" r="r" b="b"/>
                <a:pathLst>
                  <a:path w="57150" h="38100">
                    <a:moveTo>
                      <a:pt x="0" y="19050"/>
                    </a:moveTo>
                    <a:lnTo>
                      <a:pt x="19050" y="38100"/>
                    </a:lnTo>
                    <a:lnTo>
                      <a:pt x="57150" y="0"/>
                    </a:lnTo>
                  </a:path>
                </a:pathLst>
              </a:custGeom>
              <a:noFill/>
              <a:ln w="19050">
                <a:solidFill>
                  <a:srgbClr val="27AE60"/>
                </a:solidFill>
              </a:ln>
            </p:spPr>
          </p:sp>
        </p:grpSp>
        <p:sp>
          <p:nvSpPr>
            <p:cNvPr id="68" name="TextBox 68"/>
            <p:cNvSpPr txBox="1"/>
            <p:nvPr/>
          </p:nvSpPr>
          <p:spPr>
            <a:xfrm>
              <a:off x="4452067" y="4267200"/>
              <a:ext cx="127553"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9</a:t>
              </a:r>
            </a:p>
          </p:txBody>
        </p:sp>
        <p:sp>
          <p:nvSpPr>
            <p:cNvPr id="69" name="TextBox 69"/>
            <p:cNvSpPr txBox="1"/>
            <p:nvPr/>
          </p:nvSpPr>
          <p:spPr>
            <a:xfrm>
              <a:off x="4678680" y="4267200"/>
              <a:ext cx="2125408"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стрессоустойчивость</a:t>
              </a:r>
            </a:p>
          </p:txBody>
        </p:sp>
        <p:sp>
          <p:nvSpPr>
            <p:cNvPr id="70" name="Rectangle 70"/>
            <p:cNvSpPr/>
            <p:nvPr/>
          </p:nvSpPr>
          <p:spPr>
            <a:xfrm>
              <a:off x="3962400" y="4800600"/>
              <a:ext cx="3009900" cy="609600"/>
            </a:xfrm>
            <a:prstGeom prst="roundRect">
              <a:avLst>
                <a:gd name="adj" fmla="val 18750"/>
              </a:avLst>
            </a:prstGeom>
            <a:solidFill>
              <a:srgbClr val="FFFFFF">
                <a:alpha val="92000"/>
              </a:srgbClr>
            </a:solidFill>
            <a:ln w="19050">
              <a:solidFill>
                <a:srgbClr val="27AE60"/>
              </a:solidFill>
            </a:ln>
          </p:spPr>
        </p:sp>
        <p:sp>
          <p:nvSpPr>
            <p:cNvPr id="71" name="Freeform 71"/>
            <p:cNvSpPr/>
            <p:nvPr/>
          </p:nvSpPr>
          <p:spPr>
            <a:xfrm>
              <a:off x="4105275" y="5029200"/>
              <a:ext cx="161925" cy="152400"/>
            </a:xfrm>
            <a:custGeom>
              <a:avLst/>
              <a:gdLst/>
              <a:ahLst/>
              <a:cxnLst/>
              <a:rect l="l" t="t" r="r" b="b"/>
              <a:pathLst>
                <a:path w="161925" h="152400">
                  <a:moveTo>
                    <a:pt x="123825" y="133350"/>
                  </a:moveTo>
                  <a:cubicBezTo>
                    <a:pt x="134346" y="133350"/>
                    <a:pt x="142875" y="141879"/>
                    <a:pt x="142875" y="152400"/>
                  </a:cubicBezTo>
                  <a:cubicBezTo>
                    <a:pt x="142875" y="141879"/>
                    <a:pt x="151404" y="133350"/>
                    <a:pt x="161925" y="133350"/>
                  </a:cubicBezTo>
                  <a:cubicBezTo>
                    <a:pt x="151404" y="133350"/>
                    <a:pt x="142875" y="124821"/>
                    <a:pt x="142875" y="114300"/>
                  </a:cubicBezTo>
                  <a:cubicBezTo>
                    <a:pt x="142875" y="124821"/>
                    <a:pt x="134346" y="133350"/>
                    <a:pt x="123825" y="133350"/>
                  </a:cubicBezTo>
                  <a:moveTo>
                    <a:pt x="123825" y="19050"/>
                  </a:moveTo>
                  <a:cubicBezTo>
                    <a:pt x="134346" y="19050"/>
                    <a:pt x="142875" y="27579"/>
                    <a:pt x="142875" y="38100"/>
                  </a:cubicBezTo>
                  <a:cubicBezTo>
                    <a:pt x="142875" y="27579"/>
                    <a:pt x="151404" y="19050"/>
                    <a:pt x="161925" y="19050"/>
                  </a:cubicBezTo>
                  <a:cubicBezTo>
                    <a:pt x="151404" y="19050"/>
                    <a:pt x="142875" y="10521"/>
                    <a:pt x="142875" y="0"/>
                  </a:cubicBezTo>
                  <a:cubicBezTo>
                    <a:pt x="142875" y="10521"/>
                    <a:pt x="134346" y="19050"/>
                    <a:pt x="123825" y="19050"/>
                  </a:cubicBezTo>
                  <a:moveTo>
                    <a:pt x="57150" y="133350"/>
                  </a:moveTo>
                  <a:cubicBezTo>
                    <a:pt x="57150" y="101787"/>
                    <a:pt x="82737" y="76200"/>
                    <a:pt x="114300" y="76200"/>
                  </a:cubicBezTo>
                  <a:cubicBezTo>
                    <a:pt x="82737" y="76200"/>
                    <a:pt x="57150" y="50613"/>
                    <a:pt x="57150" y="19050"/>
                  </a:cubicBezTo>
                  <a:cubicBezTo>
                    <a:pt x="57150" y="50613"/>
                    <a:pt x="31563" y="76200"/>
                    <a:pt x="0" y="76200"/>
                  </a:cubicBezTo>
                  <a:cubicBezTo>
                    <a:pt x="31563" y="76200"/>
                    <a:pt x="57150" y="101787"/>
                    <a:pt x="57150" y="133350"/>
                  </a:cubicBezTo>
                </a:path>
              </a:pathLst>
            </a:custGeom>
            <a:noFill/>
            <a:ln w="19050">
              <a:solidFill>
                <a:srgbClr val="27AE60"/>
              </a:solidFill>
            </a:ln>
          </p:spPr>
        </p:sp>
        <p:sp>
          <p:nvSpPr>
            <p:cNvPr id="72" name="TextBox 72"/>
            <p:cNvSpPr txBox="1"/>
            <p:nvPr/>
          </p:nvSpPr>
          <p:spPr>
            <a:xfrm>
              <a:off x="4339753" y="4991100"/>
              <a:ext cx="239867" cy="293370"/>
            </a:xfrm>
            <a:prstGeom prst="rect">
              <a:avLst/>
            </a:prstGeom>
            <a:noFill/>
            <a:ln>
              <a:noFill/>
            </a:ln>
          </p:spPr>
          <p:txBody>
            <a:bodyPr wrap="none" lIns="0" tIns="0" rIns="0" bIns="0" anchor="t" anchorCtr="0">
              <a:spAutoFit/>
            </a:bodyPr>
            <a:lstStyle/>
            <a:p>
              <a:pPr algn="r"/>
              <a:r>
                <a:rPr lang="ru" sz="1500" b="1" dirty="0">
                  <a:solidFill>
                    <a:srgbClr val="27AE60"/>
                  </a:solidFill>
                  <a:latin typeface="+mn-lt"/>
                  <a:ea typeface="+mn-ea"/>
                  <a:cs typeface="+mn-cs"/>
                </a:rPr>
                <a:t>10</a:t>
              </a:r>
            </a:p>
          </p:txBody>
        </p:sp>
        <p:sp>
          <p:nvSpPr>
            <p:cNvPr id="73" name="TextBox 73"/>
            <p:cNvSpPr txBox="1"/>
            <p:nvPr/>
          </p:nvSpPr>
          <p:spPr>
            <a:xfrm>
              <a:off x="4678680" y="4991100"/>
              <a:ext cx="1848320"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осознанные усилия</a:t>
              </a:r>
            </a:p>
          </p:txBody>
        </p:sp>
      </p:grpSp>
      <p:grpSp>
        <p:nvGrpSpPr>
          <p:cNvPr id="90" name="p15-sources"/>
          <p:cNvGrpSpPr/>
          <p:nvPr/>
        </p:nvGrpSpPr>
        <p:grpSpPr>
          <a:xfrm>
            <a:off x="7524750" y="1238250"/>
            <a:ext cx="3989119" cy="4572000"/>
            <a:chOff x="7524750" y="1238250"/>
            <a:chExt cx="3989119" cy="4572000"/>
          </a:xfrm>
        </p:grpSpPr>
        <p:sp>
          <p:nvSpPr>
            <p:cNvPr id="75" name="Rectangle 75"/>
            <p:cNvSpPr/>
            <p:nvPr/>
          </p:nvSpPr>
          <p:spPr>
            <a:xfrm>
              <a:off x="7524750" y="1238250"/>
              <a:ext cx="3905250" cy="4572000"/>
            </a:xfrm>
            <a:prstGeom prst="roundRect">
              <a:avLst>
                <a:gd name="adj" fmla="val 3902"/>
              </a:avLst>
            </a:prstGeom>
            <a:solidFill>
              <a:schemeClr val="accent1">
                <a:alpha val="10000"/>
              </a:schemeClr>
            </a:solidFill>
            <a:ln>
              <a:noFill/>
            </a:ln>
          </p:spPr>
        </p:sp>
        <p:sp>
          <p:nvSpPr>
            <p:cNvPr id="76" name="TextBox 76"/>
            <p:cNvSpPr txBox="1"/>
            <p:nvPr/>
          </p:nvSpPr>
          <p:spPr>
            <a:xfrm>
              <a:off x="7782306" y="1428750"/>
              <a:ext cx="1285646" cy="352044"/>
            </a:xfrm>
            <a:prstGeom prst="rect">
              <a:avLst/>
            </a:prstGeom>
            <a:noFill/>
            <a:ln>
              <a:noFill/>
            </a:ln>
          </p:spPr>
          <p:txBody>
            <a:bodyPr wrap="none" lIns="0" tIns="0" rIns="0" bIns="0" anchor="t" anchorCtr="0">
              <a:spAutoFit/>
            </a:bodyPr>
            <a:lstStyle/>
            <a:p>
              <a:pPr algn="l"/>
              <a:r>
                <a:rPr lang="ru" sz="1800" b="1" dirty="0">
                  <a:solidFill>
                    <a:schemeClr val="accent1"/>
                  </a:solidFill>
                  <a:latin typeface="+mn-lt"/>
                  <a:ea typeface="+mn-ea"/>
                  <a:cs typeface="+mn-cs"/>
                </a:rPr>
                <a:t>Источники</a:t>
              </a:r>
            </a:p>
          </p:txBody>
        </p:sp>
        <p:sp>
          <p:nvSpPr>
            <p:cNvPr id="77" name="TextBox 77"/>
            <p:cNvSpPr txBox="1"/>
            <p:nvPr/>
          </p:nvSpPr>
          <p:spPr>
            <a:xfrm>
              <a:off x="7783830" y="1924050"/>
              <a:ext cx="111179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 Apteka.ru</a:t>
              </a:r>
            </a:p>
          </p:txBody>
        </p:sp>
        <p:sp>
          <p:nvSpPr>
            <p:cNvPr id="78" name="TextBox 78"/>
            <p:cNvSpPr txBox="1"/>
            <p:nvPr/>
          </p:nvSpPr>
          <p:spPr>
            <a:xfrm>
              <a:off x="7783830" y="2266950"/>
              <a:ext cx="2241514"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2. Рувики — «Счастье»</a:t>
              </a:r>
            </a:p>
          </p:txBody>
        </p:sp>
        <p:sp>
          <p:nvSpPr>
            <p:cNvPr id="79" name="TextBox 79"/>
            <p:cNvSpPr txBox="1"/>
            <p:nvPr/>
          </p:nvSpPr>
          <p:spPr>
            <a:xfrm>
              <a:off x="7783830" y="2609850"/>
              <a:ext cx="1861877"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3. «Большой город»</a:t>
              </a:r>
            </a:p>
          </p:txBody>
        </p:sp>
        <p:sp>
          <p:nvSpPr>
            <p:cNvPr id="80" name="TextBox 80"/>
            <p:cNvSpPr txBox="1"/>
            <p:nvPr/>
          </p:nvSpPr>
          <p:spPr>
            <a:xfrm>
              <a:off x="7783830" y="2952750"/>
              <a:ext cx="94210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4. Skillbox</a:t>
              </a:r>
            </a:p>
          </p:txBody>
        </p:sp>
        <p:sp>
          <p:nvSpPr>
            <p:cNvPr id="81" name="TextBox 81"/>
            <p:cNvSpPr txBox="1"/>
            <p:nvPr/>
          </p:nvSpPr>
          <p:spPr>
            <a:xfrm>
              <a:off x="7783830" y="3295650"/>
              <a:ext cx="1015813"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5. НИУ ВШЭ</a:t>
              </a:r>
            </a:p>
          </p:txBody>
        </p:sp>
        <p:sp>
          <p:nvSpPr>
            <p:cNvPr id="82" name="TextBox 82"/>
            <p:cNvSpPr txBox="1"/>
            <p:nvPr/>
          </p:nvSpPr>
          <p:spPr>
            <a:xfrm>
              <a:off x="10088880" y="1924050"/>
              <a:ext cx="712382" cy="293370"/>
            </a:xfrm>
            <a:prstGeom prst="rect">
              <a:avLst/>
            </a:prstGeom>
            <a:noFill/>
            <a:ln>
              <a:noFill/>
            </a:ln>
          </p:spPr>
          <p:txBody>
            <a:bodyPr wrap="none" lIns="0" tIns="0" rIns="0" bIns="0" anchor="t" anchorCtr="0">
              <a:spAutoFit/>
            </a:bodyPr>
            <a:lstStyle/>
            <a:p>
              <a:pPr algn="l"/>
              <a:r>
                <a:rPr lang="ru" sz="1500" dirty="0">
                  <a:solidFill>
                    <a:schemeClr val="dk1"/>
                  </a:solidFill>
                  <a:latin typeface="+mn-lt"/>
                  <a:ea typeface="+mn-ea"/>
                  <a:cs typeface="+mn-cs"/>
                </a:rPr>
                <a:t>6. УрФУ</a:t>
              </a:r>
            </a:p>
          </p:txBody>
        </p:sp>
        <p:sp>
          <p:nvSpPr>
            <p:cNvPr id="83" name="TextBox 83"/>
            <p:cNvSpPr txBox="1"/>
            <p:nvPr/>
          </p:nvSpPr>
          <p:spPr>
            <a:xfrm>
              <a:off x="10088880" y="2266950"/>
              <a:ext cx="81233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7. b17.ru</a:t>
              </a:r>
            </a:p>
          </p:txBody>
        </p:sp>
        <p:sp>
          <p:nvSpPr>
            <p:cNvPr id="84" name="TextBox 84"/>
            <p:cNvSpPr txBox="1"/>
            <p:nvPr/>
          </p:nvSpPr>
          <p:spPr>
            <a:xfrm>
              <a:off x="10088880" y="2609850"/>
              <a:ext cx="12163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8. 1economic</a:t>
              </a:r>
            </a:p>
          </p:txBody>
        </p:sp>
        <p:sp>
          <p:nvSpPr>
            <p:cNvPr id="85" name="TextBox 85"/>
            <p:cNvSpPr txBox="1"/>
            <p:nvPr/>
          </p:nvSpPr>
          <p:spPr>
            <a:xfrm>
              <a:off x="10088880" y="2952750"/>
              <a:ext cx="142498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9. Cyberleninka</a:t>
              </a:r>
            </a:p>
          </p:txBody>
        </p:sp>
        <p:sp>
          <p:nvSpPr>
            <p:cNvPr id="86" name="TextBox 86"/>
            <p:cNvSpPr txBox="1"/>
            <p:nvPr/>
          </p:nvSpPr>
          <p:spPr>
            <a:xfrm>
              <a:off x="10088880" y="3295650"/>
              <a:ext cx="90063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10. Ria.ru</a:t>
              </a:r>
            </a:p>
          </p:txBody>
        </p:sp>
        <p:sp>
          <p:nvSpPr>
            <p:cNvPr id="87" name="TextBox 87"/>
            <p:cNvSpPr txBox="1"/>
            <p:nvPr/>
          </p:nvSpPr>
          <p:spPr>
            <a:xfrm>
              <a:off x="7783830" y="3905250"/>
              <a:ext cx="2133179" cy="293370"/>
            </a:xfrm>
            <a:prstGeom prst="rect">
              <a:avLst/>
            </a:prstGeom>
            <a:noFill/>
            <a:ln>
              <a:noFill/>
            </a:ln>
          </p:spPr>
          <p:txBody>
            <a:bodyPr wrap="none" lIns="0" tIns="0" rIns="0" bIns="0" anchor="t" anchorCtr="0">
              <a:spAutoFit/>
            </a:bodyPr>
            <a:lstStyle/>
            <a:p>
              <a:pPr algn="l"/>
              <a:r>
                <a:rPr lang="ru" sz="1500" dirty="0">
                  <a:solidFill>
                    <a:srgbClr val="5D6D7E"/>
                  </a:solidFill>
                  <a:latin typeface="+mn-lt"/>
                  <a:ea typeface="+mn-ea"/>
                  <a:cs typeface="+mn-cs"/>
                </a:rPr>
                <a:t>Все выводы опираются</a:t>
              </a:r>
            </a:p>
          </p:txBody>
        </p:sp>
        <p:sp>
          <p:nvSpPr>
            <p:cNvPr id="88" name="TextBox 88"/>
            <p:cNvSpPr txBox="1"/>
            <p:nvPr/>
          </p:nvSpPr>
          <p:spPr>
            <a:xfrm>
              <a:off x="7783830" y="4171950"/>
              <a:ext cx="1737259" cy="293370"/>
            </a:xfrm>
            <a:prstGeom prst="rect">
              <a:avLst/>
            </a:prstGeom>
            <a:noFill/>
            <a:ln>
              <a:noFill/>
            </a:ln>
          </p:spPr>
          <p:txBody>
            <a:bodyPr wrap="none" lIns="0" tIns="0" rIns="0" bIns="0" anchor="t" anchorCtr="0">
              <a:spAutoFit/>
            </a:bodyPr>
            <a:lstStyle/>
            <a:p>
              <a:pPr algn="l"/>
              <a:r>
                <a:rPr lang="ru" sz="1500" dirty="0">
                  <a:solidFill>
                    <a:srgbClr val="5D6D7E"/>
                  </a:solidFill>
                  <a:latin typeface="+mn-lt"/>
                  <a:ea typeface="+mn-ea"/>
                  <a:cs typeface="+mn-cs"/>
                </a:rPr>
                <a:t>на перечисленные</a:t>
              </a:r>
            </a:p>
          </p:txBody>
        </p:sp>
        <p:sp>
          <p:nvSpPr>
            <p:cNvPr id="89" name="TextBox 89"/>
            <p:cNvSpPr txBox="1"/>
            <p:nvPr/>
          </p:nvSpPr>
          <p:spPr>
            <a:xfrm>
              <a:off x="7783830" y="4438650"/>
              <a:ext cx="1014794" cy="293370"/>
            </a:xfrm>
            <a:prstGeom prst="rect">
              <a:avLst/>
            </a:prstGeom>
            <a:noFill/>
            <a:ln>
              <a:noFill/>
            </a:ln>
          </p:spPr>
          <p:txBody>
            <a:bodyPr wrap="none" lIns="0" tIns="0" rIns="0" bIns="0" anchor="t" anchorCtr="0">
              <a:spAutoFit/>
            </a:bodyPr>
            <a:lstStyle/>
            <a:p>
              <a:pPr algn="l"/>
              <a:r>
                <a:rPr lang="ru" sz="1500" dirty="0">
                  <a:solidFill>
                    <a:srgbClr val="5D6D7E"/>
                  </a:solidFill>
                  <a:latin typeface="+mn-lt"/>
                  <a:ea typeface="+mn-ea"/>
                  <a:cs typeface="+mn-cs"/>
                </a:rPr>
                <a:t>источники</a:t>
              </a:r>
            </a:p>
          </p:txBody>
        </p:sp>
      </p:grpSp>
      <p:sp>
        <p:nvSpPr>
          <p:cNvPr id="91" name="p15-foot"/>
          <p:cNvSpPr txBox="1"/>
          <p:nvPr/>
        </p:nvSpPr>
        <p:spPr>
          <a:xfrm>
            <a:off x="755904" y="6515100"/>
            <a:ext cx="2052466" cy="234696"/>
          </a:xfrm>
          <a:prstGeom prst="rect">
            <a:avLst/>
          </a:prstGeom>
          <a:noFill/>
          <a:ln>
            <a:noFill/>
          </a:ln>
        </p:spPr>
        <p:txBody>
          <a:bodyPr wrap="none" lIns="0" tIns="0" rIns="0" bIns="0" anchor="t" anchorCtr="0">
            <a:spAutoFit/>
          </a:bodyPr>
          <a:lstStyle/>
          <a:p>
            <a:pPr algn="l"/>
            <a:r>
              <a:rPr lang="ru" sz="1200" dirty="0">
                <a:solidFill>
                  <a:srgbClr val="5D6D7E"/>
                </a:solidFill>
                <a:latin typeface="+mn-lt"/>
                <a:ea typeface="+mn-ea"/>
                <a:cs typeface="+mn-cs"/>
              </a:rPr>
              <a:t>Концепция счастья · ИС-24</a:t>
            </a:r>
          </a:p>
        </p:txBody>
      </p:sp>
      <p:sp>
        <p:nvSpPr>
          <p:cNvPr id="92" name="p15-num"/>
          <p:cNvSpPr txBox="1"/>
          <p:nvPr/>
        </p:nvSpPr>
        <p:spPr>
          <a:xfrm>
            <a:off x="11244202" y="6515100"/>
            <a:ext cx="191894" cy="234696"/>
          </a:xfrm>
          <a:prstGeom prst="rect">
            <a:avLst/>
          </a:prstGeom>
          <a:noFill/>
          <a:ln>
            <a:noFill/>
          </a:ln>
        </p:spPr>
        <p:txBody>
          <a:bodyPr wrap="none" lIns="0" tIns="0" rIns="0" bIns="0" anchor="t" anchorCtr="0">
            <a:spAutoFit/>
          </a:bodyPr>
          <a:lstStyle/>
          <a:p>
            <a:pPr algn="r"/>
            <a:r>
              <a:rPr lang="ru" sz="1200" dirty="0">
                <a:solidFill>
                  <a:srgbClr val="5D6D7E"/>
                </a:solidFill>
                <a:latin typeface="+mn-lt"/>
                <a:ea typeface="+mn-ea"/>
                <a:cs typeface="+mn-cs"/>
              </a:rPr>
              <a:t>15</a:t>
            </a:r>
          </a:p>
        </p:txBody>
      </p:sp>
      <p:pic>
        <p:nvPicPr>
          <p:cNvPr id="93" name="PPT Master narration: narration15.mp3">
            <a:hlinkClick r:id="" action="ppaction://media"/>
          </p:cNvPr>
          <p:cNvPicPr>
            <a:picLocks noChangeAspect="1"/>
          </p:cNvPicPr>
          <p:nvPr>
            <a:audioFile r:link="rId5"/>
            <p:extLst>
              <p:ext uri="{DAA4B4D4-6D71-4841-9C94-3DE7FCFB9230}">
                <p14:media r:embed="rId4"/>
              </p:ext>
            </p:extLst>
          </p:nvPr>
        </p:nvPicPr>
        <p:blipFill>
          <a:blip r:embed="rId6"/>
          <a:stretch>
            <a:fillRect/>
          </a:stretch>
        </p:blipFill>
        <p:spPr>
          <a:xfrm>
            <a:off x="-457200" y="-457200"/>
            <a:ext cx="457200" cy="457200"/>
          </a:xfrm>
          <a:prstGeom prst="rect">
            <a:avLst/>
          </a:prstGeom>
        </p:spPr>
      </p:pic>
    </p:spTree>
  </p:cSld>
  <p:clrMapOvr>
    <a:masterClrMapping/>
  </p:clrMapOvr>
  <p:transition p14:dur="500" advClick="0" advTm="4260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74"/>
                                        </p:tgtEl>
                                        <p:attrNameLst>
                                          <p:attrName>style.visibility</p:attrName>
                                        </p:attrNameLst>
                                      </p:cBhvr>
                                      <p:to>
                                        <p:strVal val="visible"/>
                                      </p:to>
                                    </p:set>
                                    <p:animEffect transition="in" filter="fade">
                                      <p:cBhvr>
                                        <p:cTn id="11" dur="600"/>
                                        <p:tgtEl>
                                          <p:spTgt spid="74"/>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90"/>
                                        </p:tgtEl>
                                        <p:attrNameLst>
                                          <p:attrName>style.visibility</p:attrName>
                                        </p:attrNameLst>
                                      </p:cBhvr>
                                      <p:to>
                                        <p:strVal val="visible"/>
                                      </p:to>
                                    </p:set>
                                    <p:animEffect transition="in" filter="fade">
                                      <p:cBhvr>
                                        <p:cTn id="15"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300"/>
                  </p:stCondLst>
                </p:cTn>
                <p:tgtEl>
                  <p:spTgt spid="93"/>
                </p:tgtEl>
              </p:cMediaNode>
            </p:audio>
          </p:childTnLst>
        </p:cTn>
      </p:par>
    </p:tnLst>
  </p:timing>
</p:sld>
</file>

<file path=ppt/theme/theme1.xml><?xml version="1.0" encoding="utf-8"?>
<a:theme xmlns:a="http://schemas.openxmlformats.org/drawingml/2006/main" name="happiness_concept">
  <a:themeElements>
    <a:clrScheme name="happiness_concept">
      <a:dk1>
        <a:srgbClr val="2C3E50"/>
      </a:dk1>
      <a:lt1>
        <a:srgbClr val="FFFFFF"/>
      </a:lt1>
      <a:dk2>
        <a:srgbClr val="2C3E50"/>
      </a:dk2>
      <a:lt2>
        <a:srgbClr val="EEECE1"/>
      </a:lt2>
      <a:accent1>
        <a:srgbClr val="1B4F72"/>
      </a:accent1>
      <a:accent2>
        <a:srgbClr val="1B4F72"/>
      </a:accent2>
      <a:accent3>
        <a:srgbClr val="9BBB59"/>
      </a:accent3>
      <a:accent4>
        <a:srgbClr val="1B4F72"/>
      </a:accent4>
      <a:accent5>
        <a:srgbClr val="4BACC6"/>
      </a:accent5>
      <a:accent6>
        <a:srgbClr val="F79646"/>
      </a:accent6>
      <a:hlink>
        <a:srgbClr val="1B4F72"/>
      </a:hlink>
      <a:folHlink>
        <a:srgbClr val="800080"/>
      </a:folHlink>
    </a:clrScheme>
    <a:fontScheme name="happiness_concep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ppiness_conce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happiness_concept">
  <a:themeElements>
    <a:clrScheme name="happiness_concept">
      <a:dk1>
        <a:srgbClr val="2C3E50"/>
      </a:dk1>
      <a:lt1>
        <a:srgbClr val="FFFFFF"/>
      </a:lt1>
      <a:dk2>
        <a:srgbClr val="2C3E50"/>
      </a:dk2>
      <a:lt2>
        <a:srgbClr val="EEECE1"/>
      </a:lt2>
      <a:accent1>
        <a:srgbClr val="1B4F72"/>
      </a:accent1>
      <a:accent2>
        <a:srgbClr val="1B4F72"/>
      </a:accent2>
      <a:accent3>
        <a:srgbClr val="9BBB59"/>
      </a:accent3>
      <a:accent4>
        <a:srgbClr val="1B4F72"/>
      </a:accent4>
      <a:accent5>
        <a:srgbClr val="4BACC6"/>
      </a:accent5>
      <a:accent6>
        <a:srgbClr val="F79646"/>
      </a:accent6>
      <a:hlink>
        <a:srgbClr val="1B4F72"/>
      </a:hlink>
      <a:folHlink>
        <a:srgbClr val="800080"/>
      </a:folHlink>
    </a:clrScheme>
    <a:fontScheme name="happiness_concep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ppiness_conce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ru</dc:language>
  <cp:lastModifiedBy/>
  <cp:revision>1</cp:revision>
  <dcterms:created xsi:type="dcterms:W3CDTF">2026-10-07T22:28:44Z</dcterms:created>
  <dcterms:modified xsi:type="dcterms:W3CDTF">2026-10-07T22:28:44Z</dcterms:modified>
  <cp:category/>
  <cp:contentStatus/>
</cp:coreProperties>
</file>